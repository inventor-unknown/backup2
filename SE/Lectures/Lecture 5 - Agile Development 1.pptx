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64" r:id="rId4"/>
    <p:sldId id="259" r:id="rId5"/>
    <p:sldId id="260" r:id="rId6"/>
    <p:sldId id="265" r:id="rId7"/>
    <p:sldId id="261" r:id="rId8"/>
    <p:sldId id="262" r:id="rId9"/>
    <p:sldId id="263" r:id="rId10"/>
    <p:sldId id="266" r:id="rId11"/>
    <p:sldId id="268" r:id="rId12"/>
    <p:sldId id="267" r:id="rId13"/>
    <p:sldId id="269" r:id="rId14"/>
    <p:sldId id="270" r:id="rId15"/>
    <p:sldId id="271" r:id="rId16"/>
    <p:sldId id="272" r:id="rId17"/>
    <p:sldId id="274" r:id="rId18"/>
    <p:sldId id="273"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9/27/2024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9/27/2024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9/27/2024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9/27/2024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9/27/2024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0F6DCA-CA2E-C3C9-5077-B380524D7253}"/>
              </a:ext>
            </a:extLst>
          </p:cNvPr>
          <p:cNvSpPr>
            <a:spLocks noGrp="1"/>
          </p:cNvSpPr>
          <p:nvPr>
            <p:ph type="ctrTitle"/>
          </p:nvPr>
        </p:nvSpPr>
        <p:spPr/>
        <p:txBody>
          <a:bodyPr/>
          <a:lstStyle/>
          <a:p>
            <a:r>
              <a:rPr lang="en-US" dirty="0"/>
              <a:t>Sen-220 software engineering</a:t>
            </a:r>
          </a:p>
        </p:txBody>
      </p:sp>
      <p:sp>
        <p:nvSpPr>
          <p:cNvPr id="3" name="Subtitle 2">
            <a:extLst>
              <a:ext uri="{FF2B5EF4-FFF2-40B4-BE49-F238E27FC236}">
                <a16:creationId xmlns:a16="http://schemas.microsoft.com/office/drawing/2014/main" xmlns="" id="{914B93FF-B20F-85AF-8F17-B9B8FC8093F1}"/>
              </a:ext>
            </a:extLst>
          </p:cNvPr>
          <p:cNvSpPr>
            <a:spLocks noGrp="1"/>
          </p:cNvSpPr>
          <p:nvPr>
            <p:ph type="subTitle" idx="1"/>
          </p:nvPr>
        </p:nvSpPr>
        <p:spPr/>
        <p:txBody>
          <a:bodyPr>
            <a:normAutofit/>
          </a:bodyPr>
          <a:lstStyle/>
          <a:p>
            <a:r>
              <a:rPr lang="en-US" sz="2800" dirty="0"/>
              <a:t>AGILE DEVELOPMENT</a:t>
            </a:r>
          </a:p>
        </p:txBody>
      </p:sp>
    </p:spTree>
    <p:extLst>
      <p:ext uri="{BB962C8B-B14F-4D97-AF65-F5344CB8AC3E}">
        <p14:creationId xmlns:p14="http://schemas.microsoft.com/office/powerpoint/2010/main" val="9781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7465FA-DEE7-7800-3279-CBF0CCD0CCC0}"/>
              </a:ext>
            </a:extLst>
          </p:cNvPr>
          <p:cNvSpPr>
            <a:spLocks noGrp="1"/>
          </p:cNvSpPr>
          <p:nvPr>
            <p:ph type="title"/>
          </p:nvPr>
        </p:nvSpPr>
        <p:spPr/>
        <p:txBody>
          <a:bodyPr/>
          <a:lstStyle/>
          <a:p>
            <a:r>
              <a:rPr lang="en-US" dirty="0"/>
              <a:t>WHAT IS AGILITY?</a:t>
            </a:r>
          </a:p>
        </p:txBody>
      </p:sp>
      <p:sp>
        <p:nvSpPr>
          <p:cNvPr id="3" name="Content Placeholder 2">
            <a:extLst>
              <a:ext uri="{FF2B5EF4-FFF2-40B4-BE49-F238E27FC236}">
                <a16:creationId xmlns:a16="http://schemas.microsoft.com/office/drawing/2014/main" xmlns="" id="{E7F9A1D6-9CE2-46BF-19B2-62D0303E24EE}"/>
              </a:ext>
            </a:extLst>
          </p:cNvPr>
          <p:cNvSpPr>
            <a:spLocks noGrp="1"/>
          </p:cNvSpPr>
          <p:nvPr>
            <p:ph idx="1"/>
          </p:nvPr>
        </p:nvSpPr>
        <p:spPr/>
        <p:txBody>
          <a:bodyPr/>
          <a:lstStyle/>
          <a:p>
            <a:r>
              <a:rPr lang="en-US" dirty="0"/>
              <a:t>Agility has become today’s buzzword when describing a modern software process. </a:t>
            </a:r>
          </a:p>
          <a:p>
            <a:r>
              <a:rPr lang="en-US" dirty="0"/>
              <a:t>Everyone is agile. An agile team is a nimble team able to appropriately respond to changes. Change is what software development is very much about. Changes in the software being built, changes to the team members, changes because of new technology, changes of all kinds that may have an impact on the product they build or the project that creates the product. </a:t>
            </a:r>
          </a:p>
          <a:p>
            <a:r>
              <a:rPr lang="en-US" dirty="0"/>
              <a:t>Support for changes should be built-in everything we do in software, something we embrace because it is the heart and soul of software.</a:t>
            </a:r>
          </a:p>
          <a:p>
            <a:r>
              <a:rPr lang="en-US" dirty="0"/>
              <a:t> An agile team recognizes that software is developed by individuals working in teams and that the skills of these people, their ability to collaborate is at the core for the success of the project. </a:t>
            </a:r>
          </a:p>
        </p:txBody>
      </p:sp>
    </p:spTree>
    <p:extLst>
      <p:ext uri="{BB962C8B-B14F-4D97-AF65-F5344CB8AC3E}">
        <p14:creationId xmlns:p14="http://schemas.microsoft.com/office/powerpoint/2010/main" val="307585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B803D9-A75D-5ECC-52D1-DF9A58355210}"/>
              </a:ext>
            </a:extLst>
          </p:cNvPr>
          <p:cNvSpPr>
            <a:spLocks noGrp="1"/>
          </p:cNvSpPr>
          <p:nvPr>
            <p:ph type="title"/>
          </p:nvPr>
        </p:nvSpPr>
        <p:spPr/>
        <p:txBody>
          <a:bodyPr/>
          <a:lstStyle/>
          <a:p>
            <a:r>
              <a:rPr lang="en-US" dirty="0"/>
              <a:t>What is agile?</a:t>
            </a:r>
          </a:p>
        </p:txBody>
      </p:sp>
      <p:sp>
        <p:nvSpPr>
          <p:cNvPr id="3" name="Content Placeholder 2">
            <a:extLst>
              <a:ext uri="{FF2B5EF4-FFF2-40B4-BE49-F238E27FC236}">
                <a16:creationId xmlns:a16="http://schemas.microsoft.com/office/drawing/2014/main" xmlns="" id="{4CA6113A-6502-6635-74FE-F2355A1E6CD9}"/>
              </a:ext>
            </a:extLst>
          </p:cNvPr>
          <p:cNvSpPr>
            <a:spLocks noGrp="1"/>
          </p:cNvSpPr>
          <p:nvPr>
            <p:ph idx="1"/>
          </p:nvPr>
        </p:nvSpPr>
        <p:spPr>
          <a:xfrm>
            <a:off x="581192" y="2199662"/>
            <a:ext cx="4608223" cy="3678303"/>
          </a:xfrm>
        </p:spPr>
        <p:txBody>
          <a:bodyPr/>
          <a:lstStyle/>
          <a:p>
            <a:r>
              <a:rPr lang="en-US" dirty="0"/>
              <a:t>Agile is really a collection of beliefs that teams can use for making decision about how to do the work of developing software.</a:t>
            </a:r>
          </a:p>
          <a:p>
            <a:r>
              <a:rPr lang="en-US" dirty="0"/>
              <a:t>Agile is flexible. It doesn’t make decisions for you. Instead, it gives a foundation for teams to make decisions that result in better software development. </a:t>
            </a:r>
          </a:p>
        </p:txBody>
      </p:sp>
      <p:pic>
        <p:nvPicPr>
          <p:cNvPr id="5" name="Picture 4">
            <a:extLst>
              <a:ext uri="{FF2B5EF4-FFF2-40B4-BE49-F238E27FC236}">
                <a16:creationId xmlns:a16="http://schemas.microsoft.com/office/drawing/2014/main" xmlns="" id="{699FC3BF-34FD-CDDE-8D09-1750F1EFC77D}"/>
              </a:ext>
            </a:extLst>
          </p:cNvPr>
          <p:cNvPicPr>
            <a:picLocks noChangeAspect="1"/>
          </p:cNvPicPr>
          <p:nvPr/>
        </p:nvPicPr>
        <p:blipFill>
          <a:blip r:embed="rId2"/>
          <a:stretch>
            <a:fillRect/>
          </a:stretch>
        </p:blipFill>
        <p:spPr>
          <a:xfrm>
            <a:off x="5189415" y="2321444"/>
            <a:ext cx="6541314" cy="3434737"/>
          </a:xfrm>
          <a:prstGeom prst="rect">
            <a:avLst/>
          </a:prstGeom>
        </p:spPr>
      </p:pic>
    </p:spTree>
    <p:extLst>
      <p:ext uri="{BB962C8B-B14F-4D97-AF65-F5344CB8AC3E}">
        <p14:creationId xmlns:p14="http://schemas.microsoft.com/office/powerpoint/2010/main" val="4203389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DDDFFB-5292-728D-6095-6D61BDBCF884}"/>
              </a:ext>
            </a:extLst>
          </p:cNvPr>
          <p:cNvSpPr>
            <a:spLocks noGrp="1"/>
          </p:cNvSpPr>
          <p:nvPr>
            <p:ph type="title"/>
          </p:nvPr>
        </p:nvSpPr>
        <p:spPr/>
        <p:txBody>
          <a:bodyPr/>
          <a:lstStyle/>
          <a:p>
            <a:r>
              <a:rPr lang="en-US" dirty="0"/>
              <a:t>AGILITY AND THE COST OF CHANGE</a:t>
            </a:r>
          </a:p>
        </p:txBody>
      </p:sp>
      <p:pic>
        <p:nvPicPr>
          <p:cNvPr id="5" name="Picture 4">
            <a:extLst>
              <a:ext uri="{FF2B5EF4-FFF2-40B4-BE49-F238E27FC236}">
                <a16:creationId xmlns:a16="http://schemas.microsoft.com/office/drawing/2014/main" xmlns="" id="{FFB9742A-648B-18CC-E5DE-4FD94ABD0D56}"/>
              </a:ext>
            </a:extLst>
          </p:cNvPr>
          <p:cNvPicPr>
            <a:picLocks noChangeAspect="1"/>
          </p:cNvPicPr>
          <p:nvPr/>
        </p:nvPicPr>
        <p:blipFill>
          <a:blip r:embed="rId2"/>
          <a:stretch>
            <a:fillRect/>
          </a:stretch>
        </p:blipFill>
        <p:spPr>
          <a:xfrm>
            <a:off x="2354585" y="2363818"/>
            <a:ext cx="7482830" cy="3637487"/>
          </a:xfrm>
          <a:prstGeom prst="rect">
            <a:avLst/>
          </a:prstGeom>
        </p:spPr>
      </p:pic>
      <p:sp>
        <p:nvSpPr>
          <p:cNvPr id="6" name="Rectangle 5">
            <a:extLst>
              <a:ext uri="{FF2B5EF4-FFF2-40B4-BE49-F238E27FC236}">
                <a16:creationId xmlns:a16="http://schemas.microsoft.com/office/drawing/2014/main" xmlns="" id="{50B2D316-F4F2-9B98-65F6-445F8D8DF1E3}"/>
              </a:ext>
            </a:extLst>
          </p:cNvPr>
          <p:cNvSpPr/>
          <p:nvPr/>
        </p:nvSpPr>
        <p:spPr>
          <a:xfrm>
            <a:off x="2354585" y="2246050"/>
            <a:ext cx="1285260" cy="4616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6436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6E246C-3541-8794-4B8C-1BA1301BC4C9}"/>
              </a:ext>
            </a:extLst>
          </p:cNvPr>
          <p:cNvSpPr>
            <a:spLocks noGrp="1"/>
          </p:cNvSpPr>
          <p:nvPr>
            <p:ph type="title"/>
          </p:nvPr>
        </p:nvSpPr>
        <p:spPr/>
        <p:txBody>
          <a:bodyPr/>
          <a:lstStyle/>
          <a:p>
            <a:r>
              <a:rPr lang="en-US" dirty="0"/>
              <a:t>WHAT IS AN AGILE PROCESS?</a:t>
            </a:r>
          </a:p>
        </p:txBody>
      </p:sp>
      <p:sp>
        <p:nvSpPr>
          <p:cNvPr id="3" name="Content Placeholder 2">
            <a:extLst>
              <a:ext uri="{FF2B5EF4-FFF2-40B4-BE49-F238E27FC236}">
                <a16:creationId xmlns:a16="http://schemas.microsoft.com/office/drawing/2014/main" xmlns="" id="{616B2FCC-90B5-FC89-D747-677221C3B65A}"/>
              </a:ext>
            </a:extLst>
          </p:cNvPr>
          <p:cNvSpPr>
            <a:spLocks noGrp="1"/>
          </p:cNvSpPr>
          <p:nvPr>
            <p:ph idx="1"/>
          </p:nvPr>
        </p:nvSpPr>
        <p:spPr/>
        <p:txBody>
          <a:bodyPr/>
          <a:lstStyle/>
          <a:p>
            <a:r>
              <a:rPr lang="en-US" dirty="0"/>
              <a:t>Any agile software process is characterized in a manner that addresses a number of key assumptions about the majority of software projects:</a:t>
            </a:r>
          </a:p>
          <a:p>
            <a:pPr marL="342900" indent="-342900">
              <a:buFont typeface="+mj-lt"/>
              <a:buAutoNum type="arabicPeriod"/>
            </a:pPr>
            <a:r>
              <a:rPr lang="en-US" dirty="0"/>
              <a:t>It is difficult to predict in advance which software requirements will persist and which will change. It is equally difficult to predict how customer priorities will change as the project proceeds. </a:t>
            </a:r>
          </a:p>
          <a:p>
            <a:pPr marL="342900" indent="-342900">
              <a:buFont typeface="+mj-lt"/>
              <a:buAutoNum type="arabicPeriod"/>
            </a:pPr>
            <a:r>
              <a:rPr lang="en-US" dirty="0"/>
              <a:t>For many types of software, design and construction are interleaved. That is, both activities should be performed in tandem so that design models are proven as they are created. It is difficult to predict how much design is necessary before construction is used to prove the design. </a:t>
            </a:r>
          </a:p>
          <a:p>
            <a:pPr marL="342900" indent="-342900">
              <a:buFont typeface="+mj-lt"/>
              <a:buAutoNum type="arabicPeriod"/>
            </a:pPr>
            <a:r>
              <a:rPr lang="en-US" dirty="0"/>
              <a:t>Analysis, design, construction, and testing are not as predictable (from a planning point of view) as we might like. </a:t>
            </a:r>
          </a:p>
        </p:txBody>
      </p:sp>
    </p:spTree>
    <p:extLst>
      <p:ext uri="{BB962C8B-B14F-4D97-AF65-F5344CB8AC3E}">
        <p14:creationId xmlns:p14="http://schemas.microsoft.com/office/powerpoint/2010/main" val="3139082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628CAA-27E4-6BBE-E197-8FC69C20649C}"/>
              </a:ext>
            </a:extLst>
          </p:cNvPr>
          <p:cNvSpPr>
            <a:spLocks noGrp="1"/>
          </p:cNvSpPr>
          <p:nvPr>
            <p:ph type="title"/>
          </p:nvPr>
        </p:nvSpPr>
        <p:spPr/>
        <p:txBody>
          <a:bodyPr/>
          <a:lstStyle/>
          <a:p>
            <a:r>
              <a:rPr lang="en-US" dirty="0"/>
              <a:t>Agile manifesto</a:t>
            </a:r>
          </a:p>
        </p:txBody>
      </p:sp>
      <p:sp>
        <p:nvSpPr>
          <p:cNvPr id="3" name="Content Placeholder 2">
            <a:extLst>
              <a:ext uri="{FF2B5EF4-FFF2-40B4-BE49-F238E27FC236}">
                <a16:creationId xmlns:a16="http://schemas.microsoft.com/office/drawing/2014/main" xmlns="" id="{8A31C50E-E608-DE07-41C8-18B3E3A8AEBD}"/>
              </a:ext>
            </a:extLst>
          </p:cNvPr>
          <p:cNvSpPr>
            <a:spLocks noGrp="1"/>
          </p:cNvSpPr>
          <p:nvPr>
            <p:ph idx="1"/>
          </p:nvPr>
        </p:nvSpPr>
        <p:spPr>
          <a:xfrm>
            <a:off x="581192" y="2180496"/>
            <a:ext cx="3244683" cy="3678303"/>
          </a:xfrm>
        </p:spPr>
        <p:txBody>
          <a:bodyPr/>
          <a:lstStyle/>
          <a:p>
            <a:r>
              <a:rPr lang="en-US" dirty="0"/>
              <a:t>Agile manifesto is only 68 words and very simply says that we can develop software better by </a:t>
            </a:r>
            <a:r>
              <a:rPr lang="en-US" dirty="0">
                <a:highlight>
                  <a:srgbClr val="FFFF00"/>
                </a:highlight>
              </a:rPr>
              <a:t>valuing</a:t>
            </a:r>
            <a:r>
              <a:rPr lang="en-US" dirty="0"/>
              <a:t> the items on the </a:t>
            </a:r>
            <a:r>
              <a:rPr lang="en-US" dirty="0">
                <a:highlight>
                  <a:srgbClr val="FFFF00"/>
                </a:highlight>
              </a:rPr>
              <a:t>left side of the list </a:t>
            </a:r>
            <a:r>
              <a:rPr lang="en-US" dirty="0"/>
              <a:t>more than the items on the right side. </a:t>
            </a:r>
          </a:p>
          <a:p>
            <a:r>
              <a:rPr lang="en-US" dirty="0"/>
              <a:t>In addition to the values of the manifesto, there are 12 principles that support the values.</a:t>
            </a:r>
          </a:p>
        </p:txBody>
      </p:sp>
      <p:pic>
        <p:nvPicPr>
          <p:cNvPr id="5" name="Picture 4">
            <a:extLst>
              <a:ext uri="{FF2B5EF4-FFF2-40B4-BE49-F238E27FC236}">
                <a16:creationId xmlns:a16="http://schemas.microsoft.com/office/drawing/2014/main" xmlns="" id="{4B9FCE5D-1EA2-AEAA-61A4-718B3F2735D3}"/>
              </a:ext>
            </a:extLst>
          </p:cNvPr>
          <p:cNvPicPr>
            <a:picLocks noChangeAspect="1"/>
          </p:cNvPicPr>
          <p:nvPr/>
        </p:nvPicPr>
        <p:blipFill>
          <a:blip r:embed="rId2"/>
          <a:stretch>
            <a:fillRect/>
          </a:stretch>
        </p:blipFill>
        <p:spPr>
          <a:xfrm>
            <a:off x="3825875" y="1873054"/>
            <a:ext cx="7944094" cy="4807878"/>
          </a:xfrm>
          <a:prstGeom prst="rect">
            <a:avLst/>
          </a:prstGeom>
        </p:spPr>
      </p:pic>
    </p:spTree>
    <p:extLst>
      <p:ext uri="{BB962C8B-B14F-4D97-AF65-F5344CB8AC3E}">
        <p14:creationId xmlns:p14="http://schemas.microsoft.com/office/powerpoint/2010/main" val="414669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AFD423-0FE4-BE74-7657-65BE27490D0F}"/>
              </a:ext>
            </a:extLst>
          </p:cNvPr>
          <p:cNvSpPr>
            <a:spLocks noGrp="1"/>
          </p:cNvSpPr>
          <p:nvPr>
            <p:ph type="title"/>
          </p:nvPr>
        </p:nvSpPr>
        <p:spPr/>
        <p:txBody>
          <a:bodyPr/>
          <a:lstStyle/>
          <a:p>
            <a:r>
              <a:rPr lang="en-US" dirty="0"/>
              <a:t>Agility principles</a:t>
            </a:r>
          </a:p>
        </p:txBody>
      </p:sp>
      <p:sp>
        <p:nvSpPr>
          <p:cNvPr id="3" name="Content Placeholder 2">
            <a:extLst>
              <a:ext uri="{FF2B5EF4-FFF2-40B4-BE49-F238E27FC236}">
                <a16:creationId xmlns:a16="http://schemas.microsoft.com/office/drawing/2014/main" xmlns="" id="{4121A5CA-EB1B-86CE-460D-BA5FA4D132BD}"/>
              </a:ext>
            </a:extLst>
          </p:cNvPr>
          <p:cNvSpPr>
            <a:spLocks noGrp="1"/>
          </p:cNvSpPr>
          <p:nvPr>
            <p:ph idx="1"/>
          </p:nvPr>
        </p:nvSpPr>
        <p:spPr/>
        <p:txBody>
          <a:bodyPr>
            <a:normAutofit lnSpcReduction="10000"/>
          </a:bodyPr>
          <a:lstStyle/>
          <a:p>
            <a:r>
              <a:rPr lang="en-US" dirty="0"/>
              <a:t>The Agile Alliance defines 12 agility principles for those who want to achieve agility:</a:t>
            </a:r>
          </a:p>
          <a:p>
            <a:pPr marL="342900" indent="-342900">
              <a:buFont typeface="+mj-lt"/>
              <a:buAutoNum type="arabicPeriod"/>
            </a:pPr>
            <a:r>
              <a:rPr lang="en-US" dirty="0"/>
              <a:t>Our highest priority is to satisfy the customer through early and continuous delivery of valuable software.</a:t>
            </a:r>
          </a:p>
          <a:p>
            <a:pPr marL="342900" indent="-342900">
              <a:buFont typeface="+mj-lt"/>
              <a:buAutoNum type="arabicPeriod"/>
            </a:pPr>
            <a:r>
              <a:rPr lang="en-US" dirty="0"/>
              <a:t>Welcome changing requirements, even late in development. Agile processes harness change for the customer's competitive advantage. </a:t>
            </a:r>
          </a:p>
          <a:p>
            <a:pPr marL="342900" indent="-342900">
              <a:buFont typeface="+mj-lt"/>
              <a:buAutoNum type="arabicPeriod"/>
            </a:pPr>
            <a:r>
              <a:rPr lang="en-US" dirty="0"/>
              <a:t>Deliver working software frequently, from a couple of weeks to a couple of months, with a preference to the shorter timescale.</a:t>
            </a:r>
          </a:p>
          <a:p>
            <a:pPr marL="342900" indent="-342900">
              <a:buFont typeface="+mj-lt"/>
              <a:buAutoNum type="arabicPeriod"/>
            </a:pPr>
            <a:r>
              <a:rPr lang="en-US" dirty="0"/>
              <a:t>Business people and developers must work together daily throughout the project.</a:t>
            </a:r>
          </a:p>
          <a:p>
            <a:pPr marL="342900" indent="-342900">
              <a:buFont typeface="+mj-lt"/>
              <a:buAutoNum type="arabicPeriod"/>
            </a:pPr>
            <a:r>
              <a:rPr lang="en-US" dirty="0"/>
              <a:t>Build projects around motivated individuals. Give them the environment and support they need, and trust them to get the job done. </a:t>
            </a:r>
          </a:p>
          <a:p>
            <a:pPr marL="342900" indent="-342900">
              <a:buFont typeface="+mj-lt"/>
              <a:buAutoNum type="arabicPeriod"/>
            </a:pPr>
            <a:r>
              <a:rPr lang="en-US" dirty="0"/>
              <a:t>The most efficient and effective method of conveying information to and within a development team is face-to-face conversation. </a:t>
            </a:r>
          </a:p>
        </p:txBody>
      </p:sp>
    </p:spTree>
    <p:extLst>
      <p:ext uri="{BB962C8B-B14F-4D97-AF65-F5344CB8AC3E}">
        <p14:creationId xmlns:p14="http://schemas.microsoft.com/office/powerpoint/2010/main" val="2932999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AFD423-0FE4-BE74-7657-65BE27490D0F}"/>
              </a:ext>
            </a:extLst>
          </p:cNvPr>
          <p:cNvSpPr>
            <a:spLocks noGrp="1"/>
          </p:cNvSpPr>
          <p:nvPr>
            <p:ph type="title"/>
          </p:nvPr>
        </p:nvSpPr>
        <p:spPr/>
        <p:txBody>
          <a:bodyPr/>
          <a:lstStyle/>
          <a:p>
            <a:r>
              <a:rPr lang="en-US" dirty="0"/>
              <a:t>Agility principles</a:t>
            </a:r>
          </a:p>
        </p:txBody>
      </p:sp>
      <p:sp>
        <p:nvSpPr>
          <p:cNvPr id="3" name="Content Placeholder 2">
            <a:extLst>
              <a:ext uri="{FF2B5EF4-FFF2-40B4-BE49-F238E27FC236}">
                <a16:creationId xmlns:a16="http://schemas.microsoft.com/office/drawing/2014/main" xmlns="" id="{4121A5CA-EB1B-86CE-460D-BA5FA4D132BD}"/>
              </a:ext>
            </a:extLst>
          </p:cNvPr>
          <p:cNvSpPr>
            <a:spLocks noGrp="1"/>
          </p:cNvSpPr>
          <p:nvPr>
            <p:ph idx="1"/>
          </p:nvPr>
        </p:nvSpPr>
        <p:spPr/>
        <p:txBody>
          <a:bodyPr>
            <a:normAutofit fontScale="92500" lnSpcReduction="10000"/>
          </a:bodyPr>
          <a:lstStyle/>
          <a:p>
            <a:pPr marL="342900" indent="-342900">
              <a:buFont typeface="+mj-lt"/>
              <a:buAutoNum type="arabicPeriod" startAt="7"/>
            </a:pPr>
            <a:r>
              <a:rPr lang="en-US" dirty="0"/>
              <a:t>Working software is the primary measure of progress. </a:t>
            </a:r>
          </a:p>
          <a:p>
            <a:pPr marL="342900" indent="-342900">
              <a:buFont typeface="+mj-lt"/>
              <a:buAutoNum type="arabicPeriod" startAt="7"/>
            </a:pPr>
            <a:r>
              <a:rPr lang="en-US" dirty="0"/>
              <a:t>Agile processes promote sustainable development. The sponsors, developers, and users should be able to maintain a constant pace indefinitely.</a:t>
            </a:r>
          </a:p>
          <a:p>
            <a:pPr marL="342900" indent="-342900">
              <a:buFont typeface="+mj-lt"/>
              <a:buAutoNum type="arabicPeriod" startAt="7"/>
            </a:pPr>
            <a:r>
              <a:rPr lang="en-US" dirty="0"/>
              <a:t>Continuous attention to technical excellence and good design enhances agility.</a:t>
            </a:r>
          </a:p>
          <a:p>
            <a:pPr marL="342900" indent="-342900">
              <a:buFont typeface="+mj-lt"/>
              <a:buAutoNum type="arabicPeriod" startAt="7"/>
            </a:pPr>
            <a:r>
              <a:rPr lang="en-US" dirty="0"/>
              <a:t>Simplicity—the art of maximizing the amount of work not done—is essential.</a:t>
            </a:r>
          </a:p>
          <a:p>
            <a:pPr marL="342900" indent="-342900">
              <a:buFont typeface="+mj-lt"/>
              <a:buAutoNum type="arabicPeriod" startAt="7"/>
            </a:pPr>
            <a:r>
              <a:rPr lang="en-US" dirty="0"/>
              <a:t>The best architectures, requirements, and designs emerge from self-organizing teams.</a:t>
            </a:r>
          </a:p>
          <a:p>
            <a:pPr marL="342900" indent="-342900">
              <a:buFont typeface="+mj-lt"/>
              <a:buAutoNum type="arabicPeriod" startAt="7"/>
            </a:pPr>
            <a:r>
              <a:rPr lang="en-US" dirty="0"/>
              <a:t>At regular intervals, the team reflects on how to become more effective, then tunes and adjusts its behavior accordingly. </a:t>
            </a:r>
          </a:p>
          <a:p>
            <a:pPr marL="342900" indent="-342900">
              <a:buFont typeface="+mj-lt"/>
              <a:buAutoNum type="arabicPeriod" startAt="7"/>
            </a:pPr>
            <a:endParaRPr lang="en-US" dirty="0"/>
          </a:p>
          <a:p>
            <a:pPr marL="0" indent="0">
              <a:buNone/>
            </a:pPr>
            <a:r>
              <a:rPr lang="en-US" dirty="0"/>
              <a:t>Not every agile process model applies these 12 principles with equal weight, and some models choose to ignore (or at least downplay) the importance of one or more of the principles. However, the principles define an agile spirit that is maintained in each of the process models.</a:t>
            </a:r>
          </a:p>
        </p:txBody>
      </p:sp>
    </p:spTree>
    <p:extLst>
      <p:ext uri="{BB962C8B-B14F-4D97-AF65-F5344CB8AC3E}">
        <p14:creationId xmlns:p14="http://schemas.microsoft.com/office/powerpoint/2010/main" val="1335958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ED7A7B-9598-1E2D-6275-E34A498C46C1}"/>
              </a:ext>
            </a:extLst>
          </p:cNvPr>
          <p:cNvSpPr>
            <a:spLocks noGrp="1"/>
          </p:cNvSpPr>
          <p:nvPr>
            <p:ph type="title"/>
          </p:nvPr>
        </p:nvSpPr>
        <p:spPr/>
        <p:txBody>
          <a:bodyPr/>
          <a:lstStyle/>
          <a:p>
            <a:r>
              <a:rPr lang="en-US" dirty="0"/>
              <a:t>How does a team become Agile?</a:t>
            </a:r>
          </a:p>
        </p:txBody>
      </p:sp>
      <p:sp>
        <p:nvSpPr>
          <p:cNvPr id="3" name="Content Placeholder 2">
            <a:extLst>
              <a:ext uri="{FF2B5EF4-FFF2-40B4-BE49-F238E27FC236}">
                <a16:creationId xmlns:a16="http://schemas.microsoft.com/office/drawing/2014/main" xmlns="" id="{87BBDB0E-0586-D2E9-EDF8-B3D8EA965A05}"/>
              </a:ext>
            </a:extLst>
          </p:cNvPr>
          <p:cNvSpPr>
            <a:spLocks noGrp="1"/>
          </p:cNvSpPr>
          <p:nvPr>
            <p:ph idx="1"/>
          </p:nvPr>
        </p:nvSpPr>
        <p:spPr/>
        <p:txBody>
          <a:bodyPr/>
          <a:lstStyle/>
          <a:p>
            <a:r>
              <a:rPr lang="en-US" dirty="0"/>
              <a:t>The decision making process is how a team becomes agile. The values have enough flexibility to allow teams in a wide variety of organizations to develop </a:t>
            </a:r>
            <a:r>
              <a:rPr lang="en-US" dirty="0" err="1"/>
              <a:t>softwares</a:t>
            </a:r>
            <a:r>
              <a:rPr lang="en-US" dirty="0"/>
              <a:t> in the ways that work best for their particular situation while providing enough direction to help a team continually move towards their full potential.</a:t>
            </a:r>
          </a:p>
        </p:txBody>
      </p:sp>
    </p:spTree>
    <p:extLst>
      <p:ext uri="{BB962C8B-B14F-4D97-AF65-F5344CB8AC3E}">
        <p14:creationId xmlns:p14="http://schemas.microsoft.com/office/powerpoint/2010/main" val="220908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FD8A0-CF8D-E711-CE9D-53CC73422AE4}"/>
              </a:ext>
            </a:extLst>
          </p:cNvPr>
          <p:cNvSpPr>
            <a:spLocks noGrp="1"/>
          </p:cNvSpPr>
          <p:nvPr>
            <p:ph type="title"/>
          </p:nvPr>
        </p:nvSpPr>
        <p:spPr/>
        <p:txBody>
          <a:bodyPr/>
          <a:lstStyle/>
          <a:p>
            <a:r>
              <a:rPr lang="en-US" dirty="0"/>
              <a:t>What is Scrum in AGILE?</a:t>
            </a:r>
          </a:p>
        </p:txBody>
      </p:sp>
      <p:sp>
        <p:nvSpPr>
          <p:cNvPr id="3" name="Content Placeholder 2">
            <a:extLst>
              <a:ext uri="{FF2B5EF4-FFF2-40B4-BE49-F238E27FC236}">
                <a16:creationId xmlns:a16="http://schemas.microsoft.com/office/drawing/2014/main" xmlns="" id="{5695F299-535E-A749-2ED4-FFCFBB67348F}"/>
              </a:ext>
            </a:extLst>
          </p:cNvPr>
          <p:cNvSpPr>
            <a:spLocks noGrp="1"/>
          </p:cNvSpPr>
          <p:nvPr>
            <p:ph idx="1"/>
          </p:nvPr>
        </p:nvSpPr>
        <p:spPr/>
        <p:txBody>
          <a:bodyPr/>
          <a:lstStyle/>
          <a:p>
            <a:pPr algn="l"/>
            <a:r>
              <a:rPr lang="en-US" b="0" i="0" dirty="0">
                <a:solidFill>
                  <a:srgbClr val="2B3857"/>
                </a:solidFill>
                <a:effectLst/>
                <a:latin typeface="TT_Norms_Pro"/>
              </a:rPr>
              <a:t>Scrum is a framework of rules, roles, events, and artifacts used to implement Agile projects. It is an iterative approach, consisting of sprints that typically only last one to four weeks. This approach ensures that your team delivers a version of the product regularly. </a:t>
            </a:r>
          </a:p>
          <a:p>
            <a:pPr algn="l"/>
            <a:r>
              <a:rPr lang="en-US" b="0" i="0" dirty="0">
                <a:solidFill>
                  <a:srgbClr val="2B3857"/>
                </a:solidFill>
                <a:effectLst/>
                <a:latin typeface="TT_Norms_Pro"/>
              </a:rPr>
              <a:t>Scrum was designed using a software model that follows a set of roles, responsibilities, and meetings. It can be used for any complex project but works best when the result is a concrete product rather than a service.</a:t>
            </a:r>
          </a:p>
          <a:p>
            <a:pPr marL="0" indent="0" algn="l">
              <a:buNone/>
            </a:pPr>
            <a:endParaRPr lang="en-US" b="0" i="0" dirty="0">
              <a:solidFill>
                <a:srgbClr val="2B3857"/>
              </a:solidFill>
              <a:effectLst/>
              <a:latin typeface="TT_Norms_Pro"/>
            </a:endParaRPr>
          </a:p>
          <a:p>
            <a:endParaRPr lang="en-US" dirty="0"/>
          </a:p>
        </p:txBody>
      </p:sp>
    </p:spTree>
    <p:extLst>
      <p:ext uri="{BB962C8B-B14F-4D97-AF65-F5344CB8AC3E}">
        <p14:creationId xmlns:p14="http://schemas.microsoft.com/office/powerpoint/2010/main" val="3541570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CE469FA6-5054-44BA-3488-F8BE45223532}"/>
              </a:ext>
            </a:extLst>
          </p:cNvPr>
          <p:cNvPicPr>
            <a:picLocks noChangeAspect="1"/>
          </p:cNvPicPr>
          <p:nvPr/>
        </p:nvPicPr>
        <p:blipFill>
          <a:blip r:embed="rId2"/>
          <a:stretch>
            <a:fillRect/>
          </a:stretch>
        </p:blipFill>
        <p:spPr>
          <a:xfrm>
            <a:off x="1740023" y="548296"/>
            <a:ext cx="8689759" cy="6131317"/>
          </a:xfrm>
          <a:prstGeom prst="rect">
            <a:avLst/>
          </a:prstGeom>
        </p:spPr>
      </p:pic>
      <p:sp>
        <p:nvSpPr>
          <p:cNvPr id="8" name="Rectangle 7">
            <a:extLst>
              <a:ext uri="{FF2B5EF4-FFF2-40B4-BE49-F238E27FC236}">
                <a16:creationId xmlns:a16="http://schemas.microsoft.com/office/drawing/2014/main" xmlns="" id="{5849D82D-B130-E7CE-8644-D4E5124E088F}"/>
              </a:ext>
            </a:extLst>
          </p:cNvPr>
          <p:cNvSpPr/>
          <p:nvPr/>
        </p:nvSpPr>
        <p:spPr>
          <a:xfrm>
            <a:off x="1740023" y="548296"/>
            <a:ext cx="1269507" cy="5259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8566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80DDF1-DEF0-A2CF-9DC0-9149E5743A5D}"/>
              </a:ext>
            </a:extLst>
          </p:cNvPr>
          <p:cNvSpPr>
            <a:spLocks noGrp="1"/>
          </p:cNvSpPr>
          <p:nvPr>
            <p:ph type="title"/>
          </p:nvPr>
        </p:nvSpPr>
        <p:spPr/>
        <p:txBody>
          <a:bodyPr/>
          <a:lstStyle/>
          <a:p>
            <a:r>
              <a:rPr lang="en-US" dirty="0"/>
              <a:t>What is Scrum in AGILE?</a:t>
            </a:r>
          </a:p>
        </p:txBody>
      </p:sp>
      <p:sp>
        <p:nvSpPr>
          <p:cNvPr id="3" name="Content Placeholder 2">
            <a:extLst>
              <a:ext uri="{FF2B5EF4-FFF2-40B4-BE49-F238E27FC236}">
                <a16:creationId xmlns:a16="http://schemas.microsoft.com/office/drawing/2014/main" xmlns="" id="{52E4BF23-048F-4E02-99EE-79592F937917}"/>
              </a:ext>
            </a:extLst>
          </p:cNvPr>
          <p:cNvSpPr>
            <a:spLocks noGrp="1"/>
          </p:cNvSpPr>
          <p:nvPr>
            <p:ph idx="1"/>
          </p:nvPr>
        </p:nvSpPr>
        <p:spPr>
          <a:xfrm>
            <a:off x="581192" y="2180496"/>
            <a:ext cx="11029615" cy="4531022"/>
          </a:xfrm>
        </p:spPr>
        <p:txBody>
          <a:bodyPr>
            <a:normAutofit/>
          </a:bodyPr>
          <a:lstStyle/>
          <a:p>
            <a:pPr algn="l"/>
            <a:r>
              <a:rPr lang="en-US" sz="1600" b="0" i="0" dirty="0">
                <a:solidFill>
                  <a:srgbClr val="2B3857"/>
                </a:solidFill>
                <a:effectLst/>
                <a:latin typeface="TT_Norms_Pro"/>
              </a:rPr>
              <a:t>Scrum in Agile requires particular roles and responsibilities, including the following:</a:t>
            </a:r>
          </a:p>
          <a:p>
            <a:pPr algn="l">
              <a:buFont typeface="Arial" panose="020B0604020202020204" pitchFamily="34" charset="0"/>
              <a:buChar char="•"/>
            </a:pPr>
            <a:r>
              <a:rPr lang="en-US" sz="1600" b="1" i="0" dirty="0">
                <a:solidFill>
                  <a:srgbClr val="2B3857"/>
                </a:solidFill>
                <a:effectLst/>
                <a:latin typeface="TT_Norms_Pro"/>
              </a:rPr>
              <a:t>Product owner</a:t>
            </a:r>
            <a:r>
              <a:rPr lang="en-US" sz="1600" b="0" i="0" dirty="0">
                <a:solidFill>
                  <a:srgbClr val="2B3857"/>
                </a:solidFill>
                <a:effectLst/>
                <a:latin typeface="TT_Norms_Pro"/>
              </a:rPr>
              <a:t>:</a:t>
            </a:r>
            <a:r>
              <a:rPr lang="en-US" sz="1600" b="1" i="0" dirty="0">
                <a:solidFill>
                  <a:srgbClr val="2B3857"/>
                </a:solidFill>
                <a:effectLst/>
                <a:latin typeface="TT_Norms_Pro"/>
              </a:rPr>
              <a:t> </a:t>
            </a:r>
            <a:r>
              <a:rPr lang="en-US" sz="1600" b="0" i="0" dirty="0">
                <a:solidFill>
                  <a:srgbClr val="2B3857"/>
                </a:solidFill>
                <a:effectLst/>
                <a:latin typeface="TT_Norms_Pro"/>
              </a:rPr>
              <a:t>The product owner is responsible for representing the customer’s best interest. This person has the ultimate authority over the final product.</a:t>
            </a:r>
          </a:p>
          <a:p>
            <a:pPr algn="l">
              <a:buFont typeface="Arial" panose="020B0604020202020204" pitchFamily="34" charset="0"/>
              <a:buChar char="•"/>
            </a:pPr>
            <a:r>
              <a:rPr lang="en-US" sz="1600" b="1" i="0" dirty="0">
                <a:solidFill>
                  <a:srgbClr val="2B3857"/>
                </a:solidFill>
                <a:effectLst/>
                <a:latin typeface="TT_Norms_Pro"/>
              </a:rPr>
              <a:t>Scrum master</a:t>
            </a:r>
            <a:r>
              <a:rPr lang="en-US" sz="1600" b="0" i="0" dirty="0">
                <a:solidFill>
                  <a:srgbClr val="2B3857"/>
                </a:solidFill>
                <a:effectLst/>
                <a:latin typeface="TT_Norms_Pro"/>
              </a:rPr>
              <a:t>: This person is a facilitator, responsible for arranging the daily meetings, improving team interactions, and maximizing productivity. The project manager often takes on the role of Scrum master, but they can delegate it to anyone on the team who is a Scrum expert and strong facilitator. </a:t>
            </a:r>
          </a:p>
          <a:p>
            <a:pPr algn="l">
              <a:buFont typeface="Arial" panose="020B0604020202020204" pitchFamily="34" charset="0"/>
              <a:buChar char="•"/>
            </a:pPr>
            <a:r>
              <a:rPr lang="en-US" sz="1600" b="1" i="0" dirty="0">
                <a:solidFill>
                  <a:srgbClr val="2B3857"/>
                </a:solidFill>
                <a:effectLst/>
                <a:latin typeface="TT_Norms_Pro"/>
              </a:rPr>
              <a:t>Backlog</a:t>
            </a:r>
            <a:r>
              <a:rPr lang="en-US" sz="1600" b="0" i="0" dirty="0">
                <a:solidFill>
                  <a:srgbClr val="2B3857"/>
                </a:solidFill>
                <a:effectLst/>
                <a:latin typeface="TT_Norms_Pro"/>
              </a:rPr>
              <a:t>: The backlog is a list of tasks and requirements included in the final product. It’s the responsibility of the product owner to create the backlog. </a:t>
            </a:r>
          </a:p>
          <a:p>
            <a:pPr algn="l">
              <a:buFont typeface="Arial" panose="020B0604020202020204" pitchFamily="34" charset="0"/>
              <a:buChar char="•"/>
            </a:pPr>
            <a:r>
              <a:rPr lang="en-US" sz="1600" b="1" i="0" dirty="0">
                <a:solidFill>
                  <a:srgbClr val="2B3857"/>
                </a:solidFill>
                <a:effectLst/>
                <a:latin typeface="TT_Norms_Pro"/>
              </a:rPr>
              <a:t>Sprint</a:t>
            </a:r>
            <a:r>
              <a:rPr lang="en-US" sz="1600" b="0" i="0" dirty="0">
                <a:solidFill>
                  <a:srgbClr val="2B3857"/>
                </a:solidFill>
                <a:effectLst/>
                <a:latin typeface="TT_Norms_Pro"/>
              </a:rPr>
              <a:t>: A sprint is a set time frame for completing each set of tasks from the backlog. Every sprint should be the same length. Two weeks is typical, but a sprint can be anywhere between one to four weeks long, depending on the team and project’s needs.  </a:t>
            </a:r>
          </a:p>
          <a:p>
            <a:pPr algn="l">
              <a:buFont typeface="Arial" panose="020B0604020202020204" pitchFamily="34" charset="0"/>
              <a:buChar char="•"/>
            </a:pPr>
            <a:r>
              <a:rPr lang="en-US" sz="1600" b="1" i="0" dirty="0">
                <a:solidFill>
                  <a:srgbClr val="2B3857"/>
                </a:solidFill>
                <a:effectLst/>
                <a:latin typeface="TT_Norms_Pro"/>
              </a:rPr>
              <a:t>Daily meetings</a:t>
            </a:r>
            <a:r>
              <a:rPr lang="en-US" sz="1600" b="0" i="0" dirty="0">
                <a:solidFill>
                  <a:srgbClr val="2B3857"/>
                </a:solidFill>
                <a:effectLst/>
                <a:latin typeface="TT_Norms_Pro"/>
              </a:rPr>
              <a:t>: A Scrum project team is expected to meet every day to discuss progress. These meetings are typically referred to as a Daily Scrum or Daily Stand-Up.</a:t>
            </a:r>
          </a:p>
          <a:p>
            <a:pPr algn="l">
              <a:buFont typeface="Arial" panose="020B0604020202020204" pitchFamily="34" charset="0"/>
              <a:buChar char="•"/>
            </a:pPr>
            <a:r>
              <a:rPr lang="en-US" sz="1600" b="1" i="0" dirty="0">
                <a:solidFill>
                  <a:srgbClr val="2B3857"/>
                </a:solidFill>
                <a:effectLst/>
                <a:latin typeface="TT_Norms_Pro"/>
              </a:rPr>
              <a:t>Retrospective</a:t>
            </a:r>
            <a:r>
              <a:rPr lang="en-US" sz="1600" b="0" i="0" dirty="0">
                <a:solidFill>
                  <a:srgbClr val="2B3857"/>
                </a:solidFill>
                <a:effectLst/>
                <a:latin typeface="TT_Norms_Pro"/>
              </a:rPr>
              <a:t>: Each sprint should end with a review meeting, called a retrospective. Here, the team reviews their progress and discusses how they can improve in the next sprint.</a:t>
            </a:r>
          </a:p>
        </p:txBody>
      </p:sp>
    </p:spTree>
    <p:extLst>
      <p:ext uri="{BB962C8B-B14F-4D97-AF65-F5344CB8AC3E}">
        <p14:creationId xmlns:p14="http://schemas.microsoft.com/office/powerpoint/2010/main" val="2263611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77AE4B-A642-ABE5-EC7B-2E551B73B816}"/>
              </a:ext>
            </a:extLst>
          </p:cNvPr>
          <p:cNvSpPr>
            <a:spLocks noGrp="1"/>
          </p:cNvSpPr>
          <p:nvPr>
            <p:ph type="title"/>
          </p:nvPr>
        </p:nvSpPr>
        <p:spPr/>
        <p:txBody>
          <a:bodyPr/>
          <a:lstStyle/>
          <a:p>
            <a:r>
              <a:rPr lang="en-US" dirty="0"/>
              <a:t>KANBAN</a:t>
            </a:r>
          </a:p>
        </p:txBody>
      </p:sp>
      <p:sp>
        <p:nvSpPr>
          <p:cNvPr id="3" name="Content Placeholder 2">
            <a:extLst>
              <a:ext uri="{FF2B5EF4-FFF2-40B4-BE49-F238E27FC236}">
                <a16:creationId xmlns:a16="http://schemas.microsoft.com/office/drawing/2014/main" xmlns="" id="{F8F413B3-4754-ECF7-F8A1-3447C462F91E}"/>
              </a:ext>
            </a:extLst>
          </p:cNvPr>
          <p:cNvSpPr>
            <a:spLocks noGrp="1"/>
          </p:cNvSpPr>
          <p:nvPr>
            <p:ph idx="1"/>
          </p:nvPr>
        </p:nvSpPr>
        <p:spPr/>
        <p:txBody>
          <a:bodyPr/>
          <a:lstStyle/>
          <a:p>
            <a:r>
              <a:rPr lang="en-US" b="0" i="0" dirty="0">
                <a:solidFill>
                  <a:srgbClr val="000000"/>
                </a:solidFill>
                <a:effectLst/>
                <a:latin typeface="Nunito" panose="020B0604020202020204" pitchFamily="2" charset="0"/>
              </a:rPr>
              <a:t>Agile Kanban is Agile Software Development with Kanban approach. In Agile Kanban, the Kanban board is used to visualize the workflow. </a:t>
            </a:r>
          </a:p>
          <a:p>
            <a:r>
              <a:rPr lang="en-US" b="0" i="0" dirty="0">
                <a:solidFill>
                  <a:srgbClr val="000000"/>
                </a:solidFill>
                <a:effectLst/>
                <a:latin typeface="Nunito" panose="020B0604020202020204" pitchFamily="2" charset="0"/>
              </a:rPr>
              <a:t>The Kanban board is normally put up on a wall in the project room. The status and progress of the story development tasks is tracked visually on the Kanban board with flowing Kanban cards.</a:t>
            </a:r>
            <a:endParaRPr lang="en-US" dirty="0"/>
          </a:p>
        </p:txBody>
      </p:sp>
    </p:spTree>
    <p:extLst>
      <p:ext uri="{BB962C8B-B14F-4D97-AF65-F5344CB8AC3E}">
        <p14:creationId xmlns:p14="http://schemas.microsoft.com/office/powerpoint/2010/main" val="546029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74AA9E-EB9B-2032-96D9-8B66A463FEF7}"/>
              </a:ext>
            </a:extLst>
          </p:cNvPr>
          <p:cNvSpPr>
            <a:spLocks noGrp="1"/>
          </p:cNvSpPr>
          <p:nvPr>
            <p:ph type="title"/>
          </p:nvPr>
        </p:nvSpPr>
        <p:spPr/>
        <p:txBody>
          <a:bodyPr/>
          <a:lstStyle/>
          <a:p>
            <a:r>
              <a:rPr lang="en-US" dirty="0"/>
              <a:t>Kanban board</a:t>
            </a:r>
          </a:p>
        </p:txBody>
      </p:sp>
      <p:sp>
        <p:nvSpPr>
          <p:cNvPr id="3" name="Content Placeholder 2">
            <a:extLst>
              <a:ext uri="{FF2B5EF4-FFF2-40B4-BE49-F238E27FC236}">
                <a16:creationId xmlns:a16="http://schemas.microsoft.com/office/drawing/2014/main" xmlns="" id="{59F6BBF4-3616-F99E-87E0-7D29CB2A6020}"/>
              </a:ext>
            </a:extLst>
          </p:cNvPr>
          <p:cNvSpPr>
            <a:spLocks noGrp="1"/>
          </p:cNvSpPr>
          <p:nvPr>
            <p:ph idx="1"/>
          </p:nvPr>
        </p:nvSpPr>
        <p:spPr>
          <a:xfrm>
            <a:off x="581192" y="2180496"/>
            <a:ext cx="3751111" cy="3678303"/>
          </a:xfrm>
        </p:spPr>
        <p:txBody>
          <a:bodyPr>
            <a:normAutofit fontScale="92500"/>
          </a:bodyPr>
          <a:lstStyle/>
          <a:p>
            <a:pPr algn="just"/>
            <a:r>
              <a:rPr lang="en-US" b="0" i="0" dirty="0">
                <a:solidFill>
                  <a:srgbClr val="000000"/>
                </a:solidFill>
                <a:effectLst/>
                <a:latin typeface="Nunito" pitchFamily="2" charset="0"/>
              </a:rPr>
              <a:t>Kanban board is used to depict the flow of tasks across the value stream. The Kanban board −</a:t>
            </a:r>
          </a:p>
          <a:p>
            <a:pPr algn="just">
              <a:buFont typeface="Arial" panose="020B0604020202020204" pitchFamily="34" charset="0"/>
              <a:buChar char="•"/>
            </a:pPr>
            <a:r>
              <a:rPr lang="en-US" b="0" i="0" dirty="0">
                <a:solidFill>
                  <a:srgbClr val="000000"/>
                </a:solidFill>
                <a:effectLst/>
                <a:latin typeface="Nunito" pitchFamily="2" charset="0"/>
              </a:rPr>
              <a:t>Provides easy access to everyone involved in the project.</a:t>
            </a:r>
          </a:p>
          <a:p>
            <a:pPr algn="just">
              <a:buFont typeface="Arial" panose="020B0604020202020204" pitchFamily="34" charset="0"/>
              <a:buChar char="•"/>
            </a:pPr>
            <a:r>
              <a:rPr lang="en-US" b="0" i="0" dirty="0">
                <a:solidFill>
                  <a:srgbClr val="000000"/>
                </a:solidFill>
                <a:effectLst/>
                <a:latin typeface="Nunito" pitchFamily="2" charset="0"/>
              </a:rPr>
              <a:t>Facilitates communication as and when necessary.</a:t>
            </a:r>
          </a:p>
          <a:p>
            <a:pPr algn="just">
              <a:buFont typeface="Arial" panose="020B0604020202020204" pitchFamily="34" charset="0"/>
              <a:buChar char="•"/>
            </a:pPr>
            <a:r>
              <a:rPr lang="en-US" b="0" i="0" dirty="0">
                <a:solidFill>
                  <a:srgbClr val="000000"/>
                </a:solidFill>
                <a:effectLst/>
                <a:latin typeface="Nunito" pitchFamily="2" charset="0"/>
              </a:rPr>
              <a:t>Progress of the tasks are visually displayed.</a:t>
            </a:r>
          </a:p>
          <a:p>
            <a:pPr algn="just">
              <a:buFont typeface="Arial" panose="020B0604020202020204" pitchFamily="34" charset="0"/>
              <a:buChar char="•"/>
            </a:pPr>
            <a:r>
              <a:rPr lang="en-US" b="0" i="0" dirty="0">
                <a:solidFill>
                  <a:srgbClr val="000000"/>
                </a:solidFill>
                <a:effectLst/>
                <a:latin typeface="Nunito" pitchFamily="2" charset="0"/>
              </a:rPr>
              <a:t>Bottlenecks are visible as soon as they occur.</a:t>
            </a:r>
          </a:p>
          <a:p>
            <a:endParaRPr lang="en-US" dirty="0"/>
          </a:p>
        </p:txBody>
      </p:sp>
      <p:pic>
        <p:nvPicPr>
          <p:cNvPr id="4" name="Content Placeholder 3">
            <a:extLst>
              <a:ext uri="{FF2B5EF4-FFF2-40B4-BE49-F238E27FC236}">
                <a16:creationId xmlns:a16="http://schemas.microsoft.com/office/drawing/2014/main" xmlns="" id="{74F4BE58-E1A0-346A-9761-EBC519D0D30A}"/>
              </a:ext>
            </a:extLst>
          </p:cNvPr>
          <p:cNvPicPr>
            <a:picLocks noChangeAspect="1"/>
          </p:cNvPicPr>
          <p:nvPr/>
        </p:nvPicPr>
        <p:blipFill>
          <a:blip r:embed="rId2"/>
          <a:stretch>
            <a:fillRect/>
          </a:stretch>
        </p:blipFill>
        <p:spPr>
          <a:xfrm>
            <a:off x="4394447" y="2057400"/>
            <a:ext cx="7234845" cy="4038600"/>
          </a:xfrm>
          <a:prstGeom prst="rect">
            <a:avLst/>
          </a:prstGeom>
        </p:spPr>
      </p:pic>
    </p:spTree>
    <p:extLst>
      <p:ext uri="{BB962C8B-B14F-4D97-AF65-F5344CB8AC3E}">
        <p14:creationId xmlns:p14="http://schemas.microsoft.com/office/powerpoint/2010/main" val="204441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257C2C-DA81-DBBA-0771-B5D21EB21C04}"/>
              </a:ext>
            </a:extLst>
          </p:cNvPr>
          <p:cNvSpPr>
            <a:spLocks noGrp="1"/>
          </p:cNvSpPr>
          <p:nvPr>
            <p:ph type="title"/>
          </p:nvPr>
        </p:nvSpPr>
        <p:spPr/>
        <p:txBody>
          <a:bodyPr/>
          <a:lstStyle/>
          <a:p>
            <a:r>
              <a:rPr lang="en-US" dirty="0"/>
              <a:t>Advantages of </a:t>
            </a:r>
            <a:r>
              <a:rPr lang="en-US" dirty="0" err="1"/>
              <a:t>kanban</a:t>
            </a:r>
            <a:endParaRPr lang="en-US" dirty="0"/>
          </a:p>
        </p:txBody>
      </p:sp>
      <p:sp>
        <p:nvSpPr>
          <p:cNvPr id="3" name="Content Placeholder 2">
            <a:extLst>
              <a:ext uri="{FF2B5EF4-FFF2-40B4-BE49-F238E27FC236}">
                <a16:creationId xmlns:a16="http://schemas.microsoft.com/office/drawing/2014/main" xmlns="" id="{07981AA4-AD83-B0EE-2503-E1D9390017F1}"/>
              </a:ext>
            </a:extLst>
          </p:cNvPr>
          <p:cNvSpPr>
            <a:spLocks noGrp="1"/>
          </p:cNvSpPr>
          <p:nvPr>
            <p:ph idx="1"/>
          </p:nvPr>
        </p:nvSpPr>
        <p:spPr/>
        <p:txBody>
          <a:bodyPr>
            <a:normAutofit fontScale="92500" lnSpcReduction="20000"/>
          </a:bodyPr>
          <a:lstStyle/>
          <a:p>
            <a:pPr algn="just"/>
            <a:r>
              <a:rPr lang="en-US" b="0" i="0" dirty="0">
                <a:solidFill>
                  <a:srgbClr val="000000"/>
                </a:solidFill>
                <a:effectLst/>
                <a:latin typeface="Nunito" pitchFamily="2" charset="0"/>
              </a:rPr>
              <a:t>The major advantages of using a Kanban board are −</a:t>
            </a:r>
          </a:p>
          <a:p>
            <a:pPr algn="just">
              <a:buFont typeface="Arial" panose="020B0604020202020204" pitchFamily="34" charset="0"/>
              <a:buChar char="•"/>
            </a:pPr>
            <a:r>
              <a:rPr lang="en-US" b="1" i="0" dirty="0">
                <a:solidFill>
                  <a:srgbClr val="000000"/>
                </a:solidFill>
                <a:effectLst/>
                <a:latin typeface="Nunito" pitchFamily="2" charset="0"/>
              </a:rPr>
              <a:t>Empowerment of Team</a:t>
            </a:r>
            <a:r>
              <a:rPr lang="en-US" b="0" i="0" dirty="0">
                <a:solidFill>
                  <a:srgbClr val="000000"/>
                </a:solidFill>
                <a:effectLst/>
                <a:latin typeface="Nunito" pitchFamily="2" charset="0"/>
              </a:rPr>
              <a:t> − This means −</a:t>
            </a:r>
          </a:p>
          <a:p>
            <a:pPr marL="742950" lvl="1" indent="-285750" algn="just">
              <a:buFont typeface="Arial" panose="020B0604020202020204" pitchFamily="34" charset="0"/>
              <a:buChar char="•"/>
            </a:pPr>
            <a:r>
              <a:rPr lang="en-US" b="0" i="0" dirty="0">
                <a:solidFill>
                  <a:srgbClr val="000000"/>
                </a:solidFill>
                <a:effectLst/>
                <a:latin typeface="Nunito" pitchFamily="2" charset="0"/>
              </a:rPr>
              <a:t>Team is allowed to take decisions as and when required.</a:t>
            </a:r>
          </a:p>
          <a:p>
            <a:pPr marL="742950" lvl="1" indent="-285750" algn="just">
              <a:buFont typeface="Arial" panose="020B0604020202020204" pitchFamily="34" charset="0"/>
              <a:buChar char="•"/>
            </a:pPr>
            <a:r>
              <a:rPr lang="en-US" b="0" i="0" dirty="0">
                <a:solidFill>
                  <a:srgbClr val="000000"/>
                </a:solidFill>
                <a:effectLst/>
                <a:latin typeface="Nunito" pitchFamily="2" charset="0"/>
              </a:rPr>
              <a:t>Team collaboratively resolves the bottlenecks.</a:t>
            </a:r>
          </a:p>
          <a:p>
            <a:pPr marL="742950" lvl="1" indent="-285750" algn="just">
              <a:buFont typeface="Arial" panose="020B0604020202020204" pitchFamily="34" charset="0"/>
              <a:buChar char="•"/>
            </a:pPr>
            <a:r>
              <a:rPr lang="en-US" b="0" i="0" dirty="0">
                <a:solidFill>
                  <a:srgbClr val="000000"/>
                </a:solidFill>
                <a:effectLst/>
                <a:latin typeface="Nunito" pitchFamily="2" charset="0"/>
              </a:rPr>
              <a:t>Team has access to the relevant information.</a:t>
            </a:r>
          </a:p>
          <a:p>
            <a:pPr marL="742950" lvl="1" indent="-285750" algn="just">
              <a:buFont typeface="Arial" panose="020B0604020202020204" pitchFamily="34" charset="0"/>
              <a:buChar char="•"/>
            </a:pPr>
            <a:r>
              <a:rPr lang="en-US" b="0" i="0" dirty="0">
                <a:solidFill>
                  <a:srgbClr val="000000"/>
                </a:solidFill>
                <a:effectLst/>
                <a:latin typeface="Nunito" pitchFamily="2" charset="0"/>
              </a:rPr>
              <a:t>Team continually communicates with customer.</a:t>
            </a:r>
          </a:p>
          <a:p>
            <a:pPr algn="just">
              <a:buFont typeface="Arial" panose="020B0604020202020204" pitchFamily="34" charset="0"/>
              <a:buChar char="•"/>
            </a:pPr>
            <a:r>
              <a:rPr lang="en-US" b="1" i="0" dirty="0">
                <a:solidFill>
                  <a:srgbClr val="000000"/>
                </a:solidFill>
                <a:effectLst/>
                <a:latin typeface="Nunito" pitchFamily="2" charset="0"/>
              </a:rPr>
              <a:t>Continuous Delivery</a:t>
            </a:r>
            <a:r>
              <a:rPr lang="en-US" b="0" i="0" dirty="0">
                <a:solidFill>
                  <a:srgbClr val="000000"/>
                </a:solidFill>
                <a:effectLst/>
                <a:latin typeface="Nunito" pitchFamily="2" charset="0"/>
              </a:rPr>
              <a:t> − This means −</a:t>
            </a:r>
          </a:p>
          <a:p>
            <a:pPr marL="742950" lvl="1" indent="-285750" algn="just">
              <a:buFont typeface="Arial" panose="020B0604020202020204" pitchFamily="34" charset="0"/>
              <a:buChar char="•"/>
            </a:pPr>
            <a:r>
              <a:rPr lang="en-US" b="0" i="0" dirty="0">
                <a:solidFill>
                  <a:srgbClr val="000000"/>
                </a:solidFill>
                <a:effectLst/>
                <a:latin typeface="Nunito" pitchFamily="2" charset="0"/>
              </a:rPr>
              <a:t>Focus on work completion.</a:t>
            </a:r>
          </a:p>
          <a:p>
            <a:pPr marL="742950" lvl="1" indent="-285750" algn="just">
              <a:buFont typeface="Arial" panose="020B0604020202020204" pitchFamily="34" charset="0"/>
              <a:buChar char="•"/>
            </a:pPr>
            <a:r>
              <a:rPr lang="en-US" b="0" i="0" dirty="0">
                <a:solidFill>
                  <a:srgbClr val="000000"/>
                </a:solidFill>
                <a:effectLst/>
                <a:latin typeface="Nunito" pitchFamily="2" charset="0"/>
              </a:rPr>
              <a:t>Limited requirements at any point of time.</a:t>
            </a:r>
          </a:p>
          <a:p>
            <a:pPr marL="742950" lvl="1" indent="-285750" algn="just">
              <a:buFont typeface="Arial" panose="020B0604020202020204" pitchFamily="34" charset="0"/>
              <a:buChar char="•"/>
            </a:pPr>
            <a:r>
              <a:rPr lang="en-US" b="0" i="0" dirty="0">
                <a:solidFill>
                  <a:srgbClr val="000000"/>
                </a:solidFill>
                <a:effectLst/>
                <a:latin typeface="Nunito" pitchFamily="2" charset="0"/>
              </a:rPr>
              <a:t>Focus on delivering value to the customer.</a:t>
            </a:r>
          </a:p>
          <a:p>
            <a:pPr marL="742950" lvl="1" indent="-285750" algn="just">
              <a:buFont typeface="Arial" panose="020B0604020202020204" pitchFamily="34" charset="0"/>
              <a:buChar char="•"/>
            </a:pPr>
            <a:r>
              <a:rPr lang="en-US" b="0" i="0" dirty="0">
                <a:solidFill>
                  <a:srgbClr val="000000"/>
                </a:solidFill>
                <a:effectLst/>
                <a:latin typeface="Nunito" pitchFamily="2" charset="0"/>
              </a:rPr>
              <a:t>Emphasis on whole project.</a:t>
            </a:r>
          </a:p>
          <a:p>
            <a:endParaRPr lang="en-US" dirty="0"/>
          </a:p>
        </p:txBody>
      </p:sp>
    </p:spTree>
    <p:extLst>
      <p:ext uri="{BB962C8B-B14F-4D97-AF65-F5344CB8AC3E}">
        <p14:creationId xmlns:p14="http://schemas.microsoft.com/office/powerpoint/2010/main" val="1701267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16214F-6F08-FBA5-3B7A-89F736C26893}"/>
              </a:ext>
            </a:extLst>
          </p:cNvPr>
          <p:cNvSpPr>
            <a:spLocks noGrp="1"/>
          </p:cNvSpPr>
          <p:nvPr>
            <p:ph type="title"/>
          </p:nvPr>
        </p:nvSpPr>
        <p:spPr/>
        <p:txBody>
          <a:bodyPr/>
          <a:lstStyle/>
          <a:p>
            <a:r>
              <a:rPr lang="en-US" dirty="0"/>
              <a:t>Kanban board</a:t>
            </a:r>
          </a:p>
        </p:txBody>
      </p:sp>
      <p:sp>
        <p:nvSpPr>
          <p:cNvPr id="3" name="Content Placeholder 2">
            <a:extLst>
              <a:ext uri="{FF2B5EF4-FFF2-40B4-BE49-F238E27FC236}">
                <a16:creationId xmlns:a16="http://schemas.microsoft.com/office/drawing/2014/main" xmlns="" id="{F2F8B422-7BF5-4303-D5C4-28107C92AA48}"/>
              </a:ext>
            </a:extLst>
          </p:cNvPr>
          <p:cNvSpPr>
            <a:spLocks noGrp="1"/>
          </p:cNvSpPr>
          <p:nvPr>
            <p:ph idx="1"/>
          </p:nvPr>
        </p:nvSpPr>
        <p:spPr>
          <a:xfrm>
            <a:off x="581192" y="2180496"/>
            <a:ext cx="11204654" cy="3678303"/>
          </a:xfrm>
        </p:spPr>
        <p:txBody>
          <a:bodyPr>
            <a:normAutofit fontScale="77500" lnSpcReduction="20000"/>
          </a:bodyPr>
          <a:lstStyle/>
          <a:p>
            <a:pPr algn="just"/>
            <a:r>
              <a:rPr lang="en-US" b="0" i="0" dirty="0">
                <a:solidFill>
                  <a:srgbClr val="000000"/>
                </a:solidFill>
                <a:effectLst/>
                <a:latin typeface="Nunito" pitchFamily="2" charset="0"/>
              </a:rPr>
              <a:t>The tasks and stories are represented by Kanban cards. The current status of each task is known by displaying the cards in separate columns on the board. The columns are labeled as </a:t>
            </a:r>
            <a:r>
              <a:rPr lang="en-US" b="1" i="0" dirty="0">
                <a:solidFill>
                  <a:srgbClr val="000000"/>
                </a:solidFill>
                <a:effectLst/>
                <a:latin typeface="Nunito" pitchFamily="2" charset="0"/>
              </a:rPr>
              <a:t>To Do, Doing</a:t>
            </a:r>
            <a:r>
              <a:rPr lang="en-US" b="0" i="0" dirty="0">
                <a:solidFill>
                  <a:srgbClr val="000000"/>
                </a:solidFill>
                <a:effectLst/>
                <a:latin typeface="Nunito" pitchFamily="2" charset="0"/>
              </a:rPr>
              <a:t>, and </a:t>
            </a:r>
            <a:r>
              <a:rPr lang="en-US" b="1" i="0" dirty="0">
                <a:solidFill>
                  <a:srgbClr val="000000"/>
                </a:solidFill>
                <a:effectLst/>
                <a:latin typeface="Nunito" pitchFamily="2" charset="0"/>
              </a:rPr>
              <a:t>Done</a:t>
            </a:r>
            <a:r>
              <a:rPr lang="en-US" b="0" i="0" dirty="0">
                <a:solidFill>
                  <a:srgbClr val="000000"/>
                </a:solidFill>
                <a:effectLst/>
                <a:latin typeface="Nunito" pitchFamily="2" charset="0"/>
              </a:rPr>
              <a:t>. Each task moves from </a:t>
            </a:r>
            <a:r>
              <a:rPr lang="en-US" b="1" i="0" dirty="0">
                <a:solidFill>
                  <a:srgbClr val="000000"/>
                </a:solidFill>
                <a:effectLst/>
                <a:latin typeface="Nunito" pitchFamily="2" charset="0"/>
              </a:rPr>
              <a:t>To Do</a:t>
            </a:r>
            <a:r>
              <a:rPr lang="en-US" b="0" i="0" dirty="0">
                <a:solidFill>
                  <a:srgbClr val="000000"/>
                </a:solidFill>
                <a:effectLst/>
                <a:latin typeface="Nunito" pitchFamily="2" charset="0"/>
              </a:rPr>
              <a:t> to </a:t>
            </a:r>
            <a:r>
              <a:rPr lang="en-US" b="1" i="0" dirty="0">
                <a:solidFill>
                  <a:srgbClr val="000000"/>
                </a:solidFill>
                <a:effectLst/>
                <a:latin typeface="Nunito" pitchFamily="2" charset="0"/>
              </a:rPr>
              <a:t>Doing</a:t>
            </a:r>
            <a:r>
              <a:rPr lang="en-US" b="0" i="0" dirty="0">
                <a:solidFill>
                  <a:srgbClr val="000000"/>
                </a:solidFill>
                <a:effectLst/>
                <a:latin typeface="Nunito" pitchFamily="2" charset="0"/>
              </a:rPr>
              <a:t> and then to </a:t>
            </a:r>
            <a:r>
              <a:rPr lang="en-US" b="1" i="0" dirty="0">
                <a:solidFill>
                  <a:srgbClr val="000000"/>
                </a:solidFill>
                <a:effectLst/>
                <a:latin typeface="Nunito" pitchFamily="2" charset="0"/>
              </a:rPr>
              <a:t>Done</a:t>
            </a:r>
            <a:r>
              <a:rPr lang="en-US" b="0" i="0" dirty="0">
                <a:solidFill>
                  <a:srgbClr val="000000"/>
                </a:solidFill>
                <a:effectLst/>
                <a:latin typeface="Nunito" pitchFamily="2" charset="0"/>
              </a:rPr>
              <a:t>.</a:t>
            </a:r>
          </a:p>
          <a:p>
            <a:pPr algn="just"/>
            <a:r>
              <a:rPr lang="en-US" b="0" i="0" dirty="0">
                <a:solidFill>
                  <a:srgbClr val="000000"/>
                </a:solidFill>
                <a:effectLst/>
                <a:latin typeface="Nunito" pitchFamily="2" charset="0"/>
              </a:rPr>
              <a:t>Kanban Board is updated on a daily basis as the team progresses through the development.</a:t>
            </a:r>
          </a:p>
          <a:p>
            <a:pPr algn="l"/>
            <a:r>
              <a:rPr lang="en-US" b="1" i="0" dirty="0">
                <a:effectLst/>
                <a:latin typeface="Heebo" panose="020B0604020202020204" pitchFamily="2" charset="-79"/>
                <a:cs typeface="Heebo" panose="020B0604020202020204" pitchFamily="2" charset="-79"/>
              </a:rPr>
              <a:t>WIP Limit</a:t>
            </a:r>
          </a:p>
          <a:p>
            <a:pPr algn="just"/>
            <a:r>
              <a:rPr lang="en-US" b="0" i="0" dirty="0">
                <a:solidFill>
                  <a:srgbClr val="000000"/>
                </a:solidFill>
                <a:effectLst/>
                <a:latin typeface="Nunito" pitchFamily="2" charset="0"/>
              </a:rPr>
              <a:t>The label in the Doing column also contains a number, which represents the maximum number of tasks that can be in that column at any point of time. i.e., the number associated with the </a:t>
            </a:r>
            <a:r>
              <a:rPr lang="en-US" b="1" i="0" dirty="0">
                <a:solidFill>
                  <a:srgbClr val="000000"/>
                </a:solidFill>
                <a:effectLst/>
                <a:latin typeface="Nunito" pitchFamily="2" charset="0"/>
              </a:rPr>
              <a:t>Doing</a:t>
            </a:r>
            <a:r>
              <a:rPr lang="en-US" b="0" i="0" dirty="0">
                <a:solidFill>
                  <a:srgbClr val="000000"/>
                </a:solidFill>
                <a:effectLst/>
                <a:latin typeface="Nunito" pitchFamily="2" charset="0"/>
              </a:rPr>
              <a:t> column is the WIP (Work-In-Progress) Limit.</a:t>
            </a:r>
          </a:p>
          <a:p>
            <a:pPr algn="l"/>
            <a:r>
              <a:rPr lang="en-US" b="1" i="0" dirty="0">
                <a:effectLst/>
                <a:latin typeface="Heebo" panose="020B0604020202020204" pitchFamily="2" charset="-79"/>
                <a:cs typeface="Heebo" panose="020B0604020202020204" pitchFamily="2" charset="-79"/>
              </a:rPr>
              <a:t>Pull Approach</a:t>
            </a:r>
          </a:p>
          <a:p>
            <a:pPr algn="l"/>
            <a:r>
              <a:rPr lang="en-US" dirty="0">
                <a:solidFill>
                  <a:srgbClr val="000000"/>
                </a:solidFill>
                <a:latin typeface="Nunito" pitchFamily="2" charset="0"/>
              </a:rPr>
              <a:t>In the pull approach of Kanban, work is like a three-step dance:</a:t>
            </a:r>
          </a:p>
          <a:p>
            <a:pPr algn="l">
              <a:buFont typeface="+mj-lt"/>
              <a:buAutoNum type="arabicPeriod"/>
            </a:pPr>
            <a:r>
              <a:rPr lang="en-US" dirty="0">
                <a:solidFill>
                  <a:srgbClr val="000000"/>
                </a:solidFill>
                <a:latin typeface="Nunito" pitchFamily="2" charset="0"/>
              </a:rPr>
              <a:t>To Do: Work items wait here until someone is ready to work on them. It's like waiting for your turn in line.</a:t>
            </a:r>
          </a:p>
          <a:p>
            <a:pPr algn="l">
              <a:buFont typeface="+mj-lt"/>
              <a:buAutoNum type="arabicPeriod"/>
            </a:pPr>
            <a:r>
              <a:rPr lang="en-US" dirty="0">
                <a:solidFill>
                  <a:srgbClr val="000000"/>
                </a:solidFill>
                <a:latin typeface="Nunito" pitchFamily="2" charset="0"/>
              </a:rPr>
              <a:t>Doing: When a team member is available, they pull a task from the "To Do" column into the "Doing" column. It's like saying, "I'm ready now."</a:t>
            </a:r>
          </a:p>
          <a:p>
            <a:pPr algn="l">
              <a:buFont typeface="+mj-lt"/>
              <a:buAutoNum type="arabicPeriod"/>
            </a:pPr>
            <a:r>
              <a:rPr lang="en-US" dirty="0">
                <a:solidFill>
                  <a:srgbClr val="000000"/>
                </a:solidFill>
                <a:latin typeface="Nunito" pitchFamily="2" charset="0"/>
              </a:rPr>
              <a:t>Done: After completing the task, it's moved to the "Done" column. This represents successful completion.</a:t>
            </a:r>
          </a:p>
          <a:p>
            <a:pPr algn="l"/>
            <a:r>
              <a:rPr lang="en-US" dirty="0">
                <a:solidFill>
                  <a:srgbClr val="000000"/>
                </a:solidFill>
                <a:latin typeface="Nunito" pitchFamily="2" charset="0"/>
              </a:rPr>
              <a:t>So, work is only done when someone is ready for it, not when it's pushed onto them. This keeps things flowing smoothly.</a:t>
            </a:r>
          </a:p>
          <a:p>
            <a:pPr algn="just"/>
            <a:endParaRPr lang="en-US" b="0" i="0" dirty="0">
              <a:solidFill>
                <a:srgbClr val="000000"/>
              </a:solidFill>
              <a:effectLst/>
              <a:latin typeface="Nunito" pitchFamily="2" charset="0"/>
            </a:endParaRPr>
          </a:p>
          <a:p>
            <a:endParaRPr lang="en-US" dirty="0"/>
          </a:p>
        </p:txBody>
      </p:sp>
    </p:spTree>
    <p:extLst>
      <p:ext uri="{BB962C8B-B14F-4D97-AF65-F5344CB8AC3E}">
        <p14:creationId xmlns:p14="http://schemas.microsoft.com/office/powerpoint/2010/main" val="1454948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0C3963D3-E216-B6D6-C5E9-F69F74DD10B7}"/>
              </a:ext>
            </a:extLst>
          </p:cNvPr>
          <p:cNvPicPr>
            <a:picLocks noChangeAspect="1"/>
          </p:cNvPicPr>
          <p:nvPr/>
        </p:nvPicPr>
        <p:blipFill>
          <a:blip r:embed="rId2"/>
          <a:stretch>
            <a:fillRect/>
          </a:stretch>
        </p:blipFill>
        <p:spPr>
          <a:xfrm>
            <a:off x="192307" y="637091"/>
            <a:ext cx="11807386" cy="5583818"/>
          </a:xfrm>
          <a:prstGeom prst="rect">
            <a:avLst/>
          </a:prstGeom>
        </p:spPr>
      </p:pic>
    </p:spTree>
    <p:extLst>
      <p:ext uri="{BB962C8B-B14F-4D97-AF65-F5344CB8AC3E}">
        <p14:creationId xmlns:p14="http://schemas.microsoft.com/office/powerpoint/2010/main" val="2411270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90147C-2902-8388-D50D-3D31F635D092}"/>
              </a:ext>
            </a:extLst>
          </p:cNvPr>
          <p:cNvSpPr>
            <a:spLocks noGrp="1"/>
          </p:cNvSpPr>
          <p:nvPr>
            <p:ph type="title"/>
          </p:nvPr>
        </p:nvSpPr>
        <p:spPr/>
        <p:txBody>
          <a:bodyPr/>
          <a:lstStyle/>
          <a:p>
            <a:r>
              <a:rPr lang="en-US" dirty="0"/>
              <a:t>Kanban board</a:t>
            </a:r>
          </a:p>
        </p:txBody>
      </p:sp>
      <p:sp>
        <p:nvSpPr>
          <p:cNvPr id="3" name="Content Placeholder 2">
            <a:extLst>
              <a:ext uri="{FF2B5EF4-FFF2-40B4-BE49-F238E27FC236}">
                <a16:creationId xmlns:a16="http://schemas.microsoft.com/office/drawing/2014/main" xmlns="" id="{B1F452B3-278A-7BFD-CAFC-9B87E2AE64CE}"/>
              </a:ext>
            </a:extLst>
          </p:cNvPr>
          <p:cNvSpPr>
            <a:spLocks noGrp="1"/>
          </p:cNvSpPr>
          <p:nvPr>
            <p:ph idx="1"/>
          </p:nvPr>
        </p:nvSpPr>
        <p:spPr/>
        <p:txBody>
          <a:bodyPr>
            <a:normAutofit fontScale="92500" lnSpcReduction="10000"/>
          </a:bodyPr>
          <a:lstStyle/>
          <a:p>
            <a:pPr algn="l"/>
            <a:r>
              <a:rPr lang="en-US" b="1" i="0" dirty="0">
                <a:effectLst/>
                <a:latin typeface="Heebo" pitchFamily="2" charset="-79"/>
                <a:cs typeface="Heebo" pitchFamily="2" charset="-79"/>
              </a:rPr>
              <a:t>Self-directing</a:t>
            </a:r>
          </a:p>
          <a:p>
            <a:pPr algn="just"/>
            <a:r>
              <a:rPr lang="en-US" b="0" i="0" dirty="0">
                <a:solidFill>
                  <a:srgbClr val="000000"/>
                </a:solidFill>
                <a:effectLst/>
                <a:latin typeface="Nunito" pitchFamily="2" charset="0"/>
              </a:rPr>
              <a:t>In Agile Development, the team is responsible for planning, tracking, reporting and communicating in the project. Team is allowed to make decisions and is accountable for the completion of the development and product quality. This is aligned to the characteristic of empowerment of the team in Kanban.</a:t>
            </a:r>
          </a:p>
          <a:p>
            <a:pPr algn="l"/>
            <a:r>
              <a:rPr lang="en-US" b="1" i="0" dirty="0">
                <a:effectLst/>
                <a:latin typeface="Heebo" pitchFamily="2" charset="-79"/>
                <a:cs typeface="Heebo" pitchFamily="2" charset="-79"/>
              </a:rPr>
              <a:t>Continuous Flow</a:t>
            </a:r>
          </a:p>
          <a:p>
            <a:pPr algn="just"/>
            <a:r>
              <a:rPr lang="en-US" b="0" i="0" dirty="0">
                <a:solidFill>
                  <a:srgbClr val="000000"/>
                </a:solidFill>
                <a:effectLst/>
                <a:latin typeface="Nunito" pitchFamily="2" charset="0"/>
              </a:rPr>
              <a:t>In Agile development, there is no gate approach and the work flows across the different functions without wait-time. This contributes in minimizing the cycle time characteristic of Kanban.</a:t>
            </a:r>
          </a:p>
          <a:p>
            <a:pPr algn="l"/>
            <a:r>
              <a:rPr lang="en-US" b="1" i="0" dirty="0">
                <a:effectLst/>
                <a:latin typeface="Heebo" pitchFamily="2" charset="-79"/>
                <a:cs typeface="Heebo" pitchFamily="2" charset="-79"/>
              </a:rPr>
              <a:t>Visual Metrics</a:t>
            </a:r>
          </a:p>
          <a:p>
            <a:pPr algn="just"/>
            <a:r>
              <a:rPr lang="en-US" b="0" i="0" dirty="0">
                <a:solidFill>
                  <a:srgbClr val="000000"/>
                </a:solidFill>
                <a:effectLst/>
                <a:latin typeface="Nunito" pitchFamily="2" charset="0"/>
              </a:rPr>
              <a:t>In Agile Kanban, the metrics are tracked visually using −</a:t>
            </a:r>
          </a:p>
          <a:p>
            <a:pPr algn="l">
              <a:buFont typeface="Arial" panose="020B0604020202020204" pitchFamily="34" charset="0"/>
              <a:buChar char="•"/>
            </a:pPr>
            <a:r>
              <a:rPr lang="en-US" b="0" i="0" dirty="0">
                <a:solidFill>
                  <a:srgbClr val="000000"/>
                </a:solidFill>
                <a:effectLst/>
                <a:latin typeface="Nunito" pitchFamily="2" charset="0"/>
              </a:rPr>
              <a:t>Kanban Board</a:t>
            </a:r>
          </a:p>
          <a:p>
            <a:pPr algn="l">
              <a:buFont typeface="Arial" panose="020B0604020202020204" pitchFamily="34" charset="0"/>
              <a:buChar char="•"/>
            </a:pPr>
            <a:r>
              <a:rPr lang="en-US" b="0" i="0" dirty="0">
                <a:solidFill>
                  <a:srgbClr val="000000"/>
                </a:solidFill>
                <a:effectLst/>
                <a:latin typeface="Nunito" pitchFamily="2" charset="0"/>
              </a:rPr>
              <a:t>Burndown Chart</a:t>
            </a:r>
          </a:p>
          <a:p>
            <a:endParaRPr lang="en-US" dirty="0"/>
          </a:p>
        </p:txBody>
      </p:sp>
    </p:spTree>
    <p:extLst>
      <p:ext uri="{BB962C8B-B14F-4D97-AF65-F5344CB8AC3E}">
        <p14:creationId xmlns:p14="http://schemas.microsoft.com/office/powerpoint/2010/main" val="253369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292EB-ADA3-7011-9C07-8E7AEC3FA2F9}"/>
              </a:ext>
            </a:extLst>
          </p:cNvPr>
          <p:cNvSpPr>
            <a:spLocks noGrp="1"/>
          </p:cNvSpPr>
          <p:nvPr>
            <p:ph type="title"/>
          </p:nvPr>
        </p:nvSpPr>
        <p:spPr/>
        <p:txBody>
          <a:bodyPr/>
          <a:lstStyle/>
          <a:p>
            <a:r>
              <a:rPr lang="en-US" dirty="0"/>
              <a:t>What is a burndown chart?</a:t>
            </a:r>
          </a:p>
        </p:txBody>
      </p:sp>
      <p:sp>
        <p:nvSpPr>
          <p:cNvPr id="3" name="Content Placeholder 2">
            <a:extLst>
              <a:ext uri="{FF2B5EF4-FFF2-40B4-BE49-F238E27FC236}">
                <a16:creationId xmlns:a16="http://schemas.microsoft.com/office/drawing/2014/main" xmlns="" id="{8A7FDC37-BDC3-467D-4E21-CD7E5F5F2481}"/>
              </a:ext>
            </a:extLst>
          </p:cNvPr>
          <p:cNvSpPr>
            <a:spLocks noGrp="1"/>
          </p:cNvSpPr>
          <p:nvPr>
            <p:ph idx="1"/>
          </p:nvPr>
        </p:nvSpPr>
        <p:spPr/>
        <p:txBody>
          <a:bodyPr/>
          <a:lstStyle/>
          <a:p>
            <a:r>
              <a:rPr lang="en-US" dirty="0"/>
              <a:t>What is a burndown chart? In a nutshell, it’s a project management tool that PMs use to help their teams forecast, view, and track project process.</a:t>
            </a:r>
          </a:p>
          <a:p>
            <a:r>
              <a:rPr lang="en-US" dirty="0"/>
              <a:t>What is burn rate in Agile? A project burndown chart (also known as a project burn rate chart or PERT chart) is a graph that shows how many project tasks are left to finish during a selected time period. Teams use it to keep track of progress and to visualize forecasting. The x-axis of the chart shows the amount of time (in days, weeks, or months) and the y-axis shows the number of tasks (or labor, in estimated hours). </a:t>
            </a:r>
          </a:p>
          <a:p>
            <a:r>
              <a:rPr lang="en-US" dirty="0"/>
              <a:t>It’s called “burndown” because it’s expected that your tasks will decrease as the project goes on, creating a literal downward line on the chart as your team “burns” through project activities. This is, of course, under ideal circumstances with limited disruptions or backlog, which is why this graph line is called the ideal line. </a:t>
            </a:r>
          </a:p>
        </p:txBody>
      </p:sp>
    </p:spTree>
    <p:extLst>
      <p:ext uri="{BB962C8B-B14F-4D97-AF65-F5344CB8AC3E}">
        <p14:creationId xmlns:p14="http://schemas.microsoft.com/office/powerpoint/2010/main" val="4262711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mple Burndown Chart 1">
            <a:extLst>
              <a:ext uri="{FF2B5EF4-FFF2-40B4-BE49-F238E27FC236}">
                <a16:creationId xmlns:a16="http://schemas.microsoft.com/office/drawing/2014/main" xmlns="" id="{73E4E9BD-51DD-DF82-E135-56C9B3E2F9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6624" y="2143308"/>
            <a:ext cx="8704880" cy="437281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xmlns="" id="{B37FAF4C-39E2-76AE-088B-43A6846D371C}"/>
              </a:ext>
            </a:extLst>
          </p:cNvPr>
          <p:cNvSpPr>
            <a:spLocks noGrp="1"/>
          </p:cNvSpPr>
          <p:nvPr>
            <p:ph type="title"/>
          </p:nvPr>
        </p:nvSpPr>
        <p:spPr>
          <a:xfrm>
            <a:off x="581192" y="702156"/>
            <a:ext cx="11029616" cy="1013800"/>
          </a:xfrm>
        </p:spPr>
        <p:txBody>
          <a:bodyPr/>
          <a:lstStyle/>
          <a:p>
            <a:r>
              <a:rPr lang="en-US" dirty="0"/>
              <a:t>What is a burndown chart?</a:t>
            </a:r>
          </a:p>
        </p:txBody>
      </p:sp>
    </p:spTree>
    <p:extLst>
      <p:ext uri="{BB962C8B-B14F-4D97-AF65-F5344CB8AC3E}">
        <p14:creationId xmlns:p14="http://schemas.microsoft.com/office/powerpoint/2010/main" val="146367090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TM03457464[[fn=Dividend]]</Template>
  <TotalTime>135</TotalTime>
  <Words>1298</Words>
  <Application>Microsoft Office PowerPoint</Application>
  <PresentationFormat>Widescreen</PresentationFormat>
  <Paragraphs>95</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Gill Sans MT</vt:lpstr>
      <vt:lpstr>Heebo</vt:lpstr>
      <vt:lpstr>Nunito</vt:lpstr>
      <vt:lpstr>TT_Norms_Pro</vt:lpstr>
      <vt:lpstr>Wingdings 2</vt:lpstr>
      <vt:lpstr>Dividend</vt:lpstr>
      <vt:lpstr>Sen-220 software engineering</vt:lpstr>
      <vt:lpstr>WHAT IS AGILITY?</vt:lpstr>
      <vt:lpstr>What is agile?</vt:lpstr>
      <vt:lpstr>AGILITY AND THE COST OF CHANGE</vt:lpstr>
      <vt:lpstr>WHAT IS AN AGILE PROCESS?</vt:lpstr>
      <vt:lpstr>Agile manifesto</vt:lpstr>
      <vt:lpstr>Agility principles</vt:lpstr>
      <vt:lpstr>Agility principles</vt:lpstr>
      <vt:lpstr>How does a team become Agile?</vt:lpstr>
      <vt:lpstr>What is Scrum in AGILE?</vt:lpstr>
      <vt:lpstr>PowerPoint Presentation</vt:lpstr>
      <vt:lpstr>What is Scrum in AGILE?</vt:lpstr>
      <vt:lpstr>KANBAN</vt:lpstr>
      <vt:lpstr>Kanban board</vt:lpstr>
      <vt:lpstr>Advantages of kanban</vt:lpstr>
      <vt:lpstr>Kanban board</vt:lpstr>
      <vt:lpstr>PowerPoint Presentation</vt:lpstr>
      <vt:lpstr>Kanban board</vt:lpstr>
      <vt:lpstr>What is a burndown chart?</vt:lpstr>
      <vt:lpstr>What is a burndown chart?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Sen-220 software engineering</dc:title>
  <dc:creator>Reema Qaiser BUKC</dc:creator>
  <cp:lastModifiedBy>BUKC</cp:lastModifiedBy>
  <cp:revision>16</cp:revision>
  <dcterms:created xsi:type="dcterms:W3CDTF">2022-10-17T04:27:33Z</dcterms:created>
  <dcterms:modified xsi:type="dcterms:W3CDTF">2024-09-27T04:29:59Z</dcterms:modified>
</cp:coreProperties>
</file>