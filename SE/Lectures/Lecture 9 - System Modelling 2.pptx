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0F6DCA-CA2E-C3C9-5077-B380524D7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Sen-220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14B93FF-B20F-85AF-8F17-B9B8FC80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System </a:t>
            </a:r>
            <a:r>
              <a:rPr lang="en-US" sz="2800" smtClean="0"/>
              <a:t>modeling-II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81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35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0055" marR="257810" indent="-172720" algn="just">
              <a:lnSpc>
                <a:spcPct val="110000"/>
              </a:lnSpc>
              <a:spcBef>
                <a:spcPts val="670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b="1" spc="-5" dirty="0">
                <a:latin typeface="Liberation Sans Narrow"/>
                <a:cs typeface="Liberation Sans Narrow"/>
              </a:rPr>
              <a:t>Definition: </a:t>
            </a: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class diagram is </a:t>
            </a: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diagram showing </a:t>
            </a: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collection </a:t>
            </a:r>
            <a:r>
              <a:rPr lang="en-US" dirty="0">
                <a:latin typeface="Liberation Sans Narrow"/>
                <a:cs typeface="Liberation Sans Narrow"/>
              </a:rPr>
              <a:t>of  </a:t>
            </a:r>
            <a:r>
              <a:rPr lang="en-US" spc="-5" dirty="0">
                <a:latin typeface="Liberation Sans Narrow"/>
                <a:cs typeface="Liberation Sans Narrow"/>
              </a:rPr>
              <a:t>classes </a:t>
            </a:r>
            <a:r>
              <a:rPr lang="en-US" dirty="0">
                <a:latin typeface="Liberation Sans Narrow"/>
                <a:cs typeface="Liberation Sans Narrow"/>
              </a:rPr>
              <a:t>and </a:t>
            </a:r>
            <a:r>
              <a:rPr lang="en-US" spc="-5" dirty="0">
                <a:latin typeface="Liberation Sans Narrow"/>
                <a:cs typeface="Liberation Sans Narrow"/>
              </a:rPr>
              <a:t>interfaces, along with the collaborations </a:t>
            </a:r>
            <a:r>
              <a:rPr lang="en-US" dirty="0">
                <a:latin typeface="Liberation Sans Narrow"/>
                <a:cs typeface="Liberation Sans Narrow"/>
              </a:rPr>
              <a:t>and  </a:t>
            </a:r>
            <a:r>
              <a:rPr lang="en-US" spc="-5" dirty="0">
                <a:latin typeface="Liberation Sans Narrow"/>
                <a:cs typeface="Liberation Sans Narrow"/>
              </a:rPr>
              <a:t>relationships among classes </a:t>
            </a:r>
            <a:r>
              <a:rPr lang="en-US" dirty="0">
                <a:latin typeface="Liberation Sans Narrow"/>
                <a:cs typeface="Liberation Sans Narrow"/>
              </a:rPr>
              <a:t>and</a:t>
            </a:r>
            <a:r>
              <a:rPr lang="en-US" spc="5" dirty="0"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latin typeface="Liberation Sans Narrow"/>
                <a:cs typeface="Liberation Sans Narrow"/>
              </a:rPr>
              <a:t>interfaces.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57810" indent="-172720" algn="just">
              <a:lnSpc>
                <a:spcPct val="110000"/>
              </a:lnSpc>
              <a:spcBef>
                <a:spcPts val="345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pc="-5" dirty="0">
                <a:latin typeface="Liberation Sans Narrow"/>
                <a:cs typeface="Liberation Sans Narrow"/>
              </a:rPr>
              <a:t>When you designed </a:t>
            </a:r>
            <a:r>
              <a:rPr lang="en-US" dirty="0">
                <a:latin typeface="Liberation Sans Narrow"/>
                <a:cs typeface="Liberation Sans Narrow"/>
              </a:rPr>
              <a:t>the </a:t>
            </a:r>
            <a:r>
              <a:rPr lang="en-US" spc="-5" dirty="0">
                <a:latin typeface="Liberation Sans Narrow"/>
                <a:cs typeface="Liberation Sans Narrow"/>
              </a:rPr>
              <a:t>use cases, you must have realized </a:t>
            </a:r>
            <a:r>
              <a:rPr lang="en-US" dirty="0">
                <a:latin typeface="Liberation Sans Narrow"/>
                <a:cs typeface="Liberation Sans Narrow"/>
              </a:rPr>
              <a:t>that the  </a:t>
            </a:r>
            <a:r>
              <a:rPr lang="en-US" spc="-5" dirty="0">
                <a:latin typeface="Liberation Sans Narrow"/>
                <a:cs typeface="Liberation Sans Narrow"/>
              </a:rPr>
              <a:t>use cases talk </a:t>
            </a:r>
            <a:r>
              <a:rPr lang="en-US" dirty="0">
                <a:latin typeface="Liberation Sans Narrow"/>
                <a:cs typeface="Liberation Sans Narrow"/>
              </a:rPr>
              <a:t>about </a:t>
            </a:r>
            <a:r>
              <a:rPr lang="en-US" spc="-5" dirty="0">
                <a:latin typeface="Liberation Sans Narrow"/>
                <a:cs typeface="Liberation Sans Narrow"/>
              </a:rPr>
              <a:t>"what are </a:t>
            </a:r>
            <a:r>
              <a:rPr lang="en-US" dirty="0">
                <a:latin typeface="Liberation Sans Narrow"/>
                <a:cs typeface="Liberation Sans Narrow"/>
              </a:rPr>
              <a:t>the </a:t>
            </a:r>
            <a:r>
              <a:rPr lang="en-US" spc="-5" dirty="0">
                <a:latin typeface="Liberation Sans Narrow"/>
                <a:cs typeface="Liberation Sans Narrow"/>
              </a:rPr>
              <a:t>requirements" </a:t>
            </a:r>
            <a:r>
              <a:rPr lang="en-US" dirty="0">
                <a:latin typeface="Liberation Sans Narrow"/>
                <a:cs typeface="Liberation Sans Narrow"/>
              </a:rPr>
              <a:t>of a</a:t>
            </a:r>
            <a:r>
              <a:rPr lang="en-US" spc="15" dirty="0"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latin typeface="Liberation Sans Narrow"/>
                <a:cs typeface="Liberation Sans Narrow"/>
              </a:rPr>
              <a:t>system?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59715" indent="-172720" algn="just">
              <a:lnSpc>
                <a:spcPct val="110000"/>
              </a:lnSpc>
              <a:spcBef>
                <a:spcPts val="254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pc="-5" dirty="0">
                <a:latin typeface="Liberation Sans Narrow"/>
                <a:cs typeface="Liberation Sans Narrow"/>
              </a:rPr>
              <a:t>The aim </a:t>
            </a:r>
            <a:r>
              <a:rPr lang="en-US" dirty="0">
                <a:latin typeface="Liberation Sans Narrow"/>
                <a:cs typeface="Liberation Sans Narrow"/>
              </a:rPr>
              <a:t>of </a:t>
            </a:r>
            <a:r>
              <a:rPr lang="en-US" spc="-5" dirty="0">
                <a:latin typeface="Liberation Sans Narrow"/>
                <a:cs typeface="Liberation Sans Narrow"/>
              </a:rPr>
              <a:t>designing classes is </a:t>
            </a:r>
            <a:r>
              <a:rPr lang="en-US" dirty="0">
                <a:latin typeface="Liberation Sans Narrow"/>
                <a:cs typeface="Liberation Sans Narrow"/>
              </a:rPr>
              <a:t>to </a:t>
            </a:r>
            <a:r>
              <a:rPr lang="en-US" spc="-5" dirty="0">
                <a:latin typeface="Liberation Sans Narrow"/>
                <a:cs typeface="Liberation Sans Narrow"/>
              </a:rPr>
              <a:t>convert this "what" </a:t>
            </a:r>
            <a:r>
              <a:rPr lang="en-US" dirty="0">
                <a:latin typeface="Liberation Sans Narrow"/>
                <a:cs typeface="Liberation Sans Narrow"/>
              </a:rPr>
              <a:t>to a </a:t>
            </a:r>
            <a:r>
              <a:rPr lang="en-US" spc="-5" dirty="0">
                <a:latin typeface="Liberation Sans Narrow"/>
                <a:cs typeface="Liberation Sans Narrow"/>
              </a:rPr>
              <a:t>"how" </a:t>
            </a:r>
            <a:r>
              <a:rPr lang="en-US" dirty="0">
                <a:latin typeface="Liberation Sans Narrow"/>
                <a:cs typeface="Liberation Sans Narrow"/>
              </a:rPr>
              <a:t>for  </a:t>
            </a:r>
            <a:r>
              <a:rPr lang="en-US" spc="-5" dirty="0">
                <a:latin typeface="Liberation Sans Narrow"/>
                <a:cs typeface="Liberation Sans Narrow"/>
              </a:rPr>
              <a:t>each</a:t>
            </a:r>
            <a:r>
              <a:rPr lang="en-US" spc="-10" dirty="0"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latin typeface="Liberation Sans Narrow"/>
                <a:cs typeface="Liberation Sans Narrow"/>
              </a:rPr>
              <a:t>requirement.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58445" indent="-172720" algn="just">
              <a:lnSpc>
                <a:spcPct val="110000"/>
              </a:lnSpc>
              <a:spcBef>
                <a:spcPts val="285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pc="-5" dirty="0">
                <a:latin typeface="Liberation Sans Narrow"/>
                <a:cs typeface="Liberation Sans Narrow"/>
              </a:rPr>
              <a:t>Each use case is further analyzed </a:t>
            </a:r>
            <a:r>
              <a:rPr lang="en-US" dirty="0">
                <a:latin typeface="Liberation Sans Narrow"/>
                <a:cs typeface="Liberation Sans Narrow"/>
              </a:rPr>
              <a:t>and </a:t>
            </a:r>
            <a:r>
              <a:rPr lang="en-US" spc="-5" dirty="0">
                <a:latin typeface="Liberation Sans Narrow"/>
                <a:cs typeface="Liberation Sans Narrow"/>
              </a:rPr>
              <a:t>broken up into atomic  components </a:t>
            </a:r>
            <a:r>
              <a:rPr lang="en-US" dirty="0">
                <a:latin typeface="Liberation Sans Narrow"/>
                <a:cs typeface="Liberation Sans Narrow"/>
              </a:rPr>
              <a:t>that </a:t>
            </a:r>
            <a:r>
              <a:rPr lang="en-US" spc="-5" dirty="0">
                <a:latin typeface="Liberation Sans Narrow"/>
                <a:cs typeface="Liberation Sans Narrow"/>
              </a:rPr>
              <a:t>form </a:t>
            </a:r>
            <a:r>
              <a:rPr lang="en-US" dirty="0">
                <a:latin typeface="Liberation Sans Narrow"/>
                <a:cs typeface="Liberation Sans Narrow"/>
              </a:rPr>
              <a:t>the </a:t>
            </a:r>
            <a:r>
              <a:rPr lang="en-US" spc="-5" dirty="0">
                <a:latin typeface="Liberation Sans Narrow"/>
                <a:cs typeface="Liberation Sans Narrow"/>
              </a:rPr>
              <a:t>basis </a:t>
            </a:r>
            <a:r>
              <a:rPr lang="en-US" dirty="0">
                <a:latin typeface="Liberation Sans Narrow"/>
                <a:cs typeface="Liberation Sans Narrow"/>
              </a:rPr>
              <a:t>for the </a:t>
            </a:r>
            <a:r>
              <a:rPr lang="en-US" spc="-5" dirty="0">
                <a:latin typeface="Liberation Sans Narrow"/>
                <a:cs typeface="Liberation Sans Narrow"/>
              </a:rPr>
              <a:t>classes that </a:t>
            </a:r>
            <a:r>
              <a:rPr lang="en-US" dirty="0">
                <a:latin typeface="Liberation Sans Narrow"/>
                <a:cs typeface="Liberation Sans Narrow"/>
              </a:rPr>
              <a:t>need to be  </a:t>
            </a:r>
            <a:r>
              <a:rPr lang="en-US" spc="-5" dirty="0">
                <a:latin typeface="Liberation Sans Narrow"/>
                <a:cs typeface="Liberation Sans Narrow"/>
              </a:rPr>
              <a:t>designed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9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35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0055" marR="257810" indent="-172720" algn="just">
              <a:lnSpc>
                <a:spcPct val="120000"/>
              </a:lnSpc>
              <a:spcBef>
                <a:spcPts val="730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class diagram is </a:t>
            </a: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pictorial representation </a:t>
            </a:r>
            <a:r>
              <a:rPr lang="en-US" dirty="0">
                <a:latin typeface="Liberation Sans Narrow"/>
                <a:cs typeface="Liberation Sans Narrow"/>
              </a:rPr>
              <a:t>of </a:t>
            </a:r>
            <a:r>
              <a:rPr lang="en-US" spc="-5" dirty="0">
                <a:latin typeface="Liberation Sans Narrow"/>
                <a:cs typeface="Liberation Sans Narrow"/>
              </a:rPr>
              <a:t>the </a:t>
            </a:r>
            <a:r>
              <a:rPr lang="en-US" i="1" spc="-5" dirty="0">
                <a:latin typeface="Liberation Sans Narrow"/>
                <a:cs typeface="Liberation Sans Narrow"/>
              </a:rPr>
              <a:t>detailed </a:t>
            </a:r>
            <a:r>
              <a:rPr lang="en-US" spc="-5" dirty="0">
                <a:latin typeface="Liberation Sans Narrow"/>
                <a:cs typeface="Liberation Sans Narrow"/>
              </a:rPr>
              <a:t>system  design.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57810" indent="-172720" algn="just">
              <a:lnSpc>
                <a:spcPct val="120000"/>
              </a:lnSpc>
              <a:spcBef>
                <a:spcPts val="254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u="sng" dirty="0">
                <a:uFill>
                  <a:solidFill>
                    <a:srgbClr val="000000"/>
                  </a:solidFill>
                </a:uFill>
                <a:latin typeface="Liberation Sans Narrow"/>
                <a:cs typeface="Liberation Sans Narrow"/>
              </a:rPr>
              <a:t>A </a:t>
            </a:r>
            <a:r>
              <a:rPr lang="en-US" u="sng" spc="-5" dirty="0">
                <a:uFill>
                  <a:solidFill>
                    <a:srgbClr val="000000"/>
                  </a:solidFill>
                </a:uFill>
                <a:latin typeface="Liberation Sans Narrow"/>
                <a:cs typeface="Liberation Sans Narrow"/>
              </a:rPr>
              <a:t>thing to remember</a:t>
            </a:r>
            <a:r>
              <a:rPr lang="en-US" spc="-5" dirty="0">
                <a:latin typeface="Liberation Sans Narrow"/>
                <a:cs typeface="Liberation Sans Narrow"/>
              </a:rPr>
              <a:t> is that </a:t>
            </a: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class diagram is </a:t>
            </a:r>
            <a:r>
              <a:rPr lang="en-US" dirty="0">
                <a:latin typeface="Liberation Sans Narrow"/>
                <a:cs typeface="Liberation Sans Narrow"/>
              </a:rPr>
              <a:t>a </a:t>
            </a:r>
            <a:r>
              <a:rPr lang="en-US" spc="-5" dirty="0">
                <a:latin typeface="Liberation Sans Narrow"/>
                <a:cs typeface="Liberation Sans Narrow"/>
              </a:rPr>
              <a:t>static view </a:t>
            </a:r>
            <a:r>
              <a:rPr lang="en-US" dirty="0">
                <a:latin typeface="Liberation Sans Narrow"/>
                <a:cs typeface="Liberation Sans Narrow"/>
              </a:rPr>
              <a:t>of a  </a:t>
            </a:r>
            <a:r>
              <a:rPr lang="en-US" spc="-5" dirty="0">
                <a:latin typeface="Liberation Sans Narrow"/>
                <a:cs typeface="Liberation Sans Narrow"/>
              </a:rPr>
              <a:t>system. The structure </a:t>
            </a:r>
            <a:r>
              <a:rPr lang="en-US" dirty="0">
                <a:latin typeface="Liberation Sans Narrow"/>
                <a:cs typeface="Liberation Sans Narrow"/>
              </a:rPr>
              <a:t>of a </a:t>
            </a:r>
            <a:r>
              <a:rPr lang="en-US" spc="-5" dirty="0">
                <a:latin typeface="Liberation Sans Narrow"/>
                <a:cs typeface="Liberation Sans Narrow"/>
              </a:rPr>
              <a:t>system is represented using class  diagrams. Class diagrams are referenced time and </a:t>
            </a:r>
            <a:r>
              <a:rPr lang="en-US" spc="-10" dirty="0">
                <a:latin typeface="Liberation Sans Narrow"/>
                <a:cs typeface="Liberation Sans Narrow"/>
              </a:rPr>
              <a:t>it </a:t>
            </a:r>
            <a:r>
              <a:rPr lang="en-US" spc="-5" dirty="0">
                <a:latin typeface="Liberation Sans Narrow"/>
                <a:cs typeface="Liberation Sans Narrow"/>
              </a:rPr>
              <a:t>used </a:t>
            </a:r>
            <a:r>
              <a:rPr lang="en-US" dirty="0">
                <a:latin typeface="Liberation Sans Narrow"/>
                <a:cs typeface="Liberation Sans Narrow"/>
              </a:rPr>
              <a:t>by the  </a:t>
            </a:r>
            <a:r>
              <a:rPr lang="en-US" spc="-5" dirty="0">
                <a:latin typeface="Liberation Sans Narrow"/>
                <a:cs typeface="Liberation Sans Narrow"/>
              </a:rPr>
              <a:t>developers while implementing </a:t>
            </a:r>
            <a:r>
              <a:rPr lang="en-US" dirty="0">
                <a:latin typeface="Liberation Sans Narrow"/>
                <a:cs typeface="Liberation Sans Narrow"/>
              </a:rPr>
              <a:t>the</a:t>
            </a:r>
            <a:r>
              <a:rPr lang="en-US" spc="5" dirty="0"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latin typeface="Liberation Sans Narrow"/>
                <a:cs typeface="Liberation Sans Narrow"/>
              </a:rPr>
              <a:t>system.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56540" indent="-172720" algn="just">
              <a:lnSpc>
                <a:spcPct val="120000"/>
              </a:lnSpc>
              <a:spcBef>
                <a:spcPts val="300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pc="-5" dirty="0">
                <a:latin typeface="Liberation Sans Narrow"/>
                <a:cs typeface="Liberation Sans Narrow"/>
              </a:rPr>
              <a:t>Class diagrams are used in nearly all Object </a:t>
            </a:r>
            <a:r>
              <a:rPr lang="en-US" dirty="0">
                <a:latin typeface="Liberation Sans Narrow"/>
                <a:cs typeface="Liberation Sans Narrow"/>
              </a:rPr>
              <a:t>Oriented </a:t>
            </a:r>
            <a:r>
              <a:rPr lang="en-US" spc="-5" dirty="0">
                <a:latin typeface="Liberation Sans Narrow"/>
                <a:cs typeface="Liberation Sans Narrow"/>
              </a:rPr>
              <a:t>software  designs. Use </a:t>
            </a:r>
            <a:r>
              <a:rPr lang="en-US" dirty="0">
                <a:latin typeface="Liberation Sans Narrow"/>
                <a:cs typeface="Liberation Sans Narrow"/>
              </a:rPr>
              <a:t>them to </a:t>
            </a:r>
            <a:r>
              <a:rPr lang="en-US" spc="-5" dirty="0">
                <a:latin typeface="Liberation Sans Narrow"/>
                <a:cs typeface="Liberation Sans Narrow"/>
              </a:rPr>
              <a:t>describe </a:t>
            </a:r>
            <a:r>
              <a:rPr lang="en-US" dirty="0">
                <a:latin typeface="Liberation Sans Narrow"/>
                <a:cs typeface="Liberation Sans Narrow"/>
              </a:rPr>
              <a:t>the </a:t>
            </a:r>
            <a:r>
              <a:rPr lang="en-US" spc="-5" dirty="0">
                <a:latin typeface="Liberation Sans Narrow"/>
                <a:cs typeface="Liberation Sans Narrow"/>
              </a:rPr>
              <a:t>Classes </a:t>
            </a:r>
            <a:r>
              <a:rPr lang="en-US" dirty="0">
                <a:latin typeface="Liberation Sans Narrow"/>
                <a:cs typeface="Liberation Sans Narrow"/>
              </a:rPr>
              <a:t>of the </a:t>
            </a:r>
            <a:r>
              <a:rPr lang="en-US" spc="-5" dirty="0">
                <a:latin typeface="Liberation Sans Narrow"/>
                <a:cs typeface="Liberation Sans Narrow"/>
              </a:rPr>
              <a:t>system </a:t>
            </a:r>
            <a:r>
              <a:rPr lang="en-US" dirty="0">
                <a:latin typeface="Liberation Sans Narrow"/>
                <a:cs typeface="Liberation Sans Narrow"/>
              </a:rPr>
              <a:t>and their  </a:t>
            </a:r>
            <a:r>
              <a:rPr lang="en-US" spc="-5" dirty="0">
                <a:latin typeface="Liberation Sans Narrow"/>
                <a:cs typeface="Liberation Sans Narrow"/>
              </a:rPr>
              <a:t>relationships </a:t>
            </a:r>
            <a:r>
              <a:rPr lang="en-US" dirty="0">
                <a:latin typeface="Liberation Sans Narrow"/>
                <a:cs typeface="Liberation Sans Narrow"/>
              </a:rPr>
              <a:t>to </a:t>
            </a:r>
            <a:r>
              <a:rPr lang="en-US" spc="-5" dirty="0">
                <a:latin typeface="Liberation Sans Narrow"/>
                <a:cs typeface="Liberation Sans Narrow"/>
              </a:rPr>
              <a:t>each</a:t>
            </a:r>
            <a:r>
              <a:rPr lang="en-US" spc="-10" dirty="0">
                <a:latin typeface="Liberation Sans Narrow"/>
                <a:cs typeface="Liberation Sans Narrow"/>
              </a:rPr>
              <a:t> </a:t>
            </a:r>
            <a:r>
              <a:rPr lang="en-US" spc="-15" dirty="0">
                <a:latin typeface="Liberation Sans Narrow"/>
                <a:cs typeface="Liberation Sans Narrow"/>
              </a:rPr>
              <a:t>other.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57810" indent="-172720" algn="just">
              <a:lnSpc>
                <a:spcPct val="120000"/>
              </a:lnSpc>
              <a:spcBef>
                <a:spcPts val="285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pc="-5" dirty="0">
                <a:latin typeface="Liberation Sans Narrow"/>
                <a:cs typeface="Liberation Sans Narrow"/>
              </a:rPr>
              <a:t>Note </a:t>
            </a:r>
            <a:r>
              <a:rPr lang="en-US" dirty="0">
                <a:latin typeface="Liberation Sans Narrow"/>
                <a:cs typeface="Liberation Sans Narrow"/>
              </a:rPr>
              <a:t>that </a:t>
            </a:r>
            <a:r>
              <a:rPr lang="en-US" spc="-5" dirty="0">
                <a:latin typeface="Liberation Sans Narrow"/>
                <a:cs typeface="Liberation Sans Narrow"/>
              </a:rPr>
              <a:t>these diagrams describe </a:t>
            </a:r>
            <a:r>
              <a:rPr lang="en-US" dirty="0">
                <a:latin typeface="Liberation Sans Narrow"/>
                <a:cs typeface="Liberation Sans Narrow"/>
              </a:rPr>
              <a:t>the </a:t>
            </a:r>
            <a:r>
              <a:rPr lang="en-US" spc="-5" dirty="0">
                <a:latin typeface="Liberation Sans Narrow"/>
                <a:cs typeface="Liberation Sans Narrow"/>
              </a:rPr>
              <a:t>relationships </a:t>
            </a:r>
            <a:r>
              <a:rPr lang="en-US" dirty="0">
                <a:latin typeface="Liberation Sans Narrow"/>
                <a:cs typeface="Liberation Sans Narrow"/>
              </a:rPr>
              <a:t>between  </a:t>
            </a:r>
            <a:r>
              <a:rPr lang="en-US" i="1" spc="-5" dirty="0">
                <a:latin typeface="Liberation Sans Narrow"/>
                <a:cs typeface="Liberation Sans Narrow"/>
              </a:rPr>
              <a:t>classes</a:t>
            </a:r>
            <a:r>
              <a:rPr lang="en-US" spc="-5" dirty="0">
                <a:latin typeface="Liberation Sans Narrow"/>
                <a:cs typeface="Liberation Sans Narrow"/>
              </a:rPr>
              <a:t>, </a:t>
            </a:r>
            <a:r>
              <a:rPr lang="en-US" dirty="0">
                <a:latin typeface="Liberation Sans Narrow"/>
                <a:cs typeface="Liberation Sans Narrow"/>
              </a:rPr>
              <a:t>not </a:t>
            </a:r>
            <a:r>
              <a:rPr lang="en-US" spc="-5" dirty="0">
                <a:latin typeface="Liberation Sans Narrow"/>
                <a:cs typeface="Liberation Sans Narrow"/>
              </a:rPr>
              <a:t>those between specific </a:t>
            </a:r>
            <a:r>
              <a:rPr lang="en-US" i="1" spc="-5" dirty="0">
                <a:latin typeface="Liberation Sans Narrow"/>
                <a:cs typeface="Liberation Sans Narrow"/>
              </a:rPr>
              <a:t>objects </a:t>
            </a:r>
            <a:r>
              <a:rPr lang="en-US" spc="-5" dirty="0">
                <a:latin typeface="Liberation Sans Narrow"/>
                <a:cs typeface="Liberation Sans Narrow"/>
              </a:rPr>
              <a:t>instantiated from those  classes</a:t>
            </a:r>
            <a:endParaRPr lang="en-US" dirty="0">
              <a:latin typeface="Liberation Sans Narrow"/>
              <a:cs typeface="Liberation Sans Narro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29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70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67970">
              <a:lnSpc>
                <a:spcPct val="120000"/>
              </a:lnSpc>
              <a:spcBef>
                <a:spcPts val="60"/>
              </a:spcBef>
            </a:pPr>
            <a:r>
              <a:rPr lang="en-US" b="1" dirty="0">
                <a:latin typeface="Liberation Sans Narrow"/>
                <a:cs typeface="Liberation Sans Narrow"/>
              </a:rPr>
              <a:t>A </a:t>
            </a:r>
            <a:r>
              <a:rPr lang="en-US" b="1" spc="-5" dirty="0">
                <a:latin typeface="Liberation Sans Narrow"/>
                <a:cs typeface="Liberation Sans Narrow"/>
              </a:rPr>
              <a:t>Few</a:t>
            </a:r>
            <a:r>
              <a:rPr lang="en-US" b="1" spc="-55" dirty="0">
                <a:latin typeface="Liberation Sans Narrow"/>
                <a:cs typeface="Liberation Sans Narrow"/>
              </a:rPr>
              <a:t> </a:t>
            </a:r>
            <a:r>
              <a:rPr lang="en-US" b="1" spc="-15" dirty="0">
                <a:latin typeface="Liberation Sans Narrow"/>
                <a:cs typeface="Liberation Sans Narrow"/>
              </a:rPr>
              <a:t>Terms</a:t>
            </a:r>
            <a:endParaRPr lang="en-US" dirty="0">
              <a:latin typeface="Liberation Sans Narrow"/>
              <a:cs typeface="Liberation Sans Narrow"/>
            </a:endParaRPr>
          </a:p>
          <a:p>
            <a:pPr marL="440055" marR="260350" indent="-172720" algn="just">
              <a:lnSpc>
                <a:spcPct val="120000"/>
              </a:lnSpc>
              <a:spcBef>
                <a:spcPts val="300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z="2600" i="1" spc="-5" dirty="0">
                <a:latin typeface="Liberation Sans Narrow"/>
                <a:cs typeface="Liberation Sans Narrow"/>
              </a:rPr>
              <a:t>Responsibility </a:t>
            </a:r>
            <a:r>
              <a:rPr lang="en-US" sz="2600" i="1" dirty="0">
                <a:latin typeface="Liberation Sans Narrow"/>
                <a:cs typeface="Liberation Sans Narrow"/>
              </a:rPr>
              <a:t>of a </a:t>
            </a:r>
            <a:r>
              <a:rPr lang="en-US" sz="2600" i="1" spc="-5" dirty="0">
                <a:latin typeface="Liberation Sans Narrow"/>
                <a:cs typeface="Liberation Sans Narrow"/>
              </a:rPr>
              <a:t>class: </a:t>
            </a:r>
            <a:r>
              <a:rPr lang="en-US" sz="2600" dirty="0">
                <a:latin typeface="Liberation Sans Narrow"/>
                <a:cs typeface="Liberation Sans Narrow"/>
              </a:rPr>
              <a:t>It is the </a:t>
            </a:r>
            <a:r>
              <a:rPr lang="en-US" sz="2600" spc="-5" dirty="0">
                <a:latin typeface="Liberation Sans Narrow"/>
                <a:cs typeface="Liberation Sans Narrow"/>
              </a:rPr>
              <a:t>statement defining what </a:t>
            </a:r>
            <a:r>
              <a:rPr lang="en-US" sz="2600" dirty="0">
                <a:latin typeface="Liberation Sans Narrow"/>
                <a:cs typeface="Liberation Sans Narrow"/>
              </a:rPr>
              <a:t>the </a:t>
            </a:r>
            <a:r>
              <a:rPr lang="en-US" sz="2600" spc="-5" dirty="0">
                <a:latin typeface="Liberation Sans Narrow"/>
                <a:cs typeface="Liberation Sans Narrow"/>
              </a:rPr>
              <a:t>class is  expected </a:t>
            </a:r>
            <a:r>
              <a:rPr lang="en-US" sz="2600" dirty="0">
                <a:latin typeface="Liberation Sans Narrow"/>
                <a:cs typeface="Liberation Sans Narrow"/>
              </a:rPr>
              <a:t>to</a:t>
            </a:r>
            <a:r>
              <a:rPr lang="en-US" sz="2600" spc="-15" dirty="0">
                <a:latin typeface="Liberation Sans Narrow"/>
                <a:cs typeface="Liberation Sans Narrow"/>
              </a:rPr>
              <a:t> </a:t>
            </a:r>
            <a:r>
              <a:rPr lang="en-US" sz="2600" spc="-5" dirty="0">
                <a:latin typeface="Liberation Sans Narrow"/>
                <a:cs typeface="Liberation Sans Narrow"/>
              </a:rPr>
              <a:t>provide.</a:t>
            </a:r>
            <a:endParaRPr lang="en-US" sz="2600" dirty="0">
              <a:latin typeface="Liberation Sans Narrow"/>
              <a:cs typeface="Liberation Sans Narrow"/>
            </a:endParaRPr>
          </a:p>
          <a:p>
            <a:pPr marL="440055" marR="258445" indent="-172720" algn="just">
              <a:lnSpc>
                <a:spcPct val="120000"/>
              </a:lnSpc>
              <a:spcBef>
                <a:spcPts val="290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z="2600" i="1" spc="-5" dirty="0">
                <a:latin typeface="Liberation Sans Narrow"/>
                <a:cs typeface="Liberation Sans Narrow"/>
              </a:rPr>
              <a:t>Stereotypes</a:t>
            </a:r>
            <a:r>
              <a:rPr lang="en-US" sz="2600" spc="-5" dirty="0">
                <a:latin typeface="Liberation Sans Narrow"/>
                <a:cs typeface="Liberation Sans Narrow"/>
              </a:rPr>
              <a:t>: Classes </a:t>
            </a:r>
            <a:r>
              <a:rPr lang="en-US" sz="2600" dirty="0">
                <a:latin typeface="Liberation Sans Narrow"/>
                <a:cs typeface="Liberation Sans Narrow"/>
              </a:rPr>
              <a:t>that </a:t>
            </a:r>
            <a:r>
              <a:rPr lang="en-US" sz="2600" spc="-5" dirty="0">
                <a:latin typeface="Liberation Sans Narrow"/>
                <a:cs typeface="Liberation Sans Narrow"/>
              </a:rPr>
              <a:t>created </a:t>
            </a:r>
            <a:r>
              <a:rPr lang="en-US" sz="2600" dirty="0">
                <a:latin typeface="Liberation Sans Narrow"/>
                <a:cs typeface="Liberation Sans Narrow"/>
              </a:rPr>
              <a:t>at the </a:t>
            </a:r>
            <a:r>
              <a:rPr lang="en-US" sz="2600" spc="-5" dirty="0">
                <a:latin typeface="Liberation Sans Narrow"/>
                <a:cs typeface="Liberation Sans Narrow"/>
              </a:rPr>
              <a:t>early phases </a:t>
            </a:r>
            <a:r>
              <a:rPr lang="en-US" sz="2600" dirty="0">
                <a:latin typeface="Liberation Sans Narrow"/>
                <a:cs typeface="Liberation Sans Narrow"/>
              </a:rPr>
              <a:t>of the </a:t>
            </a:r>
            <a:r>
              <a:rPr lang="en-US" sz="2600" spc="-5" dirty="0">
                <a:latin typeface="Liberation Sans Narrow"/>
                <a:cs typeface="Liberation Sans Narrow"/>
              </a:rPr>
              <a:t>system  design.</a:t>
            </a:r>
            <a:endParaRPr lang="en-US" sz="2600" dirty="0">
              <a:latin typeface="Liberation Sans Narrow"/>
              <a:cs typeface="Liberation Sans Narrow"/>
            </a:endParaRPr>
          </a:p>
          <a:p>
            <a:pPr marL="440055" marR="257810" indent="-172720" algn="just">
              <a:lnSpc>
                <a:spcPct val="120000"/>
              </a:lnSpc>
              <a:spcBef>
                <a:spcPts val="285"/>
              </a:spcBef>
              <a:buFont typeface="Arial"/>
              <a:buChar char="•"/>
              <a:tabLst>
                <a:tab pos="440690" algn="l"/>
              </a:tabLst>
            </a:pPr>
            <a:r>
              <a:rPr lang="en-US" sz="2600" i="1" spc="-5" dirty="0">
                <a:latin typeface="Liberation Sans Narrow"/>
                <a:cs typeface="Liberation Sans Narrow"/>
              </a:rPr>
              <a:t>Boundary class: </a:t>
            </a:r>
            <a:r>
              <a:rPr lang="en-US" sz="2600" spc="-5" dirty="0">
                <a:latin typeface="Liberation Sans Narrow"/>
                <a:cs typeface="Liberation Sans Narrow"/>
              </a:rPr>
              <a:t>Users interact with </a:t>
            </a:r>
            <a:r>
              <a:rPr lang="en-US" sz="2600" dirty="0">
                <a:latin typeface="Liberation Sans Narrow"/>
                <a:cs typeface="Liberation Sans Narrow"/>
              </a:rPr>
              <a:t>the </a:t>
            </a:r>
            <a:r>
              <a:rPr lang="en-US" sz="2600" spc="-5" dirty="0">
                <a:latin typeface="Liberation Sans Narrow"/>
                <a:cs typeface="Liberation Sans Narrow"/>
              </a:rPr>
              <a:t>system through </a:t>
            </a:r>
            <a:r>
              <a:rPr lang="en-US" sz="2600" dirty="0">
                <a:latin typeface="Liberation Sans Narrow"/>
                <a:cs typeface="Liberation Sans Narrow"/>
              </a:rPr>
              <a:t>the </a:t>
            </a:r>
            <a:r>
              <a:rPr lang="en-US" sz="2600" spc="-5" dirty="0">
                <a:latin typeface="Liberation Sans Narrow"/>
                <a:cs typeface="Liberation Sans Narrow"/>
              </a:rPr>
              <a:t>boundary  classes. (interface classes)</a:t>
            </a:r>
            <a:endParaRPr lang="en-US" sz="2600" dirty="0">
              <a:latin typeface="Liberation Sans Narrow"/>
              <a:cs typeface="Liberation Sans Narro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5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70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pc="-5" dirty="0">
                <a:latin typeface="Liberation Sans Narrow"/>
                <a:cs typeface="Liberation Sans Narrow"/>
              </a:rPr>
              <a:t>Multiplicity</a:t>
            </a:r>
            <a:r>
              <a:rPr lang="en-US" b="1" dirty="0">
                <a:latin typeface="Liberation Sans Narrow"/>
                <a:cs typeface="Liberation Sans Narrow"/>
              </a:rPr>
              <a:t> </a:t>
            </a:r>
            <a:r>
              <a:rPr lang="en-US" b="1" spc="-5" dirty="0">
                <a:latin typeface="Liberation Sans Narrow"/>
                <a:cs typeface="Liberation Sans Narrow"/>
              </a:rPr>
              <a:t>Indicators.</a:t>
            </a:r>
            <a:endParaRPr lang="en-US" dirty="0">
              <a:latin typeface="Liberation Sans Narrow"/>
              <a:cs typeface="Liberation Sans Narrow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76" t="47198" r="1862" b="19182"/>
          <a:stretch/>
        </p:blipFill>
        <p:spPr bwMode="auto">
          <a:xfrm>
            <a:off x="3429001" y="2395848"/>
            <a:ext cx="5469577" cy="3279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41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843" y="2041301"/>
            <a:ext cx="6309360" cy="4206240"/>
          </a:xfrm>
        </p:spPr>
      </p:pic>
    </p:spTree>
    <p:extLst>
      <p:ext uri="{BB962C8B-B14F-4D97-AF65-F5344CB8AC3E}">
        <p14:creationId xmlns:p14="http://schemas.microsoft.com/office/powerpoint/2010/main" val="408914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Association </a:t>
            </a:r>
            <a:r>
              <a:rPr lang="en-US" dirty="0" smtClean="0"/>
              <a:t>If </a:t>
            </a:r>
            <a:r>
              <a:rPr lang="en-US" dirty="0"/>
              <a:t>two classes in a model need to communicate with each other, there must be a link between them, and that can be represented by an association (connector</a:t>
            </a:r>
            <a:r>
              <a:rPr lang="en-US" dirty="0" smtClean="0"/>
              <a:t>).</a:t>
            </a:r>
          </a:p>
          <a:p>
            <a:r>
              <a:rPr lang="en-US" b="1" dirty="0"/>
              <a:t>Aggregation</a:t>
            </a:r>
            <a:r>
              <a:rPr lang="en-US" dirty="0"/>
              <a:t> implies a relationship where the child can exist independently of the parent. Example: Class (parent) and Student (child). Delete the Class and the Students still exist</a:t>
            </a:r>
            <a:r>
              <a:rPr lang="en-US" dirty="0" smtClean="0"/>
              <a:t>.</a:t>
            </a:r>
          </a:p>
          <a:p>
            <a:r>
              <a:rPr lang="en-US" b="1" dirty="0"/>
              <a:t>Composition</a:t>
            </a:r>
            <a:r>
              <a:rPr lang="en-US" dirty="0"/>
              <a:t> implies a relationship where the child cannot exist independent of the parent. Example: House (parent) and Room (child). Rooms don't exist separate to a House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6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35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object 118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429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35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object 236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Class</a:t>
            </a:r>
            <a:r>
              <a:rPr lang="en-US" spc="-35" dirty="0">
                <a:solidFill>
                  <a:schemeClr val="bg2"/>
                </a:solidFill>
                <a:latin typeface="Liberation Sans Narrow"/>
                <a:cs typeface="Liberation Sans Narrow"/>
              </a:rPr>
              <a:t> </a:t>
            </a:r>
            <a:r>
              <a:rPr lang="en-US" spc="-5" dirty="0">
                <a:solidFill>
                  <a:schemeClr val="bg2"/>
                </a:solidFill>
                <a:latin typeface="Liberation Sans Narrow"/>
                <a:cs typeface="Liberation Sans Narrow"/>
              </a:rPr>
              <a:t>Diagram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object 118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vert="horz"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37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32767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A company consists of departments. Departments are located in one or more offices. One office acts as a headquarter. </a:t>
            </a:r>
            <a:r>
              <a:rPr lang="en-US" dirty="0" err="1"/>
              <a:t>Eachdepartment</a:t>
            </a:r>
            <a:r>
              <a:rPr lang="en-US" dirty="0"/>
              <a:t> has a manager who is recruited from the set of employees. Your task is to model the system for the company.</a:t>
            </a:r>
          </a:p>
          <a:p>
            <a:pPr marL="0" indent="0">
              <a:buNone/>
            </a:pPr>
            <a:r>
              <a:rPr lang="en-US" dirty="0"/>
              <a:t>Task:</a:t>
            </a:r>
          </a:p>
          <a:p>
            <a:r>
              <a:rPr lang="en-US" dirty="0"/>
              <a:t>Draw a class diagram which consists of all the classes in your system their attributes and operations, relationships </a:t>
            </a:r>
            <a:r>
              <a:rPr lang="en-US" dirty="0" err="1"/>
              <a:t>betweenthe</a:t>
            </a:r>
            <a:r>
              <a:rPr lang="en-US" dirty="0"/>
              <a:t> classes, multiplicity specifications, and other model elements that you find appropriate</a:t>
            </a:r>
          </a:p>
        </p:txBody>
      </p:sp>
    </p:spTree>
    <p:extLst>
      <p:ext uri="{BB962C8B-B14F-4D97-AF65-F5344CB8AC3E}">
        <p14:creationId xmlns:p14="http://schemas.microsoft.com/office/powerpoint/2010/main" val="280398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274638"/>
            <a:ext cx="6807000" cy="540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1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7D8434-5471-80D7-5B5A-7AA8A0A3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F394C7-BBD6-2D91-1298-CA2809B51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diagrams represent workflows in a graphical way. They can be used to describe the business workflow or the operational workflow of any component in a system. Sometimes activity diagrams are used as an alternative to State machine diagrams. </a:t>
            </a:r>
          </a:p>
        </p:txBody>
      </p:sp>
    </p:spTree>
    <p:extLst>
      <p:ext uri="{BB962C8B-B14F-4D97-AF65-F5344CB8AC3E}">
        <p14:creationId xmlns:p14="http://schemas.microsoft.com/office/powerpoint/2010/main" val="164245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0C80FC-619D-BF3A-332D-B7D55A46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60C1B59-B6A2-8181-F5E8-DD95C84ED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33637"/>
            <a:ext cx="92202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4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0C80FC-619D-BF3A-332D-B7D55A46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60C1B59-B6A2-8181-F5E8-DD95C84ED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33637"/>
            <a:ext cx="9220200" cy="3248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4918FF3-2063-84CB-89BD-928219BCA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932243"/>
            <a:ext cx="96678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5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0C80FC-619D-BF3A-332D-B7D55A46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60C1B59-B6A2-8181-F5E8-DD95C84ED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99" y="2433637"/>
            <a:ext cx="10467975" cy="3248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4918FF3-2063-84CB-89BD-928219BCA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898" y="2932243"/>
            <a:ext cx="9667875" cy="346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C9FAFAC-D13C-AA22-813D-F00E02303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932243"/>
            <a:ext cx="9458325" cy="30003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E86F7F0-8B7B-80CF-4185-9D6D84075491}"/>
              </a:ext>
            </a:extLst>
          </p:cNvPr>
          <p:cNvSpPr/>
          <p:nvPr/>
        </p:nvSpPr>
        <p:spPr>
          <a:xfrm>
            <a:off x="11106150" y="2433637"/>
            <a:ext cx="1085850" cy="4319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6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595AE5-048B-994E-8997-23A57DF7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38B3CCF-3BE5-DE8C-9CFC-9A2074D43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894020"/>
            <a:ext cx="9563100" cy="3248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6EAC37E-07BF-D673-33A9-35D90289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90763"/>
            <a:ext cx="9715500" cy="45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7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B93056-7DF2-1896-84A7-AF65773D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66CCE8E-A6F8-EADF-E38F-4B6ED48F8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894020"/>
            <a:ext cx="9563100" cy="3248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DBCC8FD-326C-345C-A9C8-4424C8323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2456831"/>
            <a:ext cx="98393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6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CB0DF1-2CD6-CFA9-C5F4-9F47D177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Notation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0F0C5AA-9E5C-D475-85BA-D77A067C6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49" y="1960695"/>
            <a:ext cx="9563100" cy="3248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4D892EA-28A1-6E37-1035-B7ADA922B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7" y="2714360"/>
            <a:ext cx="100488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1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E132B9-296C-2606-ADF4-2C47920F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 - Modeling a Word 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AC77EE-0C33-44F6-D358-C7C5F518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activity diagram example below describes the workflow for a word process to create a document through the following steps: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Open the word processing package.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Create a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Save the file under a unique name within its directory.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Type the document.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If graphics are necessary, open the graphics package, create the graphics, and paste the graphics into the document.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If a spreadsheet is necessary, open the spreadsheet package, create the spreadsheet, and paste the spreadsheet into the document.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Save the file.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Print a hard copy of the document.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Exit the word processing package.</a:t>
            </a:r>
          </a:p>
        </p:txBody>
      </p:sp>
    </p:spTree>
    <p:extLst>
      <p:ext uri="{BB962C8B-B14F-4D97-AF65-F5344CB8AC3E}">
        <p14:creationId xmlns:p14="http://schemas.microsoft.com/office/powerpoint/2010/main" val="353201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>
            <a:extLst>
              <a:ext uri="{FF2B5EF4-FFF2-40B4-BE49-F238E27FC236}">
                <a16:creationId xmlns="" xmlns:a16="http://schemas.microsoft.com/office/drawing/2014/main" id="{A499F183-99EE-4B1F-BA64-21A07922AE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11">
            <a:extLst>
              <a:ext uri="{FF2B5EF4-FFF2-40B4-BE49-F238E27FC236}">
                <a16:creationId xmlns="" xmlns:a16="http://schemas.microsoft.com/office/drawing/2014/main" id="{B783A767-5AFC-40D0-A72C-09036EA172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13">
            <a:extLst>
              <a:ext uri="{FF2B5EF4-FFF2-40B4-BE49-F238E27FC236}">
                <a16:creationId xmlns="" xmlns:a16="http://schemas.microsoft.com/office/drawing/2014/main" id="{41262CAC-6BC8-43F9-9113-770A2772F6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15">
            <a:extLst>
              <a:ext uri="{FF2B5EF4-FFF2-40B4-BE49-F238E27FC236}">
                <a16:creationId xmlns="" xmlns:a16="http://schemas.microsoft.com/office/drawing/2014/main" id="{1AA2CCB6-DFD2-41CD-96FE-0140B79359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6" name="Rectangle 17">
            <a:extLst>
              <a:ext uri="{FF2B5EF4-FFF2-40B4-BE49-F238E27FC236}">
                <a16:creationId xmlns="" xmlns:a16="http://schemas.microsoft.com/office/drawing/2014/main" id="{6A225C9B-755F-4F91-9681-5E07AFAA7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32E06A5A-AE2E-9370-6D6C-77E536E9F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588" y="0"/>
            <a:ext cx="3186788" cy="6780401"/>
          </a:xfrm>
          <a:prstGeom prst="rect">
            <a:avLst/>
          </a:prstGeom>
        </p:spPr>
      </p:pic>
      <p:sp>
        <p:nvSpPr>
          <p:cNvPr id="27" name="Rectangle 19">
            <a:extLst>
              <a:ext uri="{FF2B5EF4-FFF2-40B4-BE49-F238E27FC236}">
                <a16:creationId xmlns="" xmlns:a16="http://schemas.microsoft.com/office/drawing/2014/main" id="{932CD2CD-6CF3-4EE9-A24A-A41D45DCF9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3C5338-7A53-6457-A52E-530DF970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Activity Diagram - Modeling a Word Processor</a:t>
            </a:r>
          </a:p>
        </p:txBody>
      </p:sp>
    </p:spTree>
    <p:extLst>
      <p:ext uri="{BB962C8B-B14F-4D97-AF65-F5344CB8AC3E}">
        <p14:creationId xmlns:p14="http://schemas.microsoft.com/office/powerpoint/2010/main" val="224664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77287A-D4CF-BFFE-B9C9-C1EB7A1D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Activity Diagram – Process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190A63-C4A6-5AED-75F4-83F47674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Process Order - Problem Description</a:t>
            </a:r>
            <a:endParaRPr lang="en-US" b="0" i="0" dirty="0">
              <a:solidFill>
                <a:srgbClr val="737C85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Once the order is received, the activities split into two parallel sets of activities. One side fills and sends the order while the other handles the billing.</a:t>
            </a:r>
          </a:p>
          <a:p>
            <a:pPr algn="l"/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On the Fill Order side, the method of delivery is decided conditionally. Depending on the condition either the Overnight Delivery activity or the Regular Delivery activity is performed.</a:t>
            </a:r>
          </a:p>
          <a:p>
            <a:pPr algn="l"/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Finally, the parallel activities combine to close the order.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77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499F183-99EE-4B1F-BA64-21A07922AE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783A767-5AFC-40D0-A72C-09036EA172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1262CAC-6BC8-43F9-9113-770A2772F6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1AA2CCB6-DFD2-41CD-96FE-0140B79359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7">
            <a:extLst>
              <a:ext uri="{FF2B5EF4-FFF2-40B4-BE49-F238E27FC236}">
                <a16:creationId xmlns="" xmlns:a16="http://schemas.microsoft.com/office/drawing/2014/main" id="{6A225C9B-755F-4F91-9681-5E07AFAA7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E0AC189-FC69-7ADA-90A8-C91B27076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785" y="1208531"/>
            <a:ext cx="4261562" cy="473506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32CD2CD-6CF3-4EE9-A24A-A41D45DCF9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0381CF-325D-74FA-5D97-566A7EE6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Activity Diagram – Process order</a:t>
            </a:r>
          </a:p>
        </p:txBody>
      </p:sp>
    </p:spTree>
    <p:extLst>
      <p:ext uri="{BB962C8B-B14F-4D97-AF65-F5344CB8AC3E}">
        <p14:creationId xmlns:p14="http://schemas.microsoft.com/office/powerpoint/2010/main" val="361669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727ACC-6DD8-00AB-1328-79FAA479D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FF"/>
                </a:solidFill>
              </a:rPr>
              <a:t>Activity Diagram – student enrollment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CA5CB8-175C-A7BD-014E-BFA699405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Example describes a process for student enrollment in a university as follows: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An applicant wants to enroll in the university.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applicant hands a filled out copy of Enrollment Form.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registrar inspects the forms.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registrar determines that the forms have been filled out properly.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registrar informs student to attend in university overview presentation.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registrar helps the student to enroll in seminars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The registrar asks the student to pay for the initial tuition.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7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B26F49-07A8-2332-90FB-FD6C0717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FF"/>
                </a:solidFill>
              </a:rPr>
              <a:t>Activity Diagram – student enrollment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6135FED-0491-5921-2232-DEB2B84D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543" y="2285271"/>
            <a:ext cx="8576914" cy="364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1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="" xmlns:a16="http://schemas.microsoft.com/office/drawing/2014/main" id="{A499F183-99EE-4B1F-BA64-21A07922AE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59" name="Rectangle 2058">
            <a:extLst>
              <a:ext uri="{FF2B5EF4-FFF2-40B4-BE49-F238E27FC236}">
                <a16:creationId xmlns="" xmlns:a16="http://schemas.microsoft.com/office/drawing/2014/main" id="{B783A767-5AFC-40D0-A72C-09036EA172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61" name="Rectangle 2060">
            <a:extLst>
              <a:ext uri="{FF2B5EF4-FFF2-40B4-BE49-F238E27FC236}">
                <a16:creationId xmlns="" xmlns:a16="http://schemas.microsoft.com/office/drawing/2014/main" id="{41262CAC-6BC8-43F9-9113-770A2772F6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63" name="Rectangle 2062">
            <a:extLst>
              <a:ext uri="{FF2B5EF4-FFF2-40B4-BE49-F238E27FC236}">
                <a16:creationId xmlns="" xmlns:a16="http://schemas.microsoft.com/office/drawing/2014/main" id="{1AA2CCB6-DFD2-41CD-96FE-0140B79359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65" name="Rectangle 2064">
            <a:extLst>
              <a:ext uri="{FF2B5EF4-FFF2-40B4-BE49-F238E27FC236}">
                <a16:creationId xmlns="" xmlns:a16="http://schemas.microsoft.com/office/drawing/2014/main" id="{6A225C9B-755F-4F91-9681-5E07AFAA7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ctivity-Diagram-for-Login">
            <a:extLst>
              <a:ext uri="{FF2B5EF4-FFF2-40B4-BE49-F238E27FC236}">
                <a16:creationId xmlns="" xmlns:a16="http://schemas.microsoft.com/office/drawing/2014/main" id="{1F6A7412-A05C-61E0-3FFC-9B6CDC119B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2918" y="-62143"/>
            <a:ext cx="6354105" cy="701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Rectangle 2066">
            <a:extLst>
              <a:ext uri="{FF2B5EF4-FFF2-40B4-BE49-F238E27FC236}">
                <a16:creationId xmlns="" xmlns:a16="http://schemas.microsoft.com/office/drawing/2014/main" id="{932CD2CD-6CF3-4EE9-A24A-A41D45DCF9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AAF2DE-1527-48E8-AD16-130F0A90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009" y="1792087"/>
            <a:ext cx="3081576" cy="20858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Activity Diagram – user login system for XYZ Application</a:t>
            </a:r>
          </a:p>
        </p:txBody>
      </p:sp>
    </p:spTree>
    <p:extLst>
      <p:ext uri="{BB962C8B-B14F-4D97-AF65-F5344CB8AC3E}">
        <p14:creationId xmlns:p14="http://schemas.microsoft.com/office/powerpoint/2010/main" val="21714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="" xmlns:a16="http://schemas.microsoft.com/office/drawing/2014/main" id="{A499F183-99EE-4B1F-BA64-21A07922AE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81" name="Rectangle 3080">
            <a:extLst>
              <a:ext uri="{FF2B5EF4-FFF2-40B4-BE49-F238E27FC236}">
                <a16:creationId xmlns="" xmlns:a16="http://schemas.microsoft.com/office/drawing/2014/main" id="{B783A767-5AFC-40D0-A72C-09036EA172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83" name="Rectangle 3082">
            <a:extLst>
              <a:ext uri="{FF2B5EF4-FFF2-40B4-BE49-F238E27FC236}">
                <a16:creationId xmlns="" xmlns:a16="http://schemas.microsoft.com/office/drawing/2014/main" id="{41262CAC-6BC8-43F9-9113-770A2772F6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85" name="Rectangle 3084">
            <a:extLst>
              <a:ext uri="{FF2B5EF4-FFF2-40B4-BE49-F238E27FC236}">
                <a16:creationId xmlns="" xmlns:a16="http://schemas.microsoft.com/office/drawing/2014/main" id="{1AA2CCB6-DFD2-41CD-96FE-0140B79359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087" name="Rectangle 3086">
            <a:extLst>
              <a:ext uri="{FF2B5EF4-FFF2-40B4-BE49-F238E27FC236}">
                <a16:creationId xmlns="" xmlns:a16="http://schemas.microsoft.com/office/drawing/2014/main" id="{6A225C9B-755F-4F91-9681-5E07AFAA71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TM Activity Diagram with Swimlanes | Activity Diagram Template">
            <a:extLst>
              <a:ext uri="{FF2B5EF4-FFF2-40B4-BE49-F238E27FC236}">
                <a16:creationId xmlns="" xmlns:a16="http://schemas.microsoft.com/office/drawing/2014/main" id="{264D1380-A85C-B635-43B5-698B9149A7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9385" y="159736"/>
            <a:ext cx="4956715" cy="669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Rectangle 3088">
            <a:extLst>
              <a:ext uri="{FF2B5EF4-FFF2-40B4-BE49-F238E27FC236}">
                <a16:creationId xmlns="" xmlns:a16="http://schemas.microsoft.com/office/drawing/2014/main" id="{932CD2CD-6CF3-4EE9-A24A-A41D45DCF9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A9015B-833A-7C28-4158-9FE8EDAC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Activity Diagram </a:t>
            </a:r>
            <a:r>
              <a:rPr lang="en-US" sz="3600">
                <a:solidFill>
                  <a:srgbClr val="FFFFFF"/>
                </a:solidFill>
              </a:rPr>
              <a:t>– Swimlane</a:t>
            </a:r>
            <a:r>
              <a:rPr lang="en-US" sz="3600" dirty="0">
                <a:solidFill>
                  <a:srgbClr val="FFFFFF"/>
                </a:solidFill>
              </a:rPr>
              <a:t/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[ATM Bank Example]</a:t>
            </a:r>
          </a:p>
        </p:txBody>
      </p:sp>
    </p:spTree>
    <p:extLst>
      <p:ext uri="{BB962C8B-B14F-4D97-AF65-F5344CB8AC3E}">
        <p14:creationId xmlns:p14="http://schemas.microsoft.com/office/powerpoint/2010/main" val="272095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155</TotalTime>
  <Words>779</Words>
  <Application>Microsoft Office PowerPoint</Application>
  <PresentationFormat>Widescreen</PresentationFormat>
  <Paragraphs>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Gill Sans MT</vt:lpstr>
      <vt:lpstr>Liberation Sans Narrow</vt:lpstr>
      <vt:lpstr>Open Sans</vt:lpstr>
      <vt:lpstr>Wingdings 2</vt:lpstr>
      <vt:lpstr>Dividend</vt:lpstr>
      <vt:lpstr>Sen-220 software engineering</vt:lpstr>
      <vt:lpstr>Class Diagram</vt:lpstr>
      <vt:lpstr>Class Diagram</vt:lpstr>
      <vt:lpstr>Class Diagram</vt:lpstr>
      <vt:lpstr>Class Diagram</vt:lpstr>
      <vt:lpstr>PowerPoint Presentation</vt:lpstr>
      <vt:lpstr>PowerPoint Presentation</vt:lpstr>
      <vt:lpstr>Class Diagram</vt:lpstr>
      <vt:lpstr>Class Diagram</vt:lpstr>
      <vt:lpstr>Class Diagram</vt:lpstr>
      <vt:lpstr>PowerPoint Presentation</vt:lpstr>
      <vt:lpstr>PowerPoint Presentation</vt:lpstr>
      <vt:lpstr>Activity diagram</vt:lpstr>
      <vt:lpstr>Activity Diagram Notation Summary</vt:lpstr>
      <vt:lpstr>Activity Diagram Notation Summary</vt:lpstr>
      <vt:lpstr>Activity Diagram Notation Summary</vt:lpstr>
      <vt:lpstr>Activity Diagram Notation Summary</vt:lpstr>
      <vt:lpstr>Activity Diagram Notation Summary</vt:lpstr>
      <vt:lpstr>Activity Diagram Notation Summary</vt:lpstr>
      <vt:lpstr>Activity Diagram - Modeling a Word Processor</vt:lpstr>
      <vt:lpstr>Activity Diagram - Modeling a Word Processor</vt:lpstr>
      <vt:lpstr>Activity Diagram – Process order</vt:lpstr>
      <vt:lpstr>Activity Diagram – Process order</vt:lpstr>
      <vt:lpstr>Activity Diagram – student enrollment</vt:lpstr>
      <vt:lpstr>Activity Diagram – student enrollment</vt:lpstr>
      <vt:lpstr>Activity Diagram – user login system for XYZ Application</vt:lpstr>
      <vt:lpstr>Activity Diagram – Swimlane [ATM Bank Example]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Sen-220 software engineering</dc:title>
  <dc:creator>Reema Qaiser BUKC</dc:creator>
  <cp:lastModifiedBy>BUKC</cp:lastModifiedBy>
  <cp:revision>23</cp:revision>
  <dcterms:created xsi:type="dcterms:W3CDTF">2022-11-07T04:50:37Z</dcterms:created>
  <dcterms:modified xsi:type="dcterms:W3CDTF">2024-10-17T05:49:28Z</dcterms:modified>
</cp:coreProperties>
</file>