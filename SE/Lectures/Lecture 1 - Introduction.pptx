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9" r:id="rId1"/>
  </p:sldMasterIdLst>
  <p:sldIdLst>
    <p:sldId id="261" r:id="rId2"/>
    <p:sldId id="257" r:id="rId3"/>
    <p:sldId id="258" r:id="rId4"/>
    <p:sldId id="259" r:id="rId5"/>
    <p:sldId id="260" r:id="rId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56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5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8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73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66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92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7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0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8332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94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004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15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82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05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9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ailanadeem.bukc@bahria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Engineering</a:t>
            </a:r>
            <a:br>
              <a:rPr lang="en-US" dirty="0"/>
            </a:br>
            <a:r>
              <a:rPr lang="en-US" dirty="0"/>
              <a:t>SEN-220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Course Instructor: Laila </a:t>
            </a:r>
            <a:r>
              <a:rPr lang="en-US" dirty="0" err="1" smtClean="0"/>
              <a:t>Nadeem</a:t>
            </a:r>
            <a:endParaRPr lang="en-US" dirty="0" smtClean="0"/>
          </a:p>
          <a:p>
            <a:r>
              <a:rPr lang="en-US" dirty="0" smtClean="0"/>
              <a:t>Email: </a:t>
            </a:r>
            <a:r>
              <a:rPr lang="en-US" dirty="0" smtClean="0">
                <a:hlinkClick r:id="rId2"/>
              </a:rPr>
              <a:t>lailanadeem.bukc@bahria.edu.pk</a:t>
            </a:r>
            <a:endParaRPr lang="en-US" dirty="0" smtClean="0"/>
          </a:p>
          <a:p>
            <a:r>
              <a:rPr lang="en-US" dirty="0" smtClean="0"/>
              <a:t>Office: Faculty room 11, Ground floor Iqbal Block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01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025" y="713740"/>
            <a:ext cx="7653020" cy="52841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00" spc="-20" dirty="0">
                <a:latin typeface="Calibri Light"/>
                <a:cs typeface="Calibri Light"/>
              </a:rPr>
              <a:t>BOOK</a:t>
            </a:r>
            <a:endParaRPr sz="33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3300" dirty="0">
              <a:latin typeface="Calibri Light"/>
              <a:cs typeface="Calibri Light"/>
            </a:endParaRPr>
          </a:p>
          <a:p>
            <a:pPr marL="345440" indent="-320040">
              <a:lnSpc>
                <a:spcPct val="100000"/>
              </a:lnSpc>
              <a:buClr>
                <a:srgbClr val="7596D9"/>
              </a:buClr>
              <a:buSzPct val="60606"/>
              <a:buFont typeface="Wingdings"/>
              <a:buChar char=""/>
              <a:tabLst>
                <a:tab pos="345440" algn="l"/>
              </a:tabLst>
            </a:pPr>
            <a:r>
              <a:rPr sz="3300" dirty="0">
                <a:latin typeface="Calibri Light"/>
                <a:cs typeface="Calibri Light"/>
              </a:rPr>
              <a:t>This</a:t>
            </a:r>
            <a:r>
              <a:rPr sz="3300" spc="-55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lecture</a:t>
            </a:r>
            <a:r>
              <a:rPr sz="3300" spc="-110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note</a:t>
            </a:r>
            <a:r>
              <a:rPr sz="3300" spc="-40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is</a:t>
            </a:r>
            <a:r>
              <a:rPr sz="3300" spc="-55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intended</a:t>
            </a:r>
            <a:r>
              <a:rPr sz="3300" spc="-45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to</a:t>
            </a:r>
            <a:r>
              <a:rPr sz="3300" spc="-50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be</a:t>
            </a:r>
            <a:r>
              <a:rPr sz="3300" spc="-40" dirty="0">
                <a:latin typeface="Calibri Light"/>
                <a:cs typeface="Calibri Light"/>
              </a:rPr>
              <a:t> </a:t>
            </a:r>
            <a:r>
              <a:rPr sz="3300" spc="-20" dirty="0">
                <a:latin typeface="Calibri Light"/>
                <a:cs typeface="Calibri Light"/>
              </a:rPr>
              <a:t>used</a:t>
            </a:r>
            <a:endParaRPr sz="3300" dirty="0">
              <a:latin typeface="Calibri Light"/>
              <a:cs typeface="Calibri Light"/>
            </a:endParaRPr>
          </a:p>
          <a:p>
            <a:pPr marL="345440">
              <a:lnSpc>
                <a:spcPct val="100000"/>
              </a:lnSpc>
              <a:spcBef>
                <a:spcPts val="20"/>
              </a:spcBef>
              <a:tabLst>
                <a:tab pos="2891155" algn="l"/>
              </a:tabLst>
            </a:pPr>
            <a:r>
              <a:rPr sz="3300" dirty="0">
                <a:latin typeface="Calibri Light"/>
                <a:cs typeface="Calibri Light"/>
              </a:rPr>
              <a:t>by</a:t>
            </a:r>
            <a:r>
              <a:rPr sz="3300" spc="-85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students</a:t>
            </a:r>
            <a:r>
              <a:rPr sz="3300" spc="-65" dirty="0">
                <a:latin typeface="Calibri Light"/>
                <a:cs typeface="Calibri Light"/>
              </a:rPr>
              <a:t> </a:t>
            </a:r>
            <a:r>
              <a:rPr sz="3300" spc="-25" dirty="0">
                <a:latin typeface="Calibri Light"/>
                <a:cs typeface="Calibri Light"/>
              </a:rPr>
              <a:t>in</a:t>
            </a:r>
            <a:r>
              <a:rPr sz="3300" dirty="0">
                <a:latin typeface="Calibri Light"/>
                <a:cs typeface="Calibri Light"/>
              </a:rPr>
              <a:t>	</a:t>
            </a:r>
            <a:r>
              <a:rPr sz="3300" spc="-10" dirty="0" smtClean="0">
                <a:latin typeface="Calibri Light"/>
                <a:cs typeface="Calibri Light"/>
              </a:rPr>
              <a:t>“</a:t>
            </a:r>
            <a:r>
              <a:rPr lang="en-US" sz="3300" spc="-10" dirty="0" smtClean="0">
                <a:latin typeface="Calibri Light"/>
                <a:cs typeface="Calibri Light"/>
              </a:rPr>
              <a:t>Software Engineering</a:t>
            </a:r>
            <a:r>
              <a:rPr sz="3300" spc="-35" dirty="0" smtClean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”</a:t>
            </a:r>
            <a:r>
              <a:rPr sz="3300" spc="-50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course</a:t>
            </a:r>
            <a:r>
              <a:rPr sz="3300" spc="-45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at</a:t>
            </a:r>
            <a:r>
              <a:rPr sz="3300" spc="-95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the</a:t>
            </a:r>
            <a:r>
              <a:rPr sz="3300" spc="-60" dirty="0">
                <a:latin typeface="Calibri Light"/>
                <a:cs typeface="Calibri Light"/>
              </a:rPr>
              <a:t> </a:t>
            </a:r>
            <a:r>
              <a:rPr sz="3300" spc="-10" dirty="0">
                <a:latin typeface="Calibri Light"/>
                <a:cs typeface="Calibri Light"/>
              </a:rPr>
              <a:t>Bahria University</a:t>
            </a:r>
            <a:endParaRPr sz="33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3300" dirty="0">
              <a:latin typeface="Calibri Light"/>
              <a:cs typeface="Calibri Light"/>
            </a:endParaRPr>
          </a:p>
          <a:p>
            <a:pPr marL="345440" marR="5080" indent="-320675">
              <a:lnSpc>
                <a:spcPct val="99600"/>
              </a:lnSpc>
              <a:buClr>
                <a:srgbClr val="7596D9"/>
              </a:buClr>
              <a:buSzPct val="60606"/>
              <a:buFont typeface="Wingdings"/>
              <a:buChar char=""/>
              <a:tabLst>
                <a:tab pos="345440" algn="l"/>
              </a:tabLst>
            </a:pPr>
            <a:r>
              <a:rPr sz="3300" dirty="0">
                <a:latin typeface="Calibri Light"/>
                <a:cs typeface="Calibri Light"/>
              </a:rPr>
              <a:t>Book</a:t>
            </a:r>
            <a:r>
              <a:rPr sz="3300" spc="-110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Followed</a:t>
            </a:r>
            <a:r>
              <a:rPr sz="3300" spc="-75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for</a:t>
            </a:r>
            <a:r>
              <a:rPr sz="3300" spc="-85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this</a:t>
            </a:r>
            <a:r>
              <a:rPr sz="3300" spc="-80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course</a:t>
            </a:r>
            <a:r>
              <a:rPr sz="3300" spc="-70" dirty="0">
                <a:latin typeface="Calibri Light"/>
                <a:cs typeface="Calibri Light"/>
              </a:rPr>
              <a:t> </a:t>
            </a:r>
            <a:r>
              <a:rPr sz="3300" dirty="0">
                <a:latin typeface="Calibri Light"/>
                <a:cs typeface="Calibri Light"/>
              </a:rPr>
              <a:t>is</a:t>
            </a:r>
            <a:r>
              <a:rPr sz="3300" spc="-85" dirty="0">
                <a:latin typeface="Calibri Light"/>
                <a:cs typeface="Calibri Light"/>
              </a:rPr>
              <a:t> </a:t>
            </a:r>
            <a:r>
              <a:rPr sz="3300" dirty="0" smtClean="0">
                <a:latin typeface="Calibri Light"/>
                <a:cs typeface="Calibri Light"/>
              </a:rPr>
              <a:t>“</a:t>
            </a:r>
            <a:r>
              <a:rPr lang="en-US" sz="3300" i="1" dirty="0" smtClean="0">
                <a:latin typeface="Calibri Light"/>
                <a:cs typeface="Calibri Light"/>
              </a:rPr>
              <a:t>Software Engineering, A Practitioner’s Approach, Pressman R. S.&amp; Maxim B. R., 8th </a:t>
            </a:r>
            <a:r>
              <a:rPr lang="en-US" sz="3300" i="1" dirty="0" err="1" smtClean="0">
                <a:latin typeface="Calibri Light"/>
                <a:cs typeface="Calibri Light"/>
              </a:rPr>
              <a:t>Edition,McGraw</a:t>
            </a:r>
            <a:r>
              <a:rPr lang="en-US" sz="3300" i="1" dirty="0" smtClean="0">
                <a:latin typeface="Calibri Light"/>
                <a:cs typeface="Calibri Light"/>
              </a:rPr>
              <a:t>-Hill, 2015.</a:t>
            </a:r>
            <a:r>
              <a:rPr sz="3300" spc="-10" dirty="0" smtClean="0">
                <a:latin typeface="Calibri Light"/>
                <a:cs typeface="Calibri Light"/>
              </a:rPr>
              <a:t>”</a:t>
            </a:r>
            <a:endParaRPr sz="3300" dirty="0">
              <a:latin typeface="Calibri Light"/>
              <a:cs typeface="Calibri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4738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5"/>
              </a:spcBef>
            </a:pPr>
            <a:r>
              <a:rPr dirty="0"/>
              <a:t>COURSE</a:t>
            </a:r>
            <a:r>
              <a:rPr spc="-175" dirty="0"/>
              <a:t> </a:t>
            </a:r>
            <a:r>
              <a:rPr spc="-10" dirty="0"/>
              <a:t>RUBRICS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850" y="1674241"/>
          <a:ext cx="8138159" cy="267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5295"/>
                <a:gridCol w="1631950"/>
                <a:gridCol w="1845310"/>
                <a:gridCol w="1196975"/>
                <a:gridCol w="1738629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RUBRICS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Break-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Down</a:t>
                      </a:r>
                      <a:r>
                        <a:rPr sz="20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r>
                        <a:rPr sz="2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b="1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Assignments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Assignment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20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Marks)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Assignment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Marks)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CCP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Marks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Marks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Quizzes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quizzes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(2.5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marks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Each)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Marks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MID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Exam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Marks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EXAM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50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Marks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33425" y="4735195"/>
            <a:ext cx="679069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latin typeface="Calibri"/>
                <a:cs typeface="Calibri"/>
              </a:rPr>
              <a:t>CCP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Calibri"/>
                <a:cs typeface="Calibri"/>
              </a:rPr>
              <a:t>COMPLEX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COMPUTING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ACTIVITY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" y="1276350"/>
            <a:ext cx="9124950" cy="247650"/>
            <a:chOff x="19050" y="1276350"/>
            <a:chExt cx="9124950" cy="247650"/>
          </a:xfrm>
        </p:grpSpPr>
        <p:sp>
          <p:nvSpPr>
            <p:cNvPr id="3" name="object 3"/>
            <p:cNvSpPr/>
            <p:nvPr/>
          </p:nvSpPr>
          <p:spPr>
            <a:xfrm>
              <a:off x="19050" y="1304912"/>
              <a:ext cx="533400" cy="219075"/>
            </a:xfrm>
            <a:custGeom>
              <a:avLst/>
              <a:gdLst/>
              <a:ahLst/>
              <a:cxnLst/>
              <a:rect l="l" t="t" r="r" b="b"/>
              <a:pathLst>
                <a:path w="533400" h="219075">
                  <a:moveTo>
                    <a:pt x="533400" y="0"/>
                  </a:moveTo>
                  <a:lnTo>
                    <a:pt x="0" y="0"/>
                  </a:lnTo>
                  <a:lnTo>
                    <a:pt x="0" y="218706"/>
                  </a:lnTo>
                  <a:lnTo>
                    <a:pt x="533400" y="218706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C84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0550" y="1276350"/>
              <a:ext cx="8553450" cy="228600"/>
            </a:xfrm>
            <a:custGeom>
              <a:avLst/>
              <a:gdLst/>
              <a:ahLst/>
              <a:cxnLst/>
              <a:rect l="l" t="t" r="r" b="b"/>
              <a:pathLst>
                <a:path w="8553450" h="228600">
                  <a:moveTo>
                    <a:pt x="855332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8553323" y="228600"/>
                  </a:lnTo>
                  <a:lnTo>
                    <a:pt x="8553323" y="0"/>
                  </a:lnTo>
                  <a:close/>
                </a:path>
              </a:pathLst>
            </a:custGeom>
            <a:solidFill>
              <a:srgbClr val="4253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581774"/>
            <a:ext cx="5562600" cy="276225"/>
          </a:xfrm>
          <a:custGeom>
            <a:avLst/>
            <a:gdLst/>
            <a:ahLst/>
            <a:cxnLst/>
            <a:rect l="l" t="t" r="r" b="b"/>
            <a:pathLst>
              <a:path w="5562600" h="276225">
                <a:moveTo>
                  <a:pt x="5562600" y="0"/>
                </a:moveTo>
                <a:lnTo>
                  <a:pt x="0" y="0"/>
                </a:lnTo>
                <a:lnTo>
                  <a:pt x="0" y="275844"/>
                </a:lnTo>
                <a:lnTo>
                  <a:pt x="5562600" y="275844"/>
                </a:lnTo>
                <a:lnTo>
                  <a:pt x="5562600" y="0"/>
                </a:lnTo>
                <a:close/>
              </a:path>
            </a:pathLst>
          </a:custGeom>
          <a:solidFill>
            <a:srgbClr val="425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38800" y="6581774"/>
            <a:ext cx="3505200" cy="276225"/>
          </a:xfrm>
          <a:custGeom>
            <a:avLst/>
            <a:gdLst/>
            <a:ahLst/>
            <a:cxnLst/>
            <a:rect l="l" t="t" r="r" b="b"/>
            <a:pathLst>
              <a:path w="3505200" h="276225">
                <a:moveTo>
                  <a:pt x="3505200" y="0"/>
                </a:moveTo>
                <a:lnTo>
                  <a:pt x="0" y="0"/>
                </a:lnTo>
                <a:lnTo>
                  <a:pt x="0" y="275844"/>
                </a:lnTo>
                <a:lnTo>
                  <a:pt x="3505200" y="275844"/>
                </a:lnTo>
                <a:lnTo>
                  <a:pt x="3505200" y="0"/>
                </a:lnTo>
                <a:close/>
              </a:path>
            </a:pathLst>
          </a:custGeom>
          <a:solidFill>
            <a:srgbClr val="6C8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50" y="1295400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>
                <a:moveTo>
                  <a:pt x="370967" y="0"/>
                </a:moveTo>
                <a:lnTo>
                  <a:pt x="0" y="0"/>
                </a:lnTo>
                <a:lnTo>
                  <a:pt x="0" y="228473"/>
                </a:lnTo>
                <a:lnTo>
                  <a:pt x="370967" y="228473"/>
                </a:lnTo>
                <a:lnTo>
                  <a:pt x="370967" y="0"/>
                </a:lnTo>
                <a:close/>
              </a:path>
            </a:pathLst>
          </a:custGeom>
          <a:solidFill>
            <a:srgbClr val="6C8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3045" y="1286890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COUSRE</a:t>
            </a:r>
            <a:r>
              <a:rPr spc="-95" dirty="0"/>
              <a:t> </a:t>
            </a:r>
            <a:r>
              <a:rPr dirty="0"/>
              <a:t>LEARNING</a:t>
            </a:r>
            <a:r>
              <a:rPr spc="-105" dirty="0"/>
              <a:t> </a:t>
            </a:r>
            <a:r>
              <a:rPr spc="-10" dirty="0"/>
              <a:t>OUTCOMES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022979"/>
              </p:ext>
            </p:extLst>
          </p:nvPr>
        </p:nvGraphicFramePr>
        <p:xfrm>
          <a:off x="226313" y="2203450"/>
          <a:ext cx="837819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8085"/>
                <a:gridCol w="924560"/>
                <a:gridCol w="1185545"/>
              </a:tblGrid>
              <a:tr h="838200">
                <a:tc>
                  <a:txBody>
                    <a:bodyPr/>
                    <a:lstStyle/>
                    <a:p>
                      <a:pPr marL="68580">
                        <a:lnSpc>
                          <a:spcPts val="23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2000" spc="3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successful</a:t>
                      </a:r>
                      <a:r>
                        <a:rPr sz="2000" spc="4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completion</a:t>
                      </a:r>
                      <a:r>
                        <a:rPr sz="200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4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2000" spc="4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course,</a:t>
                      </a:r>
                      <a:r>
                        <a:rPr sz="20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students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able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to: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300"/>
                        </a:lnSpc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PLO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3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BT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LEVEL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68580">
                        <a:lnSpc>
                          <a:spcPts val="231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20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spc="-10" dirty="0" smtClean="0">
                          <a:latin typeface="Calibri"/>
                          <a:cs typeface="Calibri"/>
                        </a:rPr>
                        <a:t>Describe various software engineering processes and activities.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310"/>
                        </a:lnSpc>
                      </a:pPr>
                      <a:r>
                        <a:rPr lang="en-US" sz="2000" spc="-50" dirty="0" smtClean="0">
                          <a:latin typeface="Calibri"/>
                          <a:cs typeface="Calibri"/>
                        </a:rPr>
                        <a:t>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310"/>
                        </a:lnSpc>
                      </a:pPr>
                      <a:r>
                        <a:rPr sz="2000" spc="-25" dirty="0" smtClean="0">
                          <a:latin typeface="Calibri"/>
                          <a:cs typeface="Calibri"/>
                        </a:rPr>
                        <a:t>C</a:t>
                      </a:r>
                      <a:r>
                        <a:rPr lang="en-US" sz="2000" spc="-25" dirty="0" smtClean="0">
                          <a:latin typeface="Calibri"/>
                          <a:cs typeface="Calibri"/>
                        </a:rPr>
                        <a:t>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68580" marR="53340">
                        <a:lnSpc>
                          <a:spcPts val="2400"/>
                        </a:lnSpc>
                        <a:tabLst>
                          <a:tab pos="530860" algn="l"/>
                          <a:tab pos="1388110" algn="l"/>
                          <a:tab pos="2180590" algn="l"/>
                          <a:tab pos="3845560" algn="l"/>
                          <a:tab pos="5161280" algn="l"/>
                          <a:tab pos="5725795" algn="l"/>
                        </a:tabLst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en-US" sz="2000" spc="-10" dirty="0" smtClean="0">
                          <a:latin typeface="Calibri"/>
                          <a:cs typeface="Calibri"/>
                        </a:rPr>
                        <a:t>Apply knowledge of software engineering appropriate to the discipline, particularly in the modelling, design, testing and deployment of software systems.</a:t>
                      </a:r>
                      <a:endParaRPr lang="en-US" sz="2000" spc="-1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320"/>
                        </a:lnSpc>
                      </a:pPr>
                      <a:r>
                        <a:rPr lang="en-US" sz="2000" spc="-50" dirty="0" smtClean="0">
                          <a:latin typeface="Calibri"/>
                          <a:cs typeface="Calibri"/>
                        </a:rPr>
                        <a:t>4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320"/>
                        </a:lnSpc>
                      </a:pPr>
                      <a:r>
                        <a:rPr sz="2000" spc="-25" dirty="0" smtClean="0">
                          <a:latin typeface="Calibri"/>
                          <a:cs typeface="Calibri"/>
                        </a:rPr>
                        <a:t>C</a:t>
                      </a:r>
                      <a:r>
                        <a:rPr lang="en-US" sz="2000" spc="-25" dirty="0" smtClean="0">
                          <a:latin typeface="Calibri"/>
                          <a:cs typeface="Calibri"/>
                        </a:rPr>
                        <a:t>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68580" marR="59055">
                        <a:lnSpc>
                          <a:spcPts val="24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20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spc="-10" dirty="0" smtClean="0">
                          <a:latin typeface="Calibri"/>
                          <a:cs typeface="Calibri"/>
                        </a:rPr>
                        <a:t>Analyze and solve small-scale Software Engineering problems.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330"/>
                        </a:lnSpc>
                      </a:pPr>
                      <a:r>
                        <a:rPr lang="en-US" sz="2000" spc="-50" dirty="0" smtClean="0">
                          <a:latin typeface="Calibri"/>
                          <a:cs typeface="Calibri"/>
                        </a:rPr>
                        <a:t>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330"/>
                        </a:lnSpc>
                      </a:pPr>
                      <a:r>
                        <a:rPr sz="2000" spc="-25" dirty="0" smtClean="0">
                          <a:latin typeface="Calibri"/>
                          <a:cs typeface="Calibri"/>
                        </a:rPr>
                        <a:t>C</a:t>
                      </a:r>
                      <a:r>
                        <a:rPr lang="en-US" sz="2000" spc="-25" dirty="0" smtClean="0">
                          <a:latin typeface="Calibri"/>
                          <a:cs typeface="Calibri"/>
                        </a:rPr>
                        <a:t>4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1950"/>
            <a:ext cx="9143999" cy="6191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</TotalTime>
  <Words>133</Words>
  <Application>Microsoft Office PowerPoint</Application>
  <PresentationFormat>On-screen Show (4:3)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Arial MT</vt:lpstr>
      <vt:lpstr>Calibri</vt:lpstr>
      <vt:lpstr>Calibri Light</vt:lpstr>
      <vt:lpstr>Century Gothic</vt:lpstr>
      <vt:lpstr>Times New Roman</vt:lpstr>
      <vt:lpstr>Wingdings</vt:lpstr>
      <vt:lpstr>Wingdings 3</vt:lpstr>
      <vt:lpstr>Wisp</vt:lpstr>
      <vt:lpstr>Software Engineering SEN-220</vt:lpstr>
      <vt:lpstr>PowerPoint Presentation</vt:lpstr>
      <vt:lpstr>COURSE RUBRICS</vt:lpstr>
      <vt:lpstr>COUSRE LEARNING OUTCOMES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SEN-220</dc:title>
  <cp:lastModifiedBy>BUKC</cp:lastModifiedBy>
  <cp:revision>4</cp:revision>
  <dcterms:created xsi:type="dcterms:W3CDTF">2024-09-12T04:17:42Z</dcterms:created>
  <dcterms:modified xsi:type="dcterms:W3CDTF">2024-09-12T04:26:41Z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2024-09-09T00:00:00Z</vt:filetime>
  </property>
  <property fmtid="{D5CDD505-2E9C-101B-9397-08002B2CF9AE}" pid="3" name="LastSaved">
    <vt:filetime>2024-09-12T00:00:00Z</vt:filetime>
  </property>
</Properties>
</file>