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10/14/2024</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10/14/2024</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10/14/2024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10/14/2024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10/14/2024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10/14/2024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10/14/2024</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10/14/2024</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10/14/2024</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slideshare.net/Axphey/the-complete-srs-documentation-of-our-developed-gam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00F6DCA-CA2E-C3C9-5077-B380524D7253}"/>
              </a:ext>
            </a:extLst>
          </p:cNvPr>
          <p:cNvSpPr>
            <a:spLocks noGrp="1"/>
          </p:cNvSpPr>
          <p:nvPr>
            <p:ph type="ctrTitle"/>
          </p:nvPr>
        </p:nvSpPr>
        <p:spPr/>
        <p:txBody>
          <a:bodyPr/>
          <a:lstStyle/>
          <a:p>
            <a:r>
              <a:rPr lang="en-US" dirty="0"/>
              <a:t>Sen-220 software engineering</a:t>
            </a:r>
          </a:p>
        </p:txBody>
      </p:sp>
      <p:sp>
        <p:nvSpPr>
          <p:cNvPr id="3" name="Subtitle 2">
            <a:extLst>
              <a:ext uri="{FF2B5EF4-FFF2-40B4-BE49-F238E27FC236}">
                <a16:creationId xmlns:a16="http://schemas.microsoft.com/office/drawing/2014/main" xmlns="" id="{914B93FF-B20F-85AF-8F17-B9B8FC8093F1}"/>
              </a:ext>
            </a:extLst>
          </p:cNvPr>
          <p:cNvSpPr>
            <a:spLocks noGrp="1"/>
          </p:cNvSpPr>
          <p:nvPr>
            <p:ph type="subTitle" idx="1"/>
          </p:nvPr>
        </p:nvSpPr>
        <p:spPr/>
        <p:txBody>
          <a:bodyPr>
            <a:normAutofit/>
          </a:bodyPr>
          <a:lstStyle/>
          <a:p>
            <a:r>
              <a:rPr lang="en-US" sz="2800" dirty="0"/>
              <a:t>Software Requirements Specification (SRS)</a:t>
            </a:r>
          </a:p>
        </p:txBody>
      </p:sp>
    </p:spTree>
    <p:extLst>
      <p:ext uri="{BB962C8B-B14F-4D97-AF65-F5344CB8AC3E}">
        <p14:creationId xmlns:p14="http://schemas.microsoft.com/office/powerpoint/2010/main" val="97814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F9BDBC6-D3D8-591C-8976-303FC1234E14}"/>
              </a:ext>
            </a:extLst>
          </p:cNvPr>
          <p:cNvSpPr>
            <a:spLocks noGrp="1"/>
          </p:cNvSpPr>
          <p:nvPr>
            <p:ph type="title"/>
          </p:nvPr>
        </p:nvSpPr>
        <p:spPr/>
        <p:txBody>
          <a:bodyPr/>
          <a:lstStyle/>
          <a:p>
            <a:r>
              <a:rPr lang="en-US" dirty="0"/>
              <a:t>What Is a Software Requirements Specification (SRS) Document?</a:t>
            </a:r>
          </a:p>
        </p:txBody>
      </p:sp>
      <p:sp>
        <p:nvSpPr>
          <p:cNvPr id="3" name="Content Placeholder 2">
            <a:extLst>
              <a:ext uri="{FF2B5EF4-FFF2-40B4-BE49-F238E27FC236}">
                <a16:creationId xmlns:a16="http://schemas.microsoft.com/office/drawing/2014/main" xmlns="" id="{B9FBC487-FBF6-055D-AFA4-5BE025537096}"/>
              </a:ext>
            </a:extLst>
          </p:cNvPr>
          <p:cNvSpPr>
            <a:spLocks noGrp="1"/>
          </p:cNvSpPr>
          <p:nvPr>
            <p:ph idx="1"/>
          </p:nvPr>
        </p:nvSpPr>
        <p:spPr/>
        <p:txBody>
          <a:bodyPr/>
          <a:lstStyle/>
          <a:p>
            <a:r>
              <a:rPr lang="en-US" b="0" i="0" dirty="0">
                <a:solidFill>
                  <a:srgbClr val="666666"/>
                </a:solidFill>
                <a:effectLst/>
                <a:latin typeface="canada-type-gibson"/>
              </a:rPr>
              <a:t>A software requirements specification (SRS) is a document that describes what the software will do and how it will be expected to perform. It also describes the functionality the product needs to fulfill all stakeholders (business, users) needs.</a:t>
            </a:r>
            <a:endParaRPr lang="en-US" dirty="0"/>
          </a:p>
        </p:txBody>
      </p:sp>
    </p:spTree>
    <p:extLst>
      <p:ext uri="{BB962C8B-B14F-4D97-AF65-F5344CB8AC3E}">
        <p14:creationId xmlns:p14="http://schemas.microsoft.com/office/powerpoint/2010/main" val="21586167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495993-35C1-CC4B-1C11-08ECE4CBE14C}"/>
              </a:ext>
            </a:extLst>
          </p:cNvPr>
          <p:cNvSpPr>
            <a:spLocks noGrp="1"/>
          </p:cNvSpPr>
          <p:nvPr>
            <p:ph type="title"/>
          </p:nvPr>
        </p:nvSpPr>
        <p:spPr/>
        <p:txBody>
          <a:bodyPr/>
          <a:lstStyle/>
          <a:p>
            <a:r>
              <a:rPr lang="en-US" dirty="0"/>
              <a:t>What Is a Software Requirements Specification (SRS) Document?</a:t>
            </a:r>
          </a:p>
        </p:txBody>
      </p:sp>
      <p:sp>
        <p:nvSpPr>
          <p:cNvPr id="3" name="Content Placeholder 2">
            <a:extLst>
              <a:ext uri="{FF2B5EF4-FFF2-40B4-BE49-F238E27FC236}">
                <a16:creationId xmlns:a16="http://schemas.microsoft.com/office/drawing/2014/main" xmlns="" id="{28F584CA-8251-A3D9-852B-C7613873F438}"/>
              </a:ext>
            </a:extLst>
          </p:cNvPr>
          <p:cNvSpPr>
            <a:spLocks noGrp="1"/>
          </p:cNvSpPr>
          <p:nvPr>
            <p:ph idx="1"/>
          </p:nvPr>
        </p:nvSpPr>
        <p:spPr/>
        <p:txBody>
          <a:bodyPr/>
          <a:lstStyle/>
          <a:p>
            <a:pPr marL="0" indent="0">
              <a:buNone/>
            </a:pPr>
            <a:r>
              <a:rPr lang="en-US" dirty="0"/>
              <a:t>An SRS can be simply summarized into four Ds:</a:t>
            </a:r>
          </a:p>
          <a:p>
            <a:r>
              <a:rPr lang="en-US" dirty="0"/>
              <a:t>Define your product's purpose.</a:t>
            </a:r>
          </a:p>
          <a:p>
            <a:r>
              <a:rPr lang="en-US" dirty="0"/>
              <a:t>Describe what you're building.</a:t>
            </a:r>
          </a:p>
          <a:p>
            <a:r>
              <a:rPr lang="en-US" dirty="0"/>
              <a:t>Detail the requirements.</a:t>
            </a:r>
          </a:p>
          <a:p>
            <a:r>
              <a:rPr lang="en-US" dirty="0"/>
              <a:t>Deliver it for approval.</a:t>
            </a:r>
          </a:p>
        </p:txBody>
      </p:sp>
    </p:spTree>
    <p:extLst>
      <p:ext uri="{BB962C8B-B14F-4D97-AF65-F5344CB8AC3E}">
        <p14:creationId xmlns:p14="http://schemas.microsoft.com/office/powerpoint/2010/main" val="1544634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99B7E61-5F45-4597-2B3A-D65BEF60C17C}"/>
              </a:ext>
            </a:extLst>
          </p:cNvPr>
          <p:cNvSpPr>
            <a:spLocks noGrp="1"/>
          </p:cNvSpPr>
          <p:nvPr>
            <p:ph type="title"/>
          </p:nvPr>
        </p:nvSpPr>
        <p:spPr/>
        <p:txBody>
          <a:bodyPr/>
          <a:lstStyle/>
          <a:p>
            <a:r>
              <a:rPr lang="en-US" dirty="0"/>
              <a:t>Why Use an SRS Document?</a:t>
            </a:r>
          </a:p>
        </p:txBody>
      </p:sp>
      <p:sp>
        <p:nvSpPr>
          <p:cNvPr id="3" name="Content Placeholder 2">
            <a:extLst>
              <a:ext uri="{FF2B5EF4-FFF2-40B4-BE49-F238E27FC236}">
                <a16:creationId xmlns:a16="http://schemas.microsoft.com/office/drawing/2014/main" xmlns="" id="{E8CAC3B4-0001-13F4-EC23-C85B7EC0F6D7}"/>
              </a:ext>
            </a:extLst>
          </p:cNvPr>
          <p:cNvSpPr>
            <a:spLocks noGrp="1"/>
          </p:cNvSpPr>
          <p:nvPr>
            <p:ph idx="1"/>
          </p:nvPr>
        </p:nvSpPr>
        <p:spPr/>
        <p:txBody>
          <a:bodyPr/>
          <a:lstStyle/>
          <a:p>
            <a:r>
              <a:rPr lang="en-US" b="0" i="0" dirty="0">
                <a:solidFill>
                  <a:srgbClr val="666666"/>
                </a:solidFill>
                <a:effectLst/>
                <a:latin typeface="canada-type-gibson"/>
              </a:rPr>
              <a:t>An SRS gives you a complete picture of your entire project. It provides a single source of truth that every team involved in development will follow. It is your plan of action and keeps all your teams — from development to maintenance — on the same page.</a:t>
            </a:r>
            <a:endParaRPr lang="en-US" dirty="0"/>
          </a:p>
        </p:txBody>
      </p:sp>
    </p:spTree>
    <p:extLst>
      <p:ext uri="{BB962C8B-B14F-4D97-AF65-F5344CB8AC3E}">
        <p14:creationId xmlns:p14="http://schemas.microsoft.com/office/powerpoint/2010/main" val="1386360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xmlns="" id="{F1ADD25B-0A33-4EF2-90F4-43139269318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614406"/>
            <a:ext cx="12192000" cy="62435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1" name="Rectangle 3080">
            <a:extLst>
              <a:ext uri="{FF2B5EF4-FFF2-40B4-BE49-F238E27FC236}">
                <a16:creationId xmlns:a16="http://schemas.microsoft.com/office/drawing/2014/main" xmlns="" id="{74DB6F31-1B9E-4237-84A3-0825BFDF461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42377" y="614407"/>
            <a:ext cx="370747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xmlns="" id="{2E640796-6F3D-0263-5C08-D33712325F43}"/>
              </a:ext>
            </a:extLst>
          </p:cNvPr>
          <p:cNvSpPr>
            <a:spLocks noGrp="1"/>
          </p:cNvSpPr>
          <p:nvPr>
            <p:ph type="title"/>
          </p:nvPr>
        </p:nvSpPr>
        <p:spPr>
          <a:xfrm>
            <a:off x="601255" y="702156"/>
            <a:ext cx="3409783" cy="1013800"/>
          </a:xfrm>
        </p:spPr>
        <p:txBody>
          <a:bodyPr>
            <a:normAutofit/>
          </a:bodyPr>
          <a:lstStyle/>
          <a:p>
            <a:r>
              <a:rPr lang="en-US"/>
              <a:t>How to Write an SRS Document?</a:t>
            </a:r>
            <a:endParaRPr lang="en-US" dirty="0"/>
          </a:p>
        </p:txBody>
      </p:sp>
      <p:sp>
        <p:nvSpPr>
          <p:cNvPr id="3" name="Content Placeholder 2">
            <a:extLst>
              <a:ext uri="{FF2B5EF4-FFF2-40B4-BE49-F238E27FC236}">
                <a16:creationId xmlns:a16="http://schemas.microsoft.com/office/drawing/2014/main" xmlns="" id="{84B51A75-E582-A439-D34B-92E337BDF120}"/>
              </a:ext>
            </a:extLst>
          </p:cNvPr>
          <p:cNvSpPr>
            <a:spLocks noGrp="1"/>
          </p:cNvSpPr>
          <p:nvPr>
            <p:ph idx="1"/>
          </p:nvPr>
        </p:nvSpPr>
        <p:spPr>
          <a:xfrm>
            <a:off x="601255" y="1964168"/>
            <a:ext cx="3409782" cy="4036582"/>
          </a:xfrm>
        </p:spPr>
        <p:txBody>
          <a:bodyPr>
            <a:normAutofit/>
          </a:bodyPr>
          <a:lstStyle/>
          <a:p>
            <a:pPr>
              <a:lnSpc>
                <a:spcPct val="90000"/>
              </a:lnSpc>
            </a:pPr>
            <a:r>
              <a:rPr lang="en-US" sz="1500">
                <a:solidFill>
                  <a:schemeClr val="bg1"/>
                </a:solidFill>
                <a:latin typeface="arial" panose="020B0604020202020204" pitchFamily="34" charset="0"/>
              </a:rPr>
              <a:t>Table of Contents</a:t>
            </a:r>
          </a:p>
          <a:p>
            <a:pPr marL="0" indent="0">
              <a:lnSpc>
                <a:spcPct val="90000"/>
              </a:lnSpc>
              <a:buNone/>
            </a:pPr>
            <a:endParaRPr lang="en-US" sz="1500">
              <a:solidFill>
                <a:schemeClr val="bg1"/>
              </a:solidFill>
              <a:latin typeface="arial" panose="020B0604020202020204" pitchFamily="34" charset="0"/>
            </a:endParaRPr>
          </a:p>
          <a:p>
            <a:pPr>
              <a:lnSpc>
                <a:spcPct val="90000"/>
              </a:lnSpc>
            </a:pPr>
            <a:r>
              <a:rPr lang="en-US" sz="1500">
                <a:solidFill>
                  <a:schemeClr val="bg1"/>
                </a:solidFill>
                <a:latin typeface="arial" panose="020B0604020202020204" pitchFamily="34" charset="0"/>
              </a:rPr>
              <a:t>1. Introduction</a:t>
            </a:r>
          </a:p>
          <a:p>
            <a:pPr marL="0" indent="0">
              <a:lnSpc>
                <a:spcPct val="90000"/>
              </a:lnSpc>
              <a:buNone/>
            </a:pPr>
            <a:r>
              <a:rPr lang="en-US" sz="1500" b="0" i="0">
                <a:solidFill>
                  <a:schemeClr val="bg1"/>
                </a:solidFill>
                <a:effectLst/>
                <a:latin typeface="arial" panose="020B0604020202020204" pitchFamily="34" charset="0"/>
              </a:rPr>
              <a:t> An introduction is </a:t>
            </a:r>
            <a:r>
              <a:rPr lang="en-US" sz="1500" b="1" i="0">
                <a:solidFill>
                  <a:schemeClr val="bg1"/>
                </a:solidFill>
                <a:effectLst/>
                <a:latin typeface="arial" panose="020B0604020202020204" pitchFamily="34" charset="0"/>
              </a:rPr>
              <a:t>a beginning section which states the purpose and goals of the following writing</a:t>
            </a:r>
            <a:r>
              <a:rPr lang="en-US" sz="1500" b="0" i="0">
                <a:solidFill>
                  <a:schemeClr val="bg1"/>
                </a:solidFill>
                <a:effectLst/>
                <a:latin typeface="arial" panose="020B0604020202020204" pitchFamily="34" charset="0"/>
              </a:rPr>
              <a:t>.</a:t>
            </a:r>
          </a:p>
          <a:p>
            <a:pPr marL="0" indent="0">
              <a:lnSpc>
                <a:spcPct val="90000"/>
              </a:lnSpc>
              <a:buNone/>
            </a:pPr>
            <a:r>
              <a:rPr lang="en-US" sz="1500">
                <a:solidFill>
                  <a:schemeClr val="bg1"/>
                </a:solidFill>
                <a:latin typeface="arial" panose="020B0604020202020204" pitchFamily="34" charset="0"/>
              </a:rPr>
              <a:t>1.1. Purpose</a:t>
            </a:r>
          </a:p>
          <a:p>
            <a:pPr>
              <a:lnSpc>
                <a:spcPct val="90000"/>
              </a:lnSpc>
              <a:buFontTx/>
              <a:buChar char="-"/>
            </a:pPr>
            <a:r>
              <a:rPr lang="en-US" sz="1500">
                <a:solidFill>
                  <a:schemeClr val="bg1"/>
                </a:solidFill>
                <a:latin typeface="arial" panose="020B0604020202020204" pitchFamily="34" charset="0"/>
              </a:rPr>
              <a:t>Write about what is the purpose of making this this project.</a:t>
            </a:r>
          </a:p>
          <a:p>
            <a:pPr marL="0" indent="0">
              <a:lnSpc>
                <a:spcPct val="90000"/>
              </a:lnSpc>
              <a:buNone/>
            </a:pPr>
            <a:r>
              <a:rPr lang="en-US" sz="1500">
                <a:solidFill>
                  <a:schemeClr val="bg1"/>
                </a:solidFill>
                <a:latin typeface="arial" panose="020B0604020202020204" pitchFamily="34" charset="0"/>
              </a:rPr>
              <a:t>-    Example: The purpose of this document is to build an online system to manage flights and passengers to ease the flight management.</a:t>
            </a:r>
            <a:endParaRPr lang="en-US" sz="1500">
              <a:solidFill>
                <a:schemeClr val="bg1"/>
              </a:solidFill>
            </a:endParaRPr>
          </a:p>
        </p:txBody>
      </p:sp>
      <p:pic>
        <p:nvPicPr>
          <p:cNvPr id="3074" name="Picture 2" descr="How to write a software requirements specification (SRS ...">
            <a:extLst>
              <a:ext uri="{FF2B5EF4-FFF2-40B4-BE49-F238E27FC236}">
                <a16:creationId xmlns:a16="http://schemas.microsoft.com/office/drawing/2014/main" xmlns="" id="{8D1EF12E-D4AF-D938-E6D7-90CE3D69BB7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766950" y="1111641"/>
            <a:ext cx="4538963" cy="46553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553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F6E2F13-3DEF-44AE-B839-4844B81EF449}"/>
              </a:ext>
            </a:extLst>
          </p:cNvPr>
          <p:cNvSpPr>
            <a:spLocks noGrp="1"/>
          </p:cNvSpPr>
          <p:nvPr>
            <p:ph type="title"/>
          </p:nvPr>
        </p:nvSpPr>
        <p:spPr/>
        <p:txBody>
          <a:bodyPr/>
          <a:lstStyle/>
          <a:p>
            <a:r>
              <a:rPr lang="en-US" dirty="0"/>
              <a:t>How to Write an SRS Document?</a:t>
            </a:r>
          </a:p>
        </p:txBody>
      </p:sp>
      <p:sp>
        <p:nvSpPr>
          <p:cNvPr id="3" name="Content Placeholder 2">
            <a:extLst>
              <a:ext uri="{FF2B5EF4-FFF2-40B4-BE49-F238E27FC236}">
                <a16:creationId xmlns:a16="http://schemas.microsoft.com/office/drawing/2014/main" xmlns="" id="{24B02A8E-A150-0A25-87FD-3F443067E58E}"/>
              </a:ext>
            </a:extLst>
          </p:cNvPr>
          <p:cNvSpPr>
            <a:spLocks noGrp="1"/>
          </p:cNvSpPr>
          <p:nvPr>
            <p:ph idx="1"/>
          </p:nvPr>
        </p:nvSpPr>
        <p:spPr/>
        <p:txBody>
          <a:bodyPr>
            <a:normAutofit fontScale="77500" lnSpcReduction="20000"/>
          </a:bodyPr>
          <a:lstStyle/>
          <a:p>
            <a:pPr marL="0" indent="0">
              <a:buNone/>
            </a:pPr>
            <a:r>
              <a:rPr lang="en-US" dirty="0">
                <a:solidFill>
                  <a:srgbClr val="666666"/>
                </a:solidFill>
                <a:latin typeface="canada-type-gibson"/>
              </a:rPr>
              <a:t>1.2. Intended Audience and Intended Use</a:t>
            </a:r>
          </a:p>
          <a:p>
            <a:pPr marL="0" indent="0">
              <a:buNone/>
            </a:pPr>
            <a:r>
              <a:rPr lang="en-US" dirty="0"/>
              <a:t>- </a:t>
            </a:r>
            <a:r>
              <a:rPr lang="en-US" b="0" i="0" dirty="0">
                <a:solidFill>
                  <a:srgbClr val="666666"/>
                </a:solidFill>
                <a:effectLst/>
                <a:latin typeface="canada-type-gibson"/>
              </a:rPr>
              <a:t>Define who in your organization will have access to the SRS and how they should use it. This may include developers, testers, and project managers. It could also include stakeholders in other departments, including leadership teams, sales, and marketing.</a:t>
            </a:r>
          </a:p>
          <a:p>
            <a:pPr algn="l"/>
            <a:r>
              <a:rPr lang="en-US" b="0" i="0" dirty="0">
                <a:solidFill>
                  <a:srgbClr val="666666"/>
                </a:solidFill>
                <a:effectLst/>
                <a:latin typeface="canada-type-gibson"/>
              </a:rPr>
              <a:t> Example: </a:t>
            </a:r>
            <a:r>
              <a:rPr lang="en-US" b="1" i="0" dirty="0">
                <a:solidFill>
                  <a:srgbClr val="374151"/>
                </a:solidFill>
                <a:effectLst/>
                <a:latin typeface="Söhne"/>
              </a:rPr>
              <a:t>Intended Audience</a:t>
            </a:r>
            <a:r>
              <a:rPr lang="en-US" b="0" i="0" dirty="0">
                <a:solidFill>
                  <a:srgbClr val="374151"/>
                </a:solidFill>
                <a:effectLst/>
                <a:latin typeface="Söhne"/>
              </a:rPr>
              <a:t>: This app is made for kids and individuals who have different ways of learning or special needs. It's designed to help those who might find traditional learning a bit hard or need extra support while learning new things.</a:t>
            </a:r>
          </a:p>
          <a:p>
            <a:pPr algn="l"/>
            <a:r>
              <a:rPr lang="en-US" b="1" i="0" dirty="0">
                <a:solidFill>
                  <a:srgbClr val="374151"/>
                </a:solidFill>
                <a:effectLst/>
                <a:latin typeface="Söhne"/>
              </a:rPr>
              <a:t>Intended Use</a:t>
            </a:r>
            <a:r>
              <a:rPr lang="en-US" b="0" i="0" dirty="0">
                <a:solidFill>
                  <a:srgbClr val="374151"/>
                </a:solidFill>
                <a:effectLst/>
                <a:latin typeface="Söhne"/>
              </a:rPr>
              <a:t>: This app is meant to be used as a fun and helpful tool for learning. It has games, activities, and lessons tailored to suit various learning styles and needs. It's here to make learning more enjoyable and easier for everyone who uses it, providing a way to learn at your own pace and in a way that works best for you.</a:t>
            </a:r>
          </a:p>
          <a:p>
            <a:pPr marL="0" indent="0">
              <a:buNone/>
            </a:pPr>
            <a:r>
              <a:rPr lang="en-US" dirty="0">
                <a:solidFill>
                  <a:srgbClr val="666666"/>
                </a:solidFill>
                <a:latin typeface="canada-type-gibson"/>
              </a:rPr>
              <a:t>1.3. Scope</a:t>
            </a:r>
          </a:p>
          <a:p>
            <a:pPr marL="0" indent="0">
              <a:buNone/>
            </a:pPr>
            <a:r>
              <a:rPr lang="en-US" dirty="0">
                <a:solidFill>
                  <a:srgbClr val="666666"/>
                </a:solidFill>
                <a:latin typeface="canada-type-gibson"/>
              </a:rPr>
              <a:t>- </a:t>
            </a:r>
            <a:r>
              <a:rPr lang="en-US" b="0" i="0" dirty="0">
                <a:solidFill>
                  <a:srgbClr val="666666"/>
                </a:solidFill>
                <a:effectLst/>
                <a:latin typeface="canada-type-gibson"/>
              </a:rPr>
              <a:t>What are the benefits, objectives, and goals we intend to have for this product? This should relate to overall business goals, especially if teams outside of development will have access to the SRS.</a:t>
            </a:r>
          </a:p>
          <a:p>
            <a:pPr marL="0" indent="0">
              <a:buNone/>
            </a:pPr>
            <a:r>
              <a:rPr lang="en-US" dirty="0">
                <a:solidFill>
                  <a:srgbClr val="666666"/>
                </a:solidFill>
                <a:latin typeface="canada-type-gibson"/>
              </a:rPr>
              <a:t>- Example: The purpose of the online flight management system is to ease flight management and to create a convenient and easy-to-use application for passengers, trying to buy airline tickets. The system is based on a relational database with its flight management and reservation functions. We will have a database server supporting hundreds of major cities around the world as well as thousands of flights by various airline companies. Above all, we hope to provide a comfortable user experience along with the best pricing available.</a:t>
            </a:r>
            <a:endParaRPr lang="en-US" dirty="0"/>
          </a:p>
        </p:txBody>
      </p:sp>
    </p:spTree>
    <p:extLst>
      <p:ext uri="{BB962C8B-B14F-4D97-AF65-F5344CB8AC3E}">
        <p14:creationId xmlns:p14="http://schemas.microsoft.com/office/powerpoint/2010/main" val="586078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2CCF655-B9D4-447B-A79E-AEB7AFAC8B87}"/>
              </a:ext>
            </a:extLst>
          </p:cNvPr>
          <p:cNvSpPr>
            <a:spLocks noGrp="1"/>
          </p:cNvSpPr>
          <p:nvPr>
            <p:ph type="title"/>
          </p:nvPr>
        </p:nvSpPr>
        <p:spPr/>
        <p:txBody>
          <a:bodyPr/>
          <a:lstStyle/>
          <a:p>
            <a:r>
              <a:rPr lang="en-US" dirty="0"/>
              <a:t>How to Write an SRS Document?</a:t>
            </a:r>
          </a:p>
        </p:txBody>
      </p:sp>
      <p:sp>
        <p:nvSpPr>
          <p:cNvPr id="3" name="Content Placeholder 2">
            <a:extLst>
              <a:ext uri="{FF2B5EF4-FFF2-40B4-BE49-F238E27FC236}">
                <a16:creationId xmlns:a16="http://schemas.microsoft.com/office/drawing/2014/main" xmlns="" id="{097C63AF-3F8C-B56D-88A8-A2D7E4A92D6A}"/>
              </a:ext>
            </a:extLst>
          </p:cNvPr>
          <p:cNvSpPr>
            <a:spLocks noGrp="1"/>
          </p:cNvSpPr>
          <p:nvPr>
            <p:ph idx="1"/>
          </p:nvPr>
        </p:nvSpPr>
        <p:spPr/>
        <p:txBody>
          <a:bodyPr/>
          <a:lstStyle/>
          <a:p>
            <a:r>
              <a:rPr lang="en-US" dirty="0"/>
              <a:t>1.4. Document Conventions</a:t>
            </a:r>
          </a:p>
          <a:p>
            <a:pPr>
              <a:buFontTx/>
              <a:buChar char="-"/>
            </a:pPr>
            <a:r>
              <a:rPr lang="en-US" b="0" i="0" dirty="0">
                <a:solidFill>
                  <a:srgbClr val="3B3C3D"/>
                </a:solidFill>
                <a:effectLst/>
                <a:latin typeface="sohne"/>
              </a:rPr>
              <a:t>You explain the formats used in the document. What are bold words for, what is italic used for and so on.</a:t>
            </a:r>
          </a:p>
          <a:p>
            <a:pPr>
              <a:buFontTx/>
              <a:buChar char="-"/>
            </a:pPr>
            <a:endParaRPr lang="en-US" dirty="0"/>
          </a:p>
          <a:p>
            <a:pPr marL="0" indent="0">
              <a:buNone/>
            </a:pPr>
            <a:endParaRPr lang="en-US" dirty="0"/>
          </a:p>
        </p:txBody>
      </p:sp>
      <p:pic>
        <p:nvPicPr>
          <p:cNvPr id="7" name="Picture 6">
            <a:extLst>
              <a:ext uri="{FF2B5EF4-FFF2-40B4-BE49-F238E27FC236}">
                <a16:creationId xmlns:a16="http://schemas.microsoft.com/office/drawing/2014/main" xmlns="" id="{F9CD26E7-B513-2646-7114-6BB336F07289}"/>
              </a:ext>
            </a:extLst>
          </p:cNvPr>
          <p:cNvPicPr>
            <a:picLocks noChangeAspect="1"/>
          </p:cNvPicPr>
          <p:nvPr/>
        </p:nvPicPr>
        <p:blipFill>
          <a:blip r:embed="rId2"/>
          <a:stretch>
            <a:fillRect/>
          </a:stretch>
        </p:blipFill>
        <p:spPr>
          <a:xfrm>
            <a:off x="1031612" y="4287174"/>
            <a:ext cx="9134475" cy="1571625"/>
          </a:xfrm>
          <a:prstGeom prst="rect">
            <a:avLst/>
          </a:prstGeom>
        </p:spPr>
      </p:pic>
    </p:spTree>
    <p:extLst>
      <p:ext uri="{BB962C8B-B14F-4D97-AF65-F5344CB8AC3E}">
        <p14:creationId xmlns:p14="http://schemas.microsoft.com/office/powerpoint/2010/main" val="36160003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2B4038-5762-5421-2516-712C8393C0EA}"/>
              </a:ext>
            </a:extLst>
          </p:cNvPr>
          <p:cNvSpPr>
            <a:spLocks noGrp="1"/>
          </p:cNvSpPr>
          <p:nvPr>
            <p:ph type="title"/>
          </p:nvPr>
        </p:nvSpPr>
        <p:spPr/>
        <p:txBody>
          <a:bodyPr/>
          <a:lstStyle/>
          <a:p>
            <a:r>
              <a:rPr lang="en-US" dirty="0"/>
              <a:t>How to Write an SRS Document?</a:t>
            </a:r>
          </a:p>
        </p:txBody>
      </p:sp>
      <p:pic>
        <p:nvPicPr>
          <p:cNvPr id="2050" name="Picture 2" descr="Using Cisco TCP/IP Suite 100 for Windows">
            <a:extLst>
              <a:ext uri="{FF2B5EF4-FFF2-40B4-BE49-F238E27FC236}">
                <a16:creationId xmlns:a16="http://schemas.microsoft.com/office/drawing/2014/main" xmlns="" id="{84759C1C-B3EA-62D5-FA21-50D0FAC2AF7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628049" y="2181225"/>
            <a:ext cx="4935902" cy="3678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2610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F146BC7-64D4-2B7F-92EB-0532807161F0}"/>
              </a:ext>
            </a:extLst>
          </p:cNvPr>
          <p:cNvSpPr>
            <a:spLocks noGrp="1"/>
          </p:cNvSpPr>
          <p:nvPr>
            <p:ph type="title"/>
          </p:nvPr>
        </p:nvSpPr>
        <p:spPr/>
        <p:txBody>
          <a:bodyPr/>
          <a:lstStyle/>
          <a:p>
            <a:r>
              <a:rPr lang="en-US" dirty="0"/>
              <a:t>How to Write an SRS Document?</a:t>
            </a:r>
          </a:p>
        </p:txBody>
      </p:sp>
      <p:sp>
        <p:nvSpPr>
          <p:cNvPr id="3" name="Content Placeholder 2">
            <a:extLst>
              <a:ext uri="{FF2B5EF4-FFF2-40B4-BE49-F238E27FC236}">
                <a16:creationId xmlns:a16="http://schemas.microsoft.com/office/drawing/2014/main" xmlns="" id="{59523498-C9FE-5116-9BE1-E48CB63EF099}"/>
              </a:ext>
            </a:extLst>
          </p:cNvPr>
          <p:cNvSpPr>
            <a:spLocks noGrp="1"/>
          </p:cNvSpPr>
          <p:nvPr>
            <p:ph idx="1"/>
          </p:nvPr>
        </p:nvSpPr>
        <p:spPr/>
        <p:txBody>
          <a:bodyPr/>
          <a:lstStyle/>
          <a:p>
            <a:r>
              <a:rPr lang="en-US" dirty="0"/>
              <a:t>1.5 References:</a:t>
            </a:r>
          </a:p>
          <a:p>
            <a:pPr>
              <a:buFontTx/>
              <a:buChar char="-"/>
            </a:pPr>
            <a:r>
              <a:rPr lang="en-US" dirty="0"/>
              <a:t>In your writing, you cite or refer to the source of information. A reference gives the readers details about the source so that they have a good understanding of what kind of source it is and could find the source themselves if necessary. </a:t>
            </a:r>
          </a:p>
          <a:p>
            <a:pPr>
              <a:buFontTx/>
              <a:buChar char="-"/>
            </a:pPr>
            <a:r>
              <a:rPr lang="en-US" dirty="0"/>
              <a:t>Example:</a:t>
            </a:r>
          </a:p>
          <a:p>
            <a:pPr>
              <a:buFontTx/>
              <a:buChar char="-"/>
            </a:pPr>
            <a:endParaRPr lang="en-US" dirty="0"/>
          </a:p>
        </p:txBody>
      </p:sp>
      <p:pic>
        <p:nvPicPr>
          <p:cNvPr id="5" name="Picture 4">
            <a:extLst>
              <a:ext uri="{FF2B5EF4-FFF2-40B4-BE49-F238E27FC236}">
                <a16:creationId xmlns:a16="http://schemas.microsoft.com/office/drawing/2014/main" xmlns="" id="{69198180-AE94-B881-FF1A-7E590F9054AA}"/>
              </a:ext>
            </a:extLst>
          </p:cNvPr>
          <p:cNvPicPr>
            <a:picLocks noChangeAspect="1"/>
          </p:cNvPicPr>
          <p:nvPr/>
        </p:nvPicPr>
        <p:blipFill>
          <a:blip r:embed="rId2"/>
          <a:stretch>
            <a:fillRect/>
          </a:stretch>
        </p:blipFill>
        <p:spPr>
          <a:xfrm>
            <a:off x="970717" y="4734022"/>
            <a:ext cx="10354507" cy="1933575"/>
          </a:xfrm>
          <a:prstGeom prst="rect">
            <a:avLst/>
          </a:prstGeom>
        </p:spPr>
      </p:pic>
    </p:spTree>
    <p:extLst>
      <p:ext uri="{BB962C8B-B14F-4D97-AF65-F5344CB8AC3E}">
        <p14:creationId xmlns:p14="http://schemas.microsoft.com/office/powerpoint/2010/main" val="20959067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60766A4-8F10-FD1A-7CE7-739417D44934}"/>
              </a:ext>
            </a:extLst>
          </p:cNvPr>
          <p:cNvSpPr>
            <a:spLocks noGrp="1"/>
          </p:cNvSpPr>
          <p:nvPr>
            <p:ph type="title"/>
          </p:nvPr>
        </p:nvSpPr>
        <p:spPr/>
        <p:txBody>
          <a:bodyPr/>
          <a:lstStyle/>
          <a:p>
            <a:r>
              <a:rPr lang="en-US" dirty="0"/>
              <a:t>How to Write an SRS Document?</a:t>
            </a:r>
          </a:p>
        </p:txBody>
      </p:sp>
      <p:sp>
        <p:nvSpPr>
          <p:cNvPr id="3" name="Content Placeholder 2">
            <a:extLst>
              <a:ext uri="{FF2B5EF4-FFF2-40B4-BE49-F238E27FC236}">
                <a16:creationId xmlns:a16="http://schemas.microsoft.com/office/drawing/2014/main" xmlns="" id="{8CEC79D1-8FE7-579C-F2D4-91F8FB03490A}"/>
              </a:ext>
            </a:extLst>
          </p:cNvPr>
          <p:cNvSpPr>
            <a:spLocks noGrp="1"/>
          </p:cNvSpPr>
          <p:nvPr>
            <p:ph idx="1"/>
          </p:nvPr>
        </p:nvSpPr>
        <p:spPr/>
        <p:txBody>
          <a:bodyPr/>
          <a:lstStyle/>
          <a:p>
            <a:r>
              <a:rPr lang="en-US" dirty="0"/>
              <a:t>2. Overall Description</a:t>
            </a:r>
          </a:p>
          <a:p>
            <a:pPr marL="0" indent="0">
              <a:buNone/>
            </a:pPr>
            <a:r>
              <a:rPr lang="en-US" dirty="0"/>
              <a:t>2.1.Use Case Diagram </a:t>
            </a:r>
          </a:p>
          <a:p>
            <a:pPr marL="0" indent="0">
              <a:buNone/>
            </a:pPr>
            <a:r>
              <a:rPr lang="en-US" dirty="0"/>
              <a:t>2.2.Activity Diagram</a:t>
            </a:r>
          </a:p>
          <a:p>
            <a:pPr marL="0" indent="0">
              <a:buNone/>
            </a:pPr>
            <a:r>
              <a:rPr lang="en-US" dirty="0"/>
              <a:t>3- System Features and Requirements </a:t>
            </a:r>
          </a:p>
          <a:p>
            <a:pPr marL="0" indent="0">
              <a:buNone/>
            </a:pPr>
            <a:r>
              <a:rPr lang="en-US" dirty="0"/>
              <a:t>3.1.Functional Requirements </a:t>
            </a:r>
          </a:p>
          <a:p>
            <a:pPr marL="0" indent="0">
              <a:buNone/>
            </a:pPr>
            <a:r>
              <a:rPr lang="en-US" dirty="0"/>
              <a:t>3.2.Non-Functional Requirements </a:t>
            </a:r>
          </a:p>
          <a:p>
            <a:pPr marL="0" indent="0">
              <a:buNone/>
            </a:pPr>
            <a:r>
              <a:rPr lang="en-US" dirty="0"/>
              <a:t>3.3.System Interfaces </a:t>
            </a:r>
          </a:p>
          <a:p>
            <a:pPr marL="0" indent="0">
              <a:buNone/>
            </a:pPr>
            <a:r>
              <a:rPr lang="en-US" dirty="0"/>
              <a:t>4. Risk Table</a:t>
            </a:r>
          </a:p>
        </p:txBody>
      </p:sp>
    </p:spTree>
    <p:extLst>
      <p:ext uri="{BB962C8B-B14F-4D97-AF65-F5344CB8AC3E}">
        <p14:creationId xmlns:p14="http://schemas.microsoft.com/office/powerpoint/2010/main" val="6216638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5F6B502-1C2E-D83A-8AEA-446D95307C1F}"/>
              </a:ext>
            </a:extLst>
          </p:cNvPr>
          <p:cNvSpPr>
            <a:spLocks noGrp="1"/>
          </p:cNvSpPr>
          <p:nvPr>
            <p:ph type="title"/>
          </p:nvPr>
        </p:nvSpPr>
        <p:spPr/>
        <p:txBody>
          <a:bodyPr/>
          <a:lstStyle/>
          <a:p>
            <a:r>
              <a:rPr lang="en-US" dirty="0"/>
              <a:t>How to Write an SRS Document?</a:t>
            </a:r>
          </a:p>
        </p:txBody>
      </p:sp>
      <p:sp>
        <p:nvSpPr>
          <p:cNvPr id="3" name="Content Placeholder 2">
            <a:extLst>
              <a:ext uri="{FF2B5EF4-FFF2-40B4-BE49-F238E27FC236}">
                <a16:creationId xmlns:a16="http://schemas.microsoft.com/office/drawing/2014/main" xmlns="" id="{B2290678-0F40-930F-6751-EBAE86BDA11C}"/>
              </a:ext>
            </a:extLst>
          </p:cNvPr>
          <p:cNvSpPr>
            <a:spLocks noGrp="1"/>
          </p:cNvSpPr>
          <p:nvPr>
            <p:ph idx="1"/>
          </p:nvPr>
        </p:nvSpPr>
        <p:spPr/>
        <p:txBody>
          <a:bodyPr/>
          <a:lstStyle/>
          <a:p>
            <a:pPr marL="0" indent="0">
              <a:buNone/>
            </a:pPr>
            <a:r>
              <a:rPr lang="en-US" dirty="0"/>
              <a:t>5.Test Cases</a:t>
            </a:r>
          </a:p>
          <a:p>
            <a:pPr marL="0" indent="0">
              <a:buNone/>
            </a:pPr>
            <a:r>
              <a:rPr lang="en-US" dirty="0"/>
              <a:t> 5.1.Test Case 1 </a:t>
            </a:r>
          </a:p>
          <a:p>
            <a:pPr marL="0" indent="0">
              <a:buNone/>
            </a:pPr>
            <a:r>
              <a:rPr lang="en-US" dirty="0"/>
              <a:t>5.2.Test Case 2 </a:t>
            </a:r>
          </a:p>
          <a:p>
            <a:pPr marL="0" indent="0">
              <a:buNone/>
            </a:pPr>
            <a:r>
              <a:rPr lang="en-US" dirty="0"/>
              <a:t>5.3.Test Case 3 </a:t>
            </a:r>
          </a:p>
          <a:p>
            <a:pPr marL="0" indent="0">
              <a:buNone/>
            </a:pPr>
            <a:r>
              <a:rPr lang="en-US" dirty="0"/>
              <a:t>5.4.Test Case 4 </a:t>
            </a:r>
          </a:p>
          <a:p>
            <a:pPr marL="0" indent="0">
              <a:buNone/>
            </a:pPr>
            <a:r>
              <a:rPr lang="en-US" dirty="0"/>
              <a:t>5.5.Test Case 5 </a:t>
            </a:r>
          </a:p>
          <a:p>
            <a:pPr marL="0" indent="0">
              <a:buNone/>
            </a:pPr>
            <a:endParaRPr lang="en-US" dirty="0"/>
          </a:p>
          <a:p>
            <a:pPr marL="0" indent="0">
              <a:buNone/>
            </a:pPr>
            <a:endParaRPr lang="en-US" dirty="0"/>
          </a:p>
        </p:txBody>
      </p:sp>
      <p:pic>
        <p:nvPicPr>
          <p:cNvPr id="4" name="Picture 3">
            <a:extLst>
              <a:ext uri="{FF2B5EF4-FFF2-40B4-BE49-F238E27FC236}">
                <a16:creationId xmlns:a16="http://schemas.microsoft.com/office/drawing/2014/main" xmlns="" id="{B5FA7691-04A1-F31D-4129-5C15CED85BC6}"/>
              </a:ext>
            </a:extLst>
          </p:cNvPr>
          <p:cNvPicPr>
            <a:picLocks noChangeAspect="1"/>
          </p:cNvPicPr>
          <p:nvPr/>
        </p:nvPicPr>
        <p:blipFill rotWithShape="1">
          <a:blip r:embed="rId2">
            <a:extLst>
              <a:ext uri="{28A0092B-C50C-407E-A947-70E740481C1C}">
                <a14:useLocalDpi xmlns:a14="http://schemas.microsoft.com/office/drawing/2010/main" val="0"/>
              </a:ext>
            </a:extLst>
          </a:blip>
          <a:srcRect l="2830" r="2409"/>
          <a:stretch/>
        </p:blipFill>
        <p:spPr>
          <a:xfrm>
            <a:off x="2667293" y="2800139"/>
            <a:ext cx="8876714" cy="2279179"/>
          </a:xfrm>
          <a:prstGeom prst="rect">
            <a:avLst/>
          </a:prstGeom>
        </p:spPr>
      </p:pic>
    </p:spTree>
    <p:extLst>
      <p:ext uri="{BB962C8B-B14F-4D97-AF65-F5344CB8AC3E}">
        <p14:creationId xmlns:p14="http://schemas.microsoft.com/office/powerpoint/2010/main" val="36563094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2C1BB6-B4F9-3430-3878-20D30CDBFB65}"/>
              </a:ext>
            </a:extLst>
          </p:cNvPr>
          <p:cNvSpPr>
            <a:spLocks noGrp="1"/>
          </p:cNvSpPr>
          <p:nvPr>
            <p:ph type="title"/>
          </p:nvPr>
        </p:nvSpPr>
        <p:spPr/>
        <p:txBody>
          <a:bodyPr/>
          <a:lstStyle/>
          <a:p>
            <a:r>
              <a:rPr lang="en-US" dirty="0"/>
              <a:t>Examples of SRS Documents</a:t>
            </a:r>
          </a:p>
        </p:txBody>
      </p:sp>
      <p:sp>
        <p:nvSpPr>
          <p:cNvPr id="3" name="Content Placeholder 2">
            <a:extLst>
              <a:ext uri="{FF2B5EF4-FFF2-40B4-BE49-F238E27FC236}">
                <a16:creationId xmlns:a16="http://schemas.microsoft.com/office/drawing/2014/main" xmlns="" id="{FBA3A408-13C7-CBA1-B537-7C73CB733291}"/>
              </a:ext>
            </a:extLst>
          </p:cNvPr>
          <p:cNvSpPr>
            <a:spLocks noGrp="1"/>
          </p:cNvSpPr>
          <p:nvPr>
            <p:ph idx="1"/>
          </p:nvPr>
        </p:nvSpPr>
        <p:spPr/>
        <p:txBody>
          <a:bodyPr/>
          <a:lstStyle/>
          <a:p>
            <a:r>
              <a:rPr lang="en-US" dirty="0">
                <a:hlinkClick r:id="rId2"/>
              </a:rPr>
              <a:t>https://www.slideshare.net/Axphey/the-complete-srs-documentation-of-our-developed-game</a:t>
            </a:r>
            <a:endParaRPr lang="en-US" dirty="0"/>
          </a:p>
          <a:p>
            <a:endParaRPr lang="en-US" dirty="0"/>
          </a:p>
        </p:txBody>
      </p:sp>
    </p:spTree>
    <p:extLst>
      <p:ext uri="{BB962C8B-B14F-4D97-AF65-F5344CB8AC3E}">
        <p14:creationId xmlns:p14="http://schemas.microsoft.com/office/powerpoint/2010/main" val="4104286318"/>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docProps/app.xml><?xml version="1.0" encoding="utf-8"?>
<Properties xmlns="http://schemas.openxmlformats.org/officeDocument/2006/extended-properties" xmlns:vt="http://schemas.openxmlformats.org/officeDocument/2006/docPropsVTypes">
  <Template>TM03457464[[fn=Dividend]]</Template>
  <TotalTime>85</TotalTime>
  <Words>602</Words>
  <Application>Microsoft Office PowerPoint</Application>
  <PresentationFormat>Widescreen</PresentationFormat>
  <Paragraphs>54</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canada-type-gibson</vt:lpstr>
      <vt:lpstr>Gill Sans MT</vt:lpstr>
      <vt:lpstr>sohne</vt:lpstr>
      <vt:lpstr>Söhne</vt:lpstr>
      <vt:lpstr>Wingdings 2</vt:lpstr>
      <vt:lpstr>Dividend</vt:lpstr>
      <vt:lpstr>Sen-220 software engineering</vt:lpstr>
      <vt:lpstr>What Is a Software Requirements Specification (SRS) Document?</vt:lpstr>
      <vt:lpstr>What Is a Software Requirements Specification (SRS) Document?</vt:lpstr>
      <vt:lpstr>Why Use an SRS Document?</vt:lpstr>
      <vt:lpstr>How to Write an SRS Document?</vt:lpstr>
      <vt:lpstr>How to Write an SRS Document?</vt:lpstr>
      <vt:lpstr>How to Write an SRS Document?</vt:lpstr>
      <vt:lpstr>How to Write an SRS Document?</vt:lpstr>
      <vt:lpstr>How to Write an SRS Document?</vt:lpstr>
      <vt:lpstr>How to Write an SRS Document?</vt:lpstr>
      <vt:lpstr>How to Write an SRS Document?</vt:lpstr>
      <vt:lpstr>Examples of SRS Documents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Sen-220 software engineering</dc:title>
  <dc:creator>Reema Qaiser BUKC</dc:creator>
  <cp:lastModifiedBy>BUKC</cp:lastModifiedBy>
  <cp:revision>18</cp:revision>
  <dcterms:created xsi:type="dcterms:W3CDTF">2023-01-03T05:13:36Z</dcterms:created>
  <dcterms:modified xsi:type="dcterms:W3CDTF">2024-10-14T04:39:32Z</dcterms:modified>
</cp:coreProperties>
</file>