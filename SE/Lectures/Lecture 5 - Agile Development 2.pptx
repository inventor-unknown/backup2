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79" r:id="rId4"/>
    <p:sldId id="259" r:id="rId5"/>
    <p:sldId id="264" r:id="rId6"/>
    <p:sldId id="263" r:id="rId7"/>
    <p:sldId id="260" r:id="rId8"/>
    <p:sldId id="261" r:id="rId9"/>
    <p:sldId id="262" r:id="rId10"/>
    <p:sldId id="265" r:id="rId11"/>
    <p:sldId id="266" r:id="rId12"/>
    <p:sldId id="267" r:id="rId13"/>
    <p:sldId id="268" r:id="rId14"/>
    <p:sldId id="269" r:id="rId15"/>
    <p:sldId id="274" r:id="rId16"/>
    <p:sldId id="280" r:id="rId17"/>
    <p:sldId id="270" r:id="rId18"/>
    <p:sldId id="271" r:id="rId19"/>
    <p:sldId id="273" r:id="rId20"/>
    <p:sldId id="272" r:id="rId21"/>
    <p:sldId id="275" r:id="rId22"/>
    <p:sldId id="277" r:id="rId23"/>
    <p:sldId id="278" r:id="rId24"/>
    <p:sldId id="276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Burn</a:t>
            </a:r>
            <a:r>
              <a:rPr lang="en-US" baseline="0"/>
              <a:t> Down Chart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Sheet1!$C$2</c:f>
              <c:strCache>
                <c:ptCount val="1"/>
                <c:pt idx="0">
                  <c:v>Planned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Sheet1!$B$3:$B$12</c:f>
              <c:strCache>
                <c:ptCount val="10"/>
                <c:pt idx="0">
                  <c:v>26/3/2024</c:v>
                </c:pt>
                <c:pt idx="1">
                  <c:v>27/3/2024</c:v>
                </c:pt>
                <c:pt idx="2">
                  <c:v>28/3/2024</c:v>
                </c:pt>
                <c:pt idx="3">
                  <c:v>29/3/2024</c:v>
                </c:pt>
                <c:pt idx="4">
                  <c:v>30/3/2024</c:v>
                </c:pt>
                <c:pt idx="5">
                  <c:v>2/4/2024</c:v>
                </c:pt>
                <c:pt idx="6">
                  <c:v>3/4/2024</c:v>
                </c:pt>
                <c:pt idx="7">
                  <c:v>4/4/2024</c:v>
                </c:pt>
                <c:pt idx="8">
                  <c:v>5/4/2024</c:v>
                </c:pt>
                <c:pt idx="9">
                  <c:v>6/4/2024</c:v>
                </c:pt>
              </c:strCache>
            </c:strRef>
          </c:cat>
          <c:val>
            <c:numRef>
              <c:f>Sheet1!$C$3:$C$12</c:f>
              <c:numCache>
                <c:formatCode>General</c:formatCode>
                <c:ptCount val="10"/>
                <c:pt idx="0">
                  <c:v>6</c:v>
                </c:pt>
                <c:pt idx="1">
                  <c:v>3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  <c:pt idx="5">
                  <c:v>6</c:v>
                </c:pt>
                <c:pt idx="6">
                  <c:v>3</c:v>
                </c:pt>
                <c:pt idx="7">
                  <c:v>3</c:v>
                </c:pt>
                <c:pt idx="8">
                  <c:v>2</c:v>
                </c:pt>
                <c:pt idx="9">
                  <c:v>2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E039-440E-88D9-9EB4F1D037E6}"/>
            </c:ext>
          </c:extLst>
        </c:ser>
        <c:ser>
          <c:idx val="1"/>
          <c:order val="1"/>
          <c:tx>
            <c:strRef>
              <c:f>Sheet1!$D$2</c:f>
              <c:strCache>
                <c:ptCount val="1"/>
                <c:pt idx="0">
                  <c:v>Actual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Sheet1!$B$3:$B$12</c:f>
              <c:strCache>
                <c:ptCount val="10"/>
                <c:pt idx="0">
                  <c:v>26/3/2024</c:v>
                </c:pt>
                <c:pt idx="1">
                  <c:v>27/3/2024</c:v>
                </c:pt>
                <c:pt idx="2">
                  <c:v>28/3/2024</c:v>
                </c:pt>
                <c:pt idx="3">
                  <c:v>29/3/2024</c:v>
                </c:pt>
                <c:pt idx="4">
                  <c:v>30/3/2024</c:v>
                </c:pt>
                <c:pt idx="5">
                  <c:v>2/4/2024</c:v>
                </c:pt>
                <c:pt idx="6">
                  <c:v>3/4/2024</c:v>
                </c:pt>
                <c:pt idx="7">
                  <c:v>4/4/2024</c:v>
                </c:pt>
                <c:pt idx="8">
                  <c:v>5/4/2024</c:v>
                </c:pt>
                <c:pt idx="9">
                  <c:v>6/4/2024</c:v>
                </c:pt>
              </c:strCache>
            </c:strRef>
          </c:cat>
          <c:val>
            <c:numRef>
              <c:f>Sheet1!$D$3:$D$12</c:f>
              <c:numCache>
                <c:formatCode>General</c:formatCode>
                <c:ptCount val="10"/>
                <c:pt idx="0">
                  <c:v>5</c:v>
                </c:pt>
                <c:pt idx="1">
                  <c:v>3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  <c:pt idx="5">
                  <c:v>5</c:v>
                </c:pt>
                <c:pt idx="6">
                  <c:v>3</c:v>
                </c:pt>
                <c:pt idx="7">
                  <c:v>4</c:v>
                </c:pt>
                <c:pt idx="8">
                  <c:v>3</c:v>
                </c:pt>
                <c:pt idx="9">
                  <c:v>5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E039-440E-88D9-9EB4F1D037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81468552"/>
        <c:axId val="281470120"/>
      </c:lineChart>
      <c:catAx>
        <c:axId val="281468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1470120"/>
        <c:crosses val="autoZero"/>
        <c:auto val="1"/>
        <c:lblAlgn val="ctr"/>
        <c:lblOffset val="100"/>
        <c:noMultiLvlLbl val="0"/>
      </c:catAx>
      <c:valAx>
        <c:axId val="2814701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 dirty="0"/>
                  <a:t>Hours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14685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00F6DCA-CA2E-C3C9-5077-B380524D72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Sen-220 software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914B93FF-B20F-85AF-8F17-B9B8FC80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SCRUM</a:t>
            </a:r>
          </a:p>
        </p:txBody>
      </p:sp>
    </p:spTree>
    <p:extLst>
      <p:ext uri="{BB962C8B-B14F-4D97-AF65-F5344CB8AC3E}">
        <p14:creationId xmlns:p14="http://schemas.microsoft.com/office/powerpoint/2010/main" val="97814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1C4235-B533-5FF2-B8F3-2250D67CE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 dirty="0"/>
              <a:t>What is SCRUM?</a:t>
            </a:r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xmlns="" id="{3FE9758B-E361-4084-8D9F-729FA6C4AD7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crum with Purpose">
            <a:extLst>
              <a:ext uri="{FF2B5EF4-FFF2-40B4-BE49-F238E27FC236}">
                <a16:creationId xmlns:a16="http://schemas.microsoft.com/office/drawing/2014/main" xmlns="" id="{477159A8-6B6B-BE7F-A13B-AE2233AC9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7225" y="3286208"/>
            <a:ext cx="4962525" cy="179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575CE7F-6D18-E572-6EF4-77B289A51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5805" y="2180496"/>
            <a:ext cx="5275001" cy="4045683"/>
          </a:xfrm>
        </p:spPr>
        <p:txBody>
          <a:bodyPr>
            <a:normAutofit/>
          </a:bodyPr>
          <a:lstStyle/>
          <a:p>
            <a:r>
              <a:rPr lang="en-US" dirty="0"/>
              <a:t>A scrum (short for scrummage) is a method of restarting play in rugby that involves players packing closely together with their heads down and attempting to gain possession of the ball.</a:t>
            </a:r>
          </a:p>
        </p:txBody>
      </p:sp>
    </p:spTree>
    <p:extLst>
      <p:ext uri="{BB962C8B-B14F-4D97-AF65-F5344CB8AC3E}">
        <p14:creationId xmlns:p14="http://schemas.microsoft.com/office/powerpoint/2010/main" val="2189662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2F62E9EA-CA3C-5910-B892-C2AA855D1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003" y="548296"/>
            <a:ext cx="8760780" cy="613131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0CF38FEB-14B0-8AEB-EFCF-8FCDE991E48E}"/>
              </a:ext>
            </a:extLst>
          </p:cNvPr>
          <p:cNvSpPr/>
          <p:nvPr/>
        </p:nvSpPr>
        <p:spPr>
          <a:xfrm>
            <a:off x="1762216" y="630314"/>
            <a:ext cx="1194047" cy="4555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730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48E96387-12F1-45E4-9322-ABBF2EE040E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A9F421DD-DE4E-4547-A904-3F80E25E3F3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09985DEC-1215-4209-9708-B45CC97740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90EB7086-616E-4D44-94BE-D0F76356178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xmlns="" id="{F115DB35-53D7-4EDC-A965-A434929617C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638175"/>
            <a:ext cx="12191999" cy="621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79F6616C-017B-99A4-8D61-47C8097B69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394" y="1524000"/>
            <a:ext cx="7149572" cy="3771399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4B610F9C-62FE-46FC-8607-C35030B6321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CCDF65-84C0-FD00-B7E5-B33D67543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6275" y="1419225"/>
            <a:ext cx="3081576" cy="20858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SCRUM FRAMEWORK</a:t>
            </a:r>
          </a:p>
        </p:txBody>
      </p:sp>
    </p:spTree>
    <p:extLst>
      <p:ext uri="{BB962C8B-B14F-4D97-AF65-F5344CB8AC3E}">
        <p14:creationId xmlns:p14="http://schemas.microsoft.com/office/powerpoint/2010/main" val="3684482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1363FF9-C81C-3D84-21A8-8EDDE857B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638B29E-F3A8-C3EC-D894-F8D46FF8A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User Story 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A user story is a simple, concise description of a feature told from the perspective of the end user. It typically follows the format: 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00"/>
                </a:highlight>
                <a:latin typeface="Söhne"/>
              </a:rPr>
              <a:t>"As a [type of user], I want [some goal] so that [some reason]."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User stories help teams understand what users need and why, guiding the development process.</a:t>
            </a:r>
            <a:endParaRPr lang="en-US" b="1" u="sng" dirty="0"/>
          </a:p>
          <a:p>
            <a:pPr marL="0" indent="0">
              <a:buNone/>
            </a:pPr>
            <a:r>
              <a:rPr lang="en-US" dirty="0"/>
              <a:t> For Example: </a:t>
            </a:r>
            <a:r>
              <a:rPr lang="en-US" dirty="0">
                <a:solidFill>
                  <a:srgbClr val="FF0000"/>
                </a:solidFill>
              </a:rPr>
              <a:t>As a registered user I want to log in so I can access subscriber-access content. </a:t>
            </a:r>
          </a:p>
          <a:p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Story points 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are a way for teams to measure how hard or complex tasks are, helping them plan their work better without worrying about exact time estimates.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5382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D312F85-5083-4F43-65E0-0E6EE43D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/>
              <a:t>Sprint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3FE9758B-E361-4084-8D9F-729FA6C4AD7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AB35E74-E434-91EA-3753-DC46A0B64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2374344"/>
            <a:ext cx="4962525" cy="362264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C02207E-343E-33E5-1588-AFA295AD9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5805" y="2180496"/>
            <a:ext cx="5275001" cy="4045683"/>
          </a:xfrm>
        </p:spPr>
        <p:txBody>
          <a:bodyPr>
            <a:normAutofit lnSpcReduction="10000"/>
          </a:bodyPr>
          <a:lstStyle/>
          <a:p>
            <a:r>
              <a:rPr lang="en-US" b="0" i="0">
                <a:effectLst/>
                <a:latin typeface="Söhne"/>
              </a:rPr>
              <a:t>A sprint is a short period of time, usually 2-4 weeks, during which a team works on a specific set of tasks for a goal.</a:t>
            </a:r>
          </a:p>
          <a:p>
            <a:r>
              <a:rPr lang="en-US" b="0" i="0">
                <a:effectLst/>
                <a:latin typeface="Söhne"/>
              </a:rPr>
              <a:t>It's like a mini-project with a clear objective to achieve by the end of the sprint.</a:t>
            </a:r>
          </a:p>
          <a:p>
            <a:r>
              <a:rPr lang="en-US">
                <a:latin typeface="Söhne"/>
              </a:rPr>
              <a:t>Sprint is time boxed and can not be extended under any circumstances, irrespective of whether all the user stories committed are delivered or not.</a:t>
            </a:r>
          </a:p>
          <a:p>
            <a:r>
              <a:rPr lang="en-US">
                <a:latin typeface="Söhne"/>
              </a:rPr>
              <a:t>If any user story or part of a user story is pending after the sprint completion time, that particular user story will be moved back to the product backlog for reprioritization.</a:t>
            </a:r>
          </a:p>
        </p:txBody>
      </p:sp>
    </p:spTree>
    <p:extLst>
      <p:ext uri="{BB962C8B-B14F-4D97-AF65-F5344CB8AC3E}">
        <p14:creationId xmlns:p14="http://schemas.microsoft.com/office/powerpoint/2010/main" val="2562474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CC2086-D4BE-28DC-2BDC-4A3F9DD12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Roles and responsibilities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4405687-D294-5D0B-6524-4E7ADFD7E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Product Owner </a:t>
            </a:r>
          </a:p>
          <a:p>
            <a:pPr marL="0" indent="0">
              <a:buNone/>
            </a:pPr>
            <a:r>
              <a:rPr lang="en-US" dirty="0"/>
              <a:t> Responsible person for release burn-down chart </a:t>
            </a:r>
          </a:p>
          <a:p>
            <a:pPr marL="0" indent="0">
              <a:buNone/>
            </a:pPr>
            <a:r>
              <a:rPr lang="en-US" dirty="0"/>
              <a:t> Responsible for the product vision </a:t>
            </a:r>
          </a:p>
          <a:p>
            <a:pPr marL="0" indent="0">
              <a:buNone/>
            </a:pPr>
            <a:r>
              <a:rPr lang="en-US" dirty="0"/>
              <a:t> Person who maintains the product backlog and the responsible person for the same </a:t>
            </a:r>
          </a:p>
          <a:p>
            <a:pPr marL="0" indent="0">
              <a:buNone/>
            </a:pPr>
            <a:r>
              <a:rPr lang="en-US" dirty="0"/>
              <a:t> Only person who can make a decision whether the product is ready to ship </a:t>
            </a:r>
          </a:p>
          <a:p>
            <a:pPr marL="0" indent="0">
              <a:buNone/>
            </a:pPr>
            <a:r>
              <a:rPr lang="en-US" dirty="0"/>
              <a:t> Only authoritative person to take a decision about abruptly discontinuing/stopping the sprint </a:t>
            </a:r>
          </a:p>
          <a:p>
            <a:pPr marL="0" indent="0">
              <a:buNone/>
            </a:pPr>
            <a:r>
              <a:rPr lang="en-US" dirty="0"/>
              <a:t> Person responsible to provide the clarification on the user story to the development team whenever needed </a:t>
            </a:r>
          </a:p>
          <a:p>
            <a:pPr marL="0" indent="0">
              <a:buNone/>
            </a:pPr>
            <a:r>
              <a:rPr lang="en-US" dirty="0"/>
              <a:t> Only authoritative person to take the decision of including any further functionality to the product backlog </a:t>
            </a:r>
          </a:p>
          <a:p>
            <a:pPr marL="0" indent="0">
              <a:buNone/>
            </a:pPr>
            <a:r>
              <a:rPr lang="en-US" dirty="0"/>
              <a:t> Person to constantly reprioritize the product backlog</a:t>
            </a:r>
          </a:p>
        </p:txBody>
      </p:sp>
    </p:spTree>
    <p:extLst>
      <p:ext uri="{BB962C8B-B14F-4D97-AF65-F5344CB8AC3E}">
        <p14:creationId xmlns:p14="http://schemas.microsoft.com/office/powerpoint/2010/main" val="2979114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0D82800-673E-548E-78A6-693C86A54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Roles and responsibilities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B80879C-AA38-4556-F862-88BC73220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u="sng" dirty="0"/>
              <a:t>Scrum Master </a:t>
            </a:r>
          </a:p>
          <a:p>
            <a:pPr marL="0" indent="0">
              <a:buNone/>
            </a:pPr>
            <a:r>
              <a:rPr lang="en-US" dirty="0"/>
              <a:t> Facilitator of the Scrum process </a:t>
            </a:r>
          </a:p>
          <a:p>
            <a:pPr marL="0" indent="0">
              <a:buNone/>
            </a:pPr>
            <a:r>
              <a:rPr lang="en-US" dirty="0"/>
              <a:t> Helps resolving any issues/impediments faced by the Scrum team </a:t>
            </a:r>
          </a:p>
          <a:p>
            <a:pPr marL="0" indent="0">
              <a:buNone/>
            </a:pPr>
            <a:r>
              <a:rPr lang="en-US" dirty="0"/>
              <a:t> Shields the team from external interferences and distractions </a:t>
            </a:r>
          </a:p>
          <a:p>
            <a:pPr marL="0" indent="0">
              <a:buNone/>
            </a:pPr>
            <a:r>
              <a:rPr lang="en-US" dirty="0"/>
              <a:t> Creates a positive environment for the team to be self-organizing </a:t>
            </a:r>
          </a:p>
          <a:p>
            <a:pPr marL="0" indent="0">
              <a:buNone/>
            </a:pPr>
            <a:r>
              <a:rPr lang="en-US" dirty="0"/>
              <a:t> Enforces time boxes </a:t>
            </a:r>
          </a:p>
          <a:p>
            <a:pPr marL="0" indent="0">
              <a:buNone/>
            </a:pPr>
            <a:r>
              <a:rPr lang="en-US" dirty="0"/>
              <a:t> Person who maintains sprint burn-down charts </a:t>
            </a:r>
          </a:p>
          <a:p>
            <a:pPr marL="0" indent="0">
              <a:buNone/>
            </a:pPr>
            <a:r>
              <a:rPr lang="en-US" dirty="0"/>
              <a:t> Person who facilitates the required meetings </a:t>
            </a:r>
          </a:p>
          <a:p>
            <a:pPr marL="0" indent="0">
              <a:buNone/>
            </a:pPr>
            <a:r>
              <a:rPr lang="en-US" dirty="0"/>
              <a:t> Has no management authority for the team (for example, he or she can not command the team to do a specific task) </a:t>
            </a:r>
          </a:p>
          <a:p>
            <a:pPr marL="0" indent="0">
              <a:buNone/>
            </a:pPr>
            <a:r>
              <a:rPr lang="en-US" dirty="0"/>
              <a:t> Promotes improved practices of engineering </a:t>
            </a:r>
          </a:p>
          <a:p>
            <a:pPr marL="0" indent="0">
              <a:buNone/>
            </a:pPr>
            <a:r>
              <a:rPr lang="en-US" dirty="0"/>
              <a:t> Only person who can take the escalations or request to the top management</a:t>
            </a:r>
          </a:p>
        </p:txBody>
      </p:sp>
    </p:spTree>
    <p:extLst>
      <p:ext uri="{BB962C8B-B14F-4D97-AF65-F5344CB8AC3E}">
        <p14:creationId xmlns:p14="http://schemas.microsoft.com/office/powerpoint/2010/main" val="4210594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566CC19-C905-091C-1E4E-171A8531B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Roles and responsibilities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389EC09-3E50-B609-D31A-37A357BCC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Development Team </a:t>
            </a:r>
          </a:p>
          <a:p>
            <a:pPr marL="0" indent="0">
              <a:buNone/>
            </a:pPr>
            <a:r>
              <a:rPr lang="en-US" dirty="0"/>
              <a:t> Should be a self-organizing and cross-functional team (consists of the members with testing, development, business analyst, domain expertise, etc., skills) </a:t>
            </a:r>
          </a:p>
          <a:p>
            <a:pPr marL="0" indent="0">
              <a:buNone/>
            </a:pPr>
            <a:r>
              <a:rPr lang="en-US" dirty="0"/>
              <a:t> Should self-manage the tasks among the team </a:t>
            </a:r>
          </a:p>
          <a:p>
            <a:pPr marL="0" indent="0">
              <a:buNone/>
            </a:pPr>
            <a:r>
              <a:rPr lang="en-US" dirty="0"/>
              <a:t> Should resolve people management issues if any among the team and should only take it to Scrum Master if it has gone out of the team’s control </a:t>
            </a:r>
          </a:p>
          <a:p>
            <a:pPr marL="0" indent="0">
              <a:buNone/>
            </a:pPr>
            <a:r>
              <a:rPr lang="en-US" dirty="0"/>
              <a:t> Works with product owner in reprioritizing the product backlog items </a:t>
            </a:r>
          </a:p>
          <a:p>
            <a:pPr marL="0" indent="0">
              <a:buNone/>
            </a:pPr>
            <a:r>
              <a:rPr lang="en-US" dirty="0"/>
              <a:t> Consists of 7 + /-2 members </a:t>
            </a:r>
          </a:p>
          <a:p>
            <a:pPr marL="0" indent="0">
              <a:buNone/>
            </a:pPr>
            <a:r>
              <a:rPr lang="en-US" dirty="0"/>
              <a:t> Responsible to complete the committed task for the sprint</a:t>
            </a:r>
          </a:p>
        </p:txBody>
      </p:sp>
    </p:spTree>
    <p:extLst>
      <p:ext uri="{BB962C8B-B14F-4D97-AF65-F5344CB8AC3E}">
        <p14:creationId xmlns:p14="http://schemas.microsoft.com/office/powerpoint/2010/main" val="224914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B4B4395-0280-77A4-413A-40C99AEA0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715486E-3595-6D5C-32C6-F6FBC3136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1F1F"/>
                </a:solidFill>
                <a:effectLst/>
                <a:latin typeface="Google Sans"/>
              </a:rPr>
              <a:t>Imagine you're a team of developers building a new mobile app.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 Sprint planning is like a quick team meeting before you start working on a specific set of features.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1F1F"/>
                </a:solidFill>
                <a:effectLst/>
                <a:latin typeface="Google Sans"/>
              </a:rPr>
              <a:t>The meeting's purpose:</a:t>
            </a:r>
            <a:endParaRPr lang="en-US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Decide what features to tackle first (like the most important app functionalities for this sprint) </a:t>
            </a: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Google Sans"/>
              </a:rPr>
              <a:t>[SPRINT GOAL]{User Story}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Google Sans"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Figure out how to build them (how the development team will approach each feature) </a:t>
            </a:r>
            <a:r>
              <a:rPr lang="en-US" b="1" i="0" dirty="0">
                <a:solidFill>
                  <a:schemeClr val="accent3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Google Sans"/>
              </a:rPr>
              <a:t>[SPRINT BACKLOG]{Tasks}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Google Sans"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Set a common goal for the sprint (what the team wants to achieve by the end of this work period).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1F1F"/>
                </a:solidFill>
                <a:effectLst/>
                <a:latin typeface="Google Sans"/>
              </a:rPr>
              <a:t>Who attends: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 The entire development team (programmers, designers, testers).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1F1F"/>
                </a:solidFill>
                <a:effectLst/>
                <a:latin typeface="Google Sans"/>
              </a:rPr>
              <a:t>The outcome: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 A clear plan for the next few weeks (sprint) with a specific goal (what features to deliver) and a list of tasks to complete each feature (how you'll build them).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892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85F95E-2FFA-426D-A922-7F30C1642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Goal and sprint backlog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28441F1-CF5C-6CB2-5FCE-647B12FA6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1F1F"/>
                </a:solidFill>
                <a:effectLst/>
                <a:latin typeface="Google Sans"/>
              </a:rPr>
              <a:t>Sprint Goal: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 Short-term objective for the sprint, what the team aims to achieve.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1F1F"/>
                </a:solidFill>
                <a:effectLst/>
                <a:latin typeface="Google Sans"/>
              </a:rPr>
              <a:t>Sprint Backlog: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 Plan for how to achieve the sprint goal, what tasks the team will do.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350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0DBD4729-DBDF-40A6-9BA4-E4C97EF6DD3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55125130-F4AB-465E-8AE2-E583FCAAB2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E0BA65A2-0302-4468-ADA7-9EC3F9593F5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xmlns="" id="{8C266B9D-DC87-430A-8D3A-2E83639A17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69282F36-261B-49B3-8CA9-FB857C475A0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46534" y="455422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B87215C3-3B83-4BE7-9213-26E084BD615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244341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13A105D4-2907-419E-8223-4C266BA1E5F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1EEE7F17-8E08-4C69-8E22-661908E6DF7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46533" y="5873675"/>
            <a:ext cx="11296733" cy="51689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4C40EDAA-A1DE-0287-6289-15F7F60A4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327" y="624106"/>
            <a:ext cx="7934325" cy="5174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41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0DBD4729-DBDF-40A6-9BA4-E4C97EF6DD3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55125130-F4AB-465E-8AE2-E583FCAAB2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E0BA65A2-0302-4468-ADA7-9EC3F9593F5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xmlns="" id="{8C266B9D-DC87-430A-8D3A-2E83639A17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69282F36-261B-49B3-8CA9-FB857C475A0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46534" y="455422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B87215C3-3B83-4BE7-9213-26E084BD615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244341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13A105D4-2907-419E-8223-4C266BA1E5F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1EEE7F17-8E08-4C69-8E22-661908E6DF7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46533" y="5873675"/>
            <a:ext cx="11296733" cy="51689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6D344D3-9EDB-AE57-2214-7E903F502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950" y="548641"/>
            <a:ext cx="7830387" cy="532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073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6EB72B4-0E97-8BAF-FDD2-A0BDBC69F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Review and Sprint Retrospective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D9EDE34-1252-24C3-AC07-065E6A4F5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u="sng" dirty="0"/>
              <a:t>Sprint Review </a:t>
            </a:r>
          </a:p>
          <a:p>
            <a:pPr marL="0" indent="0">
              <a:buNone/>
            </a:pPr>
            <a:r>
              <a:rPr lang="en-US" dirty="0"/>
              <a:t> After the completion of every sprint, the Scrum team holds a sprint review meeting to demonstrate the working product that was developed and tested as part of the sprint </a:t>
            </a:r>
          </a:p>
          <a:p>
            <a:pPr marL="0" indent="0">
              <a:buNone/>
            </a:pPr>
            <a:r>
              <a:rPr lang="en-US" dirty="0"/>
              <a:t> </a:t>
            </a:r>
            <a:r>
              <a:rPr lang="en-US" dirty="0">
                <a:solidFill>
                  <a:srgbClr val="FF0000"/>
                </a:solidFill>
              </a:rPr>
              <a:t>Attendees: </a:t>
            </a:r>
            <a:r>
              <a:rPr lang="en-US" dirty="0"/>
              <a:t>Scrum Master, Product Owner , Development team, and all the stakeholders/sponsors, Customers</a:t>
            </a:r>
          </a:p>
          <a:p>
            <a:r>
              <a:rPr lang="en-US" b="1" u="sng" dirty="0"/>
              <a:t>Sprint Retrospective </a:t>
            </a:r>
          </a:p>
          <a:p>
            <a:pPr marL="0" indent="0">
              <a:buNone/>
            </a:pPr>
            <a:r>
              <a:rPr lang="en-US" dirty="0"/>
              <a:t> No matter how good a Scrum team is, there is always room for improvement </a:t>
            </a:r>
          </a:p>
          <a:p>
            <a:pPr marL="0" indent="0">
              <a:buNone/>
            </a:pPr>
            <a:r>
              <a:rPr lang="en-US" dirty="0"/>
              <a:t> After every sprint, the Scrum team schedules an internal meeting that is the last meeting in the sprint, to assess what went wrong and what went well </a:t>
            </a:r>
          </a:p>
          <a:p>
            <a:pPr marL="0" indent="0">
              <a:buNone/>
            </a:pPr>
            <a:r>
              <a:rPr lang="en-US" dirty="0"/>
              <a:t> The Scrum Master facilitates this meeting by asking everyone to explain their ideas </a:t>
            </a:r>
          </a:p>
          <a:p>
            <a:pPr marL="0" indent="0">
              <a:buNone/>
            </a:pPr>
            <a:r>
              <a:rPr lang="en-US" dirty="0"/>
              <a:t> </a:t>
            </a:r>
            <a:r>
              <a:rPr lang="en-US" dirty="0">
                <a:solidFill>
                  <a:srgbClr val="FF0000"/>
                </a:solidFill>
              </a:rPr>
              <a:t>Attendees: </a:t>
            </a:r>
            <a:r>
              <a:rPr lang="en-US" dirty="0"/>
              <a:t>Scrum Master, Product Owner, Development Team</a:t>
            </a:r>
          </a:p>
        </p:txBody>
      </p:sp>
    </p:spTree>
    <p:extLst>
      <p:ext uri="{BB962C8B-B14F-4D97-AF65-F5344CB8AC3E}">
        <p14:creationId xmlns:p14="http://schemas.microsoft.com/office/powerpoint/2010/main" val="3033995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0DBD4729-DBDF-40A6-9BA4-E4C97EF6DD3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55125130-F4AB-465E-8AE2-E583FCAAB2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xmlns="" id="{E0BA65A2-0302-4468-ADA7-9EC3F9593F5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xmlns="" id="{587D26DA-9773-4A0E-B213-DDF20A1F1F2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81D55A2A-F3AA-44C2-CC7E-1E6278FB8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475" y="0"/>
            <a:ext cx="5353050" cy="68579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8FDAADB8-0FD0-E719-8ECE-7E168DDAF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3762" y="38100"/>
            <a:ext cx="5324475" cy="6781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F29C1B08-276F-7FF2-5D16-BA7F083CB3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5662" y="52387"/>
            <a:ext cx="5400675" cy="675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413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0DBD4729-DBDF-40A6-9BA4-E4C97EF6DD3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55125130-F4AB-465E-8AE2-E583FCAAB2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E0BA65A2-0302-4468-ADA7-9EC3F9593F5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0F161291-765C-4033-9E84-52C51C6A5A6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37F69638-8A6F-45AB-B9EC-9D8C8FC3718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130739F-4FA8-7042-2F18-593509D29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576" y="534866"/>
            <a:ext cx="4430140" cy="584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6620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BD43E32-EE05-06EB-14A9-998C111A0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Daily scrum meeting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C11AE40-EE70-48DB-E26A-8E2DD0345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u="sng" dirty="0"/>
              <a:t>Daily Scrum Meeting </a:t>
            </a:r>
            <a:endParaRPr lang="en-US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dirty="0"/>
              <a:t> Daily, ~15 minutes, Stand-up </a:t>
            </a:r>
          </a:p>
          <a:p>
            <a:pPr marL="0" indent="0">
              <a:buNone/>
            </a:pPr>
            <a:r>
              <a:rPr lang="en-US" dirty="0"/>
              <a:t> Anyone late pays a few amount (say Rs 100) </a:t>
            </a:r>
          </a:p>
          <a:p>
            <a:pPr marL="0" indent="0">
              <a:buNone/>
            </a:pPr>
            <a:r>
              <a:rPr lang="en-US" dirty="0"/>
              <a:t> 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In a daily scrum meeting, the </a:t>
            </a:r>
            <a:r>
              <a:rPr lang="en-US" b="1" i="0" dirty="0">
                <a:solidFill>
                  <a:srgbClr val="1F1F1F"/>
                </a:solidFill>
                <a:effectLst/>
                <a:latin typeface="Google Sans"/>
              </a:rPr>
              <a:t>Scrum Master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 doesn't ask the specific questions about individual progress. While they facilitate the meeting and ensure it stays on track, they don't participate in status updates. </a:t>
            </a:r>
          </a:p>
          <a:p>
            <a:pPr marL="0" indent="0">
              <a:buNone/>
            </a:pPr>
            <a:r>
              <a:rPr lang="en-US" dirty="0"/>
              <a:t>The development team and product owner participate along with the Scrum master</a:t>
            </a:r>
          </a:p>
          <a:p>
            <a:pPr marL="0" indent="0">
              <a:buNone/>
            </a:pPr>
            <a:r>
              <a:rPr lang="en-US" dirty="0"/>
              <a:t> Helps avoid other unnecessary meetings </a:t>
            </a:r>
          </a:p>
          <a:p>
            <a:pPr marL="0" indent="0">
              <a:buNone/>
            </a:pPr>
            <a:r>
              <a:rPr lang="en-US" dirty="0"/>
              <a:t>❑ Three questions answered by each team member: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What did you do yesterday?  What will you do today?  What obstacles are in your way?</a:t>
            </a:r>
          </a:p>
        </p:txBody>
      </p:sp>
    </p:spTree>
    <p:extLst>
      <p:ext uri="{BB962C8B-B14F-4D97-AF65-F5344CB8AC3E}">
        <p14:creationId xmlns:p14="http://schemas.microsoft.com/office/powerpoint/2010/main" val="13171419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EF2DA2C-08E7-21C7-4D2A-13CB73C0E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backlog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54DAA73-EEAA-E1C5-39BD-9A9EA09F9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product backlog is the list of functionalities with the short descriptions derived from the requirements and the roadmap of the project; and they are displayed in terms of user stories.</a:t>
            </a:r>
          </a:p>
          <a:p>
            <a:r>
              <a:rPr lang="en-US" dirty="0"/>
              <a:t>User stories are prioritized by the product owner.</a:t>
            </a:r>
          </a:p>
          <a:p>
            <a:r>
              <a:rPr lang="en-US" dirty="0"/>
              <a:t>Responsibility of managing the product backlog lies with the product owner.</a:t>
            </a:r>
          </a:p>
        </p:txBody>
      </p:sp>
    </p:spTree>
    <p:extLst>
      <p:ext uri="{BB962C8B-B14F-4D97-AF65-F5344CB8AC3E}">
        <p14:creationId xmlns:p14="http://schemas.microsoft.com/office/powerpoint/2010/main" val="3848429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BE63C91-1760-7552-7650-753FF429C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>
              <a:solidFill>
                <a:srgbClr val="FFFE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D3F5202F-E111-BCC9-2E21-B50386DAFA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9193304"/>
              </p:ext>
            </p:extLst>
          </p:nvPr>
        </p:nvGraphicFramePr>
        <p:xfrm>
          <a:off x="438150" y="2247901"/>
          <a:ext cx="11239499" cy="4295773"/>
        </p:xfrm>
        <a:graphic>
          <a:graphicData uri="http://schemas.openxmlformats.org/drawingml/2006/table">
            <a:tbl>
              <a:tblPr firstRow="1" firstCol="1" bandRow="1"/>
              <a:tblGrid>
                <a:gridCol w="7511229">
                  <a:extLst>
                    <a:ext uri="{9D8B030D-6E8A-4147-A177-3AD203B41FA5}">
                      <a16:colId xmlns:a16="http://schemas.microsoft.com/office/drawing/2014/main" xmlns="" val="3511043091"/>
                    </a:ext>
                  </a:extLst>
                </a:gridCol>
                <a:gridCol w="3728270">
                  <a:extLst>
                    <a:ext uri="{9D8B030D-6E8A-4147-A177-3AD203B41FA5}">
                      <a16:colId xmlns:a16="http://schemas.microsoft.com/office/drawing/2014/main" xmlns="" val="406769701"/>
                    </a:ext>
                  </a:extLst>
                </a:gridCol>
              </a:tblGrid>
              <a:tr h="486363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b="0" i="0" u="sng" strike="noStrike" kern="100" dirty="0">
                          <a:solidFill>
                            <a:srgbClr val="FFFFFF"/>
                          </a:solidFill>
                          <a:effectLst/>
                          <a:highlight>
                            <a:srgbClr val="4472C4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Backlog Items</a:t>
                      </a:r>
                      <a:endParaRPr lang="en-US" sz="1900" b="0" i="0" u="none" strike="noStrike" dirty="0">
                        <a:effectLst/>
                        <a:highlight>
                          <a:srgbClr val="4472C4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73555" marR="73555" marT="10216" marB="0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b="0" i="0" u="sng" strike="noStrike" kern="100">
                          <a:solidFill>
                            <a:srgbClr val="FFFFFF"/>
                          </a:solidFill>
                          <a:effectLst/>
                          <a:highlight>
                            <a:srgbClr val="4472C4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Estimate (Story Points)</a:t>
                      </a:r>
                      <a:endParaRPr lang="en-US" sz="1900" b="0" i="0" u="none" strike="noStrike">
                        <a:effectLst/>
                        <a:highlight>
                          <a:srgbClr val="4472C4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73555" marR="73555" marT="10216" marB="0">
                    <a:lnL>
                      <a:noFill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951504048"/>
                  </a:ext>
                </a:extLst>
              </a:tr>
              <a:tr h="346310"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kern="100">
                          <a:solidFill>
                            <a:srgbClr val="000000"/>
                          </a:solidFill>
                          <a:effectLst/>
                          <a:highlight>
                            <a:srgbClr val="D9E2F3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As a new user, I want to register to Foodie Minion.</a:t>
                      </a:r>
                      <a:endParaRPr lang="en-US" sz="1900" b="0" i="0" u="none" strike="noStrike">
                        <a:effectLst/>
                        <a:highlight>
                          <a:srgbClr val="D9E2F3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73555" marR="73555" marT="10216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i="0" u="none" strike="noStrike" kern="100">
                          <a:solidFill>
                            <a:srgbClr val="000000"/>
                          </a:solidFill>
                          <a:effectLst/>
                          <a:highlight>
                            <a:srgbClr val="D9E2F3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900" b="0" i="0" u="none" strike="noStrike">
                        <a:effectLst/>
                        <a:highlight>
                          <a:srgbClr val="D9E2F3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73555" marR="73555" marT="10216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42448832"/>
                  </a:ext>
                </a:extLst>
              </a:tr>
              <a:tr h="346310"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As a registered user, I want to browse through different restaurants and cuisines.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555" marR="73555" marT="10216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i="0" u="none" strike="noStrike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555" marR="73555" marT="10216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781186735"/>
                  </a:ext>
                </a:extLst>
              </a:tr>
              <a:tr h="346310"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kern="100">
                          <a:solidFill>
                            <a:srgbClr val="000000"/>
                          </a:solidFill>
                          <a:effectLst/>
                          <a:highlight>
                            <a:srgbClr val="D9E2F3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As a registered user, I want to browse menu items with clear descriptions, images, and prices.</a:t>
                      </a:r>
                      <a:endParaRPr lang="en-US" sz="1900" b="0" i="0" u="none" strike="noStrike">
                        <a:effectLst/>
                        <a:highlight>
                          <a:srgbClr val="D9E2F3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73555" marR="73555" marT="10216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i="0" u="none" strike="noStrike" kern="100">
                          <a:solidFill>
                            <a:srgbClr val="000000"/>
                          </a:solidFill>
                          <a:effectLst/>
                          <a:highlight>
                            <a:srgbClr val="D9E2F3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900" b="0" i="0" u="none" strike="noStrike">
                        <a:effectLst/>
                        <a:highlight>
                          <a:srgbClr val="D9E2F3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73555" marR="73555" marT="10216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42877229"/>
                  </a:ext>
                </a:extLst>
              </a:tr>
              <a:tr h="346310"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As a registered user, I want to save my favorite restaurants and orders for reordering.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555" marR="73555" marT="10216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i="0" u="none" strike="noStrike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555" marR="73555" marT="10216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116540239"/>
                  </a:ext>
                </a:extLst>
              </a:tr>
              <a:tr h="346310"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kern="100">
                          <a:solidFill>
                            <a:srgbClr val="000000"/>
                          </a:solidFill>
                          <a:effectLst/>
                          <a:highlight>
                            <a:srgbClr val="D9E2F3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As a registered user, I want to rate and review restaurants and delivery riders.</a:t>
                      </a:r>
                      <a:endParaRPr lang="en-US" sz="1900" b="0" i="0" u="none" strike="noStrike">
                        <a:effectLst/>
                        <a:highlight>
                          <a:srgbClr val="D9E2F3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73555" marR="73555" marT="10216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i="0" u="none" strike="noStrike" kern="100">
                          <a:solidFill>
                            <a:srgbClr val="000000"/>
                          </a:solidFill>
                          <a:effectLst/>
                          <a:highlight>
                            <a:srgbClr val="D9E2F3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900" b="0" i="0" u="none" strike="noStrike">
                        <a:effectLst/>
                        <a:highlight>
                          <a:srgbClr val="D9E2F3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73555" marR="73555" marT="10216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60867908"/>
                  </a:ext>
                </a:extLst>
              </a:tr>
              <a:tr h="346310"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As a registered user, I want to filter restaurants based on estimated delivery time.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555" marR="73555" marT="10216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i="0" u="none" strike="noStrike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555" marR="73555" marT="10216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04828790"/>
                  </a:ext>
                </a:extLst>
              </a:tr>
              <a:tr h="346310"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kern="100">
                          <a:solidFill>
                            <a:srgbClr val="000000"/>
                          </a:solidFill>
                          <a:effectLst/>
                          <a:highlight>
                            <a:srgbClr val="D9E2F3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As a registered user, I want to cancel my order and lodge a complaint.</a:t>
                      </a:r>
                      <a:endParaRPr lang="en-US" sz="1900" b="0" i="0" u="none" strike="noStrike">
                        <a:effectLst/>
                        <a:highlight>
                          <a:srgbClr val="D9E2F3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73555" marR="73555" marT="10216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i="0" u="none" strike="noStrike" kern="100">
                          <a:solidFill>
                            <a:srgbClr val="000000"/>
                          </a:solidFill>
                          <a:effectLst/>
                          <a:highlight>
                            <a:srgbClr val="D9E2F3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1900" b="0" i="0" u="none" strike="noStrike">
                        <a:effectLst/>
                        <a:highlight>
                          <a:srgbClr val="D9E2F3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73555" marR="73555" marT="10216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24263176"/>
                  </a:ext>
                </a:extLst>
              </a:tr>
              <a:tr h="346310"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As a registered user, I want to have multiple payment options i.e., cash on delivery and online bank payment. 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555" marR="73555" marT="10216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i="0" u="none" strike="noStrike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555" marR="73555" marT="10216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660040876"/>
                  </a:ext>
                </a:extLst>
              </a:tr>
              <a:tr h="346310"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kern="100">
                          <a:solidFill>
                            <a:srgbClr val="000000"/>
                          </a:solidFill>
                          <a:effectLst/>
                          <a:highlight>
                            <a:srgbClr val="D9E2F3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As a registered user, I want to track my food delivery in real-time, giving me estimated remaining time as well.</a:t>
                      </a:r>
                      <a:endParaRPr lang="en-US" sz="1900" b="0" i="0" u="none" strike="noStrike">
                        <a:effectLst/>
                        <a:highlight>
                          <a:srgbClr val="D9E2F3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73555" marR="73555" marT="10216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i="0" u="none" strike="noStrike" kern="100">
                          <a:solidFill>
                            <a:srgbClr val="000000"/>
                          </a:solidFill>
                          <a:effectLst/>
                          <a:highlight>
                            <a:srgbClr val="D9E2F3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US" sz="1900" b="0" i="0" u="none" strike="noStrike">
                        <a:effectLst/>
                        <a:highlight>
                          <a:srgbClr val="D9E2F3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73555" marR="73555" marT="10216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72012273"/>
                  </a:ext>
                </a:extLst>
              </a:tr>
              <a:tr h="346310"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As a registered user, I want to use Foodie Minion on multiple devices and platforms.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555" marR="73555" marT="10216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i="0" u="none" strike="noStrike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3555" marR="73555" marT="10216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967100895"/>
                  </a:ext>
                </a:extLst>
              </a:tr>
              <a:tr h="346310"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kern="100">
                          <a:solidFill>
                            <a:srgbClr val="000000"/>
                          </a:solidFill>
                          <a:effectLst/>
                          <a:highlight>
                            <a:srgbClr val="D9E2F3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1900" b="0" i="0" u="none" strike="noStrike">
                        <a:effectLst/>
                        <a:highlight>
                          <a:srgbClr val="D9E2F3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73555" marR="73555" marT="10216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i="0" u="none" strike="noStrike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D9E2F3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73</a:t>
                      </a:r>
                      <a:endParaRPr lang="en-US" sz="1900" b="0" i="0" u="none" strike="noStrike" dirty="0">
                        <a:effectLst/>
                        <a:highlight>
                          <a:srgbClr val="D9E2F3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73555" marR="73555" marT="10216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719655095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xmlns="" id="{A148A254-5DB5-4351-BED5-4A83043AC776}"/>
              </a:ext>
            </a:extLst>
          </p:cNvPr>
          <p:cNvSpPr txBox="1">
            <a:spLocks/>
          </p:cNvSpPr>
          <p:nvPr/>
        </p:nvSpPr>
        <p:spPr>
          <a:xfrm>
            <a:off x="581192" y="722217"/>
            <a:ext cx="11029616" cy="1013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Product backlog</a:t>
            </a:r>
          </a:p>
        </p:txBody>
      </p:sp>
    </p:spTree>
    <p:extLst>
      <p:ext uri="{BB962C8B-B14F-4D97-AF65-F5344CB8AC3E}">
        <p14:creationId xmlns:p14="http://schemas.microsoft.com/office/powerpoint/2010/main" val="39744309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4DEA87B-76E7-7A70-300D-EBF3B9F08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backlog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3A74CB9-7666-F4D0-830D-D4019B115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The sprint backlog is a subset of the product backlog that contains the specific set of tasks that the development team commits to completing during a sprint. 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It's essentially a list of work items selected from the product backlog for implementation during the sprint. 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The sprint backlog guides the team's work for the duration of the sprint and helps ensure that they focus on delivering the sprint goal.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6853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43C015F-D126-9050-245E-A56CB1BE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EFF"/>
                </a:solidFill>
              </a:rPr>
              <a:t>Sprint backlog </a:t>
            </a:r>
            <a:r>
              <a:rPr lang="en-US" dirty="0">
                <a:solidFill>
                  <a:srgbClr val="FFFEFF"/>
                </a:solidFill>
                <a:latin typeface="Abadi" panose="020F0502020204030204" pitchFamily="34" charset="0"/>
              </a:rPr>
              <a:t>1 [User story 1]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AE07A609-4E3B-E4B8-C369-9AC4A68964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8281215"/>
              </p:ext>
            </p:extLst>
          </p:nvPr>
        </p:nvGraphicFramePr>
        <p:xfrm>
          <a:off x="4143" y="1905209"/>
          <a:ext cx="12187857" cy="4581230"/>
        </p:xfrm>
        <a:graphic>
          <a:graphicData uri="http://schemas.openxmlformats.org/drawingml/2006/table">
            <a:tbl>
              <a:tblPr firstRow="1" firstCol="1" bandRow="1"/>
              <a:tblGrid>
                <a:gridCol w="2740539">
                  <a:extLst>
                    <a:ext uri="{9D8B030D-6E8A-4147-A177-3AD203B41FA5}">
                      <a16:colId xmlns:a16="http://schemas.microsoft.com/office/drawing/2014/main" xmlns="" val="569312928"/>
                    </a:ext>
                  </a:extLst>
                </a:gridCol>
                <a:gridCol w="926854">
                  <a:extLst>
                    <a:ext uri="{9D8B030D-6E8A-4147-A177-3AD203B41FA5}">
                      <a16:colId xmlns:a16="http://schemas.microsoft.com/office/drawing/2014/main" xmlns="" val="2652445365"/>
                    </a:ext>
                  </a:extLst>
                </a:gridCol>
                <a:gridCol w="881862">
                  <a:extLst>
                    <a:ext uri="{9D8B030D-6E8A-4147-A177-3AD203B41FA5}">
                      <a16:colId xmlns:a16="http://schemas.microsoft.com/office/drawing/2014/main" xmlns="" val="4264862908"/>
                    </a:ext>
                  </a:extLst>
                </a:gridCol>
                <a:gridCol w="935853">
                  <a:extLst>
                    <a:ext uri="{9D8B030D-6E8A-4147-A177-3AD203B41FA5}">
                      <a16:colId xmlns:a16="http://schemas.microsoft.com/office/drawing/2014/main" xmlns="" val="1470578127"/>
                    </a:ext>
                  </a:extLst>
                </a:gridCol>
                <a:gridCol w="991448">
                  <a:extLst>
                    <a:ext uri="{9D8B030D-6E8A-4147-A177-3AD203B41FA5}">
                      <a16:colId xmlns:a16="http://schemas.microsoft.com/office/drawing/2014/main" xmlns="" val="2223610202"/>
                    </a:ext>
                  </a:extLst>
                </a:gridCol>
                <a:gridCol w="1023896">
                  <a:extLst>
                    <a:ext uri="{9D8B030D-6E8A-4147-A177-3AD203B41FA5}">
                      <a16:colId xmlns:a16="http://schemas.microsoft.com/office/drawing/2014/main" xmlns="" val="3799769977"/>
                    </a:ext>
                  </a:extLst>
                </a:gridCol>
                <a:gridCol w="954020">
                  <a:extLst>
                    <a:ext uri="{9D8B030D-6E8A-4147-A177-3AD203B41FA5}">
                      <a16:colId xmlns:a16="http://schemas.microsoft.com/office/drawing/2014/main" xmlns="" val="2418160167"/>
                    </a:ext>
                  </a:extLst>
                </a:gridCol>
                <a:gridCol w="881862">
                  <a:extLst>
                    <a:ext uri="{9D8B030D-6E8A-4147-A177-3AD203B41FA5}">
                      <a16:colId xmlns:a16="http://schemas.microsoft.com/office/drawing/2014/main" xmlns="" val="2700233955"/>
                    </a:ext>
                  </a:extLst>
                </a:gridCol>
                <a:gridCol w="845868">
                  <a:extLst>
                    <a:ext uri="{9D8B030D-6E8A-4147-A177-3AD203B41FA5}">
                      <a16:colId xmlns:a16="http://schemas.microsoft.com/office/drawing/2014/main" xmlns="" val="1807099945"/>
                    </a:ext>
                  </a:extLst>
                </a:gridCol>
                <a:gridCol w="1043837">
                  <a:extLst>
                    <a:ext uri="{9D8B030D-6E8A-4147-A177-3AD203B41FA5}">
                      <a16:colId xmlns:a16="http://schemas.microsoft.com/office/drawing/2014/main" xmlns="" val="3050663215"/>
                    </a:ext>
                  </a:extLst>
                </a:gridCol>
                <a:gridCol w="961818">
                  <a:extLst>
                    <a:ext uri="{9D8B030D-6E8A-4147-A177-3AD203B41FA5}">
                      <a16:colId xmlns:a16="http://schemas.microsoft.com/office/drawing/2014/main" xmlns="" val="4020622003"/>
                    </a:ext>
                  </a:extLst>
                </a:gridCol>
              </a:tblGrid>
              <a:tr h="240069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0" i="0" u="sng" strike="noStrike" kern="100" dirty="0">
                          <a:solidFill>
                            <a:srgbClr val="FFFFFF"/>
                          </a:solidFill>
                          <a:effectLst/>
                          <a:highlight>
                            <a:srgbClr val="4472C4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TASKS</a:t>
                      </a:r>
                      <a:endParaRPr lang="en-US" sz="2300" b="0" i="0" u="none" strike="noStrike" dirty="0">
                        <a:effectLst/>
                        <a:highlight>
                          <a:srgbClr val="4472C4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0" i="0" u="sng" strike="noStrike" kern="100" dirty="0">
                          <a:solidFill>
                            <a:srgbClr val="FFFFFF"/>
                          </a:solidFill>
                          <a:effectLst/>
                          <a:highlight>
                            <a:srgbClr val="4472C4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MON</a:t>
                      </a:r>
                      <a:endParaRPr lang="en-US" sz="2300" b="0" i="0" u="none" strike="noStrike" dirty="0">
                        <a:effectLst/>
                        <a:highlight>
                          <a:srgbClr val="4472C4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0" i="0" u="sng" strike="noStrike" kern="100" dirty="0">
                          <a:solidFill>
                            <a:srgbClr val="FFFFFF"/>
                          </a:solidFill>
                          <a:effectLst/>
                          <a:highlight>
                            <a:srgbClr val="4472C4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TUES</a:t>
                      </a:r>
                      <a:endParaRPr lang="en-US" sz="2300" b="0" i="0" u="none" strike="noStrike" dirty="0">
                        <a:effectLst/>
                        <a:highlight>
                          <a:srgbClr val="4472C4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0" i="0" u="sng" strike="noStrike" kern="100" dirty="0">
                          <a:solidFill>
                            <a:srgbClr val="FFFFFF"/>
                          </a:solidFill>
                          <a:effectLst/>
                          <a:highlight>
                            <a:srgbClr val="4472C4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WED</a:t>
                      </a:r>
                      <a:endParaRPr lang="en-US" sz="2300" b="0" i="0" u="none" strike="noStrike" dirty="0">
                        <a:effectLst/>
                        <a:highlight>
                          <a:srgbClr val="4472C4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300" b="0" i="0" u="sng" strike="noStrike" kern="100" dirty="0">
                          <a:solidFill>
                            <a:srgbClr val="FFFFFF"/>
                          </a:solidFill>
                          <a:effectLst/>
                          <a:highlight>
                            <a:srgbClr val="4472C4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THURS</a:t>
                      </a:r>
                      <a:endParaRPr lang="en-US" sz="2300" b="0" i="0" u="none" strike="noStrike" dirty="0">
                        <a:effectLst/>
                        <a:highlight>
                          <a:srgbClr val="4472C4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4572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0" i="0" u="sng" strike="noStrike" kern="100" dirty="0">
                          <a:solidFill>
                            <a:srgbClr val="FFFFFF"/>
                          </a:solidFill>
                          <a:effectLst/>
                          <a:highlight>
                            <a:srgbClr val="4472C4"/>
                          </a:highlight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FRI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0" i="0" u="sng" strike="noStrike" kern="100" dirty="0">
                          <a:solidFill>
                            <a:srgbClr val="FFFFFF"/>
                          </a:solidFill>
                          <a:effectLst/>
                          <a:highlight>
                            <a:srgbClr val="4472C4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MON</a:t>
                      </a:r>
                      <a:endParaRPr lang="en-US" sz="2300" b="0" i="0" u="none" strike="noStrike" dirty="0">
                        <a:effectLst/>
                        <a:highlight>
                          <a:srgbClr val="4472C4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0" i="0" u="sng" strike="noStrike" kern="100" dirty="0">
                          <a:solidFill>
                            <a:srgbClr val="FFFFFF"/>
                          </a:solidFill>
                          <a:effectLst/>
                          <a:highlight>
                            <a:srgbClr val="4472C4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TUES</a:t>
                      </a:r>
                      <a:endParaRPr lang="en-US" sz="2300" b="0" i="0" u="none" strike="noStrike" dirty="0">
                        <a:effectLst/>
                        <a:highlight>
                          <a:srgbClr val="4472C4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0" i="0" u="sng" strike="noStrike" kern="100">
                          <a:solidFill>
                            <a:srgbClr val="FFFFFF"/>
                          </a:solidFill>
                          <a:effectLst/>
                          <a:highlight>
                            <a:srgbClr val="4472C4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WED</a:t>
                      </a:r>
                      <a:endParaRPr lang="en-US" sz="2300" b="0" i="0" u="none" strike="noStrike">
                        <a:effectLst/>
                        <a:highlight>
                          <a:srgbClr val="4472C4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0" i="0" u="sng" strike="noStrike" kern="100" dirty="0">
                          <a:solidFill>
                            <a:srgbClr val="FFFFFF"/>
                          </a:solidFill>
                          <a:effectLst/>
                          <a:highlight>
                            <a:srgbClr val="4472C4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THURS</a:t>
                      </a:r>
                      <a:endParaRPr lang="en-US" sz="2300" b="0" i="0" u="none" strike="noStrike" dirty="0">
                        <a:effectLst/>
                        <a:highlight>
                          <a:srgbClr val="4472C4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0" i="0" u="sng" strike="noStrike" kern="100" dirty="0">
                          <a:solidFill>
                            <a:srgbClr val="FFFFFF"/>
                          </a:solidFill>
                          <a:effectLst/>
                          <a:highlight>
                            <a:srgbClr val="4472C4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FRI</a:t>
                      </a:r>
                      <a:endParaRPr lang="en-US" sz="2300" b="0" i="0" u="none" strike="noStrike" dirty="0">
                        <a:effectLst/>
                        <a:highlight>
                          <a:srgbClr val="4472C4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>
                      <a:noFill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14918278"/>
                  </a:ext>
                </a:extLst>
              </a:tr>
              <a:tr h="515987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kern="100">
                          <a:solidFill>
                            <a:srgbClr val="000000"/>
                          </a:solidFill>
                          <a:effectLst/>
                          <a:highlight>
                            <a:srgbClr val="D9E2F3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Design a User Interface Form that includes fields like Username, Email, and Password.</a:t>
                      </a:r>
                      <a:endParaRPr lang="en-US" sz="2300" b="0" i="0" u="none" strike="noStrike">
                        <a:effectLst/>
                        <a:highlight>
                          <a:srgbClr val="D9E2F3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sng" strike="noStrike" kern="100">
                          <a:solidFill>
                            <a:srgbClr val="000000"/>
                          </a:solidFill>
                          <a:effectLst/>
                          <a:highlight>
                            <a:srgbClr val="D9E2F3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300" b="0" i="0" u="none" strike="noStrike">
                        <a:effectLst/>
                        <a:highlight>
                          <a:srgbClr val="D9E2F3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none" strike="noStrike" kern="100">
                          <a:effectLst/>
                          <a:highlight>
                            <a:srgbClr val="D9E2F3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300" b="0" i="0" u="none" strike="noStrike">
                        <a:effectLst/>
                        <a:highlight>
                          <a:srgbClr val="D9E2F3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none" strike="noStrike" kern="100" dirty="0">
                          <a:effectLst/>
                          <a:highlight>
                            <a:srgbClr val="D9E2F3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300" b="0" i="0" u="none" strike="noStrike" dirty="0">
                        <a:effectLst/>
                        <a:highlight>
                          <a:srgbClr val="D9E2F3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b="1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sng" strike="noStrike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D9E2F3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300" b="0" i="0" u="none" strike="noStrike" dirty="0">
                        <a:effectLst/>
                        <a:highlight>
                          <a:srgbClr val="D9E2F3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none" strike="noStrike" kern="100">
                          <a:effectLst/>
                          <a:highlight>
                            <a:srgbClr val="D9E2F3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300" b="0" i="0" u="none" strike="noStrike">
                        <a:effectLst/>
                        <a:highlight>
                          <a:srgbClr val="D9E2F3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none" strike="noStrike" kern="100" dirty="0">
                          <a:effectLst/>
                          <a:highlight>
                            <a:srgbClr val="D9E2F3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300" b="0" i="0" u="none" strike="noStrike" dirty="0">
                        <a:effectLst/>
                        <a:highlight>
                          <a:srgbClr val="D9E2F3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none" strike="noStrike" kern="100" dirty="0">
                          <a:effectLst/>
                          <a:highlight>
                            <a:srgbClr val="D9E2F3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300" b="0" i="0" u="none" strike="noStrike" dirty="0">
                        <a:effectLst/>
                        <a:highlight>
                          <a:srgbClr val="D9E2F3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none" strike="noStrike" kern="100" dirty="0">
                          <a:effectLst/>
                          <a:highlight>
                            <a:srgbClr val="D9E2F3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300" b="0" i="0" u="none" strike="noStrike" dirty="0">
                        <a:effectLst/>
                        <a:highlight>
                          <a:srgbClr val="D9E2F3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66367698"/>
                  </a:ext>
                </a:extLst>
              </a:tr>
              <a:tr h="308168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Develop an Email Verification System that checks the user’s email address is valid.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sng" strike="noStrike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sng" strike="noStrike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none" strike="noStrike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b="1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sng" strike="noStrike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sng" strike="noStrike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none" strike="noStrike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none" strike="noStrike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none" strike="noStrike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795093143"/>
                  </a:ext>
                </a:extLst>
              </a:tr>
              <a:tr h="308168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kern="100">
                          <a:solidFill>
                            <a:srgbClr val="000000"/>
                          </a:solidFill>
                          <a:effectLst/>
                          <a:highlight>
                            <a:srgbClr val="D9E2F3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Implement a system to check the strength of the user password.</a:t>
                      </a:r>
                      <a:endParaRPr lang="en-US" sz="2300" b="0" i="0" u="none" strike="noStrike">
                        <a:effectLst/>
                        <a:highlight>
                          <a:srgbClr val="D9E2F3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none" strike="noStrike" kern="100">
                          <a:effectLst/>
                          <a:highlight>
                            <a:srgbClr val="D9E2F3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300" b="0" i="0" u="none" strike="noStrike">
                        <a:effectLst/>
                        <a:highlight>
                          <a:srgbClr val="D9E2F3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sng" strike="noStrike" kern="100">
                          <a:solidFill>
                            <a:srgbClr val="000000"/>
                          </a:solidFill>
                          <a:effectLst/>
                          <a:highlight>
                            <a:srgbClr val="D9E2F3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300" b="0" i="0" u="none" strike="noStrike">
                        <a:effectLst/>
                        <a:highlight>
                          <a:srgbClr val="D9E2F3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none" strike="noStrike" kern="100">
                          <a:effectLst/>
                          <a:highlight>
                            <a:srgbClr val="D9E2F3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300" b="0" i="0" u="none" strike="noStrike">
                        <a:effectLst/>
                        <a:highlight>
                          <a:srgbClr val="D9E2F3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none" strike="noStrike" kern="100">
                          <a:effectLst/>
                          <a:highlight>
                            <a:srgbClr val="D9E2F3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300" b="0" i="0" u="none" strike="noStrike">
                        <a:effectLst/>
                        <a:highlight>
                          <a:srgbClr val="D9E2F3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sng" strike="noStrike" kern="100">
                          <a:solidFill>
                            <a:srgbClr val="000000"/>
                          </a:solidFill>
                          <a:effectLst/>
                          <a:highlight>
                            <a:srgbClr val="D9E2F3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300" b="0" i="0" u="none" strike="noStrike">
                        <a:effectLst/>
                        <a:highlight>
                          <a:srgbClr val="D9E2F3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none" strike="noStrike" kern="100">
                          <a:effectLst/>
                          <a:highlight>
                            <a:srgbClr val="D9E2F3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300" b="0" i="0" u="none" strike="noStrike">
                        <a:effectLst/>
                        <a:highlight>
                          <a:srgbClr val="D9E2F3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none" strike="noStrike" kern="100">
                          <a:effectLst/>
                          <a:highlight>
                            <a:srgbClr val="D9E2F3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300" b="0" i="0" u="none" strike="noStrike">
                        <a:effectLst/>
                        <a:highlight>
                          <a:srgbClr val="D9E2F3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none" strike="noStrike" kern="100" dirty="0">
                          <a:effectLst/>
                          <a:highlight>
                            <a:srgbClr val="D9E2F3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300" b="0" i="0" u="none" strike="noStrike" dirty="0">
                        <a:effectLst/>
                        <a:highlight>
                          <a:srgbClr val="D9E2F3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90219883"/>
                  </a:ext>
                </a:extLst>
              </a:tr>
              <a:tr h="308168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Should implement “Forget Password” feature.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sng" strike="noStrike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sng" strike="noStrike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none" strike="noStrike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b="1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sng" strike="noStrike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sng" strike="noStrike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none" strike="noStrike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none" strike="noStrike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none" strike="noStrike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620069589"/>
                  </a:ext>
                </a:extLst>
              </a:tr>
              <a:tr h="308168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kern="100">
                          <a:solidFill>
                            <a:srgbClr val="000000"/>
                          </a:solidFill>
                          <a:effectLst/>
                          <a:highlight>
                            <a:srgbClr val="D9E2F3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Create User Profile Database when registration is complete.</a:t>
                      </a:r>
                      <a:endParaRPr lang="en-US" sz="2300" b="0" i="0" u="none" strike="noStrike">
                        <a:effectLst/>
                        <a:highlight>
                          <a:srgbClr val="D9E2F3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none" strike="noStrike" kern="100">
                          <a:effectLst/>
                          <a:highlight>
                            <a:srgbClr val="D9E2F3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300" b="0" i="0" u="none" strike="noStrike">
                        <a:effectLst/>
                        <a:highlight>
                          <a:srgbClr val="D9E2F3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none" strike="noStrike" kern="100">
                          <a:effectLst/>
                          <a:highlight>
                            <a:srgbClr val="D9E2F3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300" b="0" i="0" u="none" strike="noStrike">
                        <a:effectLst/>
                        <a:highlight>
                          <a:srgbClr val="D9E2F3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sng" strike="noStrike" kern="100">
                          <a:solidFill>
                            <a:srgbClr val="000000"/>
                          </a:solidFill>
                          <a:effectLst/>
                          <a:highlight>
                            <a:srgbClr val="D9E2F3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300" b="0" i="0" u="none" strike="noStrike">
                        <a:effectLst/>
                        <a:highlight>
                          <a:srgbClr val="D9E2F3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4572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none" strike="noStrike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500" b="1" i="0" u="sng" strike="noStrike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none" strike="noStrike" kern="100">
                          <a:effectLst/>
                          <a:highlight>
                            <a:srgbClr val="D9E2F3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300" b="0" i="0" u="none" strike="noStrike">
                        <a:effectLst/>
                        <a:highlight>
                          <a:srgbClr val="D9E2F3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none" strike="noStrike" kern="100">
                          <a:effectLst/>
                          <a:highlight>
                            <a:srgbClr val="D9E2F3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300" b="0" i="0" u="none" strike="noStrike">
                        <a:effectLst/>
                        <a:highlight>
                          <a:srgbClr val="D9E2F3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sng" strike="noStrike" kern="100">
                          <a:solidFill>
                            <a:srgbClr val="000000"/>
                          </a:solidFill>
                          <a:effectLst/>
                          <a:highlight>
                            <a:srgbClr val="D9E2F3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300" b="0" i="0" u="none" strike="noStrike">
                        <a:effectLst/>
                        <a:highlight>
                          <a:srgbClr val="D9E2F3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sng" strike="noStrike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D9E2F3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300" b="0" i="0" u="none" strike="noStrike" dirty="0">
                        <a:effectLst/>
                        <a:highlight>
                          <a:srgbClr val="D9E2F3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none" strike="noStrike" kern="100" dirty="0">
                          <a:effectLst/>
                          <a:highlight>
                            <a:srgbClr val="D9E2F3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300" b="0" i="0" u="none" strike="noStrike" dirty="0">
                        <a:effectLst/>
                        <a:highlight>
                          <a:srgbClr val="D9E2F3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401373769"/>
                  </a:ext>
                </a:extLst>
              </a:tr>
              <a:tr h="515987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Design Tutorials to help guide the user to explore features of Foodie Minion and complete their profile.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sng" strike="noStrike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none" strike="noStrike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none" strike="noStrike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b="1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sng" strike="noStrike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none" strike="noStrike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none" strike="noStrike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none" strike="noStrike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none" strike="noStrike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39230971"/>
                  </a:ext>
                </a:extLst>
              </a:tr>
              <a:tr h="396138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kern="100">
                          <a:solidFill>
                            <a:srgbClr val="000000"/>
                          </a:solidFill>
                          <a:effectLst/>
                          <a:highlight>
                            <a:srgbClr val="D9E2F3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Conduct Usability Testing and Security Testing to ensure secure registration process.</a:t>
                      </a:r>
                      <a:endParaRPr lang="en-US" sz="2300" b="0" i="0" u="none" strike="noStrike">
                        <a:effectLst/>
                        <a:highlight>
                          <a:srgbClr val="D9E2F3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none" strike="noStrike" kern="100">
                          <a:effectLst/>
                          <a:highlight>
                            <a:srgbClr val="D9E2F3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300" b="0" i="0" u="none" strike="noStrike">
                        <a:effectLst/>
                        <a:highlight>
                          <a:srgbClr val="D9E2F3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none" strike="noStrike" kern="100">
                          <a:effectLst/>
                          <a:highlight>
                            <a:srgbClr val="D9E2F3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300" b="0" i="0" u="none" strike="noStrike">
                        <a:effectLst/>
                        <a:highlight>
                          <a:srgbClr val="D9E2F3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none" strike="noStrike" kern="100">
                          <a:effectLst/>
                          <a:highlight>
                            <a:srgbClr val="D9E2F3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300" b="0" i="0" u="none" strike="noStrike">
                        <a:effectLst/>
                        <a:highlight>
                          <a:srgbClr val="D9E2F3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457200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none" strike="noStrike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sz="1500" b="1" i="0" u="sng" strike="noStrike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none" strike="noStrike" kern="100">
                          <a:effectLst/>
                          <a:highlight>
                            <a:srgbClr val="D9E2F3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300" b="0" i="0" u="none" strike="noStrike">
                        <a:effectLst/>
                        <a:highlight>
                          <a:srgbClr val="D9E2F3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none" strike="noStrike" kern="100">
                          <a:effectLst/>
                          <a:highlight>
                            <a:srgbClr val="D9E2F3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300" b="0" i="0" u="none" strike="noStrike">
                        <a:effectLst/>
                        <a:highlight>
                          <a:srgbClr val="D9E2F3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none" strike="noStrike" kern="100">
                          <a:effectLst/>
                          <a:highlight>
                            <a:srgbClr val="D9E2F3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300" b="0" i="0" u="none" strike="noStrike">
                        <a:effectLst/>
                        <a:highlight>
                          <a:srgbClr val="D9E2F3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none" strike="noStrike" kern="100">
                          <a:effectLst/>
                          <a:highlight>
                            <a:srgbClr val="D9E2F3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300" b="0" i="0" u="none" strike="noStrike">
                        <a:effectLst/>
                        <a:highlight>
                          <a:srgbClr val="D9E2F3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i="0" u="sng" strike="noStrike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D9E2F3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300" b="0" i="0" u="none" strike="noStrike" dirty="0">
                        <a:effectLst/>
                        <a:highlight>
                          <a:srgbClr val="D9E2F3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7401" marR="87401" marT="12139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12062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6535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789A0D3-F471-7C01-F0F8-F7FB026B6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Burn down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B5B5317-1FBF-001A-4164-E419E6E52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A burn down chart is typically created at the beginning of a sprint or project and updated throughout its duration. 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It helps the team track their progress over time, showing how much work remains to be done and whether they are on track to meet their goals.</a:t>
            </a:r>
          </a:p>
        </p:txBody>
      </p:sp>
    </p:spTree>
    <p:extLst>
      <p:ext uri="{BB962C8B-B14F-4D97-AF65-F5344CB8AC3E}">
        <p14:creationId xmlns:p14="http://schemas.microsoft.com/office/powerpoint/2010/main" val="29939141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D08D391-858D-5D69-96D6-D2CECA00C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Burn down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6EAA2F4-5BE2-B8DF-0450-71257A579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is a Burn Down Chart for Sprint Backlog 1.</a:t>
            </a:r>
          </a:p>
          <a:p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xmlns="" id="{24D78361-6F53-DCF2-86BB-9DF7A5A40E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6125119"/>
              </p:ext>
            </p:extLst>
          </p:nvPr>
        </p:nvGraphicFramePr>
        <p:xfrm>
          <a:off x="5612129" y="2902998"/>
          <a:ext cx="5998677" cy="30941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FD3D8329-E81E-EF8B-ECA5-32AAA4DA9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149" y="2902997"/>
            <a:ext cx="3324909" cy="2994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7741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0E82773-8205-8735-4CC9-D832B1F2F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backlog 2 [user story 2]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3EBD19-2825-82DA-FC92-1EC641C6B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Show a sprint backlog for </a:t>
            </a:r>
            <a:r>
              <a:rPr lang="en-US" dirty="0">
                <a:highlight>
                  <a:srgbClr val="FFFF00"/>
                </a:highlight>
                <a:hlinkClick r:id="rId2" action="ppaction://hlinksldjump"/>
              </a:rPr>
              <a:t>USER STORY 2 (SLIDE 12).</a:t>
            </a:r>
            <a:endParaRPr lang="en-US" dirty="0">
              <a:highlight>
                <a:srgbClr val="FFFF00"/>
              </a:highlight>
            </a:endParaRPr>
          </a:p>
          <a:p>
            <a:r>
              <a:rPr lang="en-US" dirty="0"/>
              <a:t>Create a burn down chart.</a:t>
            </a:r>
          </a:p>
        </p:txBody>
      </p:sp>
    </p:spTree>
    <p:extLst>
      <p:ext uri="{BB962C8B-B14F-4D97-AF65-F5344CB8AC3E}">
        <p14:creationId xmlns:p14="http://schemas.microsoft.com/office/powerpoint/2010/main" val="347007954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1586</TotalTime>
  <Words>1385</Words>
  <Application>Microsoft Office PowerPoint</Application>
  <PresentationFormat>Widescreen</PresentationFormat>
  <Paragraphs>206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Abadi</vt:lpstr>
      <vt:lpstr>Aptos</vt:lpstr>
      <vt:lpstr>Arial</vt:lpstr>
      <vt:lpstr>Calibri</vt:lpstr>
      <vt:lpstr>Gill Sans MT</vt:lpstr>
      <vt:lpstr>Google Sans</vt:lpstr>
      <vt:lpstr>Söhne</vt:lpstr>
      <vt:lpstr>Times New Roman</vt:lpstr>
      <vt:lpstr>Wingdings 2</vt:lpstr>
      <vt:lpstr>Dividend</vt:lpstr>
      <vt:lpstr>Sen-220 software engineering</vt:lpstr>
      <vt:lpstr>What is SCRUM?</vt:lpstr>
      <vt:lpstr>PowerPoint Presentation</vt:lpstr>
      <vt:lpstr>SCRUM FRAMEWORK</vt:lpstr>
      <vt:lpstr>User story</vt:lpstr>
      <vt:lpstr>Sprint</vt:lpstr>
      <vt:lpstr>Scrum Roles and responsibilities</vt:lpstr>
      <vt:lpstr>Scrum Roles and responsibilities</vt:lpstr>
      <vt:lpstr>Scrum Roles and responsibilities</vt:lpstr>
      <vt:lpstr>Sprint planning</vt:lpstr>
      <vt:lpstr>Sprint Goal and sprint backlog</vt:lpstr>
      <vt:lpstr>PowerPoint Presentation</vt:lpstr>
      <vt:lpstr>PowerPoint Presentation</vt:lpstr>
      <vt:lpstr>Sprint Review and Sprint Retrospective</vt:lpstr>
      <vt:lpstr>PowerPoint Presentation</vt:lpstr>
      <vt:lpstr>PowerPoint Presentation</vt:lpstr>
      <vt:lpstr>Daily scrum meeting</vt:lpstr>
      <vt:lpstr>Product backlog</vt:lpstr>
      <vt:lpstr> </vt:lpstr>
      <vt:lpstr>Sprint backlog</vt:lpstr>
      <vt:lpstr>Sprint backlog 1 [User story 1]</vt:lpstr>
      <vt:lpstr>Burn down chart</vt:lpstr>
      <vt:lpstr>Burn down chart</vt:lpstr>
      <vt:lpstr>Sprint backlog 2 [user story 2]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Sen-220 software engineering</dc:title>
  <dc:creator>Reema Qaiser BUKC</dc:creator>
  <cp:lastModifiedBy>BUKC</cp:lastModifiedBy>
  <cp:revision>59</cp:revision>
  <dcterms:created xsi:type="dcterms:W3CDTF">2022-10-08T14:02:24Z</dcterms:created>
  <dcterms:modified xsi:type="dcterms:W3CDTF">2024-10-04T04:27:08Z</dcterms:modified>
</cp:coreProperties>
</file>