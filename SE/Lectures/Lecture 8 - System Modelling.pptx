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9"/>
  </p:notesMasterIdLst>
  <p:sldIdLst>
    <p:sldId id="257" r:id="rId2"/>
    <p:sldId id="280" r:id="rId3"/>
    <p:sldId id="281" r:id="rId4"/>
    <p:sldId id="282" r:id="rId5"/>
    <p:sldId id="283" r:id="rId6"/>
    <p:sldId id="290" r:id="rId7"/>
    <p:sldId id="291" r:id="rId8"/>
    <p:sldId id="287" r:id="rId9"/>
    <p:sldId id="288" r:id="rId10"/>
    <p:sldId id="289" r:id="rId11"/>
    <p:sldId id="275" r:id="rId12"/>
    <p:sldId id="292" r:id="rId13"/>
    <p:sldId id="293" r:id="rId14"/>
    <p:sldId id="294" r:id="rId15"/>
    <p:sldId id="295" r:id="rId16"/>
    <p:sldId id="296" r:id="rId17"/>
    <p:sldId id="297" r:id="rId18"/>
    <p:sldId id="298" r:id="rId19"/>
    <p:sldId id="299" r:id="rId20"/>
    <p:sldId id="300" r:id="rId21"/>
    <p:sldId id="302" r:id="rId22"/>
    <p:sldId id="303" r:id="rId23"/>
    <p:sldId id="304" r:id="rId24"/>
    <p:sldId id="305" r:id="rId25"/>
    <p:sldId id="306" r:id="rId26"/>
    <p:sldId id="307" r:id="rId27"/>
    <p:sldId id="308" r:id="rId28"/>
    <p:sldId id="309" r:id="rId29"/>
    <p:sldId id="310" r:id="rId30"/>
    <p:sldId id="311" r:id="rId31"/>
    <p:sldId id="312" r:id="rId32"/>
    <p:sldId id="313" r:id="rId33"/>
    <p:sldId id="314" r:id="rId34"/>
    <p:sldId id="277" r:id="rId35"/>
    <p:sldId id="279" r:id="rId36"/>
    <p:sldId id="276" r:id="rId37"/>
    <p:sldId id="278"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14C02C-7C6A-4092-A3AA-CCA27888F14B}" type="datetimeFigureOut">
              <a:rPr lang="en-US" smtClean="0"/>
              <a:t>10/17/2024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8DCBCC-B066-4623-B6F7-9752B0EF96EB}" type="slidenum">
              <a:rPr lang="en-US" smtClean="0"/>
              <a:t>‹#›</a:t>
            </a:fld>
            <a:endParaRPr lang="en-US"/>
          </a:p>
        </p:txBody>
      </p:sp>
    </p:spTree>
    <p:extLst>
      <p:ext uri="{BB962C8B-B14F-4D97-AF65-F5344CB8AC3E}">
        <p14:creationId xmlns:p14="http://schemas.microsoft.com/office/powerpoint/2010/main" val="3738815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noTextEdit="1"/>
          </p:cNvSpPr>
          <p:nvPr>
            <p:ph type="sldImg"/>
          </p:nvPr>
        </p:nvSpPr>
        <p:spPr>
          <a:xfrm>
            <a:off x="176213" y="731838"/>
            <a:ext cx="6508750" cy="3662362"/>
          </a:xfrm>
          <a:ln/>
        </p:spPr>
      </p:sp>
      <p:sp>
        <p:nvSpPr>
          <p:cNvPr id="10243" name="Rectangle 3"/>
          <p:cNvSpPr>
            <a:spLocks noGrp="1" noChangeArrowheads="1"/>
          </p:cNvSpPr>
          <p:nvPr>
            <p:ph type="body" idx="1"/>
          </p:nvPr>
        </p:nvSpPr>
        <p:spPr>
          <a:xfrm>
            <a:off x="914400" y="4640263"/>
            <a:ext cx="5029200" cy="4394200"/>
          </a:xfrm>
          <a:noFill/>
        </p:spPr>
        <p:txBody>
          <a:bodyPr/>
          <a:lstStyle/>
          <a:p>
            <a:endParaRPr lang="en-US" altLang="en-US" smtClean="0"/>
          </a:p>
        </p:txBody>
      </p:sp>
    </p:spTree>
    <p:extLst>
      <p:ext uri="{BB962C8B-B14F-4D97-AF65-F5344CB8AC3E}">
        <p14:creationId xmlns:p14="http://schemas.microsoft.com/office/powerpoint/2010/main" val="16853994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noTextEdit="1"/>
          </p:cNvSpPr>
          <p:nvPr>
            <p:ph type="sldImg"/>
          </p:nvPr>
        </p:nvSpPr>
        <p:spPr>
          <a:xfrm>
            <a:off x="176213" y="731838"/>
            <a:ext cx="6508750" cy="3662362"/>
          </a:xfrm>
          <a:ln/>
        </p:spPr>
      </p:sp>
      <p:sp>
        <p:nvSpPr>
          <p:cNvPr id="12291" name="Rectangle 3"/>
          <p:cNvSpPr>
            <a:spLocks noGrp="1" noChangeArrowheads="1"/>
          </p:cNvSpPr>
          <p:nvPr>
            <p:ph type="body" idx="1"/>
          </p:nvPr>
        </p:nvSpPr>
        <p:spPr>
          <a:xfrm>
            <a:off x="914400" y="4640263"/>
            <a:ext cx="5029200" cy="4394200"/>
          </a:xfrm>
          <a:noFill/>
        </p:spPr>
        <p:txBody>
          <a:bodyPr/>
          <a:lstStyle/>
          <a:p>
            <a:endParaRPr lang="en-US" altLang="en-US" smtClean="0"/>
          </a:p>
        </p:txBody>
      </p:sp>
    </p:spTree>
    <p:extLst>
      <p:ext uri="{BB962C8B-B14F-4D97-AF65-F5344CB8AC3E}">
        <p14:creationId xmlns:p14="http://schemas.microsoft.com/office/powerpoint/2010/main" val="1759582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noTextEdit="1"/>
          </p:cNvSpPr>
          <p:nvPr>
            <p:ph type="sldImg"/>
          </p:nvPr>
        </p:nvSpPr>
        <p:spPr>
          <a:xfrm>
            <a:off x="176213" y="731838"/>
            <a:ext cx="6508750" cy="3662362"/>
          </a:xfrm>
          <a:ln/>
        </p:spPr>
      </p:sp>
      <p:sp>
        <p:nvSpPr>
          <p:cNvPr id="16387" name="Rectangle 3"/>
          <p:cNvSpPr>
            <a:spLocks noGrp="1" noChangeArrowheads="1"/>
          </p:cNvSpPr>
          <p:nvPr>
            <p:ph type="body" idx="1"/>
          </p:nvPr>
        </p:nvSpPr>
        <p:spPr>
          <a:xfrm>
            <a:off x="914400" y="4640263"/>
            <a:ext cx="5029200" cy="4394200"/>
          </a:xfrm>
          <a:noFill/>
        </p:spPr>
        <p:txBody>
          <a:bodyPr/>
          <a:lstStyle/>
          <a:p>
            <a:endParaRPr lang="en-US" altLang="en-US" smtClean="0"/>
          </a:p>
        </p:txBody>
      </p:sp>
    </p:spTree>
    <p:extLst>
      <p:ext uri="{BB962C8B-B14F-4D97-AF65-F5344CB8AC3E}">
        <p14:creationId xmlns:p14="http://schemas.microsoft.com/office/powerpoint/2010/main" val="22858006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noTextEdit="1"/>
          </p:cNvSpPr>
          <p:nvPr>
            <p:ph type="sldImg"/>
          </p:nvPr>
        </p:nvSpPr>
        <p:spPr>
          <a:xfrm>
            <a:off x="174625" y="731838"/>
            <a:ext cx="6508750" cy="3662362"/>
          </a:xfrm>
          <a:ln/>
        </p:spPr>
      </p:sp>
      <p:sp>
        <p:nvSpPr>
          <p:cNvPr id="18435" name="Rectangle 3"/>
          <p:cNvSpPr>
            <a:spLocks noGrp="1" noChangeArrowheads="1"/>
          </p:cNvSpPr>
          <p:nvPr>
            <p:ph type="body" idx="1"/>
          </p:nvPr>
        </p:nvSpPr>
        <p:spPr>
          <a:xfrm>
            <a:off x="1123950" y="4640263"/>
            <a:ext cx="4610100" cy="4394200"/>
          </a:xfrm>
          <a:noFill/>
        </p:spPr>
        <p:txBody>
          <a:bodyPr lIns="91426" tIns="45713" rIns="91426" bIns="45713"/>
          <a:lstStyle/>
          <a:p>
            <a:r>
              <a:rPr lang="en-US" altLang="en-US" sz="1400" smtClean="0"/>
              <a:t>Actors</a:t>
            </a:r>
          </a:p>
          <a:p>
            <a:pPr>
              <a:buFontTx/>
              <a:buChar char="•"/>
            </a:pPr>
            <a:r>
              <a:rPr lang="en-US" altLang="en-US" sz="1400" smtClean="0"/>
              <a:t>Are </a:t>
            </a:r>
            <a:r>
              <a:rPr lang="en-US" altLang="en-US" sz="1400" b="1" smtClean="0"/>
              <a:t>NOT a part</a:t>
            </a:r>
            <a:r>
              <a:rPr lang="en-US" altLang="en-US" sz="1400" smtClean="0"/>
              <a:t> of the system (</a:t>
            </a:r>
            <a:r>
              <a:rPr lang="en-US" altLang="en-US" sz="1400" b="1" smtClean="0"/>
              <a:t>external</a:t>
            </a:r>
            <a:r>
              <a:rPr lang="en-US" altLang="en-US" sz="1400" smtClean="0"/>
              <a:t> to the system)</a:t>
            </a:r>
          </a:p>
          <a:p>
            <a:pPr>
              <a:buFontTx/>
              <a:buChar char="•"/>
            </a:pPr>
            <a:r>
              <a:rPr lang="en-US" altLang="en-US" sz="1400" smtClean="0"/>
              <a:t>A single actor may represent multiple physical users</a:t>
            </a:r>
          </a:p>
          <a:p>
            <a:pPr>
              <a:buFontTx/>
              <a:buChar char="•"/>
            </a:pPr>
            <a:r>
              <a:rPr lang="en-US" altLang="en-US" sz="1400" smtClean="0"/>
              <a:t>Whether human or not, represented by stick figure</a:t>
            </a:r>
          </a:p>
          <a:p>
            <a:pPr lvl="1">
              <a:buFontTx/>
              <a:buChar char="•"/>
            </a:pPr>
            <a:r>
              <a:rPr lang="en-US" altLang="en-US" sz="1400" b="1" smtClean="0"/>
              <a:t>MUST label</a:t>
            </a:r>
            <a:r>
              <a:rPr lang="en-US" altLang="en-US" sz="1400" smtClean="0"/>
              <a:t> stick figure with the name of the actor</a:t>
            </a:r>
          </a:p>
          <a:p>
            <a:endParaRPr lang="en-US" altLang="en-US" sz="1400" smtClean="0"/>
          </a:p>
          <a:p>
            <a:endParaRPr lang="en-US" altLang="en-US" sz="1400" smtClean="0"/>
          </a:p>
          <a:p>
            <a:endParaRPr lang="en-US" altLang="en-US" sz="1400" smtClean="0"/>
          </a:p>
        </p:txBody>
      </p:sp>
    </p:spTree>
    <p:extLst>
      <p:ext uri="{BB962C8B-B14F-4D97-AF65-F5344CB8AC3E}">
        <p14:creationId xmlns:p14="http://schemas.microsoft.com/office/powerpoint/2010/main" val="2906937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noTextEdit="1"/>
          </p:cNvSpPr>
          <p:nvPr>
            <p:ph type="sldImg"/>
          </p:nvPr>
        </p:nvSpPr>
        <p:spPr>
          <a:xfrm>
            <a:off x="176213" y="731838"/>
            <a:ext cx="6508750" cy="3662362"/>
          </a:xfrm>
          <a:ln/>
        </p:spPr>
      </p:sp>
      <p:sp>
        <p:nvSpPr>
          <p:cNvPr id="20483" name="Rectangle 3"/>
          <p:cNvSpPr>
            <a:spLocks noGrp="1" noChangeArrowheads="1"/>
          </p:cNvSpPr>
          <p:nvPr>
            <p:ph type="body" idx="1"/>
          </p:nvPr>
        </p:nvSpPr>
        <p:spPr>
          <a:xfrm>
            <a:off x="914400" y="4640263"/>
            <a:ext cx="5029200" cy="4394200"/>
          </a:xfrm>
          <a:noFill/>
        </p:spPr>
        <p:txBody>
          <a:bodyPr/>
          <a:lstStyle/>
          <a:p>
            <a:endParaRPr lang="en-US" altLang="en-US" smtClean="0"/>
          </a:p>
        </p:txBody>
      </p:sp>
    </p:spTree>
    <p:extLst>
      <p:ext uri="{BB962C8B-B14F-4D97-AF65-F5344CB8AC3E}">
        <p14:creationId xmlns:p14="http://schemas.microsoft.com/office/powerpoint/2010/main" val="532188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noTextEdit="1"/>
          </p:cNvSpPr>
          <p:nvPr>
            <p:ph type="sldImg"/>
          </p:nvPr>
        </p:nvSpPr>
        <p:spPr>
          <a:xfrm>
            <a:off x="176213" y="731838"/>
            <a:ext cx="6508750" cy="3662362"/>
          </a:xfrm>
          <a:ln/>
        </p:spPr>
      </p:sp>
      <p:sp>
        <p:nvSpPr>
          <p:cNvPr id="22531" name="Rectangle 3"/>
          <p:cNvSpPr>
            <a:spLocks noGrp="1" noChangeArrowheads="1"/>
          </p:cNvSpPr>
          <p:nvPr>
            <p:ph type="body" idx="1"/>
          </p:nvPr>
        </p:nvSpPr>
        <p:spPr>
          <a:xfrm>
            <a:off x="914400" y="4640263"/>
            <a:ext cx="5029200" cy="4394200"/>
          </a:xfrm>
          <a:noFill/>
        </p:spPr>
        <p:txBody>
          <a:bodyPr/>
          <a:lstStyle/>
          <a:p>
            <a:endParaRPr lang="en-US" altLang="en-US" smtClean="0"/>
          </a:p>
        </p:txBody>
      </p:sp>
    </p:spTree>
    <p:extLst>
      <p:ext uri="{BB962C8B-B14F-4D97-AF65-F5344CB8AC3E}">
        <p14:creationId xmlns:p14="http://schemas.microsoft.com/office/powerpoint/2010/main" val="20074582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noTextEdit="1"/>
          </p:cNvSpPr>
          <p:nvPr>
            <p:ph type="sldImg"/>
          </p:nvPr>
        </p:nvSpPr>
        <p:spPr>
          <a:xfrm>
            <a:off x="176213" y="731838"/>
            <a:ext cx="6508750" cy="3662362"/>
          </a:xfrm>
          <a:ln/>
        </p:spPr>
      </p:sp>
      <p:sp>
        <p:nvSpPr>
          <p:cNvPr id="24579" name="Rectangle 3"/>
          <p:cNvSpPr>
            <a:spLocks noGrp="1" noChangeArrowheads="1"/>
          </p:cNvSpPr>
          <p:nvPr>
            <p:ph type="body" idx="1"/>
          </p:nvPr>
        </p:nvSpPr>
        <p:spPr>
          <a:xfrm>
            <a:off x="914400" y="4640263"/>
            <a:ext cx="5029200" cy="4394200"/>
          </a:xfrm>
          <a:noFill/>
        </p:spPr>
        <p:txBody>
          <a:bodyPr/>
          <a:lstStyle/>
          <a:p>
            <a:endParaRPr lang="en-US" altLang="en-US" smtClean="0"/>
          </a:p>
        </p:txBody>
      </p:sp>
    </p:spTree>
    <p:extLst>
      <p:ext uri="{BB962C8B-B14F-4D97-AF65-F5344CB8AC3E}">
        <p14:creationId xmlns:p14="http://schemas.microsoft.com/office/powerpoint/2010/main" val="2869537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noTextEdit="1"/>
          </p:cNvSpPr>
          <p:nvPr>
            <p:ph type="sldImg"/>
          </p:nvPr>
        </p:nvSpPr>
        <p:spPr>
          <a:xfrm>
            <a:off x="176213" y="731838"/>
            <a:ext cx="6508750" cy="3662362"/>
          </a:xfrm>
          <a:ln/>
        </p:spPr>
      </p:sp>
      <p:sp>
        <p:nvSpPr>
          <p:cNvPr id="26627" name="Rectangle 3"/>
          <p:cNvSpPr>
            <a:spLocks noGrp="1" noChangeArrowheads="1"/>
          </p:cNvSpPr>
          <p:nvPr>
            <p:ph type="body" idx="1"/>
          </p:nvPr>
        </p:nvSpPr>
        <p:spPr>
          <a:xfrm>
            <a:off x="914400" y="4640263"/>
            <a:ext cx="5029200" cy="4394200"/>
          </a:xfrm>
          <a:noFill/>
        </p:spPr>
        <p:txBody>
          <a:bodyPr/>
          <a:lstStyle/>
          <a:p>
            <a:endParaRPr lang="en-US" altLang="en-US" smtClean="0"/>
          </a:p>
        </p:txBody>
      </p:sp>
    </p:spTree>
    <p:extLst>
      <p:ext uri="{BB962C8B-B14F-4D97-AF65-F5344CB8AC3E}">
        <p14:creationId xmlns:p14="http://schemas.microsoft.com/office/powerpoint/2010/main" val="385487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noTextEdit="1"/>
          </p:cNvSpPr>
          <p:nvPr>
            <p:ph type="sldImg"/>
          </p:nvPr>
        </p:nvSpPr>
        <p:spPr>
          <a:xfrm>
            <a:off x="176213" y="731838"/>
            <a:ext cx="6508750" cy="3662362"/>
          </a:xfrm>
          <a:ln/>
        </p:spPr>
      </p:sp>
      <p:sp>
        <p:nvSpPr>
          <p:cNvPr id="28675" name="Rectangle 3"/>
          <p:cNvSpPr>
            <a:spLocks noGrp="1" noChangeArrowheads="1"/>
          </p:cNvSpPr>
          <p:nvPr>
            <p:ph type="body" idx="1"/>
          </p:nvPr>
        </p:nvSpPr>
        <p:spPr>
          <a:xfrm>
            <a:off x="914400" y="4640263"/>
            <a:ext cx="5029200" cy="4394200"/>
          </a:xfrm>
          <a:noFill/>
        </p:spPr>
        <p:txBody>
          <a:bodyPr/>
          <a:lstStyle/>
          <a:p>
            <a:endParaRPr lang="en-US" altLang="en-US" smtClean="0"/>
          </a:p>
        </p:txBody>
      </p:sp>
    </p:spTree>
    <p:extLst>
      <p:ext uri="{BB962C8B-B14F-4D97-AF65-F5344CB8AC3E}">
        <p14:creationId xmlns:p14="http://schemas.microsoft.com/office/powerpoint/2010/main" val="36211345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noTextEdit="1"/>
          </p:cNvSpPr>
          <p:nvPr>
            <p:ph type="sldImg"/>
          </p:nvPr>
        </p:nvSpPr>
        <p:spPr>
          <a:xfrm>
            <a:off x="174625" y="731838"/>
            <a:ext cx="6508750" cy="3662362"/>
          </a:xfrm>
          <a:ln/>
        </p:spPr>
      </p:sp>
      <p:sp>
        <p:nvSpPr>
          <p:cNvPr id="32771" name="Rectangle 3"/>
          <p:cNvSpPr>
            <a:spLocks noGrp="1" noChangeArrowheads="1"/>
          </p:cNvSpPr>
          <p:nvPr>
            <p:ph type="body" idx="1"/>
          </p:nvPr>
        </p:nvSpPr>
        <p:spPr>
          <a:xfrm>
            <a:off x="914400" y="4640263"/>
            <a:ext cx="5029200" cy="4394200"/>
          </a:xfrm>
          <a:noFill/>
        </p:spPr>
        <p:txBody>
          <a:bodyPr/>
          <a:lstStyle/>
          <a:p>
            <a:r>
              <a:rPr lang="en-US" altLang="en-US" sz="1400" smtClean="0"/>
              <a:t>Use Case</a:t>
            </a:r>
            <a:endParaRPr lang="en-GB" altLang="en-US" sz="1400" smtClean="0"/>
          </a:p>
          <a:p>
            <a:pPr>
              <a:buFontTx/>
              <a:buChar char="•"/>
            </a:pPr>
            <a:r>
              <a:rPr lang="en-GB" altLang="en-US" sz="1400" smtClean="0"/>
              <a:t>In reading a use case, you should not be able to tell if an activity is computerized or manual</a:t>
            </a:r>
          </a:p>
          <a:p>
            <a:pPr>
              <a:buFontTx/>
              <a:buChar char="•"/>
            </a:pPr>
            <a:r>
              <a:rPr lang="en-GB" altLang="en-US" sz="1400" smtClean="0"/>
              <a:t>Used to document the current system (AS-IS system) or the new system being developed (TO-BE system)</a:t>
            </a:r>
          </a:p>
          <a:p>
            <a:pPr>
              <a:buFontTx/>
              <a:buChar char="•"/>
            </a:pPr>
            <a:r>
              <a:rPr lang="en-GB" altLang="en-US" sz="1400" smtClean="0"/>
              <a:t>Communicates at a high level what the system needs to do</a:t>
            </a:r>
          </a:p>
          <a:p>
            <a:pPr>
              <a:buFontTx/>
              <a:buChar char="•"/>
            </a:pPr>
            <a:r>
              <a:rPr lang="en-GB" altLang="en-US" sz="1400" smtClean="0"/>
              <a:t>Captures the typical interaction of the system with the system’s users</a:t>
            </a:r>
          </a:p>
          <a:p>
            <a:endParaRPr lang="en-US" altLang="en-US" sz="1400" smtClean="0"/>
          </a:p>
          <a:p>
            <a:r>
              <a:rPr lang="en-US" altLang="en-US" sz="1400" smtClean="0"/>
              <a:t>Logical model</a:t>
            </a:r>
          </a:p>
          <a:p>
            <a:pPr>
              <a:buFontTx/>
              <a:buChar char="•"/>
            </a:pPr>
            <a:r>
              <a:rPr lang="en-US" altLang="en-US" sz="1400" smtClean="0"/>
              <a:t>Physical details are defined during the design phase</a:t>
            </a:r>
          </a:p>
          <a:p>
            <a:endParaRPr lang="en-US" altLang="en-US" sz="1400" smtClean="0"/>
          </a:p>
          <a:p>
            <a:endParaRPr lang="en-US" altLang="en-US" sz="1400" smtClean="0"/>
          </a:p>
          <a:p>
            <a:endParaRPr lang="en-US" altLang="en-US" sz="1400" smtClean="0"/>
          </a:p>
          <a:p>
            <a:endParaRPr lang="en-US" altLang="en-US" sz="1400" smtClean="0"/>
          </a:p>
          <a:p>
            <a:endParaRPr lang="en-US" altLang="en-US" sz="1400" smtClean="0"/>
          </a:p>
          <a:p>
            <a:endParaRPr lang="en-US" altLang="en-US" sz="1400" smtClean="0"/>
          </a:p>
          <a:p>
            <a:endParaRPr lang="en-US" altLang="en-US" sz="1400" smtClean="0"/>
          </a:p>
        </p:txBody>
      </p:sp>
    </p:spTree>
    <p:extLst>
      <p:ext uri="{BB962C8B-B14F-4D97-AF65-F5344CB8AC3E}">
        <p14:creationId xmlns:p14="http://schemas.microsoft.com/office/powerpoint/2010/main" val="3443248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noTextEdit="1"/>
          </p:cNvSpPr>
          <p:nvPr>
            <p:ph type="sldImg"/>
          </p:nvPr>
        </p:nvSpPr>
        <p:spPr>
          <a:xfrm>
            <a:off x="174625" y="814388"/>
            <a:ext cx="6508750" cy="3662362"/>
          </a:xfrm>
          <a:ln/>
        </p:spPr>
      </p:sp>
      <p:sp>
        <p:nvSpPr>
          <p:cNvPr id="34819" name="Rectangle 3"/>
          <p:cNvSpPr>
            <a:spLocks noGrp="1" noChangeArrowheads="1"/>
          </p:cNvSpPr>
          <p:nvPr>
            <p:ph type="body" idx="1"/>
          </p:nvPr>
        </p:nvSpPr>
        <p:spPr>
          <a:xfrm>
            <a:off x="1123950" y="4640263"/>
            <a:ext cx="4610100" cy="4394200"/>
          </a:xfrm>
          <a:noFill/>
        </p:spPr>
        <p:txBody>
          <a:bodyPr lIns="91426" tIns="45713" rIns="91426" bIns="45713"/>
          <a:lstStyle/>
          <a:p>
            <a:r>
              <a:rPr lang="en-US" altLang="en-US" b="1" smtClean="0"/>
              <a:t>Use case:</a:t>
            </a:r>
            <a:r>
              <a:rPr lang="en-US" altLang="en-US" smtClean="0"/>
              <a:t> A use case in a use case diagram is a visual representation of a distinct business functionality in a system. The key term here is "distinct business functionality." To choose a business process as a likely candidate for modeling as a use case, you need to ensure that the business process is discrete in nature. As the first step in identifying use cases, you should list the discrete business functions in your problem statement. Each of these business functions can be classified as a potential use case. Remember that identifying use cases is a discovery rather than a creation. As business functionality becomes clearer, the underlying use cases become more easily evident. A use case is shown as an ellipse in a use case diagram  </a:t>
            </a:r>
            <a:r>
              <a:rPr lang="en-US" altLang="en-US" sz="1400" smtClean="0"/>
              <a:t>Depicted by an oval</a:t>
            </a:r>
          </a:p>
          <a:p>
            <a:pPr lvl="1">
              <a:buFontTx/>
              <a:buChar char="•"/>
            </a:pPr>
            <a:r>
              <a:rPr lang="en-US" altLang="en-US" sz="1400" b="1" smtClean="0"/>
              <a:t>MUST label</a:t>
            </a:r>
            <a:r>
              <a:rPr lang="en-US" altLang="en-US" sz="1400" smtClean="0"/>
              <a:t> the oval with the name of the use case</a:t>
            </a:r>
          </a:p>
          <a:p>
            <a:endParaRPr lang="en-US" altLang="en-US" sz="1400" smtClean="0"/>
          </a:p>
          <a:p>
            <a:endParaRPr lang="en-US" altLang="en-US" sz="1400" smtClean="0"/>
          </a:p>
          <a:p>
            <a:endParaRPr lang="en-US" altLang="en-US" sz="1400" smtClean="0"/>
          </a:p>
        </p:txBody>
      </p:sp>
    </p:spTree>
    <p:extLst>
      <p:ext uri="{BB962C8B-B14F-4D97-AF65-F5344CB8AC3E}">
        <p14:creationId xmlns:p14="http://schemas.microsoft.com/office/powerpoint/2010/main" val="30142006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noTextEdit="1"/>
          </p:cNvSpPr>
          <p:nvPr>
            <p:ph type="sldImg"/>
          </p:nvPr>
        </p:nvSpPr>
        <p:spPr>
          <a:xfrm>
            <a:off x="174625" y="814388"/>
            <a:ext cx="6508750" cy="3662362"/>
          </a:xfrm>
          <a:ln/>
        </p:spPr>
      </p:sp>
      <p:sp>
        <p:nvSpPr>
          <p:cNvPr id="36867" name="Rectangle 3"/>
          <p:cNvSpPr>
            <a:spLocks noGrp="1" noChangeArrowheads="1"/>
          </p:cNvSpPr>
          <p:nvPr>
            <p:ph type="body" idx="1"/>
          </p:nvPr>
        </p:nvSpPr>
        <p:spPr>
          <a:xfrm>
            <a:off x="1123950" y="4640263"/>
            <a:ext cx="4610100" cy="4394200"/>
          </a:xfrm>
          <a:noFill/>
        </p:spPr>
        <p:txBody>
          <a:bodyPr lIns="91426" tIns="45713" rIns="91426" bIns="45713"/>
          <a:lstStyle/>
          <a:p>
            <a:r>
              <a:rPr lang="en-US" altLang="en-US" b="1" smtClean="0"/>
              <a:t>Actors:</a:t>
            </a:r>
            <a:r>
              <a:rPr lang="en-US" altLang="en-US" smtClean="0"/>
              <a:t> An actor portrays any entity (or entities) that performs certain roles in a given system. The different roles the actor represents are the actual business roles of users in a given system. An actor in a use case diagram interacts with a use case. For example, for modeling a banking application, a customer entity represents an actor in the application. Similarly, the person who provides service at the counter is also an actor. But it is up to you to consider what actors make an impact on the functionality that you want to model. If an entity does not affect a certain piece of functionality that you are modeling, it makes no sense to represent it as an actor. An actor is shown as a stick figure in a use case diagram depicted "outside" the system boundary, as shown in Make Appointment figure. </a:t>
            </a:r>
            <a:endParaRPr lang="en-US" altLang="en-US" sz="1400" smtClean="0"/>
          </a:p>
          <a:p>
            <a:pPr>
              <a:buFontTx/>
              <a:buChar char="•"/>
            </a:pPr>
            <a:r>
              <a:rPr lang="en-US" altLang="en-US" sz="1400" smtClean="0"/>
              <a:t>Depicted by an oval</a:t>
            </a:r>
          </a:p>
          <a:p>
            <a:pPr lvl="1">
              <a:buFontTx/>
              <a:buChar char="•"/>
            </a:pPr>
            <a:r>
              <a:rPr lang="en-US" altLang="en-US" sz="1400" b="1" smtClean="0"/>
              <a:t>MUST label</a:t>
            </a:r>
            <a:r>
              <a:rPr lang="en-US" altLang="en-US" sz="1400" smtClean="0"/>
              <a:t> the oval with the name of the use case</a:t>
            </a:r>
          </a:p>
          <a:p>
            <a:r>
              <a:rPr lang="en-US" altLang="en-US" smtClean="0"/>
              <a:t>To identify an actor, search in the problem statement for business terms that portray roles in the system. For example, in the statement "patients visit the doctor in the clinic for medical tests," "doctor" and "patients" are the business roles and can be easily identified as actors in the system. </a:t>
            </a:r>
            <a:endParaRPr lang="en-US" altLang="en-US" sz="1400" smtClean="0"/>
          </a:p>
          <a:p>
            <a:endParaRPr lang="en-US" altLang="en-US" sz="1400" smtClean="0"/>
          </a:p>
          <a:p>
            <a:endParaRPr lang="en-US" altLang="en-US" sz="1400" smtClean="0"/>
          </a:p>
        </p:txBody>
      </p:sp>
    </p:spTree>
    <p:extLst>
      <p:ext uri="{BB962C8B-B14F-4D97-AF65-F5344CB8AC3E}">
        <p14:creationId xmlns:p14="http://schemas.microsoft.com/office/powerpoint/2010/main" val="876786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noTextEdit="1"/>
          </p:cNvSpPr>
          <p:nvPr>
            <p:ph type="sldImg"/>
          </p:nvPr>
        </p:nvSpPr>
        <p:spPr>
          <a:xfrm>
            <a:off x="174625" y="731838"/>
            <a:ext cx="6508750" cy="3662362"/>
          </a:xfrm>
          <a:ln/>
        </p:spPr>
      </p:sp>
      <p:sp>
        <p:nvSpPr>
          <p:cNvPr id="38915" name="Rectangle 3"/>
          <p:cNvSpPr>
            <a:spLocks noGrp="1" noChangeArrowheads="1"/>
          </p:cNvSpPr>
          <p:nvPr>
            <p:ph type="body" idx="1"/>
          </p:nvPr>
        </p:nvSpPr>
        <p:spPr>
          <a:xfrm>
            <a:off x="1123950" y="4640263"/>
            <a:ext cx="4610100" cy="4394200"/>
          </a:xfrm>
          <a:noFill/>
        </p:spPr>
        <p:txBody>
          <a:bodyPr lIns="91426" tIns="45713" rIns="91426" bIns="45713"/>
          <a:lstStyle/>
          <a:p>
            <a:r>
              <a:rPr lang="en-US" altLang="en-US" sz="1400" smtClean="0"/>
              <a:t>Use Case Relationship</a:t>
            </a:r>
          </a:p>
          <a:p>
            <a:pPr>
              <a:buFontTx/>
              <a:buChar char="•"/>
            </a:pPr>
            <a:r>
              <a:rPr lang="en-US" altLang="en-US" sz="1400" smtClean="0"/>
              <a:t>Association relationship</a:t>
            </a:r>
          </a:p>
          <a:p>
            <a:pPr lvl="1">
              <a:buFontTx/>
              <a:buChar char="•"/>
            </a:pPr>
            <a:r>
              <a:rPr lang="en-US" altLang="en-US" sz="1400" smtClean="0"/>
              <a:t>May exist between actor and a use case</a:t>
            </a:r>
          </a:p>
          <a:p>
            <a:pPr lvl="1">
              <a:buFontTx/>
              <a:buChar char="•"/>
            </a:pPr>
            <a:r>
              <a:rPr lang="en-US" altLang="en-US" sz="1400" smtClean="0"/>
              <a:t>Often referred to as a communicate association</a:t>
            </a:r>
          </a:p>
          <a:p>
            <a:pPr lvl="1">
              <a:buFontTx/>
              <a:buChar char="•"/>
            </a:pPr>
            <a:r>
              <a:rPr lang="en-US" altLang="en-US" sz="1400" smtClean="0"/>
              <a:t>Navigable in both directions (actor to use case and use case to actor)</a:t>
            </a:r>
          </a:p>
          <a:p>
            <a:pPr lvl="3">
              <a:buFontTx/>
              <a:buChar char="•"/>
            </a:pPr>
            <a:r>
              <a:rPr lang="en-US" altLang="en-US" sz="1400" smtClean="0"/>
              <a:t>Some use just a line</a:t>
            </a:r>
          </a:p>
          <a:p>
            <a:pPr lvl="3">
              <a:buFontTx/>
              <a:buChar char="•"/>
            </a:pPr>
            <a:r>
              <a:rPr lang="en-US" altLang="en-US" sz="1400" smtClean="0"/>
              <a:t>Others use a double-headed arrowhead</a:t>
            </a:r>
          </a:p>
          <a:p>
            <a:pPr lvl="1">
              <a:buFontTx/>
              <a:buChar char="•"/>
            </a:pPr>
            <a:r>
              <a:rPr lang="en-US" altLang="en-US" sz="1400" smtClean="0"/>
              <a:t>Navigable in only one direction (actor to use case OR use case to actor)</a:t>
            </a:r>
          </a:p>
          <a:p>
            <a:pPr lvl="3">
              <a:buFontTx/>
              <a:buChar char="•"/>
            </a:pPr>
            <a:r>
              <a:rPr lang="en-US" altLang="en-US" sz="1400" smtClean="0"/>
              <a:t>Use a arrowhead where arrowhead denotes the direction of communication</a:t>
            </a:r>
          </a:p>
          <a:p>
            <a:pPr lvl="1">
              <a:buFontTx/>
              <a:buChar char="•"/>
            </a:pPr>
            <a:r>
              <a:rPr lang="en-US" altLang="en-US" sz="1400" smtClean="0"/>
              <a:t>Navigation direction of an association represents who is </a:t>
            </a:r>
            <a:r>
              <a:rPr lang="en-US" altLang="en-US" sz="1400" b="1" smtClean="0"/>
              <a:t>initiating</a:t>
            </a:r>
            <a:r>
              <a:rPr lang="en-US" altLang="en-US" sz="1400" smtClean="0"/>
              <a:t> the communication</a:t>
            </a:r>
          </a:p>
          <a:p>
            <a:endParaRPr lang="en-US" altLang="en-US" sz="1400" smtClean="0"/>
          </a:p>
          <a:p>
            <a:r>
              <a:rPr lang="en-US" altLang="en-US" sz="1400" smtClean="0"/>
              <a:t>Multiplicity</a:t>
            </a:r>
          </a:p>
          <a:p>
            <a:pPr>
              <a:buFontTx/>
              <a:buChar char="•"/>
            </a:pPr>
            <a:r>
              <a:rPr lang="en-US" altLang="en-US" sz="1400" smtClean="0"/>
              <a:t>Not consistency shown on all use-case diagrams (Some do; some don’t)</a:t>
            </a:r>
          </a:p>
          <a:p>
            <a:endParaRPr lang="en-US" altLang="en-US" sz="1400" smtClean="0"/>
          </a:p>
          <a:p>
            <a:endParaRPr lang="en-US" altLang="en-US" sz="1400" smtClean="0"/>
          </a:p>
        </p:txBody>
      </p:sp>
    </p:spTree>
    <p:extLst>
      <p:ext uri="{BB962C8B-B14F-4D97-AF65-F5344CB8AC3E}">
        <p14:creationId xmlns:p14="http://schemas.microsoft.com/office/powerpoint/2010/main" val="24789419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noTextEdit="1"/>
          </p:cNvSpPr>
          <p:nvPr>
            <p:ph type="sldImg"/>
          </p:nvPr>
        </p:nvSpPr>
        <p:spPr>
          <a:xfrm>
            <a:off x="174625" y="731838"/>
            <a:ext cx="6508750" cy="3662362"/>
          </a:xfrm>
          <a:ln/>
        </p:spPr>
      </p:sp>
      <p:sp>
        <p:nvSpPr>
          <p:cNvPr id="40963" name="Rectangle 3"/>
          <p:cNvSpPr>
            <a:spLocks noGrp="1" noChangeArrowheads="1"/>
          </p:cNvSpPr>
          <p:nvPr>
            <p:ph type="body" idx="1"/>
          </p:nvPr>
        </p:nvSpPr>
        <p:spPr>
          <a:xfrm>
            <a:off x="1123950" y="4640263"/>
            <a:ext cx="4610100" cy="4394200"/>
          </a:xfrm>
          <a:noFill/>
        </p:spPr>
        <p:txBody>
          <a:bodyPr lIns="91426" tIns="45713" rIns="91426" bIns="45713"/>
          <a:lstStyle/>
          <a:p>
            <a:r>
              <a:rPr lang="en-US" altLang="en-US" b="1" smtClean="0"/>
              <a:t>System boundary:</a:t>
            </a:r>
            <a:r>
              <a:rPr lang="en-US" altLang="en-US" smtClean="0"/>
              <a:t> A system boundary defines the scope of what a system will be. A system cannot have infinite functionality. So, it follows that use cases also need to have definitive limits defined. A system boundary of a use case diagram defines the limits of the system. The system boundary is shown as a rectangle spanning all the use cases in the system. </a:t>
            </a:r>
          </a:p>
          <a:p>
            <a:r>
              <a:rPr lang="en-US" altLang="en-US" smtClean="0"/>
              <a:t>Other use cases in this lecture also show the system boundary of the clinic application. The use cases of this system are enclosed in a rectangle. Note that the actors in the system are outside the system boundary.</a:t>
            </a:r>
          </a:p>
          <a:p>
            <a:r>
              <a:rPr lang="en-US" altLang="en-US" smtClean="0"/>
              <a:t>The system boundary is potentially the entire system as defined in the problem statement. But this is not always the case. For large and complex systems, each of the modules may be the system boundary. For example, for an ERP system for an organization, each of the modules such as personnel, payroll, accounting, and so forth, can form the system boundary for use cases specific to each of these business functions. The entire system can span all of these modules depicting the overall system boundary. </a:t>
            </a:r>
          </a:p>
          <a:p>
            <a:endParaRPr lang="en-US" altLang="en-US" smtClean="0"/>
          </a:p>
        </p:txBody>
      </p:sp>
    </p:spTree>
    <p:extLst>
      <p:ext uri="{BB962C8B-B14F-4D97-AF65-F5344CB8AC3E}">
        <p14:creationId xmlns:p14="http://schemas.microsoft.com/office/powerpoint/2010/main" val="21061861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noTextEdit="1"/>
          </p:cNvSpPr>
          <p:nvPr>
            <p:ph type="sldImg"/>
          </p:nvPr>
        </p:nvSpPr>
        <p:spPr>
          <a:xfrm>
            <a:off x="174625" y="731838"/>
            <a:ext cx="6508750" cy="3662362"/>
          </a:xfrm>
          <a:ln/>
        </p:spPr>
      </p:sp>
      <p:sp>
        <p:nvSpPr>
          <p:cNvPr id="43011" name="Rectangle 3"/>
          <p:cNvSpPr>
            <a:spLocks noGrp="1" noChangeArrowheads="1"/>
          </p:cNvSpPr>
          <p:nvPr>
            <p:ph type="body" idx="1"/>
          </p:nvPr>
        </p:nvSpPr>
        <p:spPr>
          <a:xfrm>
            <a:off x="914400" y="4640263"/>
            <a:ext cx="5029200" cy="4394200"/>
          </a:xfrm>
          <a:noFill/>
        </p:spPr>
        <p:txBody>
          <a:bodyPr/>
          <a:lstStyle/>
          <a:p>
            <a:r>
              <a:rPr lang="en-US" altLang="en-US" sz="1400" smtClean="0"/>
              <a:t>Example Use Case</a:t>
            </a:r>
          </a:p>
          <a:p>
            <a:pPr>
              <a:buFontTx/>
              <a:buChar char="•"/>
            </a:pPr>
            <a:r>
              <a:rPr lang="en-US" altLang="en-US" sz="1400" b="1" smtClean="0"/>
              <a:t>ACTORS</a:t>
            </a:r>
          </a:p>
          <a:p>
            <a:pPr lvl="2">
              <a:buFontTx/>
              <a:buChar char="•"/>
            </a:pPr>
            <a:r>
              <a:rPr lang="en-US" altLang="en-US" sz="1400" smtClean="0"/>
              <a:t>Represented by a stick figure</a:t>
            </a:r>
          </a:p>
          <a:p>
            <a:pPr lvl="2">
              <a:buFontTx/>
              <a:buChar char="•"/>
            </a:pPr>
            <a:r>
              <a:rPr lang="en-US" altLang="en-US" sz="1400" smtClean="0"/>
              <a:t>named</a:t>
            </a:r>
          </a:p>
          <a:p>
            <a:pPr>
              <a:buFontTx/>
              <a:buChar char="•"/>
            </a:pPr>
            <a:r>
              <a:rPr lang="en-US" altLang="en-US" sz="1400" b="1" smtClean="0"/>
              <a:t>USE CASE</a:t>
            </a:r>
          </a:p>
          <a:p>
            <a:pPr lvl="2">
              <a:buFontTx/>
              <a:buChar char="•"/>
            </a:pPr>
            <a:r>
              <a:rPr lang="en-US" altLang="en-US" sz="1400" smtClean="0"/>
              <a:t>Represented by an oval</a:t>
            </a:r>
          </a:p>
          <a:p>
            <a:pPr lvl="2">
              <a:buFontTx/>
              <a:buChar char="•"/>
            </a:pPr>
            <a:r>
              <a:rPr lang="en-US" altLang="en-US" sz="1400" smtClean="0"/>
              <a:t>Named (</a:t>
            </a:r>
            <a:r>
              <a:rPr lang="en-US" altLang="en-US" sz="1400" b="1" smtClean="0"/>
              <a:t>POORLY NAMED</a:t>
            </a:r>
            <a:r>
              <a:rPr lang="en-US" altLang="en-US" sz="1400" smtClean="0"/>
              <a:t>; should be verb phrase)</a:t>
            </a:r>
          </a:p>
          <a:p>
            <a:pPr>
              <a:buFontTx/>
              <a:buChar char="•"/>
            </a:pPr>
            <a:r>
              <a:rPr lang="en-US" altLang="en-US" sz="1400" b="1" smtClean="0"/>
              <a:t>RELATIONSHIP</a:t>
            </a:r>
          </a:p>
          <a:p>
            <a:pPr>
              <a:buFontTx/>
              <a:buChar char="•"/>
            </a:pPr>
            <a:r>
              <a:rPr lang="en-US" altLang="en-US" sz="1400" smtClean="0"/>
              <a:t>2-way association</a:t>
            </a:r>
          </a:p>
          <a:p>
            <a:endParaRPr lang="en-US" altLang="en-US" sz="1400" smtClean="0"/>
          </a:p>
          <a:p>
            <a:endParaRPr lang="en-US" altLang="en-US" smtClean="0"/>
          </a:p>
        </p:txBody>
      </p:sp>
    </p:spTree>
    <p:extLst>
      <p:ext uri="{BB962C8B-B14F-4D97-AF65-F5344CB8AC3E}">
        <p14:creationId xmlns:p14="http://schemas.microsoft.com/office/powerpoint/2010/main" val="39553848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ChangeArrowheads="1" noTextEdit="1"/>
          </p:cNvSpPr>
          <p:nvPr>
            <p:ph type="sldImg"/>
          </p:nvPr>
        </p:nvSpPr>
        <p:spPr>
          <a:xfrm>
            <a:off x="174625" y="731838"/>
            <a:ext cx="6508750" cy="3662362"/>
          </a:xfrm>
          <a:ln/>
        </p:spPr>
      </p:sp>
      <p:sp>
        <p:nvSpPr>
          <p:cNvPr id="45059" name="Rectangle 3"/>
          <p:cNvSpPr>
            <a:spLocks noGrp="1" noChangeArrowheads="1"/>
          </p:cNvSpPr>
          <p:nvPr>
            <p:ph type="body" idx="1"/>
          </p:nvPr>
        </p:nvSpPr>
        <p:spPr>
          <a:xfrm>
            <a:off x="1123950" y="4640263"/>
            <a:ext cx="4610100" cy="4394200"/>
          </a:xfrm>
          <a:noFill/>
        </p:spPr>
        <p:txBody>
          <a:bodyPr lIns="91426" tIns="45713" rIns="91426" bIns="45713"/>
          <a:lstStyle/>
          <a:p>
            <a:r>
              <a:rPr lang="en-US" altLang="en-US" sz="1400" smtClean="0"/>
              <a:t>Inheritance</a:t>
            </a:r>
          </a:p>
        </p:txBody>
      </p:sp>
    </p:spTree>
    <p:extLst>
      <p:ext uri="{BB962C8B-B14F-4D97-AF65-F5344CB8AC3E}">
        <p14:creationId xmlns:p14="http://schemas.microsoft.com/office/powerpoint/2010/main" val="26491372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noTextEdit="1"/>
          </p:cNvSpPr>
          <p:nvPr>
            <p:ph type="sldImg"/>
          </p:nvPr>
        </p:nvSpPr>
        <p:spPr>
          <a:xfrm>
            <a:off x="174625" y="731838"/>
            <a:ext cx="6508750" cy="3662362"/>
          </a:xfrm>
          <a:ln/>
        </p:spPr>
      </p:sp>
      <p:sp>
        <p:nvSpPr>
          <p:cNvPr id="47107" name="Rectangle 3"/>
          <p:cNvSpPr>
            <a:spLocks noGrp="1" noChangeArrowheads="1"/>
          </p:cNvSpPr>
          <p:nvPr>
            <p:ph type="body" idx="1"/>
          </p:nvPr>
        </p:nvSpPr>
        <p:spPr>
          <a:xfrm>
            <a:off x="1123950" y="4640263"/>
            <a:ext cx="4610100" cy="4394200"/>
          </a:xfrm>
          <a:noFill/>
        </p:spPr>
        <p:txBody>
          <a:bodyPr lIns="91426" tIns="45713" rIns="91426" bIns="45713"/>
          <a:lstStyle/>
          <a:p>
            <a:r>
              <a:rPr lang="en-US" altLang="en-US" sz="1400" smtClean="0"/>
              <a:t>Inheritance</a:t>
            </a:r>
          </a:p>
          <a:p>
            <a:r>
              <a:rPr lang="en-US" altLang="en-US" smtClean="0"/>
              <a:t>A use case </a:t>
            </a:r>
            <a:r>
              <a:rPr lang="en-US" altLang="en-US" b="1" smtClean="0"/>
              <a:t>generalization</a:t>
            </a:r>
            <a:r>
              <a:rPr lang="en-US" altLang="en-US" smtClean="0"/>
              <a:t> shows that one use case is simply a special kind of another. </a:t>
            </a:r>
          </a:p>
          <a:p>
            <a:r>
              <a:rPr lang="en-US" altLang="en-US" smtClean="0"/>
              <a:t>A clinic may have a use case such as </a:t>
            </a:r>
            <a:r>
              <a:rPr lang="en-US" altLang="en-US" b="1" smtClean="0"/>
              <a:t>Pay Bill</a:t>
            </a:r>
            <a:r>
              <a:rPr lang="en-US" altLang="en-US" smtClean="0"/>
              <a:t>  which would be a parent use case and </a:t>
            </a:r>
            <a:r>
              <a:rPr lang="en-US" altLang="en-US" b="1" smtClean="0"/>
              <a:t>Bill Insurance</a:t>
            </a:r>
            <a:r>
              <a:rPr lang="en-US" altLang="en-US" smtClean="0"/>
              <a:t> which is the child.</a:t>
            </a:r>
          </a:p>
          <a:p>
            <a:r>
              <a:rPr lang="en-US" altLang="en-US" smtClean="0"/>
              <a:t>A child can be substituted for its parent whenever necessary. </a:t>
            </a:r>
          </a:p>
          <a:p>
            <a:r>
              <a:rPr lang="en-US" altLang="en-US" smtClean="0"/>
              <a:t>Generalization appears as a line with a triangular arrow head toward the parent use case.</a:t>
            </a:r>
            <a:endParaRPr lang="en-US" altLang="en-US" b="1" smtClean="0"/>
          </a:p>
          <a:p>
            <a:endParaRPr lang="en-US" altLang="en-US" smtClean="0"/>
          </a:p>
        </p:txBody>
      </p:sp>
    </p:spTree>
    <p:extLst>
      <p:ext uri="{BB962C8B-B14F-4D97-AF65-F5344CB8AC3E}">
        <p14:creationId xmlns:p14="http://schemas.microsoft.com/office/powerpoint/2010/main" val="2469138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ChangeArrowheads="1" noTextEdit="1"/>
          </p:cNvSpPr>
          <p:nvPr>
            <p:ph type="sldImg"/>
          </p:nvPr>
        </p:nvSpPr>
        <p:spPr>
          <a:xfrm>
            <a:off x="174625" y="731838"/>
            <a:ext cx="6508750" cy="3662362"/>
          </a:xfrm>
          <a:ln/>
        </p:spPr>
      </p:sp>
      <p:sp>
        <p:nvSpPr>
          <p:cNvPr id="49155" name="Rectangle 3"/>
          <p:cNvSpPr>
            <a:spLocks noGrp="1" noChangeArrowheads="1"/>
          </p:cNvSpPr>
          <p:nvPr>
            <p:ph type="body" idx="1"/>
          </p:nvPr>
        </p:nvSpPr>
        <p:spPr>
          <a:xfrm>
            <a:off x="685800" y="4640263"/>
            <a:ext cx="5486400" cy="4394200"/>
          </a:xfrm>
          <a:noFill/>
        </p:spPr>
        <p:txBody>
          <a:bodyPr/>
          <a:lstStyle/>
          <a:p>
            <a:r>
              <a:rPr lang="en-US" altLang="en-US" sz="1400" smtClean="0"/>
              <a:t>System Boundary</a:t>
            </a:r>
          </a:p>
          <a:p>
            <a:pPr>
              <a:buFontTx/>
              <a:buChar char="•"/>
            </a:pPr>
            <a:r>
              <a:rPr lang="en-US" altLang="en-US" sz="1400" smtClean="0"/>
              <a:t>Use cases are enclosed within a system boundary</a:t>
            </a:r>
          </a:p>
          <a:p>
            <a:pPr>
              <a:buFontTx/>
              <a:buChar char="•"/>
            </a:pPr>
            <a:r>
              <a:rPr lang="en-US" altLang="en-US" sz="1400" smtClean="0"/>
              <a:t>a box that represents the system and clearly delineates what parts of the diagram are external or internal to it</a:t>
            </a:r>
          </a:p>
          <a:p>
            <a:pPr>
              <a:buFontTx/>
              <a:buChar char="•"/>
            </a:pPr>
            <a:r>
              <a:rPr lang="en-US" altLang="en-US" sz="1400" smtClean="0"/>
              <a:t>Name of the system can appear inside or on top of the box</a:t>
            </a:r>
          </a:p>
          <a:p>
            <a:endParaRPr lang="en-US" altLang="en-US" sz="1400" smtClean="0"/>
          </a:p>
          <a:p>
            <a:endParaRPr lang="en-US" altLang="en-US" sz="1400" smtClean="0"/>
          </a:p>
          <a:p>
            <a:endParaRPr lang="en-US" altLang="en-US" sz="1400" smtClean="0"/>
          </a:p>
          <a:p>
            <a:endParaRPr lang="en-US" altLang="en-US" sz="1400" smtClean="0"/>
          </a:p>
        </p:txBody>
      </p:sp>
    </p:spTree>
    <p:extLst>
      <p:ext uri="{BB962C8B-B14F-4D97-AF65-F5344CB8AC3E}">
        <p14:creationId xmlns:p14="http://schemas.microsoft.com/office/powerpoint/2010/main" val="32489681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noTextEdit="1"/>
          </p:cNvSpPr>
          <p:nvPr>
            <p:ph type="sldImg"/>
          </p:nvPr>
        </p:nvSpPr>
        <p:spPr>
          <a:xfrm>
            <a:off x="174625" y="731838"/>
            <a:ext cx="6508750" cy="3662362"/>
          </a:xfrm>
          <a:ln/>
        </p:spPr>
      </p:sp>
      <p:sp>
        <p:nvSpPr>
          <p:cNvPr id="51203" name="Rectangle 3"/>
          <p:cNvSpPr>
            <a:spLocks noGrp="1" noChangeArrowheads="1"/>
          </p:cNvSpPr>
          <p:nvPr>
            <p:ph type="body" idx="1"/>
          </p:nvPr>
        </p:nvSpPr>
        <p:spPr>
          <a:xfrm>
            <a:off x="1123950" y="4640263"/>
            <a:ext cx="4610100" cy="4394200"/>
          </a:xfrm>
          <a:noFill/>
        </p:spPr>
        <p:txBody>
          <a:bodyPr lIns="91426" tIns="45713" rIns="91426" bIns="45713"/>
          <a:lstStyle/>
          <a:p>
            <a:r>
              <a:rPr lang="en-US" altLang="en-US" sz="1400" smtClean="0"/>
              <a:t>Include relationship</a:t>
            </a:r>
          </a:p>
          <a:p>
            <a:pPr>
              <a:buFontTx/>
              <a:buChar char="•"/>
            </a:pPr>
            <a:r>
              <a:rPr lang="en-US" altLang="en-US" sz="1400" b="1" smtClean="0"/>
              <a:t>Notice that ONLY between use cases (not between actors)</a:t>
            </a:r>
          </a:p>
          <a:p>
            <a:pPr>
              <a:buFontTx/>
              <a:buChar char="•"/>
            </a:pPr>
            <a:r>
              <a:rPr lang="en-US" altLang="en-US" sz="1400" b="1" u="sng" smtClean="0"/>
              <a:t>MANDATORY</a:t>
            </a:r>
            <a:r>
              <a:rPr lang="en-US" altLang="en-US" sz="1400" smtClean="0"/>
              <a:t> functional</a:t>
            </a:r>
          </a:p>
          <a:p>
            <a:pPr>
              <a:buFontTx/>
              <a:buChar char="•"/>
            </a:pPr>
            <a:r>
              <a:rPr lang="en-US" altLang="en-US" sz="1400" smtClean="0"/>
              <a:t>Multiple use cases may share pieces of the same functionality</a:t>
            </a:r>
          </a:p>
          <a:p>
            <a:pPr>
              <a:buFontTx/>
              <a:buChar char="•"/>
            </a:pPr>
            <a:r>
              <a:rPr lang="en-US" altLang="en-US" sz="1400" smtClean="0"/>
              <a:t>Rather than have duplicate functionality in several use cases</a:t>
            </a:r>
          </a:p>
          <a:p>
            <a:pPr>
              <a:buFontTx/>
              <a:buChar char="•"/>
            </a:pPr>
            <a:r>
              <a:rPr lang="en-US" altLang="en-US" sz="1400" smtClean="0"/>
              <a:t>Put shared functionality in one use case and show relationship between it and other use cases that “uses” its functionality</a:t>
            </a:r>
          </a:p>
          <a:p>
            <a:pPr>
              <a:buFontTx/>
              <a:buChar char="•"/>
            </a:pPr>
            <a:r>
              <a:rPr lang="en-US" altLang="en-US" sz="1400" smtClean="0"/>
              <a:t>Depicted by arrowhead with word “&lt;&lt;include&gt;&gt;” above it</a:t>
            </a:r>
          </a:p>
          <a:p>
            <a:pPr>
              <a:buFontTx/>
              <a:buChar char="•"/>
            </a:pPr>
            <a:endParaRPr lang="en-US" altLang="en-US" sz="1400" smtClean="0"/>
          </a:p>
          <a:p>
            <a:pPr>
              <a:buFontTx/>
              <a:buChar char="•"/>
            </a:pPr>
            <a:endParaRPr lang="en-US" altLang="en-US" sz="1400" smtClean="0"/>
          </a:p>
          <a:p>
            <a:r>
              <a:rPr lang="en-US" altLang="en-US" b="1" smtClean="0"/>
              <a:t>Include</a:t>
            </a:r>
            <a:r>
              <a:rPr lang="en-US" altLang="en-US" smtClean="0"/>
              <a:t> relationships factor use cases into additional ones. </a:t>
            </a:r>
          </a:p>
          <a:p>
            <a:r>
              <a:rPr lang="en-US" altLang="en-US" smtClean="0"/>
              <a:t>Includes are especially helpful when the same use case can be factored out of two different use cases. </a:t>
            </a:r>
          </a:p>
          <a:p>
            <a:r>
              <a:rPr lang="en-US" altLang="en-US" smtClean="0"/>
              <a:t>If a clinic had a cases of </a:t>
            </a:r>
            <a:r>
              <a:rPr lang="en-US" altLang="en-US" b="1" smtClean="0"/>
              <a:t>Make Appointment</a:t>
            </a:r>
            <a:r>
              <a:rPr lang="en-US" altLang="en-US" smtClean="0"/>
              <a:t> and </a:t>
            </a:r>
            <a:r>
              <a:rPr lang="en-US" altLang="en-US" b="1" smtClean="0"/>
              <a:t>Request Medication.</a:t>
            </a:r>
          </a:p>
          <a:p>
            <a:r>
              <a:rPr lang="en-US" altLang="en-US" smtClean="0"/>
              <a:t>Both might include </a:t>
            </a:r>
            <a:r>
              <a:rPr lang="en-US" altLang="en-US" b="1" smtClean="0"/>
              <a:t>Check Patient Record</a:t>
            </a:r>
            <a:r>
              <a:rPr lang="en-US" altLang="en-US" smtClean="0"/>
              <a:t> as a subtask. </a:t>
            </a:r>
          </a:p>
          <a:p>
            <a:r>
              <a:rPr lang="en-US" altLang="en-US" smtClean="0"/>
              <a:t>Both would include a call to the use case </a:t>
            </a:r>
            <a:r>
              <a:rPr lang="en-US" altLang="en-US" b="1" smtClean="0"/>
              <a:t>Check Patient Record.</a:t>
            </a:r>
          </a:p>
          <a:p>
            <a:r>
              <a:rPr lang="en-US" altLang="en-US" smtClean="0"/>
              <a:t>We don’t want to write it twice we simply want to include in as a call from both.</a:t>
            </a:r>
          </a:p>
          <a:p>
            <a:endParaRPr lang="en-US" altLang="en-US" smtClean="0"/>
          </a:p>
          <a:p>
            <a:r>
              <a:rPr lang="en-US" altLang="en-US" smtClean="0"/>
              <a:t>In the diagram, </a:t>
            </a:r>
          </a:p>
          <a:p>
            <a:r>
              <a:rPr lang="en-US" altLang="en-US" smtClean="0"/>
              <a:t>  include notation is a dotted line beginning at base use case ending with an arrows pointing to the include use case. </a:t>
            </a:r>
          </a:p>
          <a:p>
            <a:r>
              <a:rPr lang="en-US" altLang="en-US" smtClean="0"/>
              <a:t>The dotted line is labeled &lt;&lt;include&gt;&gt;.</a:t>
            </a:r>
          </a:p>
        </p:txBody>
      </p:sp>
    </p:spTree>
    <p:extLst>
      <p:ext uri="{BB962C8B-B14F-4D97-AF65-F5344CB8AC3E}">
        <p14:creationId xmlns:p14="http://schemas.microsoft.com/office/powerpoint/2010/main" val="24276225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noTextEdit="1"/>
          </p:cNvSpPr>
          <p:nvPr>
            <p:ph type="sldImg"/>
          </p:nvPr>
        </p:nvSpPr>
        <p:spPr>
          <a:xfrm>
            <a:off x="174625" y="731838"/>
            <a:ext cx="6508750" cy="3662362"/>
          </a:xfrm>
          <a:ln/>
        </p:spPr>
      </p:sp>
      <p:sp>
        <p:nvSpPr>
          <p:cNvPr id="53251" name="Rectangle 3"/>
          <p:cNvSpPr>
            <a:spLocks noGrp="1" noChangeArrowheads="1"/>
          </p:cNvSpPr>
          <p:nvPr>
            <p:ph type="body" idx="1"/>
          </p:nvPr>
        </p:nvSpPr>
        <p:spPr>
          <a:xfrm>
            <a:off x="1123950" y="4640263"/>
            <a:ext cx="4610100" cy="4394200"/>
          </a:xfrm>
          <a:noFill/>
        </p:spPr>
        <p:txBody>
          <a:bodyPr lIns="91426" tIns="45713" rIns="91426" bIns="45713"/>
          <a:lstStyle/>
          <a:p>
            <a:r>
              <a:rPr lang="en-US" altLang="en-US" sz="1400" smtClean="0"/>
              <a:t>Use Case Relationship</a:t>
            </a:r>
          </a:p>
          <a:p>
            <a:pPr>
              <a:buFontTx/>
              <a:buChar char="•"/>
            </a:pPr>
            <a:r>
              <a:rPr lang="en-US" altLang="en-US" sz="1400" smtClean="0"/>
              <a:t>Extend relationship</a:t>
            </a:r>
          </a:p>
          <a:p>
            <a:pPr lvl="2">
              <a:buFontTx/>
              <a:buChar char="•"/>
            </a:pPr>
            <a:r>
              <a:rPr lang="en-US" altLang="en-US" sz="1400" smtClean="0"/>
              <a:t>Used to show </a:t>
            </a:r>
            <a:r>
              <a:rPr lang="en-US" altLang="en-US" sz="1400" b="1" u="sng" smtClean="0"/>
              <a:t>optional</a:t>
            </a:r>
            <a:r>
              <a:rPr lang="en-US" altLang="en-US" sz="1400" smtClean="0"/>
              <a:t> behavior (behavior that is run only under certain circumstances)</a:t>
            </a:r>
          </a:p>
          <a:p>
            <a:pPr lvl="2">
              <a:buFontTx/>
              <a:buChar char="•"/>
            </a:pPr>
            <a:r>
              <a:rPr lang="en-US" altLang="en-US" sz="1400" smtClean="0"/>
              <a:t>Depicted by arrowhead with word “&lt;&lt;extend&gt;&gt;” above it</a:t>
            </a:r>
          </a:p>
          <a:p>
            <a:endParaRPr lang="en-US" altLang="en-US" sz="1400" smtClean="0"/>
          </a:p>
          <a:p>
            <a:endParaRPr lang="en-US" altLang="en-US" sz="1400" smtClean="0"/>
          </a:p>
          <a:p>
            <a:r>
              <a:rPr lang="en-US" altLang="en-US" smtClean="0"/>
              <a:t>An </a:t>
            </a:r>
            <a:r>
              <a:rPr lang="en-US" altLang="en-US" b="1" smtClean="0"/>
              <a:t>extend</a:t>
            </a:r>
            <a:r>
              <a:rPr lang="en-US" altLang="en-US" smtClean="0"/>
              <a:t> relationship indicates that one use case is a variation of another. </a:t>
            </a:r>
          </a:p>
          <a:p>
            <a:r>
              <a:rPr lang="en-US" altLang="en-US" smtClean="0"/>
              <a:t>This is often used when much of the same code may be in both only one extends the functionality somewhat.</a:t>
            </a:r>
          </a:p>
          <a:p>
            <a:r>
              <a:rPr lang="en-US" altLang="en-US" smtClean="0"/>
              <a:t>A typical example is a add record to the database and modify that record.</a:t>
            </a:r>
          </a:p>
          <a:p>
            <a:r>
              <a:rPr lang="en-US" altLang="en-US" smtClean="0"/>
              <a:t>So an add student is similar to a modify student so I may reuse some of the code.</a:t>
            </a:r>
          </a:p>
          <a:p>
            <a:r>
              <a:rPr lang="en-US" altLang="en-US" smtClean="0"/>
              <a:t>Extend notation is a dotted line, labeled &lt;&lt;extend&gt;&gt;, and with an arrow toward the base case. </a:t>
            </a:r>
          </a:p>
          <a:p>
            <a:r>
              <a:rPr lang="en-US" altLang="en-US" smtClean="0"/>
              <a:t>The </a:t>
            </a:r>
            <a:r>
              <a:rPr lang="en-US" altLang="en-US" b="1" smtClean="0"/>
              <a:t>extension point</a:t>
            </a:r>
            <a:r>
              <a:rPr lang="en-US" altLang="en-US" smtClean="0"/>
              <a:t>, which determines when the extended case is appropriate, is written inside the base case.</a:t>
            </a:r>
          </a:p>
          <a:p>
            <a:endParaRPr lang="en-US" altLang="en-US" sz="1400" smtClean="0"/>
          </a:p>
        </p:txBody>
      </p:sp>
    </p:spTree>
    <p:extLst>
      <p:ext uri="{BB962C8B-B14F-4D97-AF65-F5344CB8AC3E}">
        <p14:creationId xmlns:p14="http://schemas.microsoft.com/office/powerpoint/2010/main" val="23407423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noTextEdit="1"/>
          </p:cNvSpPr>
          <p:nvPr>
            <p:ph type="sldImg"/>
          </p:nvPr>
        </p:nvSpPr>
        <p:spPr>
          <a:xfrm>
            <a:off x="174625" y="731838"/>
            <a:ext cx="6508750" cy="3662362"/>
          </a:xfrm>
          <a:ln/>
        </p:spPr>
      </p:sp>
      <p:sp>
        <p:nvSpPr>
          <p:cNvPr id="55299" name="Rectangle 3"/>
          <p:cNvSpPr>
            <a:spLocks noGrp="1" noChangeArrowheads="1"/>
          </p:cNvSpPr>
          <p:nvPr>
            <p:ph type="body" idx="1"/>
          </p:nvPr>
        </p:nvSpPr>
        <p:spPr>
          <a:xfrm>
            <a:off x="685800" y="4640263"/>
            <a:ext cx="5486400" cy="4394200"/>
          </a:xfrm>
          <a:noFill/>
        </p:spPr>
        <p:txBody>
          <a:bodyPr/>
          <a:lstStyle/>
          <a:p>
            <a:r>
              <a:rPr lang="en-US" altLang="en-US" sz="1400" smtClean="0"/>
              <a:t>System Boundary</a:t>
            </a:r>
          </a:p>
          <a:p>
            <a:pPr>
              <a:buFontTx/>
              <a:buChar char="•"/>
            </a:pPr>
            <a:r>
              <a:rPr lang="en-US" altLang="en-US" sz="1400" smtClean="0"/>
              <a:t>Use cases are enclosed within a system boundary</a:t>
            </a:r>
          </a:p>
          <a:p>
            <a:pPr>
              <a:buFontTx/>
              <a:buChar char="•"/>
            </a:pPr>
            <a:r>
              <a:rPr lang="en-US" altLang="en-US" sz="1400" smtClean="0"/>
              <a:t>a box that represents the system and clearly delineates what parts of the diagram are external or internal to it</a:t>
            </a:r>
          </a:p>
          <a:p>
            <a:pPr>
              <a:buFontTx/>
              <a:buChar char="•"/>
            </a:pPr>
            <a:r>
              <a:rPr lang="en-US" altLang="en-US" sz="1400" smtClean="0"/>
              <a:t>Name of the system can appear inside or on top of the box</a:t>
            </a:r>
          </a:p>
          <a:p>
            <a:endParaRPr lang="en-US" altLang="en-US" sz="1400" smtClean="0"/>
          </a:p>
          <a:p>
            <a:endParaRPr lang="en-US" altLang="en-US" sz="1400" smtClean="0"/>
          </a:p>
          <a:p>
            <a:endParaRPr lang="en-US" altLang="en-US" sz="1400" smtClean="0"/>
          </a:p>
          <a:p>
            <a:endParaRPr lang="en-US" altLang="en-US" sz="1400" smtClean="0"/>
          </a:p>
        </p:txBody>
      </p:sp>
    </p:spTree>
    <p:extLst>
      <p:ext uri="{BB962C8B-B14F-4D97-AF65-F5344CB8AC3E}">
        <p14:creationId xmlns:p14="http://schemas.microsoft.com/office/powerpoint/2010/main" val="327879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noTextEdit="1"/>
          </p:cNvSpPr>
          <p:nvPr>
            <p:ph type="sldImg"/>
          </p:nvPr>
        </p:nvSpPr>
        <p:spPr>
          <a:xfrm>
            <a:off x="174625" y="731838"/>
            <a:ext cx="6508750" cy="3662362"/>
          </a:xfrm>
          <a:ln/>
        </p:spPr>
      </p:sp>
      <p:sp>
        <p:nvSpPr>
          <p:cNvPr id="57347" name="Rectangle 3"/>
          <p:cNvSpPr>
            <a:spLocks noGrp="1" noChangeArrowheads="1"/>
          </p:cNvSpPr>
          <p:nvPr>
            <p:ph type="body" idx="1"/>
          </p:nvPr>
        </p:nvSpPr>
        <p:spPr>
          <a:xfrm>
            <a:off x="1123950" y="4640263"/>
            <a:ext cx="4610100" cy="4394200"/>
          </a:xfrm>
          <a:noFill/>
        </p:spPr>
        <p:txBody>
          <a:bodyPr lIns="91426" tIns="45713" rIns="91426" bIns="45713"/>
          <a:lstStyle/>
          <a:p>
            <a:r>
              <a:rPr lang="en-US" altLang="en-US" sz="1400" b="1" smtClean="0"/>
              <a:t>Mainly talking about extend, include, and generalization relationships.</a:t>
            </a:r>
          </a:p>
          <a:p>
            <a:endParaRPr lang="en-US" altLang="en-US" sz="1400" b="1" smtClean="0"/>
          </a:p>
          <a:p>
            <a:r>
              <a:rPr lang="en-US" altLang="en-US" sz="1400" b="1" smtClean="0"/>
              <a:t>95% of relationships on a use case diagram is association</a:t>
            </a:r>
          </a:p>
          <a:p>
            <a:endParaRPr lang="en-US" altLang="en-US" sz="1400" b="1" smtClean="0"/>
          </a:p>
          <a:p>
            <a:endParaRPr lang="en-US" altLang="en-US" sz="1400" b="1" smtClean="0"/>
          </a:p>
          <a:p>
            <a:endParaRPr lang="en-US" altLang="en-US" sz="1400" smtClean="0"/>
          </a:p>
          <a:p>
            <a:endParaRPr lang="en-US" altLang="en-US" sz="1400" smtClean="0"/>
          </a:p>
          <a:p>
            <a:endParaRPr lang="en-US" altLang="en-US" sz="1400" smtClean="0"/>
          </a:p>
        </p:txBody>
      </p:sp>
    </p:spTree>
    <p:extLst>
      <p:ext uri="{BB962C8B-B14F-4D97-AF65-F5344CB8AC3E}">
        <p14:creationId xmlns:p14="http://schemas.microsoft.com/office/powerpoint/2010/main" val="38105608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10/17/2024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10/17/2024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10/17/2024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10/17/2024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10/17/2024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10/17/2024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10/17/2024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3.jpeg"/><Relationship Id="rId4" Type="http://schemas.openxmlformats.org/officeDocument/2006/relationships/notesSlide" Target="../notesSlides/notesSlide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00F6DCA-CA2E-C3C9-5077-B380524D7253}"/>
              </a:ext>
            </a:extLst>
          </p:cNvPr>
          <p:cNvSpPr>
            <a:spLocks noGrp="1"/>
          </p:cNvSpPr>
          <p:nvPr>
            <p:ph type="ctrTitle"/>
          </p:nvPr>
        </p:nvSpPr>
        <p:spPr/>
        <p:txBody>
          <a:bodyPr/>
          <a:lstStyle/>
          <a:p>
            <a:r>
              <a:rPr lang="en-US" dirty="0"/>
              <a:t>Sen-220 software engineering</a:t>
            </a:r>
          </a:p>
        </p:txBody>
      </p:sp>
      <p:sp>
        <p:nvSpPr>
          <p:cNvPr id="3" name="Subtitle 2">
            <a:extLst>
              <a:ext uri="{FF2B5EF4-FFF2-40B4-BE49-F238E27FC236}">
                <a16:creationId xmlns="" xmlns:a16="http://schemas.microsoft.com/office/drawing/2014/main" id="{914B93FF-B20F-85AF-8F17-B9B8FC8093F1}"/>
              </a:ext>
            </a:extLst>
          </p:cNvPr>
          <p:cNvSpPr>
            <a:spLocks noGrp="1"/>
          </p:cNvSpPr>
          <p:nvPr>
            <p:ph type="subTitle" idx="1"/>
          </p:nvPr>
        </p:nvSpPr>
        <p:spPr/>
        <p:txBody>
          <a:bodyPr>
            <a:normAutofit/>
          </a:bodyPr>
          <a:lstStyle/>
          <a:p>
            <a:r>
              <a:rPr lang="en-US" sz="2800" dirty="0"/>
              <a:t>System </a:t>
            </a:r>
            <a:r>
              <a:rPr lang="en-US" sz="2800" dirty="0" smtClean="0"/>
              <a:t>modeling-I</a:t>
            </a:r>
            <a:endParaRPr lang="en-US" sz="2800" dirty="0"/>
          </a:p>
        </p:txBody>
      </p:sp>
    </p:spTree>
    <p:extLst>
      <p:ext uri="{BB962C8B-B14F-4D97-AF65-F5344CB8AC3E}">
        <p14:creationId xmlns:p14="http://schemas.microsoft.com/office/powerpoint/2010/main" val="97814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539E27-23EB-BE8F-E8FB-A4090434E4E1}"/>
              </a:ext>
            </a:extLst>
          </p:cNvPr>
          <p:cNvSpPr>
            <a:spLocks noGrp="1"/>
          </p:cNvSpPr>
          <p:nvPr>
            <p:ph type="title"/>
          </p:nvPr>
        </p:nvSpPr>
        <p:spPr/>
        <p:txBody>
          <a:bodyPr/>
          <a:lstStyle/>
          <a:p>
            <a:r>
              <a:rPr lang="en-US" dirty="0"/>
              <a:t>Unified modeling language</a:t>
            </a:r>
          </a:p>
        </p:txBody>
      </p:sp>
      <p:sp>
        <p:nvSpPr>
          <p:cNvPr id="3" name="Content Placeholder 2">
            <a:extLst>
              <a:ext uri="{FF2B5EF4-FFF2-40B4-BE49-F238E27FC236}">
                <a16:creationId xmlns="" xmlns:a16="http://schemas.microsoft.com/office/drawing/2014/main" id="{3AEFFB07-8277-1006-702D-D1D86BF65060}"/>
              </a:ext>
            </a:extLst>
          </p:cNvPr>
          <p:cNvSpPr>
            <a:spLocks noGrp="1"/>
          </p:cNvSpPr>
          <p:nvPr>
            <p:ph idx="1"/>
          </p:nvPr>
        </p:nvSpPr>
        <p:spPr/>
        <p:txBody>
          <a:bodyPr/>
          <a:lstStyle/>
          <a:p>
            <a:r>
              <a:rPr lang="en-US" b="0" i="0" dirty="0">
                <a:solidFill>
                  <a:srgbClr val="1F1F1F"/>
                </a:solidFill>
                <a:effectLst/>
                <a:latin typeface="Google Sans"/>
              </a:rPr>
              <a:t>Imagine building instructions for a complex system, like a house. A UML is like a special kind of blueprint for software! It uses symbols and diagrams to represent the different parts of a software system (like actors, actions, and data) and how they work together. This helps developers understand, design, and build software more efficiently.</a:t>
            </a:r>
            <a:endParaRPr lang="en-US" dirty="0"/>
          </a:p>
        </p:txBody>
      </p:sp>
    </p:spTree>
    <p:extLst>
      <p:ext uri="{BB962C8B-B14F-4D97-AF65-F5344CB8AC3E}">
        <p14:creationId xmlns:p14="http://schemas.microsoft.com/office/powerpoint/2010/main" val="3497488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pc="-5" dirty="0">
                <a:latin typeface="Liberation Sans Narrow"/>
                <a:cs typeface="Liberation Sans Narrow"/>
              </a:rPr>
              <a:t>What is</a:t>
            </a:r>
            <a:r>
              <a:rPr lang="en-US" spc="-20" dirty="0">
                <a:latin typeface="Liberation Sans Narrow"/>
                <a:cs typeface="Liberation Sans Narrow"/>
              </a:rPr>
              <a:t> </a:t>
            </a:r>
            <a:r>
              <a:rPr lang="en-US" spc="-5" dirty="0">
                <a:latin typeface="Liberation Sans Narrow"/>
                <a:cs typeface="Liberation Sans Narrow"/>
              </a:rPr>
              <a:t>Modeling?</a:t>
            </a:r>
            <a:endParaRPr lang="en-US" dirty="0"/>
          </a:p>
        </p:txBody>
      </p:sp>
      <p:sp>
        <p:nvSpPr>
          <p:cNvPr id="3" name="Content Placeholder 2"/>
          <p:cNvSpPr>
            <a:spLocks noGrp="1"/>
          </p:cNvSpPr>
          <p:nvPr>
            <p:ph idx="1"/>
          </p:nvPr>
        </p:nvSpPr>
        <p:spPr/>
        <p:txBody>
          <a:bodyPr>
            <a:normAutofit fontScale="62500" lnSpcReduction="20000"/>
          </a:bodyPr>
          <a:lstStyle/>
          <a:p>
            <a:pPr marL="267335" marR="259715" indent="0" algn="just">
              <a:lnSpc>
                <a:spcPct val="150000"/>
              </a:lnSpc>
              <a:spcBef>
                <a:spcPts val="690"/>
              </a:spcBef>
              <a:buNone/>
              <a:tabLst>
                <a:tab pos="440690" algn="l"/>
              </a:tabLst>
            </a:pPr>
            <a:r>
              <a:rPr lang="en-US" sz="2800" b="1" spc="-5" dirty="0">
                <a:latin typeface="Liberation Sans Narrow"/>
                <a:cs typeface="Liberation Sans Narrow"/>
              </a:rPr>
              <a:t>Modeling: </a:t>
            </a:r>
            <a:r>
              <a:rPr lang="en-US" sz="2800" spc="-5" dirty="0">
                <a:latin typeface="Liberation Sans Narrow"/>
                <a:cs typeface="Liberation Sans Narrow"/>
              </a:rPr>
              <a:t>drawing </a:t>
            </a:r>
            <a:r>
              <a:rPr lang="en-US" sz="2800" dirty="0">
                <a:latin typeface="Liberation Sans Narrow"/>
                <a:cs typeface="Liberation Sans Narrow"/>
              </a:rPr>
              <a:t>a </a:t>
            </a:r>
            <a:r>
              <a:rPr lang="en-US" sz="2800" spc="-5" dirty="0">
                <a:latin typeface="Liberation Sans Narrow"/>
                <a:cs typeface="Liberation Sans Narrow"/>
              </a:rPr>
              <a:t>flowchart listing </a:t>
            </a:r>
            <a:r>
              <a:rPr lang="en-US" sz="2800" dirty="0">
                <a:latin typeface="Liberation Sans Narrow"/>
                <a:cs typeface="Liberation Sans Narrow"/>
              </a:rPr>
              <a:t>the </a:t>
            </a:r>
            <a:r>
              <a:rPr lang="en-US" sz="2800" spc="-5" dirty="0">
                <a:latin typeface="Liberation Sans Narrow"/>
                <a:cs typeface="Liberation Sans Narrow"/>
              </a:rPr>
              <a:t>steps carried </a:t>
            </a:r>
            <a:r>
              <a:rPr lang="en-US" sz="2800" dirty="0">
                <a:latin typeface="Liberation Sans Narrow"/>
                <a:cs typeface="Liberation Sans Narrow"/>
              </a:rPr>
              <a:t>out by an </a:t>
            </a:r>
            <a:r>
              <a:rPr lang="en-US" sz="2800" spc="-5" dirty="0">
                <a:latin typeface="Liberation Sans Narrow"/>
                <a:cs typeface="Liberation Sans Narrow"/>
              </a:rPr>
              <a:t>application.</a:t>
            </a:r>
            <a:endParaRPr lang="en-US" sz="2800" dirty="0">
              <a:latin typeface="Liberation Sans Narrow"/>
              <a:cs typeface="Liberation Sans Narrow"/>
            </a:endParaRPr>
          </a:p>
          <a:p>
            <a:pPr marL="440055" indent="-172720" algn="just">
              <a:lnSpc>
                <a:spcPct val="150000"/>
              </a:lnSpc>
              <a:spcBef>
                <a:spcPts val="120"/>
              </a:spcBef>
              <a:buFont typeface="Arial"/>
              <a:buChar char="•"/>
              <a:tabLst>
                <a:tab pos="440690" algn="l"/>
              </a:tabLst>
            </a:pPr>
            <a:r>
              <a:rPr lang="en-US" sz="2800" b="1" spc="-5" dirty="0">
                <a:latin typeface="Liberation Sans Narrow"/>
                <a:cs typeface="Liberation Sans Narrow"/>
              </a:rPr>
              <a:t>Why do </a:t>
            </a:r>
            <a:r>
              <a:rPr lang="en-US" sz="2800" b="1" dirty="0">
                <a:latin typeface="Liberation Sans Narrow"/>
                <a:cs typeface="Liberation Sans Narrow"/>
              </a:rPr>
              <a:t>we </a:t>
            </a:r>
            <a:r>
              <a:rPr lang="en-US" sz="2800" b="1" spc="-5" dirty="0">
                <a:latin typeface="Liberation Sans Narrow"/>
                <a:cs typeface="Liberation Sans Narrow"/>
              </a:rPr>
              <a:t>use</a:t>
            </a:r>
            <a:r>
              <a:rPr lang="en-US" sz="2800" b="1" spc="10" dirty="0">
                <a:latin typeface="Liberation Sans Narrow"/>
                <a:cs typeface="Liberation Sans Narrow"/>
              </a:rPr>
              <a:t> </a:t>
            </a:r>
            <a:r>
              <a:rPr lang="en-US" sz="2800" b="1" spc="-5" dirty="0">
                <a:latin typeface="Liberation Sans Narrow"/>
                <a:cs typeface="Liberation Sans Narrow"/>
              </a:rPr>
              <a:t>modeling?</a:t>
            </a:r>
            <a:endParaRPr lang="en-US" sz="2800" dirty="0">
              <a:latin typeface="Liberation Sans Narrow"/>
              <a:cs typeface="Liberation Sans Narrow"/>
            </a:endParaRPr>
          </a:p>
          <a:p>
            <a:pPr marL="440055" marR="257175" indent="-172720" algn="just">
              <a:lnSpc>
                <a:spcPct val="150000"/>
              </a:lnSpc>
              <a:spcBef>
                <a:spcPts val="300"/>
              </a:spcBef>
              <a:buFont typeface="Arial"/>
              <a:buChar char="•"/>
              <a:tabLst>
                <a:tab pos="440690" algn="l"/>
              </a:tabLst>
            </a:pPr>
            <a:r>
              <a:rPr lang="en-US" sz="2800" spc="-5" dirty="0">
                <a:latin typeface="Liberation Sans Narrow"/>
                <a:cs typeface="Liberation Sans Narrow"/>
              </a:rPr>
              <a:t>Defining </a:t>
            </a:r>
            <a:r>
              <a:rPr lang="en-US" sz="2800" dirty="0">
                <a:latin typeface="Liberation Sans Narrow"/>
                <a:cs typeface="Liberation Sans Narrow"/>
              </a:rPr>
              <a:t>a </a:t>
            </a:r>
            <a:r>
              <a:rPr lang="en-US" sz="2800" spc="-5" dirty="0">
                <a:latin typeface="Liberation Sans Narrow"/>
                <a:cs typeface="Liberation Sans Narrow"/>
              </a:rPr>
              <a:t>model makes it easier </a:t>
            </a:r>
            <a:r>
              <a:rPr lang="en-US" sz="2800" dirty="0">
                <a:latin typeface="Liberation Sans Narrow"/>
                <a:cs typeface="Liberation Sans Narrow"/>
              </a:rPr>
              <a:t>to </a:t>
            </a:r>
            <a:r>
              <a:rPr lang="en-US" sz="2800" spc="-5" dirty="0">
                <a:latin typeface="Liberation Sans Narrow"/>
                <a:cs typeface="Liberation Sans Narrow"/>
              </a:rPr>
              <a:t>break </a:t>
            </a:r>
            <a:r>
              <a:rPr lang="en-US" sz="2800" dirty="0">
                <a:latin typeface="Liberation Sans Narrow"/>
                <a:cs typeface="Liberation Sans Narrow"/>
              </a:rPr>
              <a:t>up a </a:t>
            </a:r>
            <a:r>
              <a:rPr lang="en-US" sz="2800" spc="-5" dirty="0">
                <a:latin typeface="Liberation Sans Narrow"/>
                <a:cs typeface="Liberation Sans Narrow"/>
              </a:rPr>
              <a:t>complex application  </a:t>
            </a:r>
            <a:r>
              <a:rPr lang="en-US" sz="2800" dirty="0">
                <a:latin typeface="Liberation Sans Narrow"/>
                <a:cs typeface="Liberation Sans Narrow"/>
              </a:rPr>
              <a:t>or a </a:t>
            </a:r>
            <a:r>
              <a:rPr lang="en-US" sz="2800" spc="-5" dirty="0">
                <a:latin typeface="Liberation Sans Narrow"/>
                <a:cs typeface="Liberation Sans Narrow"/>
              </a:rPr>
              <a:t>huge system into simple, discrete pieces </a:t>
            </a:r>
            <a:r>
              <a:rPr lang="en-US" sz="2800" dirty="0">
                <a:latin typeface="Liberation Sans Narrow"/>
                <a:cs typeface="Liberation Sans Narrow"/>
              </a:rPr>
              <a:t>that </a:t>
            </a:r>
            <a:r>
              <a:rPr lang="en-US" sz="2800" spc="-5" dirty="0">
                <a:latin typeface="Liberation Sans Narrow"/>
                <a:cs typeface="Liberation Sans Narrow"/>
              </a:rPr>
              <a:t>can </a:t>
            </a:r>
            <a:r>
              <a:rPr lang="en-US" sz="2800" dirty="0">
                <a:latin typeface="Liberation Sans Narrow"/>
                <a:cs typeface="Liberation Sans Narrow"/>
              </a:rPr>
              <a:t>be </a:t>
            </a:r>
            <a:r>
              <a:rPr lang="en-US" sz="2800" spc="-5" dirty="0">
                <a:latin typeface="Liberation Sans Narrow"/>
                <a:cs typeface="Liberation Sans Narrow"/>
              </a:rPr>
              <a:t>individually  studied.</a:t>
            </a:r>
            <a:endParaRPr lang="en-US" sz="2800" dirty="0">
              <a:latin typeface="Liberation Sans Narrow"/>
              <a:cs typeface="Liberation Sans Narrow"/>
            </a:endParaRPr>
          </a:p>
          <a:p>
            <a:pPr marL="440055" marR="257810" indent="-172720" algn="just">
              <a:lnSpc>
                <a:spcPct val="150000"/>
              </a:lnSpc>
              <a:spcBef>
                <a:spcPts val="280"/>
              </a:spcBef>
              <a:buFont typeface="Arial"/>
              <a:buChar char="•"/>
              <a:tabLst>
                <a:tab pos="440690" algn="l"/>
              </a:tabLst>
            </a:pPr>
            <a:r>
              <a:rPr lang="en-US" sz="2800" spc="-10" dirty="0">
                <a:latin typeface="Liberation Sans Narrow"/>
                <a:cs typeface="Liberation Sans Narrow"/>
              </a:rPr>
              <a:t>We </a:t>
            </a:r>
            <a:r>
              <a:rPr lang="en-US" sz="2800" spc="-5" dirty="0">
                <a:latin typeface="Liberation Sans Narrow"/>
                <a:cs typeface="Liberation Sans Narrow"/>
              </a:rPr>
              <a:t>can focus more easily </a:t>
            </a:r>
            <a:r>
              <a:rPr lang="en-US" sz="2800" dirty="0">
                <a:latin typeface="Liberation Sans Narrow"/>
                <a:cs typeface="Liberation Sans Narrow"/>
              </a:rPr>
              <a:t>on the </a:t>
            </a:r>
            <a:r>
              <a:rPr lang="en-US" sz="2800" spc="-5" dirty="0">
                <a:latin typeface="Liberation Sans Narrow"/>
                <a:cs typeface="Liberation Sans Narrow"/>
              </a:rPr>
              <a:t>smaller parts </a:t>
            </a:r>
            <a:r>
              <a:rPr lang="en-US" sz="2800" dirty="0">
                <a:latin typeface="Liberation Sans Narrow"/>
                <a:cs typeface="Liberation Sans Narrow"/>
              </a:rPr>
              <a:t>of a </a:t>
            </a:r>
            <a:r>
              <a:rPr lang="en-US" sz="2800" spc="-5" dirty="0">
                <a:latin typeface="Liberation Sans Narrow"/>
                <a:cs typeface="Liberation Sans Narrow"/>
              </a:rPr>
              <a:t>system </a:t>
            </a:r>
            <a:r>
              <a:rPr lang="en-US" sz="2800" dirty="0">
                <a:latin typeface="Liberation Sans Narrow"/>
                <a:cs typeface="Liberation Sans Narrow"/>
              </a:rPr>
              <a:t>and then  </a:t>
            </a:r>
            <a:r>
              <a:rPr lang="en-US" sz="2800" spc="-5" dirty="0">
                <a:latin typeface="Liberation Sans Narrow"/>
                <a:cs typeface="Liberation Sans Narrow"/>
              </a:rPr>
              <a:t>understand </a:t>
            </a:r>
            <a:r>
              <a:rPr lang="en-US" sz="2800" dirty="0">
                <a:latin typeface="Liberation Sans Narrow"/>
                <a:cs typeface="Liberation Sans Narrow"/>
              </a:rPr>
              <a:t>the </a:t>
            </a:r>
            <a:r>
              <a:rPr lang="en-US" sz="2800" spc="-5" dirty="0">
                <a:latin typeface="Liberation Sans Narrow"/>
                <a:cs typeface="Liberation Sans Narrow"/>
              </a:rPr>
              <a:t>"big</a:t>
            </a:r>
            <a:r>
              <a:rPr lang="en-US" sz="2800" spc="-20" dirty="0">
                <a:latin typeface="Liberation Sans Narrow"/>
                <a:cs typeface="Liberation Sans Narrow"/>
              </a:rPr>
              <a:t> </a:t>
            </a:r>
            <a:r>
              <a:rPr lang="en-US" sz="2800" spc="-5" dirty="0">
                <a:latin typeface="Liberation Sans Narrow"/>
                <a:cs typeface="Liberation Sans Narrow"/>
              </a:rPr>
              <a:t>picture."</a:t>
            </a:r>
            <a:endParaRPr lang="en-US" sz="2800" dirty="0">
              <a:latin typeface="Liberation Sans Narrow"/>
              <a:cs typeface="Liberation Sans Narrow"/>
            </a:endParaRPr>
          </a:p>
          <a:p>
            <a:pPr marL="440055" indent="-172720" algn="just">
              <a:lnSpc>
                <a:spcPct val="150000"/>
              </a:lnSpc>
              <a:spcBef>
                <a:spcPts val="120"/>
              </a:spcBef>
              <a:buFont typeface="Arial"/>
              <a:buChar char="•"/>
              <a:tabLst>
                <a:tab pos="440690" algn="l"/>
              </a:tabLst>
            </a:pPr>
            <a:r>
              <a:rPr lang="en-US" sz="2800" b="1" spc="-5" dirty="0">
                <a:latin typeface="Liberation Sans Narrow"/>
                <a:cs typeface="Liberation Sans Narrow"/>
              </a:rPr>
              <a:t>The reasons behind modeling </a:t>
            </a:r>
            <a:r>
              <a:rPr lang="en-US" sz="2800" b="1" dirty="0">
                <a:latin typeface="Liberation Sans Narrow"/>
                <a:cs typeface="Liberation Sans Narrow"/>
              </a:rPr>
              <a:t>can </a:t>
            </a:r>
            <a:r>
              <a:rPr lang="en-US" sz="2800" b="1" spc="-5" dirty="0">
                <a:latin typeface="Liberation Sans Narrow"/>
                <a:cs typeface="Liberation Sans Narrow"/>
              </a:rPr>
              <a:t>be summed up </a:t>
            </a:r>
            <a:r>
              <a:rPr lang="en-US" sz="2800" b="1" dirty="0">
                <a:latin typeface="Liberation Sans Narrow"/>
                <a:cs typeface="Liberation Sans Narrow"/>
              </a:rPr>
              <a:t>in </a:t>
            </a:r>
            <a:r>
              <a:rPr lang="en-US" sz="2800" b="1" spc="-5" dirty="0">
                <a:latin typeface="Liberation Sans Narrow"/>
                <a:cs typeface="Liberation Sans Narrow"/>
              </a:rPr>
              <a:t>two</a:t>
            </a:r>
            <a:r>
              <a:rPr lang="en-US" sz="2800" b="1" spc="15" dirty="0">
                <a:latin typeface="Liberation Sans Narrow"/>
                <a:cs typeface="Liberation Sans Narrow"/>
              </a:rPr>
              <a:t> </a:t>
            </a:r>
            <a:r>
              <a:rPr lang="en-US" sz="2800" b="1" spc="-5" dirty="0">
                <a:latin typeface="Liberation Sans Narrow"/>
                <a:cs typeface="Liberation Sans Narrow"/>
              </a:rPr>
              <a:t>words:</a:t>
            </a:r>
            <a:endParaRPr lang="en-US" sz="2800" dirty="0">
              <a:latin typeface="Liberation Sans Narrow"/>
              <a:cs typeface="Liberation Sans Narrow"/>
            </a:endParaRPr>
          </a:p>
          <a:p>
            <a:pPr marL="640080" lvl="1" indent="-143510" algn="just">
              <a:lnSpc>
                <a:spcPct val="150000"/>
              </a:lnSpc>
              <a:spcBef>
                <a:spcPts val="140"/>
              </a:spcBef>
              <a:buFont typeface="Arial"/>
              <a:buChar char="–"/>
              <a:tabLst>
                <a:tab pos="640080" algn="l"/>
              </a:tabLst>
            </a:pPr>
            <a:r>
              <a:rPr lang="en-US" sz="2600" spc="-5" dirty="0">
                <a:latin typeface="Liberation Sans Narrow"/>
                <a:cs typeface="Liberation Sans Narrow"/>
              </a:rPr>
              <a:t>Readability</a:t>
            </a:r>
            <a:endParaRPr lang="en-US" sz="2600" dirty="0" smtClean="0">
              <a:latin typeface="Liberation Sans Narrow"/>
              <a:cs typeface="Liberation Sans Narrow"/>
            </a:endParaRPr>
          </a:p>
          <a:p>
            <a:pPr marL="640080" lvl="1" indent="-143510" algn="just">
              <a:lnSpc>
                <a:spcPct val="150000"/>
              </a:lnSpc>
              <a:spcBef>
                <a:spcPts val="145"/>
              </a:spcBef>
              <a:buFont typeface="Arial"/>
              <a:buChar char="–"/>
              <a:tabLst>
                <a:tab pos="640080" algn="l"/>
              </a:tabLst>
            </a:pPr>
            <a:r>
              <a:rPr lang="en-US" sz="2600" spc="-5" dirty="0">
                <a:latin typeface="Liberation Sans Narrow"/>
                <a:cs typeface="Liberation Sans Narrow"/>
              </a:rPr>
              <a:t>Reusability</a:t>
            </a:r>
            <a:endParaRPr lang="en-US" sz="2600" dirty="0" smtClean="0">
              <a:latin typeface="Liberation Sans Narrow"/>
              <a:cs typeface="Liberation Sans Narrow"/>
            </a:endParaRPr>
          </a:p>
          <a:p>
            <a:pPr marL="0" indent="0">
              <a:buNone/>
            </a:pPr>
            <a:endParaRPr lang="en-US" dirty="0"/>
          </a:p>
        </p:txBody>
      </p:sp>
    </p:spTree>
    <p:extLst>
      <p:ext uri="{BB962C8B-B14F-4D97-AF65-F5344CB8AC3E}">
        <p14:creationId xmlns:p14="http://schemas.microsoft.com/office/powerpoint/2010/main" val="30502227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pc="-5" dirty="0">
                <a:latin typeface="Liberation Sans Narrow"/>
                <a:cs typeface="Liberation Sans Narrow"/>
              </a:rPr>
              <a:t>What is</a:t>
            </a:r>
            <a:r>
              <a:rPr lang="en-US" spc="-20" dirty="0">
                <a:latin typeface="Liberation Sans Narrow"/>
                <a:cs typeface="Liberation Sans Narrow"/>
              </a:rPr>
              <a:t> </a:t>
            </a:r>
            <a:r>
              <a:rPr lang="en-US" spc="-5" dirty="0">
                <a:latin typeface="Liberation Sans Narrow"/>
                <a:cs typeface="Liberation Sans Narrow"/>
              </a:rPr>
              <a:t>Modeling?</a:t>
            </a:r>
            <a:endParaRPr lang="en-US" dirty="0"/>
          </a:p>
        </p:txBody>
      </p:sp>
      <p:sp>
        <p:nvSpPr>
          <p:cNvPr id="3" name="Content Placeholder 2"/>
          <p:cNvSpPr>
            <a:spLocks noGrp="1"/>
          </p:cNvSpPr>
          <p:nvPr>
            <p:ph idx="1"/>
          </p:nvPr>
        </p:nvSpPr>
        <p:spPr/>
        <p:txBody>
          <a:bodyPr>
            <a:normAutofit/>
          </a:bodyPr>
          <a:lstStyle/>
          <a:p>
            <a:pPr marL="440055" indent="-172720">
              <a:spcBef>
                <a:spcPts val="670"/>
              </a:spcBef>
              <a:buFont typeface="Arial"/>
              <a:buChar char="•"/>
              <a:tabLst>
                <a:tab pos="440690" algn="l"/>
              </a:tabLst>
            </a:pPr>
            <a:r>
              <a:rPr lang="en-US" b="1" spc="-5" dirty="0">
                <a:latin typeface="Liberation Sans Narrow"/>
                <a:cs typeface="Liberation Sans Narrow"/>
              </a:rPr>
              <a:t>Readability: </a:t>
            </a:r>
            <a:r>
              <a:rPr lang="en-US" sz="2600" spc="-5" dirty="0">
                <a:latin typeface="Liberation Sans Narrow"/>
                <a:cs typeface="Liberation Sans Narrow"/>
              </a:rPr>
              <a:t>brings clarity—ease </a:t>
            </a:r>
            <a:r>
              <a:rPr lang="en-US" sz="2600" dirty="0">
                <a:latin typeface="Liberation Sans Narrow"/>
                <a:cs typeface="Liberation Sans Narrow"/>
              </a:rPr>
              <a:t>of</a:t>
            </a:r>
            <a:r>
              <a:rPr lang="en-US" sz="2600" spc="-5" dirty="0">
                <a:latin typeface="Liberation Sans Narrow"/>
                <a:cs typeface="Liberation Sans Narrow"/>
              </a:rPr>
              <a:t> understanding.</a:t>
            </a:r>
            <a:endParaRPr lang="en-US" sz="2600" dirty="0">
              <a:latin typeface="Liberation Sans Narrow"/>
              <a:cs typeface="Liberation Sans Narrow"/>
            </a:endParaRPr>
          </a:p>
          <a:p>
            <a:pPr marL="440055" marR="256540" indent="-172720">
              <a:spcBef>
                <a:spcPts val="290"/>
              </a:spcBef>
              <a:buFont typeface="Arial"/>
              <a:buChar char="•"/>
              <a:tabLst>
                <a:tab pos="440690" algn="l"/>
              </a:tabLst>
            </a:pPr>
            <a:r>
              <a:rPr lang="en-US" sz="2600" spc="-5" dirty="0">
                <a:latin typeface="Liberation Sans Narrow"/>
                <a:cs typeface="Liberation Sans Narrow"/>
              </a:rPr>
              <a:t>Understanding </a:t>
            </a:r>
            <a:r>
              <a:rPr lang="en-US" sz="2600" dirty="0">
                <a:latin typeface="Liberation Sans Narrow"/>
                <a:cs typeface="Liberation Sans Narrow"/>
              </a:rPr>
              <a:t>a </a:t>
            </a:r>
            <a:r>
              <a:rPr lang="en-US" sz="2600" spc="-5" dirty="0">
                <a:latin typeface="Liberation Sans Narrow"/>
                <a:cs typeface="Liberation Sans Narrow"/>
              </a:rPr>
              <a:t>system is </a:t>
            </a:r>
            <a:r>
              <a:rPr lang="en-US" sz="2600" dirty="0">
                <a:latin typeface="Liberation Sans Narrow"/>
                <a:cs typeface="Liberation Sans Narrow"/>
              </a:rPr>
              <a:t>the </a:t>
            </a:r>
            <a:r>
              <a:rPr lang="en-US" sz="2600" spc="-5" dirty="0">
                <a:latin typeface="Liberation Sans Narrow"/>
                <a:cs typeface="Liberation Sans Narrow"/>
              </a:rPr>
              <a:t>first step in either building </a:t>
            </a:r>
            <a:r>
              <a:rPr lang="en-US" sz="2600" dirty="0">
                <a:latin typeface="Liberation Sans Narrow"/>
                <a:cs typeface="Liberation Sans Narrow"/>
              </a:rPr>
              <a:t>or  </a:t>
            </a:r>
            <a:r>
              <a:rPr lang="en-US" sz="2600" spc="-5" dirty="0">
                <a:latin typeface="Liberation Sans Narrow"/>
                <a:cs typeface="Liberation Sans Narrow"/>
              </a:rPr>
              <a:t>enhancing </a:t>
            </a:r>
            <a:r>
              <a:rPr lang="en-US" sz="2600" dirty="0">
                <a:latin typeface="Liberation Sans Narrow"/>
                <a:cs typeface="Liberation Sans Narrow"/>
              </a:rPr>
              <a:t>a</a:t>
            </a:r>
            <a:r>
              <a:rPr lang="en-US" sz="2600" spc="-15" dirty="0">
                <a:latin typeface="Liberation Sans Narrow"/>
                <a:cs typeface="Liberation Sans Narrow"/>
              </a:rPr>
              <a:t> </a:t>
            </a:r>
            <a:r>
              <a:rPr lang="en-US" sz="2600" spc="-5" dirty="0">
                <a:latin typeface="Liberation Sans Narrow"/>
                <a:cs typeface="Liberation Sans Narrow"/>
              </a:rPr>
              <a:t>system.</a:t>
            </a:r>
            <a:endParaRPr lang="en-US" sz="2600" dirty="0">
              <a:latin typeface="Liberation Sans Narrow"/>
              <a:cs typeface="Liberation Sans Narrow"/>
            </a:endParaRPr>
          </a:p>
          <a:p>
            <a:pPr marL="440055" marR="257810" indent="-172720">
              <a:spcBef>
                <a:spcPts val="290"/>
              </a:spcBef>
              <a:buFont typeface="Arial"/>
              <a:buChar char="•"/>
              <a:tabLst>
                <a:tab pos="440690" algn="l"/>
              </a:tabLst>
            </a:pPr>
            <a:r>
              <a:rPr lang="en-US" sz="2600" spc="-5" dirty="0">
                <a:latin typeface="Liberation Sans Narrow"/>
                <a:cs typeface="Liberation Sans Narrow"/>
              </a:rPr>
              <a:t>This involves knowing what </a:t>
            </a:r>
            <a:r>
              <a:rPr lang="en-US" sz="2600" dirty="0">
                <a:latin typeface="Liberation Sans Narrow"/>
                <a:cs typeface="Liberation Sans Narrow"/>
              </a:rPr>
              <a:t>a </a:t>
            </a:r>
            <a:r>
              <a:rPr lang="en-US" sz="2600" spc="-5" dirty="0">
                <a:latin typeface="Liberation Sans Narrow"/>
                <a:cs typeface="Liberation Sans Narrow"/>
              </a:rPr>
              <a:t>system is made </a:t>
            </a:r>
            <a:r>
              <a:rPr lang="en-US" sz="2600" dirty="0">
                <a:latin typeface="Liberation Sans Narrow"/>
                <a:cs typeface="Liberation Sans Narrow"/>
              </a:rPr>
              <a:t>up of, </a:t>
            </a:r>
            <a:r>
              <a:rPr lang="en-US" sz="2600" spc="-5" dirty="0">
                <a:latin typeface="Liberation Sans Narrow"/>
                <a:cs typeface="Liberation Sans Narrow"/>
              </a:rPr>
              <a:t>how it behaves,  </a:t>
            </a:r>
            <a:r>
              <a:rPr lang="en-US" sz="2600" dirty="0">
                <a:latin typeface="Liberation Sans Narrow"/>
                <a:cs typeface="Liberation Sans Narrow"/>
              </a:rPr>
              <a:t>and </a:t>
            </a:r>
            <a:r>
              <a:rPr lang="en-US" sz="2600" spc="-5" dirty="0">
                <a:latin typeface="Liberation Sans Narrow"/>
                <a:cs typeface="Liberation Sans Narrow"/>
              </a:rPr>
              <a:t>so</a:t>
            </a:r>
            <a:r>
              <a:rPr lang="en-US" sz="2600" spc="-20" dirty="0">
                <a:latin typeface="Liberation Sans Narrow"/>
                <a:cs typeface="Liberation Sans Narrow"/>
              </a:rPr>
              <a:t> </a:t>
            </a:r>
            <a:r>
              <a:rPr lang="en-US" sz="2600" spc="-5" dirty="0">
                <a:latin typeface="Liberation Sans Narrow"/>
                <a:cs typeface="Liberation Sans Narrow"/>
              </a:rPr>
              <a:t>forth.</a:t>
            </a:r>
            <a:endParaRPr lang="en-US" sz="2600" dirty="0">
              <a:latin typeface="Liberation Sans Narrow"/>
              <a:cs typeface="Liberation Sans Narrow"/>
            </a:endParaRPr>
          </a:p>
          <a:p>
            <a:pPr marL="440055" marR="257810" indent="-172720">
              <a:spcBef>
                <a:spcPts val="285"/>
              </a:spcBef>
              <a:buFont typeface="Arial"/>
              <a:buChar char="•"/>
              <a:tabLst>
                <a:tab pos="440690" algn="l"/>
              </a:tabLst>
            </a:pPr>
            <a:r>
              <a:rPr lang="en-US" sz="2600" spc="-5" dirty="0">
                <a:latin typeface="Liberation Sans Narrow"/>
                <a:cs typeface="Liberation Sans Narrow"/>
              </a:rPr>
              <a:t>Depicting </a:t>
            </a:r>
            <a:r>
              <a:rPr lang="en-US" sz="2600" dirty="0">
                <a:latin typeface="Liberation Sans Narrow"/>
                <a:cs typeface="Liberation Sans Narrow"/>
              </a:rPr>
              <a:t>a </a:t>
            </a:r>
            <a:r>
              <a:rPr lang="en-US" sz="2600" spc="-5" dirty="0">
                <a:latin typeface="Liberation Sans Narrow"/>
                <a:cs typeface="Liberation Sans Narrow"/>
              </a:rPr>
              <a:t>system </a:t>
            </a:r>
            <a:r>
              <a:rPr lang="en-US" sz="2600" dirty="0">
                <a:latin typeface="Liberation Sans Narrow"/>
                <a:cs typeface="Liberation Sans Narrow"/>
              </a:rPr>
              <a:t>to make </a:t>
            </a:r>
            <a:r>
              <a:rPr lang="en-US" sz="2600" spc="-5" dirty="0">
                <a:latin typeface="Liberation Sans Narrow"/>
                <a:cs typeface="Liberation Sans Narrow"/>
              </a:rPr>
              <a:t>it readable involves capturing </a:t>
            </a:r>
            <a:r>
              <a:rPr lang="en-US" sz="2600" dirty="0">
                <a:latin typeface="Liberation Sans Narrow"/>
                <a:cs typeface="Liberation Sans Narrow"/>
              </a:rPr>
              <a:t>the  </a:t>
            </a:r>
            <a:r>
              <a:rPr lang="en-US" sz="2600" spc="-5" dirty="0">
                <a:latin typeface="Liberation Sans Narrow"/>
                <a:cs typeface="Liberation Sans Narrow"/>
              </a:rPr>
              <a:t>structure </a:t>
            </a:r>
            <a:r>
              <a:rPr lang="en-US" sz="2600" dirty="0">
                <a:latin typeface="Liberation Sans Narrow"/>
                <a:cs typeface="Liberation Sans Narrow"/>
              </a:rPr>
              <a:t>of a </a:t>
            </a:r>
            <a:r>
              <a:rPr lang="en-US" sz="2600" spc="-5" dirty="0">
                <a:latin typeface="Liberation Sans Narrow"/>
                <a:cs typeface="Liberation Sans Narrow"/>
              </a:rPr>
              <a:t>system </a:t>
            </a:r>
            <a:r>
              <a:rPr lang="en-US" sz="2600" dirty="0">
                <a:latin typeface="Liberation Sans Narrow"/>
                <a:cs typeface="Liberation Sans Narrow"/>
              </a:rPr>
              <a:t>and the </a:t>
            </a:r>
            <a:r>
              <a:rPr lang="en-US" sz="2600" spc="-5" dirty="0">
                <a:latin typeface="Liberation Sans Narrow"/>
                <a:cs typeface="Liberation Sans Narrow"/>
              </a:rPr>
              <a:t>behavior </a:t>
            </a:r>
            <a:r>
              <a:rPr lang="en-US" sz="2600" dirty="0">
                <a:latin typeface="Liberation Sans Narrow"/>
                <a:cs typeface="Liberation Sans Narrow"/>
              </a:rPr>
              <a:t>of the</a:t>
            </a:r>
            <a:r>
              <a:rPr lang="en-US" sz="2600" spc="-15" dirty="0">
                <a:latin typeface="Liberation Sans Narrow"/>
                <a:cs typeface="Liberation Sans Narrow"/>
              </a:rPr>
              <a:t> </a:t>
            </a:r>
            <a:r>
              <a:rPr lang="en-US" sz="2600" spc="-5" dirty="0">
                <a:latin typeface="Liberation Sans Narrow"/>
                <a:cs typeface="Liberation Sans Narrow"/>
              </a:rPr>
              <a:t>system.</a:t>
            </a:r>
            <a:endParaRPr lang="en-US" sz="2600" dirty="0">
              <a:latin typeface="Liberation Sans Narrow"/>
              <a:cs typeface="Liberation Sans Narrow"/>
            </a:endParaRPr>
          </a:p>
          <a:p>
            <a:endParaRPr lang="en-US" dirty="0"/>
          </a:p>
        </p:txBody>
      </p:sp>
    </p:spTree>
    <p:extLst>
      <p:ext uri="{BB962C8B-B14F-4D97-AF65-F5344CB8AC3E}">
        <p14:creationId xmlns:p14="http://schemas.microsoft.com/office/powerpoint/2010/main" val="22386623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pc="-5" dirty="0">
                <a:latin typeface="Liberation Sans Narrow"/>
                <a:cs typeface="Liberation Sans Narrow"/>
              </a:rPr>
              <a:t>What is</a:t>
            </a:r>
            <a:r>
              <a:rPr lang="en-US" spc="-20" dirty="0">
                <a:latin typeface="Liberation Sans Narrow"/>
                <a:cs typeface="Liberation Sans Narrow"/>
              </a:rPr>
              <a:t> </a:t>
            </a:r>
            <a:r>
              <a:rPr lang="en-US" spc="-5" dirty="0">
                <a:latin typeface="Liberation Sans Narrow"/>
                <a:cs typeface="Liberation Sans Narrow"/>
              </a:rPr>
              <a:t>Modeling?</a:t>
            </a:r>
            <a:endParaRPr lang="en-US" dirty="0"/>
          </a:p>
        </p:txBody>
      </p:sp>
      <p:sp>
        <p:nvSpPr>
          <p:cNvPr id="3" name="Content Placeholder 2"/>
          <p:cNvSpPr>
            <a:spLocks noGrp="1"/>
          </p:cNvSpPr>
          <p:nvPr>
            <p:ph idx="1"/>
          </p:nvPr>
        </p:nvSpPr>
        <p:spPr/>
        <p:txBody>
          <a:bodyPr>
            <a:noAutofit/>
          </a:bodyPr>
          <a:lstStyle/>
          <a:p>
            <a:pPr marL="440055" indent="-172720" algn="just">
              <a:spcBef>
                <a:spcPts val="670"/>
              </a:spcBef>
              <a:buFont typeface="Arial"/>
              <a:buChar char="•"/>
              <a:tabLst>
                <a:tab pos="440690" algn="l"/>
              </a:tabLst>
            </a:pPr>
            <a:r>
              <a:rPr lang="en-US" sz="2400" b="1" spc="-5" dirty="0">
                <a:latin typeface="Liberation Sans Narrow"/>
                <a:cs typeface="Liberation Sans Narrow"/>
              </a:rPr>
              <a:t>Reusability: </a:t>
            </a:r>
            <a:r>
              <a:rPr lang="en-US" sz="2400" spc="-5" dirty="0">
                <a:latin typeface="Liberation Sans Narrow"/>
                <a:cs typeface="Liberation Sans Narrow"/>
              </a:rPr>
              <a:t>is </a:t>
            </a:r>
            <a:r>
              <a:rPr lang="en-US" sz="2400" dirty="0">
                <a:latin typeface="Liberation Sans Narrow"/>
                <a:cs typeface="Liberation Sans Narrow"/>
              </a:rPr>
              <a:t>the </a:t>
            </a:r>
            <a:r>
              <a:rPr lang="en-US" sz="2400" spc="-5" dirty="0">
                <a:latin typeface="Liberation Sans Narrow"/>
                <a:cs typeface="Liberation Sans Narrow"/>
              </a:rPr>
              <a:t>byproduct </a:t>
            </a:r>
            <a:r>
              <a:rPr lang="en-US" sz="2400" dirty="0">
                <a:latin typeface="Liberation Sans Narrow"/>
                <a:cs typeface="Liberation Sans Narrow"/>
              </a:rPr>
              <a:t>of </a:t>
            </a:r>
            <a:r>
              <a:rPr lang="en-US" sz="2400" spc="-5" dirty="0">
                <a:latin typeface="Liberation Sans Narrow"/>
                <a:cs typeface="Liberation Sans Narrow"/>
              </a:rPr>
              <a:t>making </a:t>
            </a:r>
            <a:r>
              <a:rPr lang="en-US" sz="2400" dirty="0">
                <a:latin typeface="Liberation Sans Narrow"/>
                <a:cs typeface="Liberation Sans Narrow"/>
              </a:rPr>
              <a:t>a </a:t>
            </a:r>
            <a:r>
              <a:rPr lang="en-US" sz="2400" spc="-5" dirty="0">
                <a:latin typeface="Liberation Sans Narrow"/>
                <a:cs typeface="Liberation Sans Narrow"/>
              </a:rPr>
              <a:t>system</a:t>
            </a:r>
            <a:r>
              <a:rPr lang="en-US" sz="2400" spc="10" dirty="0">
                <a:latin typeface="Liberation Sans Narrow"/>
                <a:cs typeface="Liberation Sans Narrow"/>
              </a:rPr>
              <a:t> </a:t>
            </a:r>
            <a:r>
              <a:rPr lang="en-US" sz="2400" spc="-5" dirty="0">
                <a:latin typeface="Liberation Sans Narrow"/>
                <a:cs typeface="Liberation Sans Narrow"/>
              </a:rPr>
              <a:t>readable.</a:t>
            </a:r>
            <a:endParaRPr lang="en-US" sz="2400" dirty="0">
              <a:latin typeface="Liberation Sans Narrow"/>
              <a:cs typeface="Liberation Sans Narrow"/>
            </a:endParaRPr>
          </a:p>
          <a:p>
            <a:pPr marL="440055" marR="257810" indent="-172720" algn="just">
              <a:spcBef>
                <a:spcPts val="290"/>
              </a:spcBef>
              <a:buFont typeface="Arial"/>
              <a:buChar char="•"/>
              <a:tabLst>
                <a:tab pos="440690" algn="l"/>
              </a:tabLst>
            </a:pPr>
            <a:r>
              <a:rPr lang="en-US" sz="2400" dirty="0">
                <a:latin typeface="Liberation Sans Narrow"/>
                <a:cs typeface="Liberation Sans Narrow"/>
              </a:rPr>
              <a:t>After a </a:t>
            </a:r>
            <a:r>
              <a:rPr lang="en-US" sz="2400" spc="-5" dirty="0">
                <a:latin typeface="Liberation Sans Narrow"/>
                <a:cs typeface="Liberation Sans Narrow"/>
              </a:rPr>
              <a:t>system </a:t>
            </a:r>
            <a:r>
              <a:rPr lang="en-US" sz="2400" dirty="0">
                <a:latin typeface="Liberation Sans Narrow"/>
                <a:cs typeface="Liberation Sans Narrow"/>
              </a:rPr>
              <a:t>has </a:t>
            </a:r>
            <a:r>
              <a:rPr lang="en-US" sz="2400" spc="-5" dirty="0">
                <a:latin typeface="Liberation Sans Narrow"/>
                <a:cs typeface="Liberation Sans Narrow"/>
              </a:rPr>
              <a:t>been modeled </a:t>
            </a:r>
            <a:r>
              <a:rPr lang="en-US" sz="2400" dirty="0">
                <a:latin typeface="Liberation Sans Narrow"/>
                <a:cs typeface="Liberation Sans Narrow"/>
              </a:rPr>
              <a:t>to </a:t>
            </a:r>
            <a:r>
              <a:rPr lang="en-US" sz="2400" spc="-5" dirty="0">
                <a:latin typeface="Liberation Sans Narrow"/>
                <a:cs typeface="Liberation Sans Narrow"/>
              </a:rPr>
              <a:t>make it easy </a:t>
            </a:r>
            <a:r>
              <a:rPr lang="en-US" sz="2400" dirty="0">
                <a:latin typeface="Liberation Sans Narrow"/>
                <a:cs typeface="Liberation Sans Narrow"/>
              </a:rPr>
              <a:t>to </a:t>
            </a:r>
            <a:r>
              <a:rPr lang="en-US" sz="2400" spc="-5" dirty="0">
                <a:latin typeface="Liberation Sans Narrow"/>
                <a:cs typeface="Liberation Sans Narrow"/>
              </a:rPr>
              <a:t>understand, we  </a:t>
            </a:r>
            <a:r>
              <a:rPr lang="en-US" sz="2400" dirty="0">
                <a:latin typeface="Liberation Sans Narrow"/>
                <a:cs typeface="Liberation Sans Narrow"/>
              </a:rPr>
              <a:t>tend to </a:t>
            </a:r>
            <a:r>
              <a:rPr lang="en-US" sz="2400" spc="-5" dirty="0">
                <a:latin typeface="Liberation Sans Narrow"/>
                <a:cs typeface="Liberation Sans Narrow"/>
              </a:rPr>
              <a:t>identify similarities </a:t>
            </a:r>
            <a:r>
              <a:rPr lang="en-US" sz="2400" dirty="0">
                <a:latin typeface="Liberation Sans Narrow"/>
                <a:cs typeface="Liberation Sans Narrow"/>
              </a:rPr>
              <a:t>or </a:t>
            </a:r>
            <a:r>
              <a:rPr lang="en-US" sz="2400" spc="-10" dirty="0">
                <a:latin typeface="Liberation Sans Narrow"/>
                <a:cs typeface="Liberation Sans Narrow"/>
              </a:rPr>
              <a:t>redundancy, </a:t>
            </a:r>
            <a:r>
              <a:rPr lang="en-US" sz="2400" dirty="0">
                <a:latin typeface="Liberation Sans Narrow"/>
                <a:cs typeface="Liberation Sans Narrow"/>
              </a:rPr>
              <a:t>be </a:t>
            </a:r>
            <a:r>
              <a:rPr lang="en-US" sz="2400" spc="-5" dirty="0">
                <a:latin typeface="Liberation Sans Narrow"/>
                <a:cs typeface="Liberation Sans Narrow"/>
              </a:rPr>
              <a:t>they in terms </a:t>
            </a:r>
            <a:r>
              <a:rPr lang="en-US" sz="2400" dirty="0">
                <a:latin typeface="Liberation Sans Narrow"/>
                <a:cs typeface="Liberation Sans Narrow"/>
              </a:rPr>
              <a:t>of  </a:t>
            </a:r>
            <a:r>
              <a:rPr lang="en-US" sz="2400" spc="-10" dirty="0">
                <a:latin typeface="Liberation Sans Narrow"/>
                <a:cs typeface="Liberation Sans Narrow"/>
              </a:rPr>
              <a:t>functionality, </a:t>
            </a:r>
            <a:r>
              <a:rPr lang="en-US" sz="2400" spc="-5" dirty="0">
                <a:latin typeface="Liberation Sans Narrow"/>
                <a:cs typeface="Liberation Sans Narrow"/>
              </a:rPr>
              <a:t>features, </a:t>
            </a:r>
            <a:r>
              <a:rPr lang="en-US" sz="2400" dirty="0">
                <a:latin typeface="Liberation Sans Narrow"/>
                <a:cs typeface="Liberation Sans Narrow"/>
              </a:rPr>
              <a:t>or</a:t>
            </a:r>
            <a:r>
              <a:rPr lang="en-US" sz="2400" spc="-10" dirty="0">
                <a:latin typeface="Liberation Sans Narrow"/>
                <a:cs typeface="Liberation Sans Narrow"/>
              </a:rPr>
              <a:t> </a:t>
            </a:r>
            <a:r>
              <a:rPr lang="en-US" sz="2400" spc="-5" dirty="0">
                <a:latin typeface="Liberation Sans Narrow"/>
                <a:cs typeface="Liberation Sans Narrow"/>
              </a:rPr>
              <a:t>structure.</a:t>
            </a:r>
            <a:endParaRPr lang="en-US" sz="2400" dirty="0">
              <a:latin typeface="Liberation Sans Narrow"/>
              <a:cs typeface="Liberation Sans Narrow"/>
            </a:endParaRPr>
          </a:p>
          <a:p>
            <a:pPr marL="440055" marR="259079" indent="-172720">
              <a:spcBef>
                <a:spcPts val="290"/>
              </a:spcBef>
              <a:buFont typeface="Arial"/>
              <a:buChar char="•"/>
              <a:tabLst>
                <a:tab pos="440690" algn="l"/>
              </a:tabLst>
            </a:pPr>
            <a:r>
              <a:rPr lang="en-US" sz="2400" spc="-5" dirty="0">
                <a:latin typeface="Liberation Sans Narrow"/>
                <a:cs typeface="Liberation Sans Narrow"/>
              </a:rPr>
              <a:t>UML provides </a:t>
            </a:r>
            <a:r>
              <a:rPr lang="en-US" sz="2400" dirty="0">
                <a:latin typeface="Liberation Sans Narrow"/>
                <a:cs typeface="Liberation Sans Narrow"/>
              </a:rPr>
              <a:t>the </a:t>
            </a:r>
            <a:r>
              <a:rPr lang="en-US" sz="2400" spc="-5" dirty="0">
                <a:latin typeface="Liberation Sans Narrow"/>
                <a:cs typeface="Liberation Sans Narrow"/>
              </a:rPr>
              <a:t>ability </a:t>
            </a:r>
            <a:r>
              <a:rPr lang="en-US" sz="2400" dirty="0">
                <a:latin typeface="Liberation Sans Narrow"/>
                <a:cs typeface="Liberation Sans Narrow"/>
              </a:rPr>
              <a:t>to </a:t>
            </a:r>
            <a:r>
              <a:rPr lang="en-US" sz="2400" spc="-5" dirty="0">
                <a:latin typeface="Liberation Sans Narrow"/>
                <a:cs typeface="Liberation Sans Narrow"/>
              </a:rPr>
              <a:t>capture </a:t>
            </a:r>
            <a:r>
              <a:rPr lang="en-US" sz="2400" dirty="0">
                <a:latin typeface="Liberation Sans Narrow"/>
                <a:cs typeface="Liberation Sans Narrow"/>
              </a:rPr>
              <a:t>the </a:t>
            </a:r>
            <a:r>
              <a:rPr lang="en-US" sz="2400" spc="-5" dirty="0">
                <a:latin typeface="Liberation Sans Narrow"/>
                <a:cs typeface="Liberation Sans Narrow"/>
              </a:rPr>
              <a:t>characteristics </a:t>
            </a:r>
            <a:r>
              <a:rPr lang="en-US" sz="2400" dirty="0">
                <a:latin typeface="Liberation Sans Narrow"/>
                <a:cs typeface="Liberation Sans Narrow"/>
              </a:rPr>
              <a:t>of a </a:t>
            </a:r>
            <a:r>
              <a:rPr lang="en-US" sz="2400" spc="-5" dirty="0">
                <a:latin typeface="Liberation Sans Narrow"/>
                <a:cs typeface="Liberation Sans Narrow"/>
              </a:rPr>
              <a:t>system </a:t>
            </a:r>
            <a:r>
              <a:rPr lang="en-US" sz="2400" dirty="0">
                <a:latin typeface="Liberation Sans Narrow"/>
                <a:cs typeface="Liberation Sans Narrow"/>
              </a:rPr>
              <a:t>by  </a:t>
            </a:r>
            <a:r>
              <a:rPr lang="en-US" sz="2400" spc="-5" dirty="0">
                <a:latin typeface="Liberation Sans Narrow"/>
                <a:cs typeface="Liberation Sans Narrow"/>
              </a:rPr>
              <a:t>using</a:t>
            </a:r>
            <a:r>
              <a:rPr lang="en-US" sz="2400" spc="-10" dirty="0">
                <a:latin typeface="Liberation Sans Narrow"/>
                <a:cs typeface="Liberation Sans Narrow"/>
              </a:rPr>
              <a:t> </a:t>
            </a:r>
            <a:r>
              <a:rPr lang="en-US" sz="2400" spc="-5" dirty="0">
                <a:latin typeface="Liberation Sans Narrow"/>
                <a:cs typeface="Liberation Sans Narrow"/>
              </a:rPr>
              <a:t>notations.</a:t>
            </a:r>
            <a:endParaRPr lang="en-US" sz="2400" dirty="0">
              <a:latin typeface="Liberation Sans Narrow"/>
              <a:cs typeface="Liberation Sans Narrow"/>
            </a:endParaRPr>
          </a:p>
          <a:p>
            <a:pPr marL="440055" marR="257810" indent="-172720">
              <a:spcBef>
                <a:spcPts val="285"/>
              </a:spcBef>
              <a:buFont typeface="Arial"/>
              <a:buChar char="•"/>
              <a:tabLst>
                <a:tab pos="440690" algn="l"/>
              </a:tabLst>
            </a:pPr>
            <a:r>
              <a:rPr lang="en-US" sz="2400" spc="-5" dirty="0">
                <a:latin typeface="Liberation Sans Narrow"/>
                <a:cs typeface="Liberation Sans Narrow"/>
              </a:rPr>
              <a:t>UML provides </a:t>
            </a:r>
            <a:r>
              <a:rPr lang="en-US" sz="2400" dirty="0">
                <a:latin typeface="Liberation Sans Narrow"/>
                <a:cs typeface="Liberation Sans Narrow"/>
              </a:rPr>
              <a:t>a </a:t>
            </a:r>
            <a:r>
              <a:rPr lang="en-US" sz="2400" spc="-5" dirty="0">
                <a:latin typeface="Liberation Sans Narrow"/>
                <a:cs typeface="Liberation Sans Narrow"/>
              </a:rPr>
              <a:t>wide array </a:t>
            </a:r>
            <a:r>
              <a:rPr lang="en-US" sz="2400" dirty="0">
                <a:latin typeface="Liberation Sans Narrow"/>
                <a:cs typeface="Liberation Sans Narrow"/>
              </a:rPr>
              <a:t>of </a:t>
            </a:r>
            <a:r>
              <a:rPr lang="en-US" sz="2400" spc="-5" dirty="0">
                <a:latin typeface="Liberation Sans Narrow"/>
                <a:cs typeface="Liberation Sans Narrow"/>
              </a:rPr>
              <a:t>simple notations </a:t>
            </a:r>
            <a:r>
              <a:rPr lang="en-US" sz="2400" dirty="0">
                <a:latin typeface="Liberation Sans Narrow"/>
                <a:cs typeface="Liberation Sans Narrow"/>
              </a:rPr>
              <a:t>for </a:t>
            </a:r>
            <a:r>
              <a:rPr lang="en-US" sz="2400" spc="-5" dirty="0">
                <a:latin typeface="Liberation Sans Narrow"/>
                <a:cs typeface="Liberation Sans Narrow"/>
              </a:rPr>
              <a:t>documenting  systems based </a:t>
            </a:r>
            <a:r>
              <a:rPr lang="en-US" sz="2400" dirty="0">
                <a:latin typeface="Liberation Sans Narrow"/>
                <a:cs typeface="Liberation Sans Narrow"/>
              </a:rPr>
              <a:t>on the </a:t>
            </a:r>
            <a:r>
              <a:rPr lang="en-US" sz="2400" spc="-5" dirty="0">
                <a:latin typeface="Liberation Sans Narrow"/>
                <a:cs typeface="Liberation Sans Narrow"/>
              </a:rPr>
              <a:t>object-oriented design</a:t>
            </a:r>
            <a:r>
              <a:rPr lang="en-US" sz="2400" spc="15" dirty="0">
                <a:latin typeface="Liberation Sans Narrow"/>
                <a:cs typeface="Liberation Sans Narrow"/>
              </a:rPr>
              <a:t> </a:t>
            </a:r>
            <a:r>
              <a:rPr lang="en-US" sz="2400" spc="-5" dirty="0">
                <a:latin typeface="Liberation Sans Narrow"/>
                <a:cs typeface="Liberation Sans Narrow"/>
              </a:rPr>
              <a:t>principles.</a:t>
            </a:r>
            <a:endParaRPr lang="en-US" sz="2400" dirty="0">
              <a:latin typeface="Liberation Sans Narrow"/>
              <a:cs typeface="Liberation Sans Narrow"/>
            </a:endParaRPr>
          </a:p>
          <a:p>
            <a:pPr marL="440055" indent="-172720">
              <a:spcBef>
                <a:spcPts val="290"/>
              </a:spcBef>
              <a:buFont typeface="Arial"/>
              <a:buChar char="•"/>
              <a:tabLst>
                <a:tab pos="440690" algn="l"/>
              </a:tabLst>
            </a:pPr>
            <a:r>
              <a:rPr lang="en-US" sz="2400" spc="-5" dirty="0">
                <a:latin typeface="Liberation Sans Narrow"/>
                <a:cs typeface="Liberation Sans Narrow"/>
              </a:rPr>
              <a:t>These notations are called </a:t>
            </a:r>
            <a:r>
              <a:rPr lang="en-US" sz="2400" dirty="0">
                <a:latin typeface="Liberation Sans Narrow"/>
                <a:cs typeface="Liberation Sans Narrow"/>
              </a:rPr>
              <a:t>the </a:t>
            </a:r>
            <a:r>
              <a:rPr lang="en-US" sz="2400" spc="-5" dirty="0">
                <a:latin typeface="Liberation Sans Narrow"/>
                <a:cs typeface="Liberation Sans Narrow"/>
              </a:rPr>
              <a:t>diagrams </a:t>
            </a:r>
            <a:r>
              <a:rPr lang="en-US" sz="2400" dirty="0">
                <a:latin typeface="Liberation Sans Narrow"/>
                <a:cs typeface="Liberation Sans Narrow"/>
              </a:rPr>
              <a:t>of</a:t>
            </a:r>
            <a:r>
              <a:rPr lang="en-US" sz="2400" spc="15" dirty="0">
                <a:latin typeface="Liberation Sans Narrow"/>
                <a:cs typeface="Liberation Sans Narrow"/>
              </a:rPr>
              <a:t> </a:t>
            </a:r>
            <a:r>
              <a:rPr lang="en-US" sz="2400" spc="-5" dirty="0">
                <a:latin typeface="Liberation Sans Narrow"/>
                <a:cs typeface="Liberation Sans Narrow"/>
              </a:rPr>
              <a:t>UML.</a:t>
            </a:r>
            <a:endParaRPr lang="en-US" sz="2400" dirty="0">
              <a:latin typeface="Liberation Sans Narrow"/>
              <a:cs typeface="Liberation Sans Narrow"/>
            </a:endParaRPr>
          </a:p>
        </p:txBody>
      </p:sp>
    </p:spTree>
    <p:extLst>
      <p:ext uri="{BB962C8B-B14F-4D97-AF65-F5344CB8AC3E}">
        <p14:creationId xmlns:p14="http://schemas.microsoft.com/office/powerpoint/2010/main" val="11644942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1BAE3F4-A80A-32F8-67B8-8506DB8990C2}"/>
              </a:ext>
            </a:extLst>
          </p:cNvPr>
          <p:cNvSpPr>
            <a:spLocks noGrp="1"/>
          </p:cNvSpPr>
          <p:nvPr>
            <p:ph type="title"/>
          </p:nvPr>
        </p:nvSpPr>
        <p:spPr/>
        <p:txBody>
          <a:bodyPr/>
          <a:lstStyle/>
          <a:p>
            <a:r>
              <a:rPr lang="en-US" dirty="0"/>
              <a:t>System modeling</a:t>
            </a:r>
          </a:p>
        </p:txBody>
      </p:sp>
      <p:sp>
        <p:nvSpPr>
          <p:cNvPr id="3" name="Content Placeholder 2">
            <a:extLst>
              <a:ext uri="{FF2B5EF4-FFF2-40B4-BE49-F238E27FC236}">
                <a16:creationId xmlns="" xmlns:a16="http://schemas.microsoft.com/office/drawing/2014/main" id="{C32A6CE6-D9A8-80B4-59F4-82BAA53B832B}"/>
              </a:ext>
            </a:extLst>
          </p:cNvPr>
          <p:cNvSpPr>
            <a:spLocks noGrp="1"/>
          </p:cNvSpPr>
          <p:nvPr>
            <p:ph idx="1"/>
          </p:nvPr>
        </p:nvSpPr>
        <p:spPr/>
        <p:txBody>
          <a:bodyPr/>
          <a:lstStyle/>
          <a:p>
            <a:r>
              <a:rPr lang="en-US" dirty="0"/>
              <a:t>System modeling is the process of developing abstract models of a system, with each model presenting a different view or perspective of that system. </a:t>
            </a:r>
          </a:p>
          <a:p>
            <a:r>
              <a:rPr lang="en-US" dirty="0"/>
              <a:t>System modelling helps the analyst to understand the functionality of the system and models are used to communicate with customers. </a:t>
            </a:r>
          </a:p>
        </p:txBody>
      </p:sp>
    </p:spTree>
    <p:extLst>
      <p:ext uri="{BB962C8B-B14F-4D97-AF65-F5344CB8AC3E}">
        <p14:creationId xmlns:p14="http://schemas.microsoft.com/office/powerpoint/2010/main" val="3163185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FA4C6A-620E-5139-30C6-6377C83F991E}"/>
              </a:ext>
            </a:extLst>
          </p:cNvPr>
          <p:cNvSpPr>
            <a:spLocks noGrp="1"/>
          </p:cNvSpPr>
          <p:nvPr>
            <p:ph type="title"/>
          </p:nvPr>
        </p:nvSpPr>
        <p:spPr/>
        <p:txBody>
          <a:bodyPr/>
          <a:lstStyle/>
          <a:p>
            <a:r>
              <a:rPr lang="en-US" dirty="0"/>
              <a:t>Unified Modeling Language </a:t>
            </a:r>
          </a:p>
        </p:txBody>
      </p:sp>
      <p:sp>
        <p:nvSpPr>
          <p:cNvPr id="3" name="Content Placeholder 2">
            <a:extLst>
              <a:ext uri="{FF2B5EF4-FFF2-40B4-BE49-F238E27FC236}">
                <a16:creationId xmlns="" xmlns:a16="http://schemas.microsoft.com/office/drawing/2014/main" id="{51F1C0B6-0616-CF6D-96DC-47CEBE577492}"/>
              </a:ext>
            </a:extLst>
          </p:cNvPr>
          <p:cNvSpPr>
            <a:spLocks noGrp="1"/>
          </p:cNvSpPr>
          <p:nvPr>
            <p:ph idx="1"/>
          </p:nvPr>
        </p:nvSpPr>
        <p:spPr/>
        <p:txBody>
          <a:bodyPr/>
          <a:lstStyle/>
          <a:p>
            <a:r>
              <a:rPr lang="en-US" b="0" i="0" dirty="0">
                <a:solidFill>
                  <a:srgbClr val="4D5156"/>
                </a:solidFill>
                <a:effectLst/>
                <a:latin typeface="arial" panose="020B0604020202020204" pitchFamily="34" charset="0"/>
              </a:rPr>
              <a:t>The Unified Modeling Language is a general-purpose, developmental modeling language in the field of software engineering that is intended to provide a standard way to visualize the design of a system.</a:t>
            </a:r>
            <a:endParaRPr lang="en-US" dirty="0"/>
          </a:p>
        </p:txBody>
      </p:sp>
    </p:spTree>
    <p:extLst>
      <p:ext uri="{BB962C8B-B14F-4D97-AF65-F5344CB8AC3E}">
        <p14:creationId xmlns:p14="http://schemas.microsoft.com/office/powerpoint/2010/main" val="674847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Liberation Sans Narrow"/>
                <a:cs typeface="Liberation Sans Narrow"/>
              </a:rPr>
              <a:t>UML</a:t>
            </a:r>
            <a:r>
              <a:rPr lang="en-US" spc="-75" dirty="0">
                <a:latin typeface="Liberation Sans Narrow"/>
                <a:cs typeface="Liberation Sans Narrow"/>
              </a:rPr>
              <a:t> </a:t>
            </a:r>
            <a:r>
              <a:rPr lang="en-US" spc="-5" dirty="0">
                <a:latin typeface="Liberation Sans Narrow"/>
                <a:cs typeface="Liberation Sans Narrow"/>
              </a:rPr>
              <a:t>Diagrams</a:t>
            </a:r>
            <a:r>
              <a:rPr lang="en-US" dirty="0">
                <a:latin typeface="Liberation Sans Narrow"/>
                <a:cs typeface="Liberation Sans Narrow"/>
              </a:rPr>
              <a:t> </a:t>
            </a:r>
            <a:r>
              <a:rPr lang="en-US" dirty="0" smtClean="0">
                <a:latin typeface="Liberation Sans Narrow"/>
                <a:cs typeface="Liberation Sans Narrow"/>
              </a:rPr>
              <a:t>                    </a:t>
            </a:r>
            <a:endParaRPr lang="en-US" dirty="0"/>
          </a:p>
        </p:txBody>
      </p:sp>
      <p:sp>
        <p:nvSpPr>
          <p:cNvPr id="3" name="Content Placeholder 2"/>
          <p:cNvSpPr>
            <a:spLocks noGrp="1"/>
          </p:cNvSpPr>
          <p:nvPr>
            <p:ph idx="1"/>
          </p:nvPr>
        </p:nvSpPr>
        <p:spPr/>
        <p:txBody>
          <a:bodyPr>
            <a:noAutofit/>
          </a:bodyPr>
          <a:lstStyle/>
          <a:p>
            <a:pPr marL="440055" marR="257810" indent="-172720" algn="just">
              <a:spcBef>
                <a:spcPts val="690"/>
              </a:spcBef>
              <a:buFont typeface="Arial"/>
              <a:buChar char="•"/>
              <a:tabLst>
                <a:tab pos="440690" algn="l"/>
              </a:tabLst>
            </a:pPr>
            <a:endParaRPr lang="en-US" sz="2000" spc="-5" dirty="0" smtClean="0">
              <a:latin typeface="Liberation Sans Narrow"/>
              <a:cs typeface="Liberation Sans Narrow"/>
            </a:endParaRPr>
          </a:p>
          <a:p>
            <a:pPr marL="440055" marR="257810" indent="-172720" algn="just">
              <a:spcBef>
                <a:spcPts val="690"/>
              </a:spcBef>
              <a:buFont typeface="Arial"/>
              <a:buChar char="•"/>
              <a:tabLst>
                <a:tab pos="440690" algn="l"/>
              </a:tabLst>
            </a:pPr>
            <a:r>
              <a:rPr lang="en-US" sz="2000" spc="-5" dirty="0" smtClean="0">
                <a:latin typeface="Liberation Sans Narrow"/>
                <a:cs typeface="Liberation Sans Narrow"/>
              </a:rPr>
              <a:t>UML </a:t>
            </a:r>
            <a:r>
              <a:rPr lang="en-US" sz="2000" spc="-5" dirty="0">
                <a:latin typeface="Liberation Sans Narrow"/>
                <a:cs typeface="Liberation Sans Narrow"/>
              </a:rPr>
              <a:t>is made </a:t>
            </a:r>
            <a:r>
              <a:rPr lang="en-US" sz="2000" dirty="0">
                <a:latin typeface="Liberation Sans Narrow"/>
                <a:cs typeface="Liberation Sans Narrow"/>
              </a:rPr>
              <a:t>up of </a:t>
            </a:r>
            <a:r>
              <a:rPr lang="en-US" sz="2000" spc="-5" dirty="0">
                <a:latin typeface="Liberation Sans Narrow"/>
                <a:cs typeface="Liberation Sans Narrow"/>
              </a:rPr>
              <a:t>nine diagrams </a:t>
            </a:r>
            <a:r>
              <a:rPr lang="en-US" sz="2000" dirty="0">
                <a:latin typeface="Liberation Sans Narrow"/>
                <a:cs typeface="Liberation Sans Narrow"/>
              </a:rPr>
              <a:t>that </a:t>
            </a:r>
            <a:r>
              <a:rPr lang="en-US" sz="2000" spc="-5" dirty="0">
                <a:latin typeface="Liberation Sans Narrow"/>
                <a:cs typeface="Liberation Sans Narrow"/>
              </a:rPr>
              <a:t>can </a:t>
            </a:r>
            <a:r>
              <a:rPr lang="en-US" sz="2000" dirty="0">
                <a:latin typeface="Liberation Sans Narrow"/>
                <a:cs typeface="Liberation Sans Narrow"/>
              </a:rPr>
              <a:t>be </a:t>
            </a:r>
            <a:r>
              <a:rPr lang="en-US" sz="2000" spc="-5" dirty="0">
                <a:latin typeface="Liberation Sans Narrow"/>
                <a:cs typeface="Liberation Sans Narrow"/>
              </a:rPr>
              <a:t>used </a:t>
            </a:r>
            <a:r>
              <a:rPr lang="en-US" sz="2000" dirty="0">
                <a:latin typeface="Liberation Sans Narrow"/>
                <a:cs typeface="Liberation Sans Narrow"/>
              </a:rPr>
              <a:t>to </a:t>
            </a:r>
            <a:r>
              <a:rPr lang="en-US" sz="2000" spc="-5" dirty="0">
                <a:latin typeface="Liberation Sans Narrow"/>
                <a:cs typeface="Liberation Sans Narrow"/>
              </a:rPr>
              <a:t>model </a:t>
            </a:r>
            <a:r>
              <a:rPr lang="en-US" sz="2000" dirty="0">
                <a:latin typeface="Liberation Sans Narrow"/>
                <a:cs typeface="Liberation Sans Narrow"/>
              </a:rPr>
              <a:t>a </a:t>
            </a:r>
            <a:r>
              <a:rPr lang="en-US" sz="2000" spc="-5" dirty="0">
                <a:latin typeface="Liberation Sans Narrow"/>
                <a:cs typeface="Liberation Sans Narrow"/>
              </a:rPr>
              <a:t>system </a:t>
            </a:r>
            <a:r>
              <a:rPr lang="en-US" sz="2000" dirty="0">
                <a:latin typeface="Liberation Sans Narrow"/>
                <a:cs typeface="Liberation Sans Narrow"/>
              </a:rPr>
              <a:t>at </a:t>
            </a:r>
            <a:r>
              <a:rPr lang="en-US" sz="2000" spc="-5" dirty="0">
                <a:latin typeface="Liberation Sans Narrow"/>
                <a:cs typeface="Liberation Sans Narrow"/>
              </a:rPr>
              <a:t>different </a:t>
            </a:r>
            <a:r>
              <a:rPr lang="en-US" sz="2000" dirty="0">
                <a:latin typeface="Liberation Sans Narrow"/>
                <a:cs typeface="Liberation Sans Narrow"/>
              </a:rPr>
              <a:t>points of  </a:t>
            </a:r>
            <a:r>
              <a:rPr lang="en-US" sz="2000" spc="-5" dirty="0">
                <a:latin typeface="Liberation Sans Narrow"/>
                <a:cs typeface="Liberation Sans Narrow"/>
              </a:rPr>
              <a:t>time in </a:t>
            </a:r>
            <a:r>
              <a:rPr lang="en-US" sz="2000" dirty="0">
                <a:latin typeface="Liberation Sans Narrow"/>
                <a:cs typeface="Liberation Sans Narrow"/>
              </a:rPr>
              <a:t>the </a:t>
            </a:r>
            <a:r>
              <a:rPr lang="en-US" sz="2000" spc="-5" dirty="0">
                <a:latin typeface="Liberation Sans Narrow"/>
                <a:cs typeface="Liberation Sans Narrow"/>
              </a:rPr>
              <a:t>software life cycle </a:t>
            </a:r>
            <a:r>
              <a:rPr lang="en-US" sz="2000" dirty="0">
                <a:latin typeface="Liberation Sans Narrow"/>
                <a:cs typeface="Liberation Sans Narrow"/>
              </a:rPr>
              <a:t>of a</a:t>
            </a:r>
            <a:r>
              <a:rPr lang="en-US" sz="2000" spc="35" dirty="0">
                <a:latin typeface="Liberation Sans Narrow"/>
                <a:cs typeface="Liberation Sans Narrow"/>
              </a:rPr>
              <a:t> </a:t>
            </a:r>
            <a:r>
              <a:rPr lang="en-US" sz="2000" spc="-5" dirty="0">
                <a:latin typeface="Liberation Sans Narrow"/>
                <a:cs typeface="Liberation Sans Narrow"/>
              </a:rPr>
              <a:t>system.</a:t>
            </a:r>
            <a:endParaRPr lang="en-US" sz="2000" dirty="0">
              <a:latin typeface="Liberation Sans Narrow"/>
              <a:cs typeface="Liberation Sans Narrow"/>
            </a:endParaRPr>
          </a:p>
          <a:p>
            <a:pPr marL="440055" indent="-172720" algn="just">
              <a:spcBef>
                <a:spcPts val="114"/>
              </a:spcBef>
              <a:buFont typeface="Arial"/>
              <a:buChar char="•"/>
              <a:tabLst>
                <a:tab pos="440690" algn="l"/>
              </a:tabLst>
            </a:pPr>
            <a:r>
              <a:rPr lang="en-US" sz="2000" spc="-5" dirty="0">
                <a:latin typeface="Liberation Sans Narrow"/>
                <a:cs typeface="Liberation Sans Narrow"/>
              </a:rPr>
              <a:t>The nine UML diagrams</a:t>
            </a:r>
            <a:r>
              <a:rPr lang="en-US" sz="2000" spc="-45" dirty="0">
                <a:latin typeface="Liberation Sans Narrow"/>
                <a:cs typeface="Liberation Sans Narrow"/>
              </a:rPr>
              <a:t> </a:t>
            </a:r>
            <a:r>
              <a:rPr lang="en-US" sz="2000" spc="-5" dirty="0">
                <a:latin typeface="Liberation Sans Narrow"/>
                <a:cs typeface="Liberation Sans Narrow"/>
              </a:rPr>
              <a:t>are:</a:t>
            </a:r>
            <a:endParaRPr lang="en-US" sz="2000" dirty="0">
              <a:latin typeface="Liberation Sans Narrow"/>
              <a:cs typeface="Liberation Sans Narrow"/>
            </a:endParaRPr>
          </a:p>
          <a:p>
            <a:pPr marL="725170" lvl="1" indent="-229235">
              <a:spcBef>
                <a:spcPts val="145"/>
              </a:spcBef>
              <a:buAutoNum type="arabicPeriod"/>
              <a:tabLst>
                <a:tab pos="725805" algn="l"/>
              </a:tabLst>
            </a:pPr>
            <a:r>
              <a:rPr lang="en-US" sz="2000" spc="-5" dirty="0">
                <a:latin typeface="Liberation Sans Narrow"/>
                <a:cs typeface="Liberation Sans Narrow"/>
              </a:rPr>
              <a:t>Use case</a:t>
            </a:r>
            <a:r>
              <a:rPr lang="en-US" sz="2000" spc="-55" dirty="0">
                <a:latin typeface="Liberation Sans Narrow"/>
                <a:cs typeface="Liberation Sans Narrow"/>
              </a:rPr>
              <a:t> </a:t>
            </a:r>
            <a:r>
              <a:rPr lang="en-US" sz="2000" spc="-5" dirty="0">
                <a:latin typeface="Liberation Sans Narrow"/>
                <a:cs typeface="Liberation Sans Narrow"/>
              </a:rPr>
              <a:t>diagram</a:t>
            </a:r>
            <a:endParaRPr lang="en-US" sz="2000" dirty="0">
              <a:latin typeface="Liberation Sans Narrow"/>
              <a:cs typeface="Liberation Sans Narrow"/>
            </a:endParaRPr>
          </a:p>
          <a:p>
            <a:pPr marL="725170" lvl="1" indent="-229235">
              <a:spcBef>
                <a:spcPts val="140"/>
              </a:spcBef>
              <a:buAutoNum type="arabicPeriod"/>
              <a:tabLst>
                <a:tab pos="725805" algn="l"/>
              </a:tabLst>
            </a:pPr>
            <a:r>
              <a:rPr lang="en-US" sz="2000" spc="-5" dirty="0">
                <a:latin typeface="Liberation Sans Narrow"/>
                <a:cs typeface="Liberation Sans Narrow"/>
              </a:rPr>
              <a:t>Class diagram</a:t>
            </a:r>
            <a:endParaRPr lang="en-US" sz="2000" dirty="0">
              <a:latin typeface="Liberation Sans Narrow"/>
              <a:cs typeface="Liberation Sans Narrow"/>
            </a:endParaRPr>
          </a:p>
          <a:p>
            <a:pPr marL="725170" lvl="1" indent="-229235">
              <a:spcBef>
                <a:spcPts val="145"/>
              </a:spcBef>
              <a:buAutoNum type="arabicPeriod"/>
              <a:tabLst>
                <a:tab pos="725805" algn="l"/>
              </a:tabLst>
            </a:pPr>
            <a:r>
              <a:rPr lang="en-US" sz="2000" spc="-5" dirty="0">
                <a:latin typeface="Liberation Sans Narrow"/>
                <a:cs typeface="Liberation Sans Narrow"/>
              </a:rPr>
              <a:t>Object</a:t>
            </a:r>
            <a:r>
              <a:rPr lang="en-US" sz="2000" spc="-15" dirty="0">
                <a:latin typeface="Liberation Sans Narrow"/>
                <a:cs typeface="Liberation Sans Narrow"/>
              </a:rPr>
              <a:t> </a:t>
            </a:r>
            <a:r>
              <a:rPr lang="en-US" sz="2000" spc="-5" dirty="0">
                <a:latin typeface="Liberation Sans Narrow"/>
                <a:cs typeface="Liberation Sans Narrow"/>
              </a:rPr>
              <a:t>diagram</a:t>
            </a:r>
            <a:endParaRPr lang="en-US" sz="2000" dirty="0">
              <a:latin typeface="Liberation Sans Narrow"/>
              <a:cs typeface="Liberation Sans Narrow"/>
            </a:endParaRPr>
          </a:p>
          <a:p>
            <a:pPr marL="725170" lvl="1" indent="-229235">
              <a:spcBef>
                <a:spcPts val="145"/>
              </a:spcBef>
              <a:buAutoNum type="arabicPeriod"/>
              <a:tabLst>
                <a:tab pos="725805" algn="l"/>
              </a:tabLst>
            </a:pPr>
            <a:r>
              <a:rPr lang="en-US" sz="2000" dirty="0">
                <a:latin typeface="Liberation Sans Narrow"/>
                <a:cs typeface="Liberation Sans Narrow"/>
              </a:rPr>
              <a:t>State</a:t>
            </a:r>
            <a:r>
              <a:rPr lang="en-US" sz="2000" spc="-25" dirty="0">
                <a:latin typeface="Liberation Sans Narrow"/>
                <a:cs typeface="Liberation Sans Narrow"/>
              </a:rPr>
              <a:t> </a:t>
            </a:r>
            <a:r>
              <a:rPr lang="en-US" sz="2000" spc="-5" dirty="0">
                <a:latin typeface="Liberation Sans Narrow"/>
                <a:cs typeface="Liberation Sans Narrow"/>
              </a:rPr>
              <a:t>diagram</a:t>
            </a:r>
            <a:endParaRPr lang="en-US" sz="2000" dirty="0">
              <a:latin typeface="Liberation Sans Narrow"/>
              <a:cs typeface="Liberation Sans Narrow"/>
            </a:endParaRPr>
          </a:p>
          <a:p>
            <a:pPr marL="725170" lvl="1" indent="-229235">
              <a:spcBef>
                <a:spcPts val="145"/>
              </a:spcBef>
              <a:buAutoNum type="arabicPeriod"/>
              <a:tabLst>
                <a:tab pos="725805" algn="l"/>
              </a:tabLst>
            </a:pPr>
            <a:r>
              <a:rPr lang="en-US" sz="2000" spc="-5" dirty="0">
                <a:latin typeface="Liberation Sans Narrow"/>
                <a:cs typeface="Liberation Sans Narrow"/>
              </a:rPr>
              <a:t>Activity</a:t>
            </a:r>
            <a:r>
              <a:rPr lang="en-US" sz="2000" spc="-15" dirty="0">
                <a:latin typeface="Liberation Sans Narrow"/>
                <a:cs typeface="Liberation Sans Narrow"/>
              </a:rPr>
              <a:t> </a:t>
            </a:r>
            <a:r>
              <a:rPr lang="en-US" sz="2000" spc="-5" dirty="0">
                <a:latin typeface="Liberation Sans Narrow"/>
                <a:cs typeface="Liberation Sans Narrow"/>
              </a:rPr>
              <a:t>diagram</a:t>
            </a:r>
            <a:endParaRPr lang="en-US" sz="2000" dirty="0">
              <a:latin typeface="Liberation Sans Narrow"/>
              <a:cs typeface="Liberation Sans Narrow"/>
            </a:endParaRPr>
          </a:p>
          <a:p>
            <a:pPr marL="725170" lvl="1" indent="-229235">
              <a:spcBef>
                <a:spcPts val="145"/>
              </a:spcBef>
              <a:buAutoNum type="arabicPeriod"/>
              <a:tabLst>
                <a:tab pos="725805" algn="l"/>
              </a:tabLst>
            </a:pPr>
            <a:r>
              <a:rPr lang="en-US" sz="2000" spc="-5" dirty="0">
                <a:latin typeface="Liberation Sans Narrow"/>
                <a:cs typeface="Liberation Sans Narrow"/>
              </a:rPr>
              <a:t>Sequence</a:t>
            </a:r>
            <a:r>
              <a:rPr lang="en-US" sz="2000" spc="-25" dirty="0">
                <a:latin typeface="Liberation Sans Narrow"/>
                <a:cs typeface="Liberation Sans Narrow"/>
              </a:rPr>
              <a:t> </a:t>
            </a:r>
            <a:r>
              <a:rPr lang="en-US" sz="2000" spc="-5" dirty="0">
                <a:latin typeface="Liberation Sans Narrow"/>
                <a:cs typeface="Liberation Sans Narrow"/>
              </a:rPr>
              <a:t>diagram</a:t>
            </a:r>
            <a:endParaRPr lang="en-US" sz="2000" dirty="0">
              <a:latin typeface="Liberation Sans Narrow"/>
              <a:cs typeface="Liberation Sans Narrow"/>
            </a:endParaRPr>
          </a:p>
          <a:p>
            <a:pPr marL="725170" lvl="1" indent="-229235">
              <a:spcBef>
                <a:spcPts val="140"/>
              </a:spcBef>
              <a:buAutoNum type="arabicPeriod"/>
              <a:tabLst>
                <a:tab pos="725805" algn="l"/>
              </a:tabLst>
            </a:pPr>
            <a:r>
              <a:rPr lang="en-US" sz="2000" spc="-5" dirty="0">
                <a:latin typeface="Liberation Sans Narrow"/>
                <a:cs typeface="Liberation Sans Narrow"/>
              </a:rPr>
              <a:t>Collaboration</a:t>
            </a:r>
            <a:r>
              <a:rPr lang="en-US" sz="2000" spc="-10" dirty="0">
                <a:latin typeface="Liberation Sans Narrow"/>
                <a:cs typeface="Liberation Sans Narrow"/>
              </a:rPr>
              <a:t> </a:t>
            </a:r>
            <a:r>
              <a:rPr lang="en-US" sz="2000" spc="-5" dirty="0">
                <a:latin typeface="Liberation Sans Narrow"/>
                <a:cs typeface="Liberation Sans Narrow"/>
              </a:rPr>
              <a:t>diagram</a:t>
            </a:r>
            <a:endParaRPr lang="en-US" sz="2000" dirty="0">
              <a:latin typeface="Liberation Sans Narrow"/>
              <a:cs typeface="Liberation Sans Narrow"/>
            </a:endParaRPr>
          </a:p>
          <a:p>
            <a:pPr marL="725170" lvl="1" indent="-229235">
              <a:spcBef>
                <a:spcPts val="145"/>
              </a:spcBef>
              <a:buAutoNum type="arabicPeriod"/>
              <a:tabLst>
                <a:tab pos="725805" algn="l"/>
              </a:tabLst>
            </a:pPr>
            <a:r>
              <a:rPr lang="en-US" sz="2000" spc="-5" dirty="0">
                <a:latin typeface="Liberation Sans Narrow"/>
                <a:cs typeface="Liberation Sans Narrow"/>
              </a:rPr>
              <a:t>Component</a:t>
            </a:r>
            <a:r>
              <a:rPr lang="en-US" sz="2000" spc="-60" dirty="0">
                <a:latin typeface="Liberation Sans Narrow"/>
                <a:cs typeface="Liberation Sans Narrow"/>
              </a:rPr>
              <a:t> </a:t>
            </a:r>
            <a:r>
              <a:rPr lang="en-US" sz="2000" spc="-5" dirty="0">
                <a:latin typeface="Liberation Sans Narrow"/>
                <a:cs typeface="Liberation Sans Narrow"/>
              </a:rPr>
              <a:t>diagram</a:t>
            </a:r>
            <a:endParaRPr lang="en-US" sz="2000" dirty="0">
              <a:latin typeface="Liberation Sans Narrow"/>
              <a:cs typeface="Liberation Sans Narrow"/>
            </a:endParaRPr>
          </a:p>
          <a:p>
            <a:pPr marL="725170" lvl="1" indent="-229235">
              <a:spcBef>
                <a:spcPts val="145"/>
              </a:spcBef>
              <a:buAutoNum type="arabicPeriod"/>
              <a:tabLst>
                <a:tab pos="725805" algn="l"/>
              </a:tabLst>
            </a:pPr>
            <a:r>
              <a:rPr lang="en-US" sz="2000" spc="-5" dirty="0">
                <a:latin typeface="Liberation Sans Narrow"/>
                <a:cs typeface="Liberation Sans Narrow"/>
              </a:rPr>
              <a:t>Deployment</a:t>
            </a:r>
            <a:r>
              <a:rPr lang="en-US" sz="2000" spc="-55" dirty="0">
                <a:latin typeface="Liberation Sans Narrow"/>
                <a:cs typeface="Liberation Sans Narrow"/>
              </a:rPr>
              <a:t> </a:t>
            </a:r>
            <a:r>
              <a:rPr lang="en-US" sz="2000" spc="-5" dirty="0">
                <a:latin typeface="Liberation Sans Narrow"/>
                <a:cs typeface="Liberation Sans Narrow"/>
              </a:rPr>
              <a:t>diagram</a:t>
            </a:r>
            <a:endParaRPr lang="en-US" sz="2000" dirty="0">
              <a:latin typeface="Liberation Sans Narrow"/>
              <a:cs typeface="Liberation Sans Narrow"/>
            </a:endParaRPr>
          </a:p>
        </p:txBody>
      </p:sp>
    </p:spTree>
    <p:extLst>
      <p:ext uri="{BB962C8B-B14F-4D97-AF65-F5344CB8AC3E}">
        <p14:creationId xmlns:p14="http://schemas.microsoft.com/office/powerpoint/2010/main" val="11813043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Liberation Sans Narrow"/>
                <a:cs typeface="Liberation Sans Narrow"/>
              </a:rPr>
              <a:t>UML </a:t>
            </a:r>
            <a:r>
              <a:rPr lang="en-US" spc="-5" dirty="0">
                <a:latin typeface="Liberation Sans Narrow"/>
                <a:cs typeface="Liberation Sans Narrow"/>
              </a:rPr>
              <a:t>Diagram</a:t>
            </a:r>
            <a:r>
              <a:rPr lang="en-US" spc="-90" dirty="0">
                <a:latin typeface="Liberation Sans Narrow"/>
                <a:cs typeface="Liberation Sans Narrow"/>
              </a:rPr>
              <a:t> </a:t>
            </a:r>
            <a:r>
              <a:rPr lang="en-US" spc="-5" dirty="0">
                <a:latin typeface="Liberation Sans Narrow"/>
                <a:cs typeface="Liberation Sans Narrow"/>
              </a:rPr>
              <a:t>Classification</a:t>
            </a:r>
            <a:endParaRPr lang="en-US" dirty="0"/>
          </a:p>
        </p:txBody>
      </p:sp>
      <p:sp>
        <p:nvSpPr>
          <p:cNvPr id="3" name="Content Placeholder 2"/>
          <p:cNvSpPr>
            <a:spLocks noGrp="1"/>
          </p:cNvSpPr>
          <p:nvPr>
            <p:ph idx="1"/>
          </p:nvPr>
        </p:nvSpPr>
        <p:spPr/>
        <p:txBody>
          <a:bodyPr>
            <a:normAutofit/>
          </a:bodyPr>
          <a:lstStyle/>
          <a:p>
            <a:pPr marL="440055" indent="-172720" algn="just">
              <a:spcBef>
                <a:spcPts val="670"/>
              </a:spcBef>
              <a:buFont typeface="Arial"/>
              <a:buChar char="•"/>
              <a:tabLst>
                <a:tab pos="440690" algn="l"/>
              </a:tabLst>
            </a:pPr>
            <a:r>
              <a:rPr lang="en-US" dirty="0" smtClean="0">
                <a:latin typeface="Liberation Sans Narrow"/>
                <a:cs typeface="Liberation Sans Narrow"/>
              </a:rPr>
              <a:t>A</a:t>
            </a:r>
            <a:r>
              <a:rPr lang="en-US" spc="15" dirty="0">
                <a:latin typeface="Liberation Sans Narrow"/>
                <a:cs typeface="Liberation Sans Narrow"/>
              </a:rPr>
              <a:t> </a:t>
            </a:r>
            <a:r>
              <a:rPr lang="en-US" spc="-5" dirty="0">
                <a:latin typeface="Liberation Sans Narrow"/>
                <a:cs typeface="Liberation Sans Narrow"/>
              </a:rPr>
              <a:t>software</a:t>
            </a:r>
            <a:r>
              <a:rPr lang="en-US" spc="80" dirty="0">
                <a:latin typeface="Liberation Sans Narrow"/>
                <a:cs typeface="Liberation Sans Narrow"/>
              </a:rPr>
              <a:t> </a:t>
            </a:r>
            <a:r>
              <a:rPr lang="en-US" spc="-5" dirty="0">
                <a:latin typeface="Liberation Sans Narrow"/>
                <a:cs typeface="Liberation Sans Narrow"/>
              </a:rPr>
              <a:t>system</a:t>
            </a:r>
            <a:r>
              <a:rPr lang="en-US" spc="70" dirty="0">
                <a:latin typeface="Liberation Sans Narrow"/>
                <a:cs typeface="Liberation Sans Narrow"/>
              </a:rPr>
              <a:t> </a:t>
            </a:r>
            <a:r>
              <a:rPr lang="en-US" spc="-5" dirty="0">
                <a:latin typeface="Liberation Sans Narrow"/>
                <a:cs typeface="Liberation Sans Narrow"/>
              </a:rPr>
              <a:t>can</a:t>
            </a:r>
            <a:r>
              <a:rPr lang="en-US" spc="80" dirty="0">
                <a:latin typeface="Liberation Sans Narrow"/>
                <a:cs typeface="Liberation Sans Narrow"/>
              </a:rPr>
              <a:t> </a:t>
            </a:r>
            <a:r>
              <a:rPr lang="en-US" dirty="0" smtClean="0">
                <a:latin typeface="Liberation Sans Narrow"/>
                <a:cs typeface="Liberation Sans Narrow"/>
              </a:rPr>
              <a:t>be</a:t>
            </a:r>
            <a:r>
              <a:rPr lang="en-US" spc="80" dirty="0">
                <a:latin typeface="Liberation Sans Narrow"/>
                <a:cs typeface="Liberation Sans Narrow"/>
              </a:rPr>
              <a:t> </a:t>
            </a:r>
            <a:r>
              <a:rPr lang="en-US" spc="-5" dirty="0">
                <a:latin typeface="Liberation Sans Narrow"/>
                <a:cs typeface="Liberation Sans Narrow"/>
              </a:rPr>
              <a:t>said</a:t>
            </a:r>
            <a:r>
              <a:rPr lang="en-US" spc="75" dirty="0">
                <a:latin typeface="Liberation Sans Narrow"/>
                <a:cs typeface="Liberation Sans Narrow"/>
              </a:rPr>
              <a:t> </a:t>
            </a:r>
            <a:r>
              <a:rPr lang="en-US" dirty="0" smtClean="0">
                <a:latin typeface="Liberation Sans Narrow"/>
                <a:cs typeface="Liberation Sans Narrow"/>
              </a:rPr>
              <a:t>to</a:t>
            </a:r>
            <a:r>
              <a:rPr lang="en-US" spc="80" dirty="0">
                <a:latin typeface="Liberation Sans Narrow"/>
                <a:cs typeface="Liberation Sans Narrow"/>
              </a:rPr>
              <a:t> </a:t>
            </a:r>
            <a:r>
              <a:rPr lang="en-US" spc="-5" dirty="0">
                <a:latin typeface="Liberation Sans Narrow"/>
                <a:cs typeface="Liberation Sans Narrow"/>
              </a:rPr>
              <a:t>have</a:t>
            </a:r>
            <a:r>
              <a:rPr lang="en-US" spc="80" dirty="0">
                <a:latin typeface="Liberation Sans Narrow"/>
                <a:cs typeface="Liberation Sans Narrow"/>
              </a:rPr>
              <a:t> </a:t>
            </a:r>
            <a:r>
              <a:rPr lang="en-US" spc="-5" dirty="0">
                <a:latin typeface="Liberation Sans Narrow"/>
                <a:cs typeface="Liberation Sans Narrow"/>
              </a:rPr>
              <a:t>three</a:t>
            </a:r>
            <a:r>
              <a:rPr lang="en-US" spc="75" dirty="0">
                <a:latin typeface="Liberation Sans Narrow"/>
                <a:cs typeface="Liberation Sans Narrow"/>
              </a:rPr>
              <a:t> </a:t>
            </a:r>
            <a:r>
              <a:rPr lang="en-US" spc="-5" dirty="0">
                <a:latin typeface="Liberation Sans Narrow"/>
                <a:cs typeface="Liberation Sans Narrow"/>
              </a:rPr>
              <a:t>distinct</a:t>
            </a:r>
            <a:r>
              <a:rPr lang="en-US" spc="65" dirty="0">
                <a:latin typeface="Liberation Sans Narrow"/>
                <a:cs typeface="Liberation Sans Narrow"/>
              </a:rPr>
              <a:t> </a:t>
            </a:r>
            <a:r>
              <a:rPr lang="en-US" spc="-5" dirty="0">
                <a:latin typeface="Liberation Sans Narrow"/>
                <a:cs typeface="Liberation Sans Narrow"/>
              </a:rPr>
              <a:t>characteristics:</a:t>
            </a:r>
            <a:endParaRPr lang="en-US" dirty="0" smtClean="0">
              <a:latin typeface="Liberation Sans Narrow"/>
              <a:cs typeface="Liberation Sans Narrow"/>
            </a:endParaRPr>
          </a:p>
          <a:p>
            <a:pPr marL="440055" algn="just"/>
            <a:r>
              <a:rPr lang="en-US" i="1" spc="-5" dirty="0">
                <a:latin typeface="Liberation Sans Narrow"/>
                <a:cs typeface="Liberation Sans Narrow"/>
              </a:rPr>
              <a:t>static</a:t>
            </a:r>
            <a:r>
              <a:rPr lang="en-US" spc="-5" dirty="0">
                <a:latin typeface="Liberation Sans Narrow"/>
                <a:cs typeface="Liberation Sans Narrow"/>
              </a:rPr>
              <a:t>, </a:t>
            </a:r>
            <a:r>
              <a:rPr lang="en-US" i="1" spc="-5" dirty="0">
                <a:latin typeface="Liberation Sans Narrow"/>
                <a:cs typeface="Liberation Sans Narrow"/>
              </a:rPr>
              <a:t>dynamic</a:t>
            </a:r>
            <a:r>
              <a:rPr lang="en-US" spc="-5" dirty="0">
                <a:latin typeface="Liberation Sans Narrow"/>
                <a:cs typeface="Liberation Sans Narrow"/>
              </a:rPr>
              <a:t>, </a:t>
            </a:r>
            <a:r>
              <a:rPr lang="en-US" dirty="0" smtClean="0">
                <a:latin typeface="Liberation Sans Narrow"/>
                <a:cs typeface="Liberation Sans Narrow"/>
              </a:rPr>
              <a:t>and</a:t>
            </a:r>
            <a:r>
              <a:rPr lang="en-US" spc="265" dirty="0">
                <a:latin typeface="Liberation Sans Narrow"/>
                <a:cs typeface="Liberation Sans Narrow"/>
              </a:rPr>
              <a:t> </a:t>
            </a:r>
            <a:r>
              <a:rPr lang="en-US" i="1" spc="-5" dirty="0">
                <a:latin typeface="Liberation Sans Narrow"/>
                <a:cs typeface="Liberation Sans Narrow"/>
              </a:rPr>
              <a:t>implementation</a:t>
            </a:r>
            <a:r>
              <a:rPr lang="en-US" spc="-5" dirty="0">
                <a:latin typeface="Liberation Sans Narrow"/>
                <a:cs typeface="Liberation Sans Narrow"/>
              </a:rPr>
              <a:t>.</a:t>
            </a:r>
            <a:endParaRPr lang="en-US" dirty="0" smtClean="0">
              <a:latin typeface="Liberation Sans Narrow"/>
              <a:cs typeface="Liberation Sans Narrow"/>
            </a:endParaRPr>
          </a:p>
          <a:p>
            <a:pPr marL="440055" marR="258445" indent="-172720" algn="just">
              <a:spcBef>
                <a:spcPts val="290"/>
              </a:spcBef>
              <a:buFont typeface="Arial"/>
              <a:buChar char="•"/>
              <a:tabLst>
                <a:tab pos="440690" algn="l"/>
              </a:tabLst>
            </a:pPr>
            <a:r>
              <a:rPr lang="en-US" b="1" spc="-5" dirty="0">
                <a:latin typeface="Liberation Sans Narrow"/>
                <a:cs typeface="Liberation Sans Narrow"/>
              </a:rPr>
              <a:t>Static: </a:t>
            </a:r>
            <a:r>
              <a:rPr lang="en-US" dirty="0" smtClean="0">
                <a:latin typeface="Liberation Sans Narrow"/>
                <a:cs typeface="Liberation Sans Narrow"/>
              </a:rPr>
              <a:t>the </a:t>
            </a:r>
            <a:r>
              <a:rPr lang="en-US" spc="-5" dirty="0">
                <a:latin typeface="Liberation Sans Narrow"/>
                <a:cs typeface="Liberation Sans Narrow"/>
              </a:rPr>
              <a:t>structural aspect </a:t>
            </a:r>
            <a:r>
              <a:rPr lang="en-US" dirty="0" smtClean="0">
                <a:latin typeface="Liberation Sans Narrow"/>
                <a:cs typeface="Liberation Sans Narrow"/>
              </a:rPr>
              <a:t>of the </a:t>
            </a:r>
            <a:r>
              <a:rPr lang="en-US" spc="-5" dirty="0">
                <a:latin typeface="Liberation Sans Narrow"/>
                <a:cs typeface="Liberation Sans Narrow"/>
              </a:rPr>
              <a:t>system, define what parts </a:t>
            </a:r>
            <a:r>
              <a:rPr lang="en-US" dirty="0" smtClean="0">
                <a:latin typeface="Liberation Sans Narrow"/>
                <a:cs typeface="Liberation Sans Narrow"/>
              </a:rPr>
              <a:t>the  </a:t>
            </a:r>
            <a:r>
              <a:rPr lang="en-US" spc="-5" dirty="0">
                <a:latin typeface="Liberation Sans Narrow"/>
                <a:cs typeface="Liberation Sans Narrow"/>
              </a:rPr>
              <a:t>system is made </a:t>
            </a:r>
            <a:r>
              <a:rPr lang="en-US" dirty="0" smtClean="0">
                <a:latin typeface="Liberation Sans Narrow"/>
                <a:cs typeface="Liberation Sans Narrow"/>
              </a:rPr>
              <a:t>up</a:t>
            </a:r>
            <a:r>
              <a:rPr lang="en-US" spc="5" dirty="0">
                <a:latin typeface="Liberation Sans Narrow"/>
                <a:cs typeface="Liberation Sans Narrow"/>
              </a:rPr>
              <a:t> </a:t>
            </a:r>
            <a:r>
              <a:rPr lang="en-US" dirty="0" smtClean="0">
                <a:latin typeface="Liberation Sans Narrow"/>
                <a:cs typeface="Liberation Sans Narrow"/>
              </a:rPr>
              <a:t>of.</a:t>
            </a:r>
          </a:p>
          <a:p>
            <a:pPr marL="440055" marR="259079" indent="-172720" algn="just">
              <a:spcBef>
                <a:spcPts val="290"/>
              </a:spcBef>
              <a:buFont typeface="Arial"/>
              <a:buChar char="•"/>
              <a:tabLst>
                <a:tab pos="440690" algn="l"/>
              </a:tabLst>
            </a:pPr>
            <a:r>
              <a:rPr lang="en-US" b="1" spc="-5" dirty="0">
                <a:latin typeface="Liberation Sans Narrow"/>
                <a:cs typeface="Liberation Sans Narrow"/>
              </a:rPr>
              <a:t>Dynamic: </a:t>
            </a:r>
            <a:r>
              <a:rPr lang="en-US" spc="-5" dirty="0">
                <a:latin typeface="Liberation Sans Narrow"/>
                <a:cs typeface="Liberation Sans Narrow"/>
              </a:rPr>
              <a:t>The behavioral features </a:t>
            </a:r>
            <a:r>
              <a:rPr lang="en-US" dirty="0" smtClean="0">
                <a:latin typeface="Liberation Sans Narrow"/>
                <a:cs typeface="Liberation Sans Narrow"/>
              </a:rPr>
              <a:t>of a </a:t>
            </a:r>
            <a:r>
              <a:rPr lang="en-US" spc="-5" dirty="0">
                <a:latin typeface="Liberation Sans Narrow"/>
                <a:cs typeface="Liberation Sans Narrow"/>
              </a:rPr>
              <a:t>system; </a:t>
            </a:r>
            <a:r>
              <a:rPr lang="en-US" dirty="0" smtClean="0">
                <a:latin typeface="Liberation Sans Narrow"/>
                <a:cs typeface="Liberation Sans Narrow"/>
              </a:rPr>
              <a:t>for </a:t>
            </a:r>
            <a:r>
              <a:rPr lang="en-US" spc="-5" dirty="0">
                <a:latin typeface="Liberation Sans Narrow"/>
                <a:cs typeface="Liberation Sans Narrow"/>
              </a:rPr>
              <a:t>example, </a:t>
            </a:r>
            <a:r>
              <a:rPr lang="en-US" dirty="0" smtClean="0">
                <a:latin typeface="Liberation Sans Narrow"/>
                <a:cs typeface="Liberation Sans Narrow"/>
              </a:rPr>
              <a:t>the  </a:t>
            </a:r>
            <a:r>
              <a:rPr lang="en-US" spc="-5" dirty="0">
                <a:latin typeface="Liberation Sans Narrow"/>
                <a:cs typeface="Liberation Sans Narrow"/>
              </a:rPr>
              <a:t>ways </a:t>
            </a:r>
            <a:r>
              <a:rPr lang="en-US" dirty="0" smtClean="0">
                <a:latin typeface="Liberation Sans Narrow"/>
                <a:cs typeface="Liberation Sans Narrow"/>
              </a:rPr>
              <a:t>a </a:t>
            </a:r>
            <a:r>
              <a:rPr lang="en-US" spc="-5" dirty="0">
                <a:latin typeface="Liberation Sans Narrow"/>
                <a:cs typeface="Liberation Sans Narrow"/>
              </a:rPr>
              <a:t>system behaves in response </a:t>
            </a:r>
            <a:r>
              <a:rPr lang="en-US" dirty="0" smtClean="0">
                <a:latin typeface="Liberation Sans Narrow"/>
                <a:cs typeface="Liberation Sans Narrow"/>
              </a:rPr>
              <a:t>to </a:t>
            </a:r>
            <a:r>
              <a:rPr lang="en-US" spc="-5" dirty="0">
                <a:latin typeface="Liberation Sans Narrow"/>
                <a:cs typeface="Liberation Sans Narrow"/>
              </a:rPr>
              <a:t>certain events </a:t>
            </a:r>
            <a:r>
              <a:rPr lang="en-US" dirty="0" smtClean="0">
                <a:latin typeface="Liberation Sans Narrow"/>
                <a:cs typeface="Liberation Sans Narrow"/>
              </a:rPr>
              <a:t>or </a:t>
            </a:r>
            <a:r>
              <a:rPr lang="en-US" spc="-5" dirty="0">
                <a:latin typeface="Liberation Sans Narrow"/>
                <a:cs typeface="Liberation Sans Narrow"/>
              </a:rPr>
              <a:t>actions are  </a:t>
            </a:r>
            <a:r>
              <a:rPr lang="en-US" dirty="0" smtClean="0">
                <a:latin typeface="Liberation Sans Narrow"/>
                <a:cs typeface="Liberation Sans Narrow"/>
              </a:rPr>
              <a:t>the </a:t>
            </a:r>
            <a:r>
              <a:rPr lang="en-US" spc="-5" dirty="0">
                <a:latin typeface="Liberation Sans Narrow"/>
                <a:cs typeface="Liberation Sans Narrow"/>
              </a:rPr>
              <a:t>dynamic characteristics </a:t>
            </a:r>
            <a:r>
              <a:rPr lang="en-US" dirty="0" smtClean="0">
                <a:latin typeface="Liberation Sans Narrow"/>
                <a:cs typeface="Liberation Sans Narrow"/>
              </a:rPr>
              <a:t>of a</a:t>
            </a:r>
            <a:r>
              <a:rPr lang="en-US" spc="5" dirty="0">
                <a:latin typeface="Liberation Sans Narrow"/>
                <a:cs typeface="Liberation Sans Narrow"/>
              </a:rPr>
              <a:t> </a:t>
            </a:r>
            <a:r>
              <a:rPr lang="en-US" spc="-5" dirty="0">
                <a:latin typeface="Liberation Sans Narrow"/>
                <a:cs typeface="Liberation Sans Narrow"/>
              </a:rPr>
              <a:t>system.</a:t>
            </a:r>
            <a:endParaRPr lang="en-US" dirty="0" smtClean="0">
              <a:latin typeface="Liberation Sans Narrow"/>
              <a:cs typeface="Liberation Sans Narrow"/>
            </a:endParaRPr>
          </a:p>
          <a:p>
            <a:pPr marL="440055" marR="256540" indent="-172720" algn="just">
              <a:spcBef>
                <a:spcPts val="285"/>
              </a:spcBef>
              <a:buFont typeface="Arial"/>
              <a:buChar char="•"/>
              <a:tabLst>
                <a:tab pos="440690" algn="l"/>
              </a:tabLst>
            </a:pPr>
            <a:r>
              <a:rPr lang="en-US" b="1" spc="-5" dirty="0">
                <a:latin typeface="Liberation Sans Narrow"/>
                <a:cs typeface="Liberation Sans Narrow"/>
              </a:rPr>
              <a:t>Implementation: </a:t>
            </a:r>
            <a:r>
              <a:rPr lang="en-US" spc="-5" dirty="0">
                <a:latin typeface="Liberation Sans Narrow"/>
                <a:cs typeface="Liberation Sans Narrow"/>
              </a:rPr>
              <a:t>The implementation characteristic </a:t>
            </a:r>
            <a:r>
              <a:rPr lang="en-US" dirty="0" smtClean="0">
                <a:latin typeface="Liberation Sans Narrow"/>
                <a:cs typeface="Liberation Sans Narrow"/>
              </a:rPr>
              <a:t>of a </a:t>
            </a:r>
            <a:r>
              <a:rPr lang="en-US" spc="-5" dirty="0">
                <a:latin typeface="Liberation Sans Narrow"/>
                <a:cs typeface="Liberation Sans Narrow"/>
              </a:rPr>
              <a:t>system is </a:t>
            </a:r>
            <a:r>
              <a:rPr lang="en-US" dirty="0" smtClean="0">
                <a:latin typeface="Liberation Sans Narrow"/>
                <a:cs typeface="Liberation Sans Narrow"/>
              </a:rPr>
              <a:t>an  </a:t>
            </a:r>
            <a:r>
              <a:rPr lang="en-US" spc="-5" dirty="0">
                <a:latin typeface="Liberation Sans Narrow"/>
                <a:cs typeface="Liberation Sans Narrow"/>
              </a:rPr>
              <a:t>entirely </a:t>
            </a:r>
            <a:r>
              <a:rPr lang="en-US" dirty="0" smtClean="0">
                <a:latin typeface="Liberation Sans Narrow"/>
                <a:cs typeface="Liberation Sans Narrow"/>
              </a:rPr>
              <a:t>new </a:t>
            </a:r>
            <a:r>
              <a:rPr lang="en-US" spc="-5" dirty="0">
                <a:latin typeface="Liberation Sans Narrow"/>
                <a:cs typeface="Liberation Sans Narrow"/>
              </a:rPr>
              <a:t>feature that describes </a:t>
            </a:r>
            <a:r>
              <a:rPr lang="en-US" dirty="0" smtClean="0">
                <a:latin typeface="Liberation Sans Narrow"/>
                <a:cs typeface="Liberation Sans Narrow"/>
              </a:rPr>
              <a:t>the </a:t>
            </a:r>
            <a:r>
              <a:rPr lang="en-US" spc="-5" dirty="0">
                <a:latin typeface="Liberation Sans Narrow"/>
                <a:cs typeface="Liberation Sans Narrow"/>
              </a:rPr>
              <a:t>different elements required </a:t>
            </a:r>
            <a:r>
              <a:rPr lang="en-US" dirty="0" smtClean="0">
                <a:latin typeface="Liberation Sans Narrow"/>
                <a:cs typeface="Liberation Sans Narrow"/>
              </a:rPr>
              <a:t>for  </a:t>
            </a:r>
            <a:r>
              <a:rPr lang="en-US" spc="-5" dirty="0">
                <a:latin typeface="Liberation Sans Narrow"/>
                <a:cs typeface="Liberation Sans Narrow"/>
              </a:rPr>
              <a:t>deploying </a:t>
            </a:r>
            <a:r>
              <a:rPr lang="en-US" dirty="0" smtClean="0">
                <a:latin typeface="Liberation Sans Narrow"/>
                <a:cs typeface="Liberation Sans Narrow"/>
              </a:rPr>
              <a:t>a</a:t>
            </a:r>
            <a:r>
              <a:rPr lang="en-US" spc="-10" dirty="0">
                <a:latin typeface="Liberation Sans Narrow"/>
                <a:cs typeface="Liberation Sans Narrow"/>
              </a:rPr>
              <a:t> </a:t>
            </a:r>
            <a:r>
              <a:rPr lang="en-US" spc="-5" dirty="0">
                <a:latin typeface="Liberation Sans Narrow"/>
                <a:cs typeface="Liberation Sans Narrow"/>
              </a:rPr>
              <a:t>system.</a:t>
            </a:r>
            <a:endParaRPr lang="en-US" dirty="0" smtClean="0">
              <a:latin typeface="Liberation Sans Narrow"/>
              <a:cs typeface="Liberation Sans Narrow"/>
            </a:endParaRPr>
          </a:p>
          <a:p>
            <a:endParaRPr lang="en-US" dirty="0"/>
          </a:p>
        </p:txBody>
      </p:sp>
    </p:spTree>
    <p:extLst>
      <p:ext uri="{BB962C8B-B14F-4D97-AF65-F5344CB8AC3E}">
        <p14:creationId xmlns:p14="http://schemas.microsoft.com/office/powerpoint/2010/main" val="22542245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latin typeface="Liberation Sans Narrow"/>
                <a:cs typeface="Liberation Sans Narrow"/>
              </a:rPr>
              <a:t>UML </a:t>
            </a:r>
            <a:r>
              <a:rPr lang="en-US" spc="-5" dirty="0">
                <a:latin typeface="Liberation Sans Narrow"/>
                <a:cs typeface="Liberation Sans Narrow"/>
              </a:rPr>
              <a:t>Diagram</a:t>
            </a:r>
            <a:r>
              <a:rPr lang="en-US" spc="-90" dirty="0">
                <a:latin typeface="Liberation Sans Narrow"/>
                <a:cs typeface="Liberation Sans Narrow"/>
              </a:rPr>
              <a:t> </a:t>
            </a:r>
            <a:r>
              <a:rPr lang="en-US" spc="-5" dirty="0">
                <a:latin typeface="Liberation Sans Narrow"/>
                <a:cs typeface="Liberation Sans Narrow"/>
              </a:rPr>
              <a:t>Classification</a:t>
            </a:r>
            <a:endParaRPr lang="en-US" dirty="0"/>
          </a:p>
        </p:txBody>
      </p:sp>
      <p:sp>
        <p:nvSpPr>
          <p:cNvPr id="3" name="Content Placeholder 2"/>
          <p:cNvSpPr>
            <a:spLocks noGrp="1"/>
          </p:cNvSpPr>
          <p:nvPr>
            <p:ph idx="1"/>
          </p:nvPr>
        </p:nvSpPr>
        <p:spPr/>
        <p:txBody>
          <a:bodyPr>
            <a:normAutofit fontScale="70000" lnSpcReduction="20000"/>
          </a:bodyPr>
          <a:lstStyle/>
          <a:p>
            <a:pPr marL="440055" indent="-172720">
              <a:spcBef>
                <a:spcPts val="530"/>
              </a:spcBef>
              <a:buFont typeface="Arial"/>
              <a:buChar char="•"/>
              <a:tabLst>
                <a:tab pos="440690" algn="l"/>
              </a:tabLst>
            </a:pPr>
            <a:r>
              <a:rPr lang="en-US" sz="2000" spc="-5" dirty="0">
                <a:latin typeface="Liberation Sans Narrow"/>
                <a:cs typeface="Liberation Sans Narrow"/>
              </a:rPr>
              <a:t>The UML diagrams </a:t>
            </a:r>
            <a:r>
              <a:rPr lang="en-US" sz="2000" dirty="0">
                <a:latin typeface="Liberation Sans Narrow"/>
                <a:cs typeface="Liberation Sans Narrow"/>
              </a:rPr>
              <a:t>that </a:t>
            </a:r>
            <a:r>
              <a:rPr lang="en-US" sz="2000" spc="-5" dirty="0">
                <a:latin typeface="Liberation Sans Narrow"/>
                <a:cs typeface="Liberation Sans Narrow"/>
              </a:rPr>
              <a:t>fall </a:t>
            </a:r>
            <a:r>
              <a:rPr lang="en-US" sz="2000" dirty="0">
                <a:latin typeface="Liberation Sans Narrow"/>
                <a:cs typeface="Liberation Sans Narrow"/>
              </a:rPr>
              <a:t>under </a:t>
            </a:r>
            <a:r>
              <a:rPr lang="en-US" sz="2000" spc="-5" dirty="0">
                <a:latin typeface="Liberation Sans Narrow"/>
                <a:cs typeface="Liberation Sans Narrow"/>
              </a:rPr>
              <a:t>each </a:t>
            </a:r>
            <a:r>
              <a:rPr lang="en-US" sz="2000" dirty="0">
                <a:latin typeface="Liberation Sans Narrow"/>
                <a:cs typeface="Liberation Sans Narrow"/>
              </a:rPr>
              <a:t>of </a:t>
            </a:r>
            <a:r>
              <a:rPr lang="en-US" sz="2000" spc="-5" dirty="0">
                <a:latin typeface="Liberation Sans Narrow"/>
                <a:cs typeface="Liberation Sans Narrow"/>
              </a:rPr>
              <a:t>these categories</a:t>
            </a:r>
            <a:r>
              <a:rPr lang="en-US" sz="2000" spc="-20" dirty="0">
                <a:latin typeface="Liberation Sans Narrow"/>
                <a:cs typeface="Liberation Sans Narrow"/>
              </a:rPr>
              <a:t> </a:t>
            </a:r>
            <a:r>
              <a:rPr lang="en-US" sz="2000" spc="-5" dirty="0">
                <a:latin typeface="Liberation Sans Narrow"/>
                <a:cs typeface="Liberation Sans Narrow"/>
              </a:rPr>
              <a:t>are:</a:t>
            </a:r>
            <a:endParaRPr lang="en-US" sz="2000" dirty="0">
              <a:latin typeface="Liberation Sans Narrow"/>
              <a:cs typeface="Liberation Sans Narrow"/>
            </a:endParaRPr>
          </a:p>
          <a:p>
            <a:pPr marL="640080" lvl="1" indent="-143510">
              <a:spcBef>
                <a:spcPts val="140"/>
              </a:spcBef>
              <a:buFont typeface="Arial"/>
              <a:buChar char="–"/>
              <a:tabLst>
                <a:tab pos="640080" algn="l"/>
              </a:tabLst>
            </a:pPr>
            <a:r>
              <a:rPr lang="en-US" sz="2000" b="1" spc="-5" dirty="0">
                <a:latin typeface="Liberation Sans Narrow"/>
                <a:cs typeface="Liberation Sans Narrow"/>
              </a:rPr>
              <a:t>Static</a:t>
            </a:r>
            <a:endParaRPr lang="en-US" sz="2000" dirty="0">
              <a:latin typeface="Liberation Sans Narrow"/>
              <a:cs typeface="Liberation Sans Narrow"/>
            </a:endParaRPr>
          </a:p>
          <a:p>
            <a:pPr marL="839469" lvl="2" indent="-114935">
              <a:spcBef>
                <a:spcPts val="145"/>
              </a:spcBef>
              <a:buFont typeface="Arial"/>
              <a:buChar char="•"/>
              <a:tabLst>
                <a:tab pos="840105" algn="l"/>
              </a:tabLst>
            </a:pPr>
            <a:r>
              <a:rPr lang="en-US" sz="2000" spc="-5" dirty="0">
                <a:latin typeface="Liberation Sans Narrow"/>
                <a:cs typeface="Liberation Sans Narrow"/>
              </a:rPr>
              <a:t>Use case</a:t>
            </a:r>
            <a:r>
              <a:rPr lang="en-US" sz="2000" dirty="0">
                <a:latin typeface="Liberation Sans Narrow"/>
                <a:cs typeface="Liberation Sans Narrow"/>
              </a:rPr>
              <a:t> </a:t>
            </a:r>
            <a:r>
              <a:rPr lang="en-US" sz="2000" spc="-5" dirty="0">
                <a:latin typeface="Liberation Sans Narrow"/>
                <a:cs typeface="Liberation Sans Narrow"/>
              </a:rPr>
              <a:t>diagram</a:t>
            </a:r>
            <a:endParaRPr lang="en-US" sz="2000" dirty="0">
              <a:latin typeface="Liberation Sans Narrow"/>
              <a:cs typeface="Liberation Sans Narrow"/>
            </a:endParaRPr>
          </a:p>
          <a:p>
            <a:pPr marL="839469" lvl="2" indent="-114935">
              <a:spcBef>
                <a:spcPts val="145"/>
              </a:spcBef>
              <a:buFont typeface="Arial"/>
              <a:buChar char="•"/>
              <a:tabLst>
                <a:tab pos="840105" algn="l"/>
              </a:tabLst>
            </a:pPr>
            <a:r>
              <a:rPr lang="en-US" sz="2000" spc="-5" dirty="0">
                <a:latin typeface="Liberation Sans Narrow"/>
                <a:cs typeface="Liberation Sans Narrow"/>
              </a:rPr>
              <a:t>Class diagram</a:t>
            </a:r>
            <a:endParaRPr lang="en-US" sz="2000" dirty="0">
              <a:latin typeface="Liberation Sans Narrow"/>
              <a:cs typeface="Liberation Sans Narrow"/>
            </a:endParaRPr>
          </a:p>
          <a:p>
            <a:pPr marL="640080" lvl="1" indent="-143510">
              <a:spcBef>
                <a:spcPts val="145"/>
              </a:spcBef>
              <a:buFont typeface="Arial"/>
              <a:buChar char="–"/>
              <a:tabLst>
                <a:tab pos="640080" algn="l"/>
              </a:tabLst>
            </a:pPr>
            <a:r>
              <a:rPr lang="en-US" sz="2000" b="1" spc="-5" dirty="0">
                <a:latin typeface="Liberation Sans Narrow"/>
                <a:cs typeface="Liberation Sans Narrow"/>
              </a:rPr>
              <a:t>Dynamic</a:t>
            </a:r>
            <a:endParaRPr lang="en-US" sz="2000" dirty="0">
              <a:latin typeface="Liberation Sans Narrow"/>
              <a:cs typeface="Liberation Sans Narrow"/>
            </a:endParaRPr>
          </a:p>
          <a:p>
            <a:pPr marL="839469" lvl="2" indent="-114935">
              <a:spcBef>
                <a:spcPts val="145"/>
              </a:spcBef>
              <a:buFont typeface="Arial"/>
              <a:buChar char="•"/>
              <a:tabLst>
                <a:tab pos="840105" algn="l"/>
              </a:tabLst>
            </a:pPr>
            <a:r>
              <a:rPr lang="en-US" sz="2000" spc="-5" dirty="0">
                <a:latin typeface="Liberation Sans Narrow"/>
                <a:cs typeface="Liberation Sans Narrow"/>
              </a:rPr>
              <a:t>Object</a:t>
            </a:r>
            <a:r>
              <a:rPr lang="en-US" sz="2000" spc="-15" dirty="0">
                <a:latin typeface="Liberation Sans Narrow"/>
                <a:cs typeface="Liberation Sans Narrow"/>
              </a:rPr>
              <a:t> </a:t>
            </a:r>
            <a:r>
              <a:rPr lang="en-US" sz="2000" spc="-5" dirty="0">
                <a:latin typeface="Liberation Sans Narrow"/>
                <a:cs typeface="Liberation Sans Narrow"/>
              </a:rPr>
              <a:t>diagram</a:t>
            </a:r>
            <a:endParaRPr lang="en-US" sz="2000" dirty="0">
              <a:latin typeface="Liberation Sans Narrow"/>
              <a:cs typeface="Liberation Sans Narrow"/>
            </a:endParaRPr>
          </a:p>
          <a:p>
            <a:pPr marL="839469" lvl="2" indent="-114935">
              <a:spcBef>
                <a:spcPts val="140"/>
              </a:spcBef>
              <a:buFont typeface="Arial"/>
              <a:buChar char="•"/>
              <a:tabLst>
                <a:tab pos="840105" algn="l"/>
              </a:tabLst>
            </a:pPr>
            <a:r>
              <a:rPr lang="en-US" sz="2000" dirty="0">
                <a:latin typeface="Liberation Sans Narrow"/>
                <a:cs typeface="Liberation Sans Narrow"/>
              </a:rPr>
              <a:t>State</a:t>
            </a:r>
            <a:r>
              <a:rPr lang="en-US" sz="2000" spc="-25" dirty="0">
                <a:latin typeface="Liberation Sans Narrow"/>
                <a:cs typeface="Liberation Sans Narrow"/>
              </a:rPr>
              <a:t> </a:t>
            </a:r>
            <a:r>
              <a:rPr lang="en-US" sz="2000" spc="-5" dirty="0">
                <a:latin typeface="Liberation Sans Narrow"/>
                <a:cs typeface="Liberation Sans Narrow"/>
              </a:rPr>
              <a:t>diagram</a:t>
            </a:r>
            <a:endParaRPr lang="en-US" sz="2000" dirty="0">
              <a:latin typeface="Liberation Sans Narrow"/>
              <a:cs typeface="Liberation Sans Narrow"/>
            </a:endParaRPr>
          </a:p>
          <a:p>
            <a:pPr marL="839469" lvl="2" indent="-114935">
              <a:spcBef>
                <a:spcPts val="145"/>
              </a:spcBef>
              <a:buFont typeface="Arial"/>
              <a:buChar char="•"/>
              <a:tabLst>
                <a:tab pos="840105" algn="l"/>
              </a:tabLst>
            </a:pPr>
            <a:r>
              <a:rPr lang="en-US" sz="2000" spc="-5" dirty="0">
                <a:latin typeface="Liberation Sans Narrow"/>
                <a:cs typeface="Liberation Sans Narrow"/>
              </a:rPr>
              <a:t>Activity</a:t>
            </a:r>
            <a:r>
              <a:rPr lang="en-US" sz="2000" spc="-15" dirty="0">
                <a:latin typeface="Liberation Sans Narrow"/>
                <a:cs typeface="Liberation Sans Narrow"/>
              </a:rPr>
              <a:t> </a:t>
            </a:r>
            <a:r>
              <a:rPr lang="en-US" sz="2000" spc="-5" dirty="0">
                <a:latin typeface="Liberation Sans Narrow"/>
                <a:cs typeface="Liberation Sans Narrow"/>
              </a:rPr>
              <a:t>diagram</a:t>
            </a:r>
            <a:endParaRPr lang="en-US" sz="2000" dirty="0">
              <a:latin typeface="Liberation Sans Narrow"/>
              <a:cs typeface="Liberation Sans Narrow"/>
            </a:endParaRPr>
          </a:p>
          <a:p>
            <a:pPr marL="839469" lvl="2" indent="-114935">
              <a:spcBef>
                <a:spcPts val="145"/>
              </a:spcBef>
              <a:buFont typeface="Arial"/>
              <a:buChar char="•"/>
              <a:tabLst>
                <a:tab pos="840105" algn="l"/>
              </a:tabLst>
            </a:pPr>
            <a:r>
              <a:rPr lang="en-US" sz="2000" spc="-5" dirty="0">
                <a:latin typeface="Liberation Sans Narrow"/>
                <a:cs typeface="Liberation Sans Narrow"/>
              </a:rPr>
              <a:t>Sequence</a:t>
            </a:r>
            <a:r>
              <a:rPr lang="en-US" sz="2000" spc="-25" dirty="0">
                <a:latin typeface="Liberation Sans Narrow"/>
                <a:cs typeface="Liberation Sans Narrow"/>
              </a:rPr>
              <a:t> </a:t>
            </a:r>
            <a:r>
              <a:rPr lang="en-US" sz="2000" spc="-5" dirty="0">
                <a:latin typeface="Liberation Sans Narrow"/>
                <a:cs typeface="Liberation Sans Narrow"/>
              </a:rPr>
              <a:t>diagram</a:t>
            </a:r>
            <a:endParaRPr lang="en-US" sz="2000" dirty="0">
              <a:latin typeface="Liberation Sans Narrow"/>
              <a:cs typeface="Liberation Sans Narrow"/>
            </a:endParaRPr>
          </a:p>
          <a:p>
            <a:pPr marL="839469" lvl="2" indent="-114935">
              <a:spcBef>
                <a:spcPts val="145"/>
              </a:spcBef>
              <a:buFont typeface="Arial"/>
              <a:buChar char="•"/>
              <a:tabLst>
                <a:tab pos="840105" algn="l"/>
              </a:tabLst>
            </a:pPr>
            <a:r>
              <a:rPr lang="en-US" sz="2000" spc="-5" dirty="0">
                <a:latin typeface="Liberation Sans Narrow"/>
                <a:cs typeface="Liberation Sans Narrow"/>
              </a:rPr>
              <a:t>Collaboration</a:t>
            </a:r>
            <a:r>
              <a:rPr lang="en-US" sz="2000" spc="-10" dirty="0">
                <a:latin typeface="Liberation Sans Narrow"/>
                <a:cs typeface="Liberation Sans Narrow"/>
              </a:rPr>
              <a:t> </a:t>
            </a:r>
            <a:r>
              <a:rPr lang="en-US" sz="2000" spc="-5" dirty="0">
                <a:latin typeface="Liberation Sans Narrow"/>
                <a:cs typeface="Liberation Sans Narrow"/>
              </a:rPr>
              <a:t>diagram</a:t>
            </a:r>
            <a:endParaRPr lang="en-US" sz="2000" dirty="0">
              <a:latin typeface="Liberation Sans Narrow"/>
              <a:cs typeface="Liberation Sans Narrow"/>
            </a:endParaRPr>
          </a:p>
          <a:p>
            <a:pPr marL="640080" lvl="1" indent="-143510">
              <a:spcBef>
                <a:spcPts val="145"/>
              </a:spcBef>
              <a:buFont typeface="Arial"/>
              <a:buChar char="–"/>
              <a:tabLst>
                <a:tab pos="640080" algn="l"/>
              </a:tabLst>
            </a:pPr>
            <a:r>
              <a:rPr lang="en-US" sz="2000" b="1" spc="-5" dirty="0">
                <a:latin typeface="Liberation Sans Narrow"/>
                <a:cs typeface="Liberation Sans Narrow"/>
              </a:rPr>
              <a:t>Implementation</a:t>
            </a:r>
            <a:endParaRPr lang="en-US" sz="2000" dirty="0">
              <a:latin typeface="Liberation Sans Narrow"/>
              <a:cs typeface="Liberation Sans Narrow"/>
            </a:endParaRPr>
          </a:p>
          <a:p>
            <a:pPr marL="839469" lvl="2" indent="-114935">
              <a:spcBef>
                <a:spcPts val="140"/>
              </a:spcBef>
              <a:buFont typeface="Arial"/>
              <a:buChar char="•"/>
              <a:tabLst>
                <a:tab pos="840105" algn="l"/>
              </a:tabLst>
            </a:pPr>
            <a:r>
              <a:rPr lang="en-US" sz="2000" spc="-5" dirty="0">
                <a:latin typeface="Liberation Sans Narrow"/>
                <a:cs typeface="Liberation Sans Narrow"/>
              </a:rPr>
              <a:t>Component</a:t>
            </a:r>
            <a:r>
              <a:rPr lang="en-US" sz="2000" spc="-60" dirty="0">
                <a:latin typeface="Liberation Sans Narrow"/>
                <a:cs typeface="Liberation Sans Narrow"/>
              </a:rPr>
              <a:t> </a:t>
            </a:r>
            <a:r>
              <a:rPr lang="en-US" sz="2000" spc="-5" dirty="0">
                <a:latin typeface="Liberation Sans Narrow"/>
                <a:cs typeface="Liberation Sans Narrow"/>
              </a:rPr>
              <a:t>diagram</a:t>
            </a:r>
            <a:endParaRPr lang="en-US" sz="2000" dirty="0">
              <a:latin typeface="Liberation Sans Narrow"/>
              <a:cs typeface="Liberation Sans Narrow"/>
            </a:endParaRPr>
          </a:p>
          <a:p>
            <a:pPr marL="839469" lvl="2" indent="-114935">
              <a:spcBef>
                <a:spcPts val="145"/>
              </a:spcBef>
              <a:buFont typeface="Arial"/>
              <a:buChar char="•"/>
              <a:tabLst>
                <a:tab pos="840105" algn="l"/>
              </a:tabLst>
            </a:pPr>
            <a:r>
              <a:rPr lang="en-US" sz="2000" spc="-5" dirty="0">
                <a:latin typeface="Liberation Sans Narrow"/>
                <a:cs typeface="Liberation Sans Narrow"/>
              </a:rPr>
              <a:t>Deployment</a:t>
            </a:r>
            <a:r>
              <a:rPr lang="en-US" sz="2000" spc="-55" dirty="0">
                <a:latin typeface="Liberation Sans Narrow"/>
                <a:cs typeface="Liberation Sans Narrow"/>
              </a:rPr>
              <a:t> </a:t>
            </a:r>
            <a:r>
              <a:rPr lang="en-US" sz="2000" spc="-5" dirty="0">
                <a:latin typeface="Liberation Sans Narrow"/>
                <a:cs typeface="Liberation Sans Narrow"/>
              </a:rPr>
              <a:t>diagram</a:t>
            </a:r>
            <a:endParaRPr lang="en-US" sz="2000" dirty="0">
              <a:latin typeface="Liberation Sans Narrow"/>
              <a:cs typeface="Liberation Sans Narrow"/>
            </a:endParaRPr>
          </a:p>
          <a:p>
            <a:pPr>
              <a:lnSpc>
                <a:spcPct val="100000"/>
              </a:lnSpc>
            </a:pPr>
            <a:endParaRPr lang="en-US" sz="1400" dirty="0">
              <a:latin typeface="Liberation Sans Narrow"/>
              <a:cs typeface="Liberation Sans Narrow"/>
            </a:endParaRPr>
          </a:p>
          <a:p>
            <a:endParaRPr lang="en-US" dirty="0"/>
          </a:p>
        </p:txBody>
      </p:sp>
    </p:spTree>
    <p:extLst>
      <p:ext uri="{BB962C8B-B14F-4D97-AF65-F5344CB8AC3E}">
        <p14:creationId xmlns:p14="http://schemas.microsoft.com/office/powerpoint/2010/main" val="152752314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2094A37-E8B5-7353-D783-16B5CC93BC77}"/>
              </a:ext>
            </a:extLst>
          </p:cNvPr>
          <p:cNvSpPr>
            <a:spLocks noGrp="1"/>
          </p:cNvSpPr>
          <p:nvPr>
            <p:ph type="title"/>
          </p:nvPr>
        </p:nvSpPr>
        <p:spPr/>
        <p:txBody>
          <a:bodyPr/>
          <a:lstStyle/>
          <a:p>
            <a:r>
              <a:rPr lang="en-US" dirty="0"/>
              <a:t>Use case diagram</a:t>
            </a:r>
          </a:p>
        </p:txBody>
      </p:sp>
      <p:sp>
        <p:nvSpPr>
          <p:cNvPr id="3" name="Content Placeholder 2">
            <a:extLst>
              <a:ext uri="{FF2B5EF4-FFF2-40B4-BE49-F238E27FC236}">
                <a16:creationId xmlns="" xmlns:a16="http://schemas.microsoft.com/office/drawing/2014/main" id="{E5FAC755-B6B5-B388-2794-3D3827AA996E}"/>
              </a:ext>
            </a:extLst>
          </p:cNvPr>
          <p:cNvSpPr>
            <a:spLocks noGrp="1"/>
          </p:cNvSpPr>
          <p:nvPr>
            <p:ph idx="1"/>
          </p:nvPr>
        </p:nvSpPr>
        <p:spPr/>
        <p:txBody>
          <a:bodyPr/>
          <a:lstStyle/>
          <a:p>
            <a:pPr algn="l"/>
            <a:r>
              <a:rPr lang="en-US" b="0" i="0" dirty="0">
                <a:solidFill>
                  <a:srgbClr val="282C33"/>
                </a:solidFill>
                <a:effectLst/>
                <a:latin typeface="Graphik"/>
              </a:rPr>
              <a:t>In the Unified Modeling Language (UML), a use case diagram can summarize the details of your system's users (also known as actors) and their interactions with the system. To build one, you'll use a set of specialized symbols and connectors. An effective use case diagram can help your team discuss and represent:</a:t>
            </a:r>
          </a:p>
          <a:p>
            <a:pPr algn="l">
              <a:buFont typeface="Arial" panose="020B0604020202020204" pitchFamily="34" charset="0"/>
              <a:buChar char="•"/>
            </a:pPr>
            <a:r>
              <a:rPr lang="en-US" b="0" i="0" dirty="0">
                <a:solidFill>
                  <a:srgbClr val="282C33"/>
                </a:solidFill>
                <a:effectLst/>
                <a:latin typeface="Graphik"/>
              </a:rPr>
              <a:t>Scenarios in which your system or application interacts with people, organizations, or external systems</a:t>
            </a:r>
          </a:p>
          <a:p>
            <a:pPr algn="l">
              <a:buFont typeface="Arial" panose="020B0604020202020204" pitchFamily="34" charset="0"/>
              <a:buChar char="•"/>
            </a:pPr>
            <a:r>
              <a:rPr lang="en-US" b="0" i="0" dirty="0">
                <a:solidFill>
                  <a:srgbClr val="282C33"/>
                </a:solidFill>
                <a:effectLst/>
                <a:latin typeface="Graphik"/>
              </a:rPr>
              <a:t>Goals that your system or application helps those entities (known as actors) </a:t>
            </a:r>
            <a:r>
              <a:rPr lang="en-US" b="0" i="0" dirty="0" smtClean="0">
                <a:solidFill>
                  <a:srgbClr val="282C33"/>
                </a:solidFill>
                <a:effectLst/>
                <a:latin typeface="Graphik"/>
              </a:rPr>
              <a:t>achieve the </a:t>
            </a:r>
            <a:r>
              <a:rPr lang="en-US" b="0" i="0" dirty="0">
                <a:solidFill>
                  <a:srgbClr val="282C33"/>
                </a:solidFill>
                <a:effectLst/>
                <a:latin typeface="Graphik"/>
              </a:rPr>
              <a:t>scope of your system</a:t>
            </a:r>
          </a:p>
          <a:p>
            <a:endParaRPr lang="en-US" dirty="0"/>
          </a:p>
        </p:txBody>
      </p:sp>
    </p:spTree>
    <p:extLst>
      <p:ext uri="{BB962C8B-B14F-4D97-AF65-F5344CB8AC3E}">
        <p14:creationId xmlns:p14="http://schemas.microsoft.com/office/powerpoint/2010/main" val="76529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en-US" smtClean="0"/>
              <a:t>Use Cases</a:t>
            </a:r>
          </a:p>
        </p:txBody>
      </p:sp>
      <p:sp>
        <p:nvSpPr>
          <p:cNvPr id="9219" name="Rectangle 3"/>
          <p:cNvSpPr>
            <a:spLocks noGrp="1" noChangeArrowheads="1"/>
          </p:cNvSpPr>
          <p:nvPr>
            <p:ph type="body" idx="1"/>
          </p:nvPr>
        </p:nvSpPr>
        <p:spPr>
          <a:xfrm>
            <a:off x="463639" y="1829225"/>
            <a:ext cx="9782777" cy="4647953"/>
          </a:xfrm>
        </p:spPr>
        <p:txBody>
          <a:bodyPr anchor="t"/>
          <a:lstStyle/>
          <a:p>
            <a:endParaRPr lang="en-US" altLang="en-US" b="1" dirty="0">
              <a:latin typeface="Graphik"/>
            </a:endParaRPr>
          </a:p>
          <a:p>
            <a:r>
              <a:rPr lang="en-US" altLang="en-US" b="1" dirty="0" smtClean="0">
                <a:latin typeface="Graphik"/>
              </a:rPr>
              <a:t>Use </a:t>
            </a:r>
            <a:r>
              <a:rPr lang="en-US" altLang="en-US" b="1" dirty="0" smtClean="0">
                <a:latin typeface="Graphik"/>
              </a:rPr>
              <a:t>case diagrams</a:t>
            </a:r>
            <a:r>
              <a:rPr lang="en-US" altLang="en-US" dirty="0" smtClean="0">
                <a:latin typeface="Graphik"/>
              </a:rPr>
              <a:t> describe what a system does from the standpoint of an external observer. The emphasis is on </a:t>
            </a:r>
            <a:r>
              <a:rPr lang="en-US" altLang="en-US" i="1" dirty="0" smtClean="0">
                <a:latin typeface="Graphik"/>
              </a:rPr>
              <a:t>what</a:t>
            </a:r>
            <a:r>
              <a:rPr lang="en-US" altLang="en-US" dirty="0" smtClean="0">
                <a:latin typeface="Graphik"/>
              </a:rPr>
              <a:t> a system does rather than </a:t>
            </a:r>
            <a:r>
              <a:rPr lang="en-US" altLang="en-US" i="1" dirty="0" smtClean="0">
                <a:latin typeface="Graphik"/>
              </a:rPr>
              <a:t>how.</a:t>
            </a:r>
          </a:p>
          <a:p>
            <a:pPr marL="0" indent="0">
              <a:buNone/>
            </a:pPr>
            <a:endParaRPr lang="en-US" altLang="en-US" dirty="0" smtClean="0">
              <a:latin typeface="Graphik"/>
            </a:endParaRPr>
          </a:p>
          <a:p>
            <a:r>
              <a:rPr lang="en-US" altLang="en-US" dirty="0" smtClean="0">
                <a:latin typeface="Graphik"/>
              </a:rPr>
              <a:t>Use case diagrams are closely connected to scenarios. A </a:t>
            </a:r>
            <a:r>
              <a:rPr lang="en-US" altLang="en-US" b="1" dirty="0" smtClean="0">
                <a:latin typeface="Graphik"/>
              </a:rPr>
              <a:t>scenario</a:t>
            </a:r>
            <a:r>
              <a:rPr lang="en-US" altLang="en-US" dirty="0" smtClean="0">
                <a:latin typeface="Graphik"/>
              </a:rPr>
              <a:t> is an example of what happens when someone interacts with the system. </a:t>
            </a:r>
          </a:p>
        </p:txBody>
      </p:sp>
    </p:spTree>
    <p:extLst>
      <p:ext uri="{BB962C8B-B14F-4D97-AF65-F5344CB8AC3E}">
        <p14:creationId xmlns:p14="http://schemas.microsoft.com/office/powerpoint/2010/main" val="6153973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smtClean="0"/>
              <a:t>Use Cases</a:t>
            </a:r>
          </a:p>
        </p:txBody>
      </p:sp>
      <p:sp>
        <p:nvSpPr>
          <p:cNvPr id="11267" name="Rectangle 3"/>
          <p:cNvSpPr>
            <a:spLocks noGrp="1" noChangeArrowheads="1"/>
          </p:cNvSpPr>
          <p:nvPr>
            <p:ph type="body" idx="1"/>
          </p:nvPr>
        </p:nvSpPr>
        <p:spPr>
          <a:xfrm>
            <a:off x="581192" y="1440435"/>
            <a:ext cx="9703861" cy="5036743"/>
          </a:xfrm>
        </p:spPr>
        <p:txBody>
          <a:bodyPr/>
          <a:lstStyle/>
          <a:p>
            <a:pPr>
              <a:lnSpc>
                <a:spcPct val="90000"/>
              </a:lnSpc>
            </a:pPr>
            <a:r>
              <a:rPr lang="en-US" altLang="en-US" dirty="0" smtClean="0">
                <a:latin typeface="Graphik"/>
              </a:rPr>
              <a:t>Here is a scenario for a medical clinic.</a:t>
            </a:r>
          </a:p>
          <a:p>
            <a:pPr marL="0" indent="0">
              <a:lnSpc>
                <a:spcPct val="90000"/>
              </a:lnSpc>
              <a:buNone/>
            </a:pPr>
            <a:endParaRPr lang="en-US" altLang="en-US" dirty="0" smtClean="0">
              <a:latin typeface="Graphik"/>
            </a:endParaRPr>
          </a:p>
          <a:p>
            <a:pPr>
              <a:lnSpc>
                <a:spcPct val="90000"/>
              </a:lnSpc>
            </a:pPr>
            <a:r>
              <a:rPr lang="en-US" altLang="en-US" dirty="0" smtClean="0">
                <a:latin typeface="Graphik"/>
              </a:rPr>
              <a:t>A </a:t>
            </a:r>
            <a:r>
              <a:rPr lang="en-US" altLang="en-US" i="1" dirty="0" smtClean="0">
                <a:latin typeface="Graphik"/>
              </a:rPr>
              <a:t>patient calls the clinic to make an appointment for a yearly checkup. The receptionist finds the nearest empty time slot in the appointment book and schedules the appointment for that time slot. " </a:t>
            </a:r>
            <a:endParaRPr lang="en-US" altLang="en-US" i="1" dirty="0" smtClean="0">
              <a:latin typeface="Graphik"/>
            </a:endParaRPr>
          </a:p>
          <a:p>
            <a:pPr>
              <a:lnSpc>
                <a:spcPct val="90000"/>
              </a:lnSpc>
            </a:pPr>
            <a:endParaRPr lang="en-US" altLang="en-US" i="1" dirty="0" smtClean="0">
              <a:latin typeface="Graphik"/>
            </a:endParaRPr>
          </a:p>
          <a:p>
            <a:pPr>
              <a:lnSpc>
                <a:spcPct val="90000"/>
              </a:lnSpc>
            </a:pPr>
            <a:r>
              <a:rPr lang="en-US" altLang="en-US" dirty="0" smtClean="0">
                <a:latin typeface="Graphik"/>
              </a:rPr>
              <a:t>We </a:t>
            </a:r>
            <a:r>
              <a:rPr lang="en-US" altLang="en-US" dirty="0" smtClean="0">
                <a:latin typeface="Graphik"/>
              </a:rPr>
              <a:t>want to write a use case for this scenario.</a:t>
            </a:r>
          </a:p>
          <a:p>
            <a:pPr>
              <a:lnSpc>
                <a:spcPct val="90000"/>
              </a:lnSpc>
            </a:pPr>
            <a:r>
              <a:rPr lang="en-US" altLang="en-US" dirty="0" smtClean="0">
                <a:latin typeface="Graphik"/>
              </a:rPr>
              <a:t>Remember:  A </a:t>
            </a:r>
            <a:r>
              <a:rPr lang="en-US" altLang="en-US" b="1" dirty="0" smtClean="0">
                <a:latin typeface="Graphik"/>
              </a:rPr>
              <a:t>use case</a:t>
            </a:r>
            <a:r>
              <a:rPr lang="en-US" altLang="en-US" dirty="0" smtClean="0">
                <a:latin typeface="Graphik"/>
              </a:rPr>
              <a:t> is a summary of scenarios for a single task or goal. </a:t>
            </a:r>
          </a:p>
          <a:p>
            <a:pPr>
              <a:lnSpc>
                <a:spcPct val="90000"/>
              </a:lnSpc>
            </a:pPr>
            <a:endParaRPr lang="en-US" altLang="en-US" i="1" dirty="0" smtClean="0"/>
          </a:p>
        </p:txBody>
      </p:sp>
    </p:spTree>
    <p:extLst>
      <p:ext uri="{BB962C8B-B14F-4D97-AF65-F5344CB8AC3E}">
        <p14:creationId xmlns:p14="http://schemas.microsoft.com/office/powerpoint/2010/main" val="12132671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en-US" altLang="en-US" smtClean="0"/>
              <a:t>Use Cases</a:t>
            </a:r>
          </a:p>
        </p:txBody>
      </p:sp>
      <p:sp>
        <p:nvSpPr>
          <p:cNvPr id="15363" name="Rectangle 3"/>
          <p:cNvSpPr>
            <a:spLocks noGrp="1" noChangeArrowheads="1"/>
          </p:cNvSpPr>
          <p:nvPr>
            <p:ph type="body" idx="1"/>
          </p:nvPr>
        </p:nvSpPr>
        <p:spPr>
          <a:xfrm>
            <a:off x="476518" y="1829225"/>
            <a:ext cx="9808535" cy="4647953"/>
          </a:xfrm>
        </p:spPr>
        <p:txBody>
          <a:bodyPr/>
          <a:lstStyle/>
          <a:p>
            <a:r>
              <a:rPr lang="en-US" altLang="en-US" b="1" dirty="0" smtClean="0">
                <a:latin typeface="Graphik"/>
              </a:rPr>
              <a:t>Step </a:t>
            </a:r>
            <a:r>
              <a:rPr lang="en-US" altLang="en-US" b="1" dirty="0" smtClean="0">
                <a:latin typeface="Graphik"/>
              </a:rPr>
              <a:t>1 Identify the actors</a:t>
            </a:r>
          </a:p>
          <a:p>
            <a:r>
              <a:rPr lang="en-US" altLang="en-US" dirty="0" smtClean="0">
                <a:latin typeface="Graphik"/>
              </a:rPr>
              <a:t>As we read the scenario, define those people or systems that are going to interact with the scenario. </a:t>
            </a:r>
          </a:p>
          <a:p>
            <a:endParaRPr lang="en-US" altLang="en-US" dirty="0" smtClean="0">
              <a:latin typeface="Graphik"/>
            </a:endParaRPr>
          </a:p>
          <a:p>
            <a:r>
              <a:rPr lang="en-US" altLang="en-US" dirty="0" smtClean="0">
                <a:latin typeface="Graphik"/>
              </a:rPr>
              <a:t> </a:t>
            </a:r>
            <a:r>
              <a:rPr lang="en-US" altLang="en-US" sz="1907" dirty="0">
                <a:latin typeface="Graphik"/>
              </a:rPr>
              <a:t>A </a:t>
            </a:r>
            <a:r>
              <a:rPr lang="en-US" altLang="en-US" sz="1907" i="1" dirty="0">
                <a:latin typeface="Graphik"/>
              </a:rPr>
              <a:t>patient calls the clinic to make an appointment for a yearly checkup. The receptionist finds the nearest empty time slot in the appointment book and schedules the appointment for that time slot. " </a:t>
            </a:r>
          </a:p>
          <a:p>
            <a:endParaRPr lang="en-US" altLang="en-US" sz="1907" i="1" dirty="0"/>
          </a:p>
          <a:p>
            <a:endParaRPr lang="en-US" altLang="en-US" sz="1907" dirty="0"/>
          </a:p>
        </p:txBody>
      </p:sp>
    </p:spTree>
    <p:extLst>
      <p:ext uri="{BB962C8B-B14F-4D97-AF65-F5344CB8AC3E}">
        <p14:creationId xmlns:p14="http://schemas.microsoft.com/office/powerpoint/2010/main" val="17628399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619479" y="663652"/>
            <a:ext cx="8225138" cy="868403"/>
          </a:xfrm>
        </p:spPr>
        <p:txBody>
          <a:bodyPr/>
          <a:lstStyle/>
          <a:p>
            <a:r>
              <a:rPr lang="en-GB" altLang="en-US" dirty="0" smtClean="0"/>
              <a:t>Actors</a:t>
            </a:r>
          </a:p>
        </p:txBody>
      </p:sp>
      <p:sp>
        <p:nvSpPr>
          <p:cNvPr id="17411" name="Rectangle 3"/>
          <p:cNvSpPr>
            <a:spLocks noGrp="1" noChangeArrowheads="1"/>
          </p:cNvSpPr>
          <p:nvPr>
            <p:ph type="body" idx="1"/>
          </p:nvPr>
        </p:nvSpPr>
        <p:spPr>
          <a:xfrm>
            <a:off x="515156" y="2128784"/>
            <a:ext cx="9846382" cy="4348393"/>
          </a:xfrm>
        </p:spPr>
        <p:txBody>
          <a:bodyPr/>
          <a:lstStyle/>
          <a:p>
            <a:r>
              <a:rPr lang="en-GB" altLang="en-US" sz="3212" dirty="0"/>
              <a:t>An Actor is outside or external the system.</a:t>
            </a:r>
          </a:p>
          <a:p>
            <a:r>
              <a:rPr lang="en-GB" altLang="en-US" sz="3212" dirty="0"/>
              <a:t>It can be a</a:t>
            </a:r>
            <a:r>
              <a:rPr lang="en-GB" altLang="en-US" dirty="0" smtClean="0"/>
              <a:t>:</a:t>
            </a:r>
          </a:p>
          <a:p>
            <a:pPr lvl="1"/>
            <a:r>
              <a:rPr lang="en-GB" altLang="en-US" sz="2810" dirty="0"/>
              <a:t>Human</a:t>
            </a:r>
          </a:p>
          <a:p>
            <a:pPr lvl="1"/>
            <a:r>
              <a:rPr lang="en-GB" altLang="en-US" sz="2810" dirty="0"/>
              <a:t>Peripheral device (hardware)</a:t>
            </a:r>
          </a:p>
          <a:p>
            <a:pPr lvl="1"/>
            <a:r>
              <a:rPr lang="en-GB" altLang="en-US" sz="2810" dirty="0"/>
              <a:t>External system or subsystem</a:t>
            </a:r>
          </a:p>
          <a:p>
            <a:pPr lvl="1"/>
            <a:r>
              <a:rPr lang="en-GB" altLang="en-US" sz="2810" dirty="0"/>
              <a:t>Time or time-based event</a:t>
            </a:r>
          </a:p>
          <a:p>
            <a:r>
              <a:rPr lang="en-GB" altLang="en-US" sz="3212" dirty="0"/>
              <a:t>Represented by stick figure</a:t>
            </a:r>
            <a:endParaRPr lang="en-GB" altLang="en-US" dirty="0" smtClean="0"/>
          </a:p>
        </p:txBody>
      </p:sp>
      <p:grpSp>
        <p:nvGrpSpPr>
          <p:cNvPr id="17412" name="Group 9"/>
          <p:cNvGrpSpPr>
            <a:grpSpLocks/>
          </p:cNvGrpSpPr>
          <p:nvPr/>
        </p:nvGrpSpPr>
        <p:grpSpPr bwMode="auto">
          <a:xfrm>
            <a:off x="8304454" y="4190646"/>
            <a:ext cx="841316" cy="1942357"/>
            <a:chOff x="4254" y="2630"/>
            <a:chExt cx="528" cy="1219"/>
          </a:xfrm>
        </p:grpSpPr>
        <p:sp>
          <p:nvSpPr>
            <p:cNvPr id="17413" name="Line 4"/>
            <p:cNvSpPr>
              <a:spLocks noChangeShapeType="1"/>
            </p:cNvSpPr>
            <p:nvPr/>
          </p:nvSpPr>
          <p:spPr bwMode="auto">
            <a:xfrm>
              <a:off x="4493" y="2917"/>
              <a:ext cx="1" cy="762"/>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807"/>
            </a:p>
          </p:txBody>
        </p:sp>
        <p:sp>
          <p:nvSpPr>
            <p:cNvPr id="17414" name="Oval 5"/>
            <p:cNvSpPr>
              <a:spLocks noChangeArrowheads="1"/>
            </p:cNvSpPr>
            <p:nvPr/>
          </p:nvSpPr>
          <p:spPr bwMode="auto">
            <a:xfrm>
              <a:off x="4350" y="2630"/>
              <a:ext cx="303" cy="286"/>
            </a:xfrm>
            <a:prstGeom prst="ellipse">
              <a:avLst/>
            </a:prstGeom>
            <a:solidFill>
              <a:srgbClr val="D3EFC5"/>
            </a:solidFill>
            <a:ln w="39688">
              <a:solidFill>
                <a:srgbClr val="000000"/>
              </a:solidFill>
              <a:round/>
              <a:headEnd/>
              <a:tailEnd/>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sz="2409"/>
            </a:p>
          </p:txBody>
        </p:sp>
        <p:sp>
          <p:nvSpPr>
            <p:cNvPr id="17415" name="Line 6"/>
            <p:cNvSpPr>
              <a:spLocks noChangeShapeType="1"/>
            </p:cNvSpPr>
            <p:nvPr/>
          </p:nvSpPr>
          <p:spPr bwMode="auto">
            <a:xfrm>
              <a:off x="4254" y="3204"/>
              <a:ext cx="528" cy="1"/>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807"/>
            </a:p>
          </p:txBody>
        </p:sp>
        <p:sp>
          <p:nvSpPr>
            <p:cNvPr id="17416" name="Line 7"/>
            <p:cNvSpPr>
              <a:spLocks noChangeShapeType="1"/>
            </p:cNvSpPr>
            <p:nvPr/>
          </p:nvSpPr>
          <p:spPr bwMode="auto">
            <a:xfrm flipH="1">
              <a:off x="4254" y="3634"/>
              <a:ext cx="201" cy="191"/>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807"/>
            </a:p>
          </p:txBody>
        </p:sp>
        <p:sp>
          <p:nvSpPr>
            <p:cNvPr id="17417" name="Line 8"/>
            <p:cNvSpPr>
              <a:spLocks noChangeShapeType="1"/>
            </p:cNvSpPr>
            <p:nvPr/>
          </p:nvSpPr>
          <p:spPr bwMode="auto">
            <a:xfrm>
              <a:off x="4493" y="3634"/>
              <a:ext cx="200" cy="215"/>
            </a:xfrm>
            <a:prstGeom prst="line">
              <a:avLst/>
            </a:prstGeom>
            <a:noFill/>
            <a:ln w="39688">
              <a:solidFill>
                <a:srgbClr val="000000"/>
              </a:solidFill>
              <a:round/>
              <a:headEnd/>
              <a:tailEnd/>
            </a:ln>
            <a:extLst>
              <a:ext uri="{909E8E84-426E-40DD-AFC4-6F175D3DCCD1}">
                <a14:hiddenFill xmlns:a14="http://schemas.microsoft.com/office/drawing/2010/main">
                  <a:noFill/>
                </a14:hiddenFill>
              </a:ext>
            </a:extLst>
          </p:spPr>
          <p:txBody>
            <a:bodyPr/>
            <a:lstStyle/>
            <a:p>
              <a:endParaRPr lang="en-US" sz="1807"/>
            </a:p>
          </p:txBody>
        </p:sp>
      </p:grpSp>
    </p:spTree>
    <p:extLst>
      <p:ext uri="{BB962C8B-B14F-4D97-AF65-F5344CB8AC3E}">
        <p14:creationId xmlns:p14="http://schemas.microsoft.com/office/powerpoint/2010/main" val="19280983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smtClean="0"/>
              <a:t>Use Cases</a:t>
            </a:r>
          </a:p>
        </p:txBody>
      </p:sp>
      <p:sp>
        <p:nvSpPr>
          <p:cNvPr id="19459" name="Rectangle 3"/>
          <p:cNvSpPr>
            <a:spLocks noGrp="1" noChangeArrowheads="1"/>
          </p:cNvSpPr>
          <p:nvPr>
            <p:ph type="body" idx="1"/>
          </p:nvPr>
        </p:nvSpPr>
        <p:spPr>
          <a:xfrm>
            <a:off x="581192" y="1829225"/>
            <a:ext cx="9703861" cy="4647953"/>
          </a:xfrm>
        </p:spPr>
        <p:txBody>
          <a:bodyPr/>
          <a:lstStyle/>
          <a:p>
            <a:r>
              <a:rPr lang="en-US" altLang="en-US" dirty="0" smtClean="0"/>
              <a:t>A </a:t>
            </a:r>
            <a:r>
              <a:rPr lang="en-US" altLang="en-US" b="1" dirty="0" smtClean="0"/>
              <a:t>use case</a:t>
            </a:r>
            <a:r>
              <a:rPr lang="en-US" altLang="en-US" dirty="0" smtClean="0"/>
              <a:t> is a summary of scenarios for a single task or goal. </a:t>
            </a:r>
          </a:p>
          <a:p>
            <a:endParaRPr lang="en-US" altLang="en-US" dirty="0" smtClean="0"/>
          </a:p>
          <a:p>
            <a:r>
              <a:rPr lang="en-US" altLang="en-US" dirty="0" smtClean="0"/>
              <a:t>An </a:t>
            </a:r>
            <a:r>
              <a:rPr lang="en-US" altLang="en-US" b="1" dirty="0" smtClean="0"/>
              <a:t>actor</a:t>
            </a:r>
            <a:r>
              <a:rPr lang="en-US" altLang="en-US" dirty="0" smtClean="0"/>
              <a:t> is who or what initiates the events involved in the task of the use case. Actors are simply roles that people or objects play. </a:t>
            </a:r>
          </a:p>
          <a:p>
            <a:endParaRPr lang="en-US" altLang="en-US" dirty="0" smtClean="0"/>
          </a:p>
          <a:p>
            <a:r>
              <a:rPr lang="en-US" altLang="en-US" dirty="0" smtClean="0"/>
              <a:t>So as we read our scenario, what or who is the actor????</a:t>
            </a:r>
          </a:p>
          <a:p>
            <a:endParaRPr lang="en-US" altLang="en-US" dirty="0" smtClean="0"/>
          </a:p>
        </p:txBody>
      </p:sp>
    </p:spTree>
    <p:extLst>
      <p:ext uri="{BB962C8B-B14F-4D97-AF65-F5344CB8AC3E}">
        <p14:creationId xmlns:p14="http://schemas.microsoft.com/office/powerpoint/2010/main" val="129858145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smtClean="0"/>
              <a:t>Use Cases</a:t>
            </a:r>
          </a:p>
        </p:txBody>
      </p:sp>
      <p:sp>
        <p:nvSpPr>
          <p:cNvPr id="21507" name="Rectangle 3"/>
          <p:cNvSpPr>
            <a:spLocks noGrp="1" noChangeArrowheads="1"/>
          </p:cNvSpPr>
          <p:nvPr>
            <p:ph type="body" idx="1"/>
          </p:nvPr>
        </p:nvSpPr>
        <p:spPr>
          <a:xfrm>
            <a:off x="581192" y="1829225"/>
            <a:ext cx="9703861" cy="4647953"/>
          </a:xfrm>
        </p:spPr>
        <p:txBody>
          <a:bodyPr/>
          <a:lstStyle/>
          <a:p>
            <a:r>
              <a:rPr lang="en-US" altLang="en-US" b="1" dirty="0" smtClean="0"/>
              <a:t>So as we read our scenario, what or who is the actor????</a:t>
            </a:r>
          </a:p>
          <a:p>
            <a:endParaRPr lang="en-US" altLang="en-US" dirty="0" smtClean="0"/>
          </a:p>
          <a:p>
            <a:r>
              <a:rPr lang="en-US" altLang="en-US" sz="1907" i="1" dirty="0"/>
              <a:t>A patient calls the clinic to make an appointment for a yearly checkup. The receptionist finds the nearest empty time slot in the appointment book and schedules the appointment for that time slot. " </a:t>
            </a:r>
          </a:p>
          <a:p>
            <a:endParaRPr lang="en-US" altLang="en-US" sz="1907" i="1" dirty="0"/>
          </a:p>
          <a:p>
            <a:endParaRPr lang="en-US" altLang="en-US" sz="1907" i="1" dirty="0"/>
          </a:p>
          <a:p>
            <a:endParaRPr lang="en-US" altLang="en-US" sz="1907" i="1" dirty="0"/>
          </a:p>
          <a:p>
            <a:r>
              <a:rPr lang="en-US" altLang="en-US" dirty="0" smtClean="0"/>
              <a:t>The actor is a </a:t>
            </a:r>
            <a:r>
              <a:rPr lang="en-US" altLang="en-US" b="1" dirty="0" smtClean="0"/>
              <a:t>Patient</a:t>
            </a:r>
            <a:r>
              <a:rPr lang="en-US" altLang="en-US" dirty="0" smtClean="0"/>
              <a:t>. </a:t>
            </a:r>
          </a:p>
          <a:p>
            <a:endParaRPr lang="en-US" altLang="en-US" dirty="0" smtClean="0"/>
          </a:p>
        </p:txBody>
      </p:sp>
      <p:pic>
        <p:nvPicPr>
          <p:cNvPr id="2150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0499" y="4423282"/>
            <a:ext cx="1043678" cy="1669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107067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ltLang="en-US" smtClean="0"/>
              <a:t>Use Cases</a:t>
            </a:r>
          </a:p>
        </p:txBody>
      </p:sp>
      <p:sp>
        <p:nvSpPr>
          <p:cNvPr id="23555" name="Rectangle 3"/>
          <p:cNvSpPr>
            <a:spLocks noGrp="1" noChangeArrowheads="1"/>
          </p:cNvSpPr>
          <p:nvPr>
            <p:ph type="body" idx="1"/>
          </p:nvPr>
        </p:nvSpPr>
        <p:spPr>
          <a:xfrm>
            <a:off x="450761" y="1829225"/>
            <a:ext cx="9834292" cy="4647953"/>
          </a:xfrm>
        </p:spPr>
        <p:txBody>
          <a:bodyPr/>
          <a:lstStyle/>
          <a:p>
            <a:r>
              <a:rPr lang="en-US" altLang="en-US" dirty="0" smtClean="0"/>
              <a:t>The </a:t>
            </a:r>
            <a:r>
              <a:rPr lang="en-US" altLang="en-US" b="1" dirty="0" smtClean="0"/>
              <a:t>use case</a:t>
            </a:r>
            <a:r>
              <a:rPr lang="en-US" altLang="en-US" dirty="0" smtClean="0"/>
              <a:t> is a summary of scenarios for a single task or goal. </a:t>
            </a:r>
          </a:p>
          <a:p>
            <a:endParaRPr lang="en-US" altLang="en-US" dirty="0" smtClean="0"/>
          </a:p>
          <a:p>
            <a:r>
              <a:rPr lang="en-US" altLang="en-US" dirty="0" smtClean="0"/>
              <a:t>So What is the Use Case????</a:t>
            </a:r>
          </a:p>
          <a:p>
            <a:endParaRPr lang="en-US" altLang="en-US" dirty="0" smtClean="0"/>
          </a:p>
          <a:p>
            <a:r>
              <a:rPr lang="en-US" altLang="en-US" dirty="0" smtClean="0"/>
              <a:t>The Use Case is </a:t>
            </a:r>
            <a:r>
              <a:rPr lang="en-US" altLang="en-US" b="1" dirty="0" smtClean="0"/>
              <a:t>Make Appointment.  </a:t>
            </a:r>
          </a:p>
          <a:p>
            <a:r>
              <a:rPr lang="en-US" altLang="en-US" dirty="0" smtClean="0"/>
              <a:t>It is a use case for the medical clinic. </a:t>
            </a:r>
          </a:p>
          <a:p>
            <a:endParaRPr lang="en-US" altLang="en-US" dirty="0" smtClean="0"/>
          </a:p>
        </p:txBody>
      </p:sp>
    </p:spTree>
    <p:extLst>
      <p:ext uri="{BB962C8B-B14F-4D97-AF65-F5344CB8AC3E}">
        <p14:creationId xmlns:p14="http://schemas.microsoft.com/office/powerpoint/2010/main" val="198164898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en-US" smtClean="0"/>
              <a:t>Use Cases</a:t>
            </a:r>
          </a:p>
        </p:txBody>
      </p:sp>
      <p:sp>
        <p:nvSpPr>
          <p:cNvPr id="25603" name="Rectangle 3"/>
          <p:cNvSpPr>
            <a:spLocks noGrp="1" noChangeArrowheads="1"/>
          </p:cNvSpPr>
          <p:nvPr>
            <p:ph type="body" idx="1"/>
          </p:nvPr>
        </p:nvSpPr>
        <p:spPr>
          <a:xfrm>
            <a:off x="675202" y="1867437"/>
            <a:ext cx="10709721" cy="4661255"/>
          </a:xfrm>
        </p:spPr>
        <p:txBody>
          <a:bodyPr anchor="t"/>
          <a:lstStyle/>
          <a:p>
            <a:r>
              <a:rPr lang="en-US" altLang="en-US" sz="2108" dirty="0"/>
              <a:t>The picture below is a </a:t>
            </a:r>
            <a:r>
              <a:rPr lang="en-US" altLang="en-US" sz="2108" b="1" dirty="0"/>
              <a:t>Make Appointment</a:t>
            </a:r>
            <a:r>
              <a:rPr lang="en-US" altLang="en-US" sz="2108" dirty="0"/>
              <a:t> use case for the medical clinic. </a:t>
            </a:r>
          </a:p>
          <a:p>
            <a:r>
              <a:rPr lang="en-US" altLang="en-US" sz="2108" dirty="0"/>
              <a:t>The actor is a </a:t>
            </a:r>
            <a:r>
              <a:rPr lang="en-US" altLang="en-US" sz="2108" b="1" dirty="0"/>
              <a:t>Patient</a:t>
            </a:r>
            <a:r>
              <a:rPr lang="en-US" altLang="en-US" sz="2108" dirty="0"/>
              <a:t>. The connection between actor and use case is a </a:t>
            </a:r>
            <a:r>
              <a:rPr lang="en-US" altLang="en-US" sz="2108" b="1" dirty="0"/>
              <a:t>communication association</a:t>
            </a:r>
            <a:r>
              <a:rPr lang="en-US" altLang="en-US" sz="2108" dirty="0"/>
              <a:t> (or </a:t>
            </a:r>
            <a:r>
              <a:rPr lang="en-US" altLang="en-US" sz="2108" b="1" dirty="0"/>
              <a:t>communication</a:t>
            </a:r>
            <a:r>
              <a:rPr lang="en-US" altLang="en-US" sz="2108" dirty="0"/>
              <a:t> for short).</a:t>
            </a:r>
          </a:p>
        </p:txBody>
      </p:sp>
      <p:pic>
        <p:nvPicPr>
          <p:cNvPr id="25604" name="Picture 5" descr="Use ca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83219" y="3142401"/>
            <a:ext cx="8336677" cy="171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7" name="Text Box 9"/>
          <p:cNvSpPr txBox="1">
            <a:spLocks noChangeArrowheads="1"/>
          </p:cNvSpPr>
          <p:nvPr/>
        </p:nvSpPr>
        <p:spPr bwMode="auto">
          <a:xfrm>
            <a:off x="1122104" y="5005195"/>
            <a:ext cx="8852939" cy="836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spcBef>
                <a:spcPct val="50000"/>
              </a:spcBef>
            </a:pPr>
            <a:r>
              <a:rPr lang="en-US" altLang="en-US" sz="2409" dirty="0"/>
              <a:t>Actors are stick figures. Use cases are ovals. Communications are lines that link actors to use cases.</a:t>
            </a:r>
          </a:p>
        </p:txBody>
      </p:sp>
    </p:spTree>
    <p:extLst>
      <p:ext uri="{BB962C8B-B14F-4D97-AF65-F5344CB8AC3E}">
        <p14:creationId xmlns:p14="http://schemas.microsoft.com/office/powerpoint/2010/main" val="33973067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en-US" smtClean="0"/>
              <a:t>Use Case Componentss</a:t>
            </a:r>
          </a:p>
        </p:txBody>
      </p:sp>
      <p:sp>
        <p:nvSpPr>
          <p:cNvPr id="27651" name="Rectangle 3"/>
          <p:cNvSpPr>
            <a:spLocks noGrp="1" noChangeArrowheads="1"/>
          </p:cNvSpPr>
          <p:nvPr>
            <p:ph type="body" idx="1"/>
          </p:nvPr>
        </p:nvSpPr>
        <p:spPr>
          <a:xfrm>
            <a:off x="581192" y="1841679"/>
            <a:ext cx="9703861" cy="4635498"/>
          </a:xfrm>
        </p:spPr>
        <p:txBody>
          <a:bodyPr>
            <a:normAutofit/>
          </a:bodyPr>
          <a:lstStyle/>
          <a:p>
            <a:r>
              <a:rPr lang="en-US" altLang="en-US" sz="2000" dirty="0">
                <a:latin typeface="Graphik"/>
              </a:rPr>
              <a:t>The use case has three components.</a:t>
            </a:r>
          </a:p>
          <a:p>
            <a:endParaRPr lang="en-US" altLang="en-US" sz="2000" dirty="0">
              <a:latin typeface="Graphik"/>
            </a:endParaRPr>
          </a:p>
          <a:p>
            <a:r>
              <a:rPr lang="en-US" altLang="en-US" sz="2000" dirty="0">
                <a:latin typeface="Graphik"/>
              </a:rPr>
              <a:t>The </a:t>
            </a:r>
            <a:r>
              <a:rPr lang="en-US" altLang="en-US" sz="2000" b="1" dirty="0">
                <a:latin typeface="Graphik"/>
              </a:rPr>
              <a:t>use case</a:t>
            </a:r>
            <a:r>
              <a:rPr lang="en-US" altLang="en-US" sz="2000" dirty="0">
                <a:latin typeface="Graphik"/>
              </a:rPr>
              <a:t> task referred to as the use case that represents a feature needed in a software system.  </a:t>
            </a:r>
          </a:p>
          <a:p>
            <a:endParaRPr lang="en-US" altLang="en-US" sz="2000" dirty="0">
              <a:latin typeface="Graphik"/>
            </a:endParaRPr>
          </a:p>
          <a:p>
            <a:r>
              <a:rPr lang="en-US" altLang="en-US" sz="2000" dirty="0">
                <a:latin typeface="Graphik"/>
              </a:rPr>
              <a:t>The </a:t>
            </a:r>
            <a:r>
              <a:rPr lang="en-US" altLang="en-US" sz="2000" b="1" dirty="0">
                <a:latin typeface="Graphik"/>
              </a:rPr>
              <a:t>actor(s) </a:t>
            </a:r>
            <a:r>
              <a:rPr lang="en-US" altLang="en-US" sz="2000" dirty="0">
                <a:latin typeface="Graphik"/>
              </a:rPr>
              <a:t>who trigger the use case to activate.</a:t>
            </a:r>
            <a:endParaRPr lang="en-US" altLang="en-US" sz="2000" b="1" dirty="0">
              <a:latin typeface="Graphik"/>
            </a:endParaRPr>
          </a:p>
          <a:p>
            <a:endParaRPr lang="en-US" altLang="en-US" sz="2000" dirty="0">
              <a:latin typeface="Graphik"/>
            </a:endParaRPr>
          </a:p>
          <a:p>
            <a:r>
              <a:rPr lang="en-US" altLang="en-US" sz="2000" dirty="0">
                <a:latin typeface="Graphik"/>
              </a:rPr>
              <a:t>The </a:t>
            </a:r>
            <a:r>
              <a:rPr lang="en-US" altLang="en-US" sz="2000" b="1" dirty="0">
                <a:latin typeface="Graphik"/>
              </a:rPr>
              <a:t>communication</a:t>
            </a:r>
            <a:r>
              <a:rPr lang="en-US" altLang="en-US" sz="2000" dirty="0">
                <a:latin typeface="Graphik"/>
              </a:rPr>
              <a:t> line to show how the actors communicate with the use case.</a:t>
            </a:r>
          </a:p>
        </p:txBody>
      </p:sp>
    </p:spTree>
    <p:extLst>
      <p:ext uri="{BB962C8B-B14F-4D97-AF65-F5344CB8AC3E}">
        <p14:creationId xmlns:p14="http://schemas.microsoft.com/office/powerpoint/2010/main" val="16741379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r>
              <a:rPr lang="en-GB" altLang="en-US" smtClean="0"/>
              <a:t>Use Case</a:t>
            </a:r>
          </a:p>
        </p:txBody>
      </p:sp>
      <p:sp>
        <p:nvSpPr>
          <p:cNvPr id="31747" name="Rectangle 3"/>
          <p:cNvSpPr>
            <a:spLocks noGrp="1" noChangeArrowheads="1"/>
          </p:cNvSpPr>
          <p:nvPr>
            <p:ph type="body" idx="1"/>
          </p:nvPr>
        </p:nvSpPr>
        <p:spPr/>
        <p:txBody>
          <a:bodyPr/>
          <a:lstStyle/>
          <a:p>
            <a:r>
              <a:rPr lang="en-GB" altLang="en-US" sz="3212"/>
              <a:t>Each use case in a use case diagram describes one and only one </a:t>
            </a:r>
            <a:r>
              <a:rPr lang="en-GB" altLang="en-US" sz="3212" i="1"/>
              <a:t>function</a:t>
            </a:r>
            <a:r>
              <a:rPr lang="en-GB" altLang="en-US" sz="3212"/>
              <a:t> in which users interact with the system</a:t>
            </a:r>
          </a:p>
          <a:p>
            <a:pPr lvl="1"/>
            <a:endParaRPr lang="en-GB" altLang="en-US" sz="2810"/>
          </a:p>
          <a:p>
            <a:pPr lvl="1"/>
            <a:r>
              <a:rPr lang="en-GB" altLang="en-US" sz="2810"/>
              <a:t>May contain several “paths” that a user can take while interacting with the system</a:t>
            </a:r>
          </a:p>
          <a:p>
            <a:pPr lvl="1"/>
            <a:r>
              <a:rPr lang="en-GB" altLang="en-US" sz="2810"/>
              <a:t>Each path is referred to as a scenario</a:t>
            </a:r>
          </a:p>
        </p:txBody>
      </p:sp>
    </p:spTree>
    <p:extLst>
      <p:ext uri="{BB962C8B-B14F-4D97-AF65-F5344CB8AC3E}">
        <p14:creationId xmlns:p14="http://schemas.microsoft.com/office/powerpoint/2010/main" val="153794910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altLang="en-US" smtClean="0"/>
              <a:t>Use Case</a:t>
            </a:r>
          </a:p>
        </p:txBody>
      </p:sp>
      <p:sp>
        <p:nvSpPr>
          <p:cNvPr id="33795" name="Rectangle 3"/>
          <p:cNvSpPr>
            <a:spLocks noGrp="1" noChangeArrowheads="1"/>
          </p:cNvSpPr>
          <p:nvPr>
            <p:ph type="body" idx="1"/>
          </p:nvPr>
        </p:nvSpPr>
        <p:spPr/>
        <p:txBody>
          <a:bodyPr/>
          <a:lstStyle/>
          <a:p>
            <a:r>
              <a:rPr lang="en-GB" altLang="en-US" sz="3212" dirty="0"/>
              <a:t>Labelled using a descriptive verb-noun phrase</a:t>
            </a:r>
          </a:p>
          <a:p>
            <a:r>
              <a:rPr lang="en-GB" altLang="en-US" sz="3212" dirty="0"/>
              <a:t>Represented by an oval</a:t>
            </a:r>
          </a:p>
          <a:p>
            <a:pPr>
              <a:buFont typeface="Zapf Dingbats" charset="2"/>
              <a:buNone/>
            </a:pPr>
            <a:endParaRPr lang="en-GB" altLang="en-US" sz="3212" dirty="0"/>
          </a:p>
          <a:p>
            <a:pPr>
              <a:buFont typeface="Zapf Dingbats" charset="2"/>
              <a:buNone/>
            </a:pPr>
            <a:endParaRPr lang="en-GB" altLang="en-US" dirty="0" smtClean="0"/>
          </a:p>
          <a:p>
            <a:pPr>
              <a:buFont typeface="Zapf Dingbats" charset="2"/>
              <a:buNone/>
            </a:pPr>
            <a:endParaRPr lang="en-GB" altLang="en-US" dirty="0" smtClean="0"/>
          </a:p>
          <a:p>
            <a:pPr>
              <a:buFont typeface="Zapf Dingbats" charset="2"/>
              <a:buNone/>
            </a:pPr>
            <a:endParaRPr lang="en-GB" altLang="en-US" dirty="0" smtClean="0"/>
          </a:p>
        </p:txBody>
      </p:sp>
      <p:sp>
        <p:nvSpPr>
          <p:cNvPr id="33796" name="Oval 4"/>
          <p:cNvSpPr>
            <a:spLocks noChangeArrowheads="1"/>
          </p:cNvSpPr>
          <p:nvPr/>
        </p:nvSpPr>
        <p:spPr bwMode="auto">
          <a:xfrm>
            <a:off x="6400341" y="3962791"/>
            <a:ext cx="2208454" cy="1142468"/>
          </a:xfrm>
          <a:prstGeom prst="ellipse">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2409" dirty="0">
                <a:solidFill>
                  <a:schemeClr val="bg1"/>
                </a:solidFill>
              </a:rPr>
              <a:t>Make </a:t>
            </a:r>
          </a:p>
          <a:p>
            <a:pPr algn="ctr"/>
            <a:r>
              <a:rPr lang="en-US" altLang="en-US" sz="2409" dirty="0">
                <a:solidFill>
                  <a:schemeClr val="bg1"/>
                </a:solidFill>
              </a:rPr>
              <a:t>Appointment</a:t>
            </a:r>
          </a:p>
        </p:txBody>
      </p:sp>
      <p:sp>
        <p:nvSpPr>
          <p:cNvPr id="6" name="Oval 4"/>
          <p:cNvSpPr>
            <a:spLocks noChangeArrowheads="1"/>
          </p:cNvSpPr>
          <p:nvPr/>
        </p:nvSpPr>
        <p:spPr bwMode="auto">
          <a:xfrm>
            <a:off x="4856163" y="3948113"/>
            <a:ext cx="2200275" cy="1138237"/>
          </a:xfrm>
          <a:prstGeom prst="ellipse">
            <a:avLst/>
          </a:prstGeom>
          <a:noFill/>
          <a:ln w="28575">
            <a:solidFill>
              <a:srgbClr val="0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smtClean="0">
                <a:ln>
                  <a:noFill/>
                </a:ln>
                <a:solidFill>
                  <a:srgbClr val="000080"/>
                </a:solidFill>
                <a:effectLst/>
                <a:uLnTx/>
                <a:uFillTx/>
                <a:latin typeface="Times" panose="02020603050405020304" pitchFamily="18" charset="0"/>
              </a:rPr>
              <a:t>Make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smtClean="0">
                <a:ln>
                  <a:noFill/>
                </a:ln>
                <a:solidFill>
                  <a:srgbClr val="000080"/>
                </a:solidFill>
                <a:effectLst/>
                <a:uLnTx/>
                <a:uFillTx/>
                <a:latin typeface="Times" panose="02020603050405020304" pitchFamily="18" charset="0"/>
              </a:rPr>
              <a:t>Appointment</a:t>
            </a:r>
          </a:p>
        </p:txBody>
      </p:sp>
    </p:spTree>
    <p:extLst>
      <p:ext uri="{BB962C8B-B14F-4D97-AF65-F5344CB8AC3E}">
        <p14:creationId xmlns:p14="http://schemas.microsoft.com/office/powerpoint/2010/main" val="424057424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r>
              <a:rPr lang="en-GB" altLang="en-US" smtClean="0"/>
              <a:t>Use Case - Actor</a:t>
            </a:r>
          </a:p>
        </p:txBody>
      </p:sp>
      <p:sp>
        <p:nvSpPr>
          <p:cNvPr id="35843" name="Rectangle 3"/>
          <p:cNvSpPr>
            <a:spLocks noGrp="1" noChangeArrowheads="1"/>
          </p:cNvSpPr>
          <p:nvPr>
            <p:ph type="body" idx="1"/>
          </p:nvPr>
        </p:nvSpPr>
        <p:spPr/>
        <p:txBody>
          <a:bodyPr/>
          <a:lstStyle/>
          <a:p>
            <a:r>
              <a:rPr lang="en-GB" altLang="en-US" sz="3212"/>
              <a:t>Labelled using a descriptive noun or  phrase</a:t>
            </a:r>
          </a:p>
          <a:p>
            <a:r>
              <a:rPr lang="en-GB" altLang="en-US" sz="3212"/>
              <a:t>Represented by a stick character</a:t>
            </a:r>
          </a:p>
          <a:p>
            <a:pPr>
              <a:buFont typeface="Zapf Dingbats" charset="2"/>
              <a:buNone/>
            </a:pPr>
            <a:endParaRPr lang="en-GB" altLang="en-US" sz="3212"/>
          </a:p>
          <a:p>
            <a:pPr>
              <a:buFont typeface="Zapf Dingbats" charset="2"/>
              <a:buNone/>
            </a:pPr>
            <a:endParaRPr lang="en-GB" altLang="en-US" smtClean="0"/>
          </a:p>
          <a:p>
            <a:pPr>
              <a:buFont typeface="Zapf Dingbats" charset="2"/>
              <a:buNone/>
            </a:pPr>
            <a:endParaRPr lang="en-GB" altLang="en-US" smtClean="0"/>
          </a:p>
          <a:p>
            <a:pPr>
              <a:buFont typeface="Zapf Dingbats" charset="2"/>
              <a:buNone/>
            </a:pPr>
            <a:endParaRPr lang="en-GB" altLang="en-US" smtClean="0"/>
          </a:p>
        </p:txBody>
      </p:sp>
      <p:pic>
        <p:nvPicPr>
          <p:cNvPr id="3584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8752" y="3734933"/>
            <a:ext cx="1481863" cy="2370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9601147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983432" y="227858"/>
            <a:ext cx="8225138" cy="1144062"/>
          </a:xfrm>
        </p:spPr>
        <p:txBody>
          <a:bodyPr/>
          <a:lstStyle/>
          <a:p>
            <a:r>
              <a:rPr lang="en-US" altLang="en-US" sz="3413"/>
              <a:t>Use Case  - Relationships</a:t>
            </a:r>
            <a:endParaRPr lang="en-GB" altLang="en-US" sz="3413"/>
          </a:p>
        </p:txBody>
      </p:sp>
      <p:sp>
        <p:nvSpPr>
          <p:cNvPr id="37891" name="Rectangle 3"/>
          <p:cNvSpPr>
            <a:spLocks noGrp="1" noChangeArrowheads="1"/>
          </p:cNvSpPr>
          <p:nvPr>
            <p:ph type="body" idx="1"/>
          </p:nvPr>
        </p:nvSpPr>
        <p:spPr>
          <a:xfrm>
            <a:off x="1526125" y="1523292"/>
            <a:ext cx="8758928" cy="4649546"/>
          </a:xfrm>
        </p:spPr>
        <p:txBody>
          <a:bodyPr/>
          <a:lstStyle/>
          <a:p>
            <a:r>
              <a:rPr lang="en-GB" altLang="en-US" sz="3212"/>
              <a:t>Relationships</a:t>
            </a:r>
          </a:p>
          <a:p>
            <a:pPr lvl="1"/>
            <a:r>
              <a:rPr lang="en-GB" altLang="en-US" sz="2810"/>
              <a:t>Represent communication between actor and use case</a:t>
            </a:r>
          </a:p>
          <a:p>
            <a:pPr lvl="1"/>
            <a:r>
              <a:rPr lang="en-GB" altLang="en-US" sz="2810"/>
              <a:t>Depicted by line or double-headed arrow line</a:t>
            </a:r>
          </a:p>
          <a:p>
            <a:pPr lvl="1"/>
            <a:r>
              <a:rPr lang="en-GB" altLang="en-US" sz="2810"/>
              <a:t>Also called association relationship</a:t>
            </a:r>
          </a:p>
        </p:txBody>
      </p:sp>
      <p:sp>
        <p:nvSpPr>
          <p:cNvPr id="37893" name="Oval 5"/>
          <p:cNvSpPr>
            <a:spLocks noChangeArrowheads="1"/>
          </p:cNvSpPr>
          <p:nvPr/>
        </p:nvSpPr>
        <p:spPr bwMode="auto">
          <a:xfrm>
            <a:off x="6401934" y="4729216"/>
            <a:ext cx="2208454" cy="1142469"/>
          </a:xfrm>
          <a:prstGeom prst="ellipse">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2409">
                <a:solidFill>
                  <a:schemeClr val="bg1"/>
                </a:solidFill>
              </a:rPr>
              <a:t>Make </a:t>
            </a:r>
          </a:p>
          <a:p>
            <a:pPr algn="ctr"/>
            <a:r>
              <a:rPr lang="en-US" altLang="en-US" sz="2409">
                <a:solidFill>
                  <a:schemeClr val="bg1"/>
                </a:solidFill>
              </a:rPr>
              <a:t>Appointment</a:t>
            </a:r>
          </a:p>
        </p:txBody>
      </p:sp>
      <p:sp>
        <p:nvSpPr>
          <p:cNvPr id="37894" name="Line 6"/>
          <p:cNvSpPr>
            <a:spLocks noChangeShapeType="1"/>
          </p:cNvSpPr>
          <p:nvPr/>
        </p:nvSpPr>
        <p:spPr bwMode="auto">
          <a:xfrm>
            <a:off x="3686382" y="5264599"/>
            <a:ext cx="2600431" cy="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807"/>
          </a:p>
        </p:txBody>
      </p:sp>
    </p:spTree>
    <p:extLst>
      <p:ext uri="{BB962C8B-B14F-4D97-AF65-F5344CB8AC3E}">
        <p14:creationId xmlns:p14="http://schemas.microsoft.com/office/powerpoint/2010/main" val="9196186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983432" y="227858"/>
            <a:ext cx="8225138" cy="1144062"/>
          </a:xfrm>
        </p:spPr>
        <p:txBody>
          <a:bodyPr/>
          <a:lstStyle/>
          <a:p>
            <a:r>
              <a:rPr lang="en-US" altLang="en-US" sz="3413"/>
              <a:t>Use Case  - Relationships</a:t>
            </a:r>
            <a:endParaRPr lang="en-GB" altLang="en-US" sz="3413"/>
          </a:p>
        </p:txBody>
      </p:sp>
      <p:sp>
        <p:nvSpPr>
          <p:cNvPr id="39939" name="Rectangle 3"/>
          <p:cNvSpPr>
            <a:spLocks noGrp="1" noChangeArrowheads="1"/>
          </p:cNvSpPr>
          <p:nvPr>
            <p:ph type="body" idx="1"/>
          </p:nvPr>
        </p:nvSpPr>
        <p:spPr>
          <a:xfrm>
            <a:off x="1526125" y="1523292"/>
            <a:ext cx="8758928" cy="4649546"/>
          </a:xfrm>
        </p:spPr>
        <p:txBody>
          <a:bodyPr/>
          <a:lstStyle/>
          <a:p>
            <a:r>
              <a:rPr lang="en-GB" altLang="en-US" sz="3212" dirty="0"/>
              <a:t>Boundary</a:t>
            </a:r>
          </a:p>
          <a:p>
            <a:pPr lvl="1"/>
            <a:r>
              <a:rPr lang="en-GB" altLang="en-US" sz="2810" dirty="0"/>
              <a:t>A boundary rectangle is placed around the perimeter of the system to show how the actors communicate with the system.  </a:t>
            </a:r>
          </a:p>
          <a:p>
            <a:pPr lvl="1"/>
            <a:endParaRPr lang="en-GB" altLang="en-US" sz="2810" dirty="0"/>
          </a:p>
        </p:txBody>
      </p:sp>
      <p:pic>
        <p:nvPicPr>
          <p:cNvPr id="399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7220" y="4499766"/>
            <a:ext cx="1003843" cy="1606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1" name="Oval 5"/>
          <p:cNvSpPr>
            <a:spLocks noChangeArrowheads="1"/>
          </p:cNvSpPr>
          <p:nvPr/>
        </p:nvSpPr>
        <p:spPr bwMode="auto">
          <a:xfrm>
            <a:off x="6401934" y="4729216"/>
            <a:ext cx="2208454" cy="1142469"/>
          </a:xfrm>
          <a:prstGeom prst="ellipse">
            <a:avLst/>
          </a:prstGeom>
          <a:noFill/>
          <a:ln w="2857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r>
              <a:rPr lang="en-US" altLang="en-US" sz="2409">
                <a:solidFill>
                  <a:schemeClr val="bg1"/>
                </a:solidFill>
              </a:rPr>
              <a:t>Make </a:t>
            </a:r>
          </a:p>
          <a:p>
            <a:pPr algn="ctr"/>
            <a:r>
              <a:rPr lang="en-US" altLang="en-US" sz="2409">
                <a:solidFill>
                  <a:schemeClr val="bg1"/>
                </a:solidFill>
              </a:rPr>
              <a:t>Appointment</a:t>
            </a:r>
          </a:p>
        </p:txBody>
      </p:sp>
      <p:sp>
        <p:nvSpPr>
          <p:cNvPr id="39942" name="Line 6"/>
          <p:cNvSpPr>
            <a:spLocks noChangeShapeType="1"/>
          </p:cNvSpPr>
          <p:nvPr/>
        </p:nvSpPr>
        <p:spPr bwMode="auto">
          <a:xfrm>
            <a:off x="3725019" y="5264599"/>
            <a:ext cx="2600431" cy="0"/>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807"/>
          </a:p>
        </p:txBody>
      </p:sp>
      <p:sp>
        <p:nvSpPr>
          <p:cNvPr id="39943" name="Rectangle 7"/>
          <p:cNvSpPr>
            <a:spLocks noChangeArrowheads="1"/>
          </p:cNvSpPr>
          <p:nvPr/>
        </p:nvSpPr>
        <p:spPr bwMode="auto">
          <a:xfrm>
            <a:off x="4795784" y="4270316"/>
            <a:ext cx="4971413" cy="2065048"/>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sz="2409"/>
          </a:p>
        </p:txBody>
      </p:sp>
      <p:sp>
        <p:nvSpPr>
          <p:cNvPr id="9" name="Oval 4"/>
          <p:cNvSpPr>
            <a:spLocks noChangeArrowheads="1"/>
          </p:cNvSpPr>
          <p:nvPr/>
        </p:nvSpPr>
        <p:spPr bwMode="auto">
          <a:xfrm>
            <a:off x="5980584" y="4733448"/>
            <a:ext cx="2200275" cy="1138237"/>
          </a:xfrm>
          <a:prstGeom prst="ellipse">
            <a:avLst/>
          </a:prstGeom>
          <a:noFill/>
          <a:ln w="28575">
            <a:solidFill>
              <a:srgbClr val="00008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smtClean="0">
                <a:ln>
                  <a:noFill/>
                </a:ln>
                <a:solidFill>
                  <a:srgbClr val="000080"/>
                </a:solidFill>
                <a:effectLst/>
                <a:uLnTx/>
                <a:uFillTx/>
                <a:latin typeface="Times" panose="02020603050405020304" pitchFamily="18" charset="0"/>
              </a:rPr>
              <a:t>Make </a:t>
            </a:r>
          </a:p>
          <a:p>
            <a:pPr marL="0" marR="0" lvl="0" indent="0" algn="ctr" defTabSz="914400" eaLnBrk="0" fontAlgn="base" latinLnBrk="0" hangingPunct="0">
              <a:lnSpc>
                <a:spcPct val="100000"/>
              </a:lnSpc>
              <a:spcBef>
                <a:spcPct val="0"/>
              </a:spcBef>
              <a:spcAft>
                <a:spcPct val="0"/>
              </a:spcAft>
              <a:buClrTx/>
              <a:buSzTx/>
              <a:buFontTx/>
              <a:buNone/>
              <a:tabLst/>
              <a:defRPr/>
            </a:pPr>
            <a:r>
              <a:rPr kumimoji="0" lang="en-US" altLang="en-US" sz="2400" b="0" i="0" u="none" strike="noStrike" kern="0" cap="none" spc="0" normalizeH="0" baseline="0" noProof="0" smtClean="0">
                <a:ln>
                  <a:noFill/>
                </a:ln>
                <a:solidFill>
                  <a:srgbClr val="000080"/>
                </a:solidFill>
                <a:effectLst/>
                <a:uLnTx/>
                <a:uFillTx/>
                <a:latin typeface="Times" panose="02020603050405020304" pitchFamily="18" charset="0"/>
              </a:rPr>
              <a:t>Appointment</a:t>
            </a:r>
          </a:p>
        </p:txBody>
      </p:sp>
      <p:sp>
        <p:nvSpPr>
          <p:cNvPr id="11" name="Line 6"/>
          <p:cNvSpPr>
            <a:spLocks noChangeShapeType="1"/>
          </p:cNvSpPr>
          <p:nvPr/>
        </p:nvSpPr>
        <p:spPr bwMode="auto">
          <a:xfrm>
            <a:off x="3401363" y="5245100"/>
            <a:ext cx="2590800" cy="0"/>
          </a:xfrm>
          <a:prstGeom prst="line">
            <a:avLst/>
          </a:prstGeom>
          <a:noFill/>
          <a:ln w="12700">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solidFill>
                <a:srgbClr val="FFFFFF"/>
              </a:solidFill>
              <a:effectLst/>
              <a:uLnTx/>
              <a:uFillTx/>
              <a:latin typeface="Times" panose="02020603050405020304" pitchFamily="18" charset="0"/>
            </a:endParaRPr>
          </a:p>
        </p:txBody>
      </p:sp>
    </p:spTree>
    <p:extLst>
      <p:ext uri="{BB962C8B-B14F-4D97-AF65-F5344CB8AC3E}">
        <p14:creationId xmlns:p14="http://schemas.microsoft.com/office/powerpoint/2010/main" val="29983197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custDataLst>
              <p:tags r:id="rId1"/>
            </p:custDataLst>
          </p:nvPr>
        </p:nvSpPr>
        <p:spPr>
          <a:xfrm>
            <a:off x="1906948" y="-12747"/>
            <a:ext cx="8301622" cy="1250821"/>
          </a:xfrm>
        </p:spPr>
        <p:txBody>
          <a:bodyPr/>
          <a:lstStyle/>
          <a:p>
            <a:r>
              <a:rPr lang="en-US" altLang="en-US" smtClean="0"/>
              <a:t>Use-Case Diagram</a:t>
            </a:r>
          </a:p>
        </p:txBody>
      </p:sp>
      <p:pic>
        <p:nvPicPr>
          <p:cNvPr id="41987" name="Picture 3" descr="06-04"/>
          <p:cNvPicPr>
            <a:picLocks noChangeAspect="1" noChangeArrowheads="1"/>
          </p:cNvPicPr>
          <p:nvPr>
            <p:custDataLst>
              <p:tags r:id="rId2"/>
            </p:custDataLst>
          </p:nvPr>
        </p:nvPicPr>
        <p:blipFill>
          <a:blip r:embed="rId5">
            <a:extLst>
              <a:ext uri="{28A0092B-C50C-407E-A947-70E740481C1C}">
                <a14:useLocalDpi xmlns:a14="http://schemas.microsoft.com/office/drawing/2010/main" val="0"/>
              </a:ext>
            </a:extLst>
          </a:blip>
          <a:srcRect/>
          <a:stretch>
            <a:fillRect/>
          </a:stretch>
        </p:blipFill>
        <p:spPr bwMode="auto">
          <a:xfrm>
            <a:off x="2668594" y="1440435"/>
            <a:ext cx="7082669" cy="4678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Rectangle 4"/>
          <p:cNvSpPr>
            <a:spLocks noChangeArrowheads="1"/>
          </p:cNvSpPr>
          <p:nvPr/>
        </p:nvSpPr>
        <p:spPr bwMode="auto">
          <a:xfrm>
            <a:off x="1736453" y="6100147"/>
            <a:ext cx="9177993" cy="836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r>
              <a:rPr lang="en-GB" altLang="en-US" sz="2409">
                <a:solidFill>
                  <a:schemeClr val="bg1"/>
                </a:solidFill>
              </a:rPr>
              <a:t>A use case diagram is a collection of actors, use cases, and their communications. </a:t>
            </a:r>
          </a:p>
        </p:txBody>
      </p:sp>
    </p:spTree>
    <p:extLst>
      <p:ext uri="{BB962C8B-B14F-4D97-AF65-F5344CB8AC3E}">
        <p14:creationId xmlns:p14="http://schemas.microsoft.com/office/powerpoint/2010/main" val="1092180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altLang="en-US" sz="3413"/>
              <a:t>Use Case Diagram</a:t>
            </a:r>
            <a:endParaRPr lang="en-GB" altLang="en-US" sz="3413"/>
          </a:p>
        </p:txBody>
      </p:sp>
      <p:sp>
        <p:nvSpPr>
          <p:cNvPr id="44035" name="Rectangle 3"/>
          <p:cNvSpPr>
            <a:spLocks noGrp="1" noChangeArrowheads="1"/>
          </p:cNvSpPr>
          <p:nvPr>
            <p:ph type="body" idx="1"/>
          </p:nvPr>
        </p:nvSpPr>
        <p:spPr>
          <a:xfrm>
            <a:off x="1983432" y="1599775"/>
            <a:ext cx="8378105" cy="4115757"/>
          </a:xfrm>
        </p:spPr>
        <p:txBody>
          <a:bodyPr/>
          <a:lstStyle/>
          <a:p>
            <a:r>
              <a:rPr lang="en-GB" altLang="en-US" sz="3212"/>
              <a:t>Other Types of Relationships for Use Cases</a:t>
            </a:r>
          </a:p>
          <a:p>
            <a:endParaRPr lang="en-GB" altLang="en-US" sz="3212"/>
          </a:p>
          <a:p>
            <a:pPr lvl="1"/>
            <a:r>
              <a:rPr lang="en-GB" altLang="en-US" sz="2810"/>
              <a:t>Generalization</a:t>
            </a:r>
          </a:p>
          <a:p>
            <a:pPr lvl="1"/>
            <a:r>
              <a:rPr lang="en-GB" altLang="en-US" sz="2810"/>
              <a:t>Include</a:t>
            </a:r>
          </a:p>
          <a:p>
            <a:pPr lvl="1"/>
            <a:r>
              <a:rPr lang="en-GB" altLang="en-US" sz="2810"/>
              <a:t>Extend</a:t>
            </a:r>
          </a:p>
        </p:txBody>
      </p:sp>
    </p:spTree>
    <p:extLst>
      <p:ext uri="{BB962C8B-B14F-4D97-AF65-F5344CB8AC3E}">
        <p14:creationId xmlns:p14="http://schemas.microsoft.com/office/powerpoint/2010/main" val="247098500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r>
              <a:rPr lang="en-US" altLang="en-US" sz="3413"/>
              <a:t>Components of Use Case Diagram</a:t>
            </a:r>
            <a:endParaRPr lang="en-GB" altLang="en-US" sz="3413"/>
          </a:p>
        </p:txBody>
      </p:sp>
      <p:sp>
        <p:nvSpPr>
          <p:cNvPr id="46083" name="Rectangle 3"/>
          <p:cNvSpPr>
            <a:spLocks noGrp="1" noChangeArrowheads="1"/>
          </p:cNvSpPr>
          <p:nvPr>
            <p:ph type="body" idx="1"/>
          </p:nvPr>
        </p:nvSpPr>
        <p:spPr>
          <a:xfrm>
            <a:off x="1983432" y="1599775"/>
            <a:ext cx="8454588" cy="5030369"/>
          </a:xfrm>
        </p:spPr>
        <p:txBody>
          <a:bodyPr/>
          <a:lstStyle/>
          <a:p>
            <a:r>
              <a:rPr lang="en-GB" altLang="en-US" sz="3212"/>
              <a:t>Generalization Relationship</a:t>
            </a:r>
          </a:p>
          <a:p>
            <a:pPr lvl="1"/>
            <a:r>
              <a:rPr lang="en-GB" altLang="en-US" sz="2810"/>
              <a:t>Represented by a line and a hollow arrow</a:t>
            </a:r>
          </a:p>
          <a:p>
            <a:pPr lvl="2" indent="-229446"/>
            <a:r>
              <a:rPr lang="en-GB" altLang="en-US" sz="2108"/>
              <a:t>From child to parent</a:t>
            </a:r>
          </a:p>
        </p:txBody>
      </p:sp>
      <p:sp>
        <p:nvSpPr>
          <p:cNvPr id="46084" name="Oval 4"/>
          <p:cNvSpPr>
            <a:spLocks noChangeArrowheads="1"/>
          </p:cNvSpPr>
          <p:nvPr/>
        </p:nvSpPr>
        <p:spPr bwMode="auto">
          <a:xfrm>
            <a:off x="2440737" y="4647953"/>
            <a:ext cx="2359828" cy="991096"/>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endParaRPr lang="en-US" altLang="en-US" sz="2409">
              <a:solidFill>
                <a:schemeClr val="bg1"/>
              </a:solidFill>
            </a:endParaRPr>
          </a:p>
        </p:txBody>
      </p:sp>
      <p:sp>
        <p:nvSpPr>
          <p:cNvPr id="46085" name="Oval 5"/>
          <p:cNvSpPr>
            <a:spLocks noChangeArrowheads="1"/>
          </p:cNvSpPr>
          <p:nvPr/>
        </p:nvSpPr>
        <p:spPr bwMode="auto">
          <a:xfrm>
            <a:off x="6781163" y="4571470"/>
            <a:ext cx="2361421" cy="991096"/>
          </a:xfrm>
          <a:prstGeom prst="ellipse">
            <a:avLst/>
          </a:prstGeom>
          <a:noFill/>
          <a:ln w="9525">
            <a:solidFill>
              <a:schemeClr val="bg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sz="2409"/>
          </a:p>
        </p:txBody>
      </p:sp>
      <p:sp>
        <p:nvSpPr>
          <p:cNvPr id="46086" name="Line 6"/>
          <p:cNvSpPr>
            <a:spLocks noChangeShapeType="1"/>
          </p:cNvSpPr>
          <p:nvPr/>
        </p:nvSpPr>
        <p:spPr bwMode="auto">
          <a:xfrm>
            <a:off x="4800565" y="5181742"/>
            <a:ext cx="1980598" cy="0"/>
          </a:xfrm>
          <a:prstGeom prst="line">
            <a:avLst/>
          </a:prstGeom>
          <a:noFill/>
          <a:ln w="9525">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807"/>
          </a:p>
        </p:txBody>
      </p:sp>
      <p:sp>
        <p:nvSpPr>
          <p:cNvPr id="46087" name="Text Box 7"/>
          <p:cNvSpPr txBox="1">
            <a:spLocks noChangeArrowheads="1"/>
          </p:cNvSpPr>
          <p:nvPr/>
        </p:nvSpPr>
        <p:spPr bwMode="auto">
          <a:xfrm>
            <a:off x="2821561" y="4891743"/>
            <a:ext cx="1979005" cy="371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3" tIns="45706" rIns="91413" bIns="45706">
            <a:spAutoFit/>
          </a:bodyPr>
          <a:lstStyle>
            <a:lvl1pPr defTabSz="911225">
              <a:defRPr sz="2400">
                <a:solidFill>
                  <a:schemeClr val="tx1"/>
                </a:solidFill>
                <a:latin typeface="Times" panose="02020603050405020304" pitchFamily="18" charset="0"/>
              </a:defRPr>
            </a:lvl1pPr>
            <a:lvl2pPr marL="742950" indent="-285750" defTabSz="911225">
              <a:defRPr sz="2400">
                <a:solidFill>
                  <a:schemeClr val="tx1"/>
                </a:solidFill>
                <a:latin typeface="Times" panose="02020603050405020304" pitchFamily="18" charset="0"/>
              </a:defRPr>
            </a:lvl2pPr>
            <a:lvl3pPr marL="1143000" indent="-228600" defTabSz="911225">
              <a:defRPr sz="2400">
                <a:solidFill>
                  <a:schemeClr val="tx1"/>
                </a:solidFill>
                <a:latin typeface="Times" panose="02020603050405020304" pitchFamily="18" charset="0"/>
              </a:defRPr>
            </a:lvl3pPr>
            <a:lvl4pPr marL="1600200" indent="-228600" defTabSz="911225">
              <a:defRPr sz="2400">
                <a:solidFill>
                  <a:schemeClr val="tx1"/>
                </a:solidFill>
                <a:latin typeface="Times" panose="02020603050405020304" pitchFamily="18" charset="0"/>
              </a:defRPr>
            </a:lvl4pPr>
            <a:lvl5pPr marL="2057400" indent="-228600" defTabSz="911225">
              <a:defRPr sz="2400">
                <a:solidFill>
                  <a:schemeClr val="tx1"/>
                </a:solidFill>
                <a:latin typeface="Times" panose="02020603050405020304" pitchFamily="18" charset="0"/>
              </a:defRPr>
            </a:lvl5pPr>
            <a:lvl6pPr marL="2514600" indent="-228600" defTabSz="911225" eaLnBrk="0" fontAlgn="base" hangingPunct="0">
              <a:spcBef>
                <a:spcPct val="0"/>
              </a:spcBef>
              <a:spcAft>
                <a:spcPct val="0"/>
              </a:spcAft>
              <a:defRPr sz="2400">
                <a:solidFill>
                  <a:schemeClr val="tx1"/>
                </a:solidFill>
                <a:latin typeface="Times" panose="02020603050405020304" pitchFamily="18" charset="0"/>
              </a:defRPr>
            </a:lvl6pPr>
            <a:lvl7pPr marL="2971800" indent="-228600" defTabSz="911225" eaLnBrk="0" fontAlgn="base" hangingPunct="0">
              <a:spcBef>
                <a:spcPct val="0"/>
              </a:spcBef>
              <a:spcAft>
                <a:spcPct val="0"/>
              </a:spcAft>
              <a:defRPr sz="2400">
                <a:solidFill>
                  <a:schemeClr val="tx1"/>
                </a:solidFill>
                <a:latin typeface="Times" panose="02020603050405020304" pitchFamily="18" charset="0"/>
              </a:defRPr>
            </a:lvl7pPr>
            <a:lvl8pPr marL="3429000" indent="-228600" defTabSz="911225" eaLnBrk="0" fontAlgn="base" hangingPunct="0">
              <a:spcBef>
                <a:spcPct val="0"/>
              </a:spcBef>
              <a:spcAft>
                <a:spcPct val="0"/>
              </a:spcAft>
              <a:defRPr sz="2400">
                <a:solidFill>
                  <a:schemeClr val="tx1"/>
                </a:solidFill>
                <a:latin typeface="Times" panose="02020603050405020304" pitchFamily="18" charset="0"/>
              </a:defRPr>
            </a:lvl8pPr>
            <a:lvl9pPr marL="3886200" indent="-228600" defTabSz="911225"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ct val="50000"/>
              </a:spcBef>
            </a:pPr>
            <a:r>
              <a:rPr lang="en-US" altLang="en-US" sz="1807">
                <a:solidFill>
                  <a:schemeClr val="bg1"/>
                </a:solidFill>
                <a:latin typeface="Arial" panose="020B0604020202020204" pitchFamily="34" charset="0"/>
              </a:rPr>
              <a:t>Child use case</a:t>
            </a:r>
          </a:p>
        </p:txBody>
      </p:sp>
      <p:sp>
        <p:nvSpPr>
          <p:cNvPr id="46088" name="Text Box 8"/>
          <p:cNvSpPr txBox="1">
            <a:spLocks noChangeArrowheads="1"/>
          </p:cNvSpPr>
          <p:nvPr/>
        </p:nvSpPr>
        <p:spPr bwMode="auto">
          <a:xfrm>
            <a:off x="7085503" y="4891743"/>
            <a:ext cx="2057081" cy="368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13" tIns="45706" rIns="91413" bIns="45706">
            <a:spAutoFit/>
          </a:bodyPr>
          <a:lstStyle>
            <a:lvl1pPr defTabSz="911225">
              <a:defRPr sz="2400">
                <a:solidFill>
                  <a:schemeClr val="tx1"/>
                </a:solidFill>
                <a:latin typeface="Times" panose="02020603050405020304" pitchFamily="18" charset="0"/>
              </a:defRPr>
            </a:lvl1pPr>
            <a:lvl2pPr marL="742950" indent="-285750" defTabSz="911225">
              <a:defRPr sz="2400">
                <a:solidFill>
                  <a:schemeClr val="tx1"/>
                </a:solidFill>
                <a:latin typeface="Times" panose="02020603050405020304" pitchFamily="18" charset="0"/>
              </a:defRPr>
            </a:lvl2pPr>
            <a:lvl3pPr marL="1143000" indent="-228600" defTabSz="911225">
              <a:defRPr sz="2400">
                <a:solidFill>
                  <a:schemeClr val="tx1"/>
                </a:solidFill>
                <a:latin typeface="Times" panose="02020603050405020304" pitchFamily="18" charset="0"/>
              </a:defRPr>
            </a:lvl3pPr>
            <a:lvl4pPr marL="1600200" indent="-228600" defTabSz="911225">
              <a:defRPr sz="2400">
                <a:solidFill>
                  <a:schemeClr val="tx1"/>
                </a:solidFill>
                <a:latin typeface="Times" panose="02020603050405020304" pitchFamily="18" charset="0"/>
              </a:defRPr>
            </a:lvl4pPr>
            <a:lvl5pPr marL="2057400" indent="-228600" defTabSz="911225">
              <a:defRPr sz="2400">
                <a:solidFill>
                  <a:schemeClr val="tx1"/>
                </a:solidFill>
                <a:latin typeface="Times" panose="02020603050405020304" pitchFamily="18" charset="0"/>
              </a:defRPr>
            </a:lvl5pPr>
            <a:lvl6pPr marL="2514600" indent="-228600" defTabSz="911225" eaLnBrk="0" fontAlgn="base" hangingPunct="0">
              <a:spcBef>
                <a:spcPct val="0"/>
              </a:spcBef>
              <a:spcAft>
                <a:spcPct val="0"/>
              </a:spcAft>
              <a:defRPr sz="2400">
                <a:solidFill>
                  <a:schemeClr val="tx1"/>
                </a:solidFill>
                <a:latin typeface="Times" panose="02020603050405020304" pitchFamily="18" charset="0"/>
              </a:defRPr>
            </a:lvl6pPr>
            <a:lvl7pPr marL="2971800" indent="-228600" defTabSz="911225" eaLnBrk="0" fontAlgn="base" hangingPunct="0">
              <a:spcBef>
                <a:spcPct val="0"/>
              </a:spcBef>
              <a:spcAft>
                <a:spcPct val="0"/>
              </a:spcAft>
              <a:defRPr sz="2400">
                <a:solidFill>
                  <a:schemeClr val="tx1"/>
                </a:solidFill>
                <a:latin typeface="Times" panose="02020603050405020304" pitchFamily="18" charset="0"/>
              </a:defRPr>
            </a:lvl7pPr>
            <a:lvl8pPr marL="3429000" indent="-228600" defTabSz="911225" eaLnBrk="0" fontAlgn="base" hangingPunct="0">
              <a:spcBef>
                <a:spcPct val="0"/>
              </a:spcBef>
              <a:spcAft>
                <a:spcPct val="0"/>
              </a:spcAft>
              <a:defRPr sz="2400">
                <a:solidFill>
                  <a:schemeClr val="tx1"/>
                </a:solidFill>
                <a:latin typeface="Times" panose="02020603050405020304" pitchFamily="18" charset="0"/>
              </a:defRPr>
            </a:lvl8pPr>
            <a:lvl9pPr marL="3886200" indent="-228600" defTabSz="911225" eaLnBrk="0" fontAlgn="base" hangingPunct="0">
              <a:spcBef>
                <a:spcPct val="0"/>
              </a:spcBef>
              <a:spcAft>
                <a:spcPct val="0"/>
              </a:spcAft>
              <a:defRPr sz="2400">
                <a:solidFill>
                  <a:schemeClr val="tx1"/>
                </a:solidFill>
                <a:latin typeface="Times" panose="02020603050405020304" pitchFamily="18" charset="0"/>
              </a:defRPr>
            </a:lvl9pPr>
          </a:lstStyle>
          <a:p>
            <a:pPr eaLnBrk="1" hangingPunct="1">
              <a:spcBef>
                <a:spcPct val="50000"/>
              </a:spcBef>
            </a:pPr>
            <a:r>
              <a:rPr lang="en-US" altLang="en-US" sz="1807">
                <a:solidFill>
                  <a:schemeClr val="bg1"/>
                </a:solidFill>
                <a:latin typeface="Arial" panose="020B0604020202020204" pitchFamily="34" charset="0"/>
              </a:rPr>
              <a:t>Parent use case</a:t>
            </a:r>
          </a:p>
        </p:txBody>
      </p:sp>
      <p:sp>
        <p:nvSpPr>
          <p:cNvPr id="46089" name="AutoShape 9"/>
          <p:cNvSpPr>
            <a:spLocks noChangeArrowheads="1"/>
          </p:cNvSpPr>
          <p:nvPr/>
        </p:nvSpPr>
        <p:spPr bwMode="auto">
          <a:xfrm rot="16416654" flipV="1">
            <a:off x="6554900" y="5035149"/>
            <a:ext cx="305933" cy="305933"/>
          </a:xfrm>
          <a:prstGeom prst="triangle">
            <a:avLst>
              <a:gd name="adj" fmla="val 50000"/>
            </a:avLst>
          </a:prstGeom>
          <a:noFill/>
          <a:ln w="12700">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sz="2409"/>
          </a:p>
        </p:txBody>
      </p:sp>
    </p:spTree>
    <p:extLst>
      <p:ext uri="{BB962C8B-B14F-4D97-AF65-F5344CB8AC3E}">
        <p14:creationId xmlns:p14="http://schemas.microsoft.com/office/powerpoint/2010/main" val="36013902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195353" y="305934"/>
            <a:ext cx="7801294" cy="819008"/>
          </a:xfrm>
        </p:spPr>
        <p:txBody>
          <a:bodyPr/>
          <a:lstStyle/>
          <a:p>
            <a:r>
              <a:rPr lang="en-GB" altLang="en-US" smtClean="0"/>
              <a:t>Example of Relationships</a:t>
            </a:r>
            <a:endParaRPr lang="en-US" altLang="en-US" smtClean="0"/>
          </a:p>
        </p:txBody>
      </p:sp>
      <p:pic>
        <p:nvPicPr>
          <p:cNvPr id="48131" name="Picture 3" descr="06-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6949" y="1273129"/>
            <a:ext cx="8378105" cy="5280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0461945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r>
              <a:rPr lang="en-US" altLang="en-US" sz="3413"/>
              <a:t>Use Case Diagram</a:t>
            </a:r>
            <a:endParaRPr lang="en-GB" altLang="en-US" sz="3413"/>
          </a:p>
        </p:txBody>
      </p:sp>
      <p:sp>
        <p:nvSpPr>
          <p:cNvPr id="50179" name="Rectangle 3"/>
          <p:cNvSpPr>
            <a:spLocks noGrp="1" noChangeArrowheads="1"/>
          </p:cNvSpPr>
          <p:nvPr>
            <p:ph type="body" idx="1"/>
          </p:nvPr>
        </p:nvSpPr>
        <p:spPr>
          <a:xfrm>
            <a:off x="1983432" y="1599775"/>
            <a:ext cx="8454588" cy="5030369"/>
          </a:xfrm>
        </p:spPr>
        <p:txBody>
          <a:bodyPr/>
          <a:lstStyle/>
          <a:p>
            <a:r>
              <a:rPr lang="en-GB" altLang="en-US" sz="3212"/>
              <a:t>Include Relationship</a:t>
            </a:r>
          </a:p>
          <a:p>
            <a:pPr lvl="1"/>
            <a:r>
              <a:rPr lang="en-GB" altLang="en-US" sz="2810"/>
              <a:t>Represents the inclusion of the functionality of one use case within another </a:t>
            </a:r>
          </a:p>
          <a:p>
            <a:pPr lvl="1"/>
            <a:r>
              <a:rPr lang="en-GB" altLang="en-US" sz="2810"/>
              <a:t>Arrow is drawn from the base use case to the used use case</a:t>
            </a:r>
          </a:p>
          <a:p>
            <a:pPr lvl="1"/>
            <a:r>
              <a:rPr lang="en-GB" altLang="en-US" sz="2810"/>
              <a:t>Write &lt;&lt; include &gt;&gt; above arrowhead line</a:t>
            </a:r>
          </a:p>
        </p:txBody>
      </p:sp>
    </p:spTree>
    <p:extLst>
      <p:ext uri="{BB962C8B-B14F-4D97-AF65-F5344CB8AC3E}">
        <p14:creationId xmlns:p14="http://schemas.microsoft.com/office/powerpoint/2010/main" val="11761473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ltLang="en-US" sz="3413"/>
              <a:t>Use Case Diagram</a:t>
            </a:r>
            <a:endParaRPr lang="en-GB" altLang="en-US" sz="3413"/>
          </a:p>
        </p:txBody>
      </p:sp>
      <p:sp>
        <p:nvSpPr>
          <p:cNvPr id="52227" name="Rectangle 3"/>
          <p:cNvSpPr>
            <a:spLocks noGrp="1" noChangeArrowheads="1"/>
          </p:cNvSpPr>
          <p:nvPr>
            <p:ph type="body" idx="1"/>
          </p:nvPr>
        </p:nvSpPr>
        <p:spPr/>
        <p:txBody>
          <a:bodyPr/>
          <a:lstStyle/>
          <a:p>
            <a:r>
              <a:rPr lang="en-GB" altLang="en-US" sz="3212"/>
              <a:t>Extend relationship</a:t>
            </a:r>
          </a:p>
          <a:p>
            <a:pPr lvl="1"/>
            <a:r>
              <a:rPr lang="en-GB" altLang="en-US" sz="2810"/>
              <a:t>Represents the extension of the use case to include optional functionality </a:t>
            </a:r>
          </a:p>
          <a:p>
            <a:pPr lvl="1"/>
            <a:r>
              <a:rPr lang="en-GB" altLang="en-US" sz="2810"/>
              <a:t>Arrow is drawn from the extension use case to the base use case</a:t>
            </a:r>
          </a:p>
          <a:p>
            <a:pPr lvl="1"/>
            <a:r>
              <a:rPr lang="en-GB" altLang="en-US" sz="2810"/>
              <a:t>Write &lt;&lt; extend &gt;&gt; above arrowhead line</a:t>
            </a:r>
          </a:p>
        </p:txBody>
      </p:sp>
    </p:spTree>
    <p:extLst>
      <p:ext uri="{BB962C8B-B14F-4D97-AF65-F5344CB8AC3E}">
        <p14:creationId xmlns:p14="http://schemas.microsoft.com/office/powerpoint/2010/main" val="129635716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2195353" y="305934"/>
            <a:ext cx="7801294" cy="819008"/>
          </a:xfrm>
        </p:spPr>
        <p:txBody>
          <a:bodyPr/>
          <a:lstStyle/>
          <a:p>
            <a:r>
              <a:rPr lang="en-GB" altLang="en-US" smtClean="0"/>
              <a:t>Example of Relationships</a:t>
            </a:r>
            <a:endParaRPr lang="en-US" altLang="en-US" smtClean="0"/>
          </a:p>
        </p:txBody>
      </p:sp>
      <p:pic>
        <p:nvPicPr>
          <p:cNvPr id="54275" name="Picture 3" descr="06-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6949" y="1273129"/>
            <a:ext cx="8378105" cy="5280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4563066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r>
              <a:rPr lang="en-GB" altLang="en-US" smtClean="0"/>
              <a:t>Use Case Relationships</a:t>
            </a:r>
          </a:p>
        </p:txBody>
      </p:sp>
      <p:sp>
        <p:nvSpPr>
          <p:cNvPr id="56323" name="Rectangle 3"/>
          <p:cNvSpPr>
            <a:spLocks noGrp="1" noChangeArrowheads="1"/>
          </p:cNvSpPr>
          <p:nvPr>
            <p:ph type="body" idx="1"/>
          </p:nvPr>
        </p:nvSpPr>
        <p:spPr/>
        <p:txBody>
          <a:bodyPr/>
          <a:lstStyle/>
          <a:p>
            <a:r>
              <a:rPr lang="en-GB" altLang="en-US" sz="3212"/>
              <a:t>Pro:  </a:t>
            </a:r>
          </a:p>
          <a:p>
            <a:pPr lvl="1"/>
            <a:r>
              <a:rPr lang="en-GB" altLang="en-US" sz="2810"/>
              <a:t>Reduces redundancy in use cases</a:t>
            </a:r>
          </a:p>
          <a:p>
            <a:pPr lvl="1"/>
            <a:r>
              <a:rPr lang="en-GB" altLang="en-US" sz="2810"/>
              <a:t>Reduces complexity within a use case</a:t>
            </a:r>
          </a:p>
          <a:p>
            <a:r>
              <a:rPr lang="en-GB" altLang="en-US" sz="3212"/>
              <a:t>Con</a:t>
            </a:r>
          </a:p>
          <a:p>
            <a:pPr lvl="1"/>
            <a:r>
              <a:rPr lang="en-GB" altLang="en-US" sz="2810"/>
              <a:t>May introduce complexity to use case diagram</a:t>
            </a:r>
          </a:p>
        </p:txBody>
      </p:sp>
    </p:spTree>
    <p:extLst>
      <p:ext uri="{BB962C8B-B14F-4D97-AF65-F5344CB8AC3E}">
        <p14:creationId xmlns:p14="http://schemas.microsoft.com/office/powerpoint/2010/main" val="394591424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 xmlns:a16="http://schemas.microsoft.com/office/drawing/2014/main" id="{2195D9D8-9160-AC4D-85D5-801CA2EDF698}"/>
              </a:ext>
            </a:extLst>
          </p:cNvPr>
          <p:cNvPicPr>
            <a:picLocks noGrp="1" noChangeAspect="1"/>
          </p:cNvPicPr>
          <p:nvPr>
            <p:ph idx="1"/>
          </p:nvPr>
        </p:nvPicPr>
        <p:blipFill>
          <a:blip r:embed="rId2"/>
          <a:stretch>
            <a:fillRect/>
          </a:stretch>
        </p:blipFill>
        <p:spPr>
          <a:xfrm>
            <a:off x="1749809" y="1208531"/>
            <a:ext cx="4881514" cy="4735069"/>
          </a:xfrm>
          <a:prstGeom prst="rect">
            <a:avLst/>
          </a:prstGeom>
        </p:spPr>
      </p:pic>
      <p:sp>
        <p:nvSpPr>
          <p:cNvPr id="2" name="Title 1">
            <a:extLst>
              <a:ext uri="{FF2B5EF4-FFF2-40B4-BE49-F238E27FC236}">
                <a16:creationId xmlns="" xmlns:a16="http://schemas.microsoft.com/office/drawing/2014/main" id="{C007BB06-4787-02F3-69E4-1A050A7B7951}"/>
              </a:ext>
            </a:extLst>
          </p:cNvPr>
          <p:cNvSpPr>
            <a:spLocks noGrp="1"/>
          </p:cNvSpPr>
          <p:nvPr>
            <p:ph type="title"/>
          </p:nvPr>
        </p:nvSpPr>
        <p:spPr>
          <a:xfrm>
            <a:off x="8296275" y="1419225"/>
            <a:ext cx="3081576" cy="2085869"/>
          </a:xfrm>
        </p:spPr>
        <p:txBody>
          <a:bodyPr vert="horz" lIns="91440" tIns="45720" rIns="91440" bIns="45720" rtlCol="0" anchor="b">
            <a:normAutofit fontScale="90000"/>
          </a:bodyPr>
          <a:lstStyle/>
          <a:p>
            <a:r>
              <a:rPr lang="en-US" sz="3600" dirty="0">
                <a:solidFill>
                  <a:srgbClr val="FFFFFF"/>
                </a:solidFill>
              </a:rPr>
              <a:t>Library system Use Case Diagram</a:t>
            </a:r>
          </a:p>
        </p:txBody>
      </p:sp>
    </p:spTree>
    <p:extLst>
      <p:ext uri="{BB962C8B-B14F-4D97-AF65-F5344CB8AC3E}">
        <p14:creationId xmlns:p14="http://schemas.microsoft.com/office/powerpoint/2010/main" val="42441916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 xmlns:a16="http://schemas.microsoft.com/office/drawing/2014/main" id="{CE8007B3-6911-37F2-10E7-6BCBC2D8B619}"/>
              </a:ext>
            </a:extLst>
          </p:cNvPr>
          <p:cNvPicPr>
            <a:picLocks noGrp="1" noChangeAspect="1"/>
          </p:cNvPicPr>
          <p:nvPr>
            <p:ph idx="1"/>
          </p:nvPr>
        </p:nvPicPr>
        <p:blipFill rotWithShape="1">
          <a:blip r:embed="rId2"/>
          <a:srcRect l="602" r="-1" b="-1"/>
          <a:stretch/>
        </p:blipFill>
        <p:spPr>
          <a:xfrm>
            <a:off x="446534" y="723899"/>
            <a:ext cx="7498616" cy="5676901"/>
          </a:xfrm>
          <a:prstGeom prst="rect">
            <a:avLst/>
          </a:prstGeom>
        </p:spPr>
      </p:pic>
      <p:sp>
        <p:nvSpPr>
          <p:cNvPr id="2" name="Title 1">
            <a:extLst>
              <a:ext uri="{FF2B5EF4-FFF2-40B4-BE49-F238E27FC236}">
                <a16:creationId xmlns="" xmlns:a16="http://schemas.microsoft.com/office/drawing/2014/main" id="{44FEDB9D-ACEB-659B-EFE8-65D0D5D0894F}"/>
              </a:ext>
            </a:extLst>
          </p:cNvPr>
          <p:cNvSpPr>
            <a:spLocks noGrp="1"/>
          </p:cNvSpPr>
          <p:nvPr>
            <p:ph type="title"/>
          </p:nvPr>
        </p:nvSpPr>
        <p:spPr>
          <a:xfrm>
            <a:off x="8296275" y="1419225"/>
            <a:ext cx="3081576" cy="2085869"/>
          </a:xfrm>
        </p:spPr>
        <p:txBody>
          <a:bodyPr vert="horz" lIns="91440" tIns="45720" rIns="91440" bIns="45720" rtlCol="0" anchor="b">
            <a:normAutofit/>
          </a:bodyPr>
          <a:lstStyle/>
          <a:p>
            <a:r>
              <a:rPr lang="en-US" sz="3600" dirty="0" err="1">
                <a:solidFill>
                  <a:srgbClr val="FFFFFF"/>
                </a:solidFill>
              </a:rPr>
              <a:t>restaurantUse</a:t>
            </a:r>
            <a:r>
              <a:rPr lang="en-US" sz="3600" dirty="0">
                <a:solidFill>
                  <a:srgbClr val="FFFFFF"/>
                </a:solidFill>
              </a:rPr>
              <a:t> Case Diagram</a:t>
            </a:r>
          </a:p>
        </p:txBody>
      </p:sp>
    </p:spTree>
    <p:extLst>
      <p:ext uri="{BB962C8B-B14F-4D97-AF65-F5344CB8AC3E}">
        <p14:creationId xmlns:p14="http://schemas.microsoft.com/office/powerpoint/2010/main" val="42934985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iagram&#10;&#10;Description automatically generated">
            <a:extLst>
              <a:ext uri="{FF2B5EF4-FFF2-40B4-BE49-F238E27FC236}">
                <a16:creationId xmlns="" xmlns:a16="http://schemas.microsoft.com/office/drawing/2014/main" id="{AD78BC27-58E3-E45B-3729-534724059115}"/>
              </a:ext>
            </a:extLst>
          </p:cNvPr>
          <p:cNvPicPr>
            <a:picLocks noGrp="1" noChangeAspect="1"/>
          </p:cNvPicPr>
          <p:nvPr>
            <p:ph idx="1"/>
          </p:nvPr>
        </p:nvPicPr>
        <p:blipFill>
          <a:blip r:embed="rId2"/>
          <a:stretch>
            <a:fillRect/>
          </a:stretch>
        </p:blipFill>
        <p:spPr>
          <a:xfrm>
            <a:off x="931165" y="1585010"/>
            <a:ext cx="6518800" cy="4269813"/>
          </a:xfrm>
          <a:prstGeom prst="rect">
            <a:avLst/>
          </a:prstGeom>
        </p:spPr>
      </p:pic>
      <p:sp>
        <p:nvSpPr>
          <p:cNvPr id="6" name="Rectangle 5">
            <a:extLst>
              <a:ext uri="{FF2B5EF4-FFF2-40B4-BE49-F238E27FC236}">
                <a16:creationId xmlns="" xmlns:a16="http://schemas.microsoft.com/office/drawing/2014/main" id="{6EAA561E-D79F-BAD8-1811-9BD889D55BAA}"/>
              </a:ext>
            </a:extLst>
          </p:cNvPr>
          <p:cNvSpPr/>
          <p:nvPr/>
        </p:nvSpPr>
        <p:spPr>
          <a:xfrm>
            <a:off x="2467992" y="1304925"/>
            <a:ext cx="4981973" cy="38086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 xmlns:a16="http://schemas.microsoft.com/office/drawing/2014/main" id="{BD5D8EE1-92F1-E83B-1FCA-FE9436C36DDA}"/>
              </a:ext>
            </a:extLst>
          </p:cNvPr>
          <p:cNvSpPr txBox="1"/>
          <p:nvPr/>
        </p:nvSpPr>
        <p:spPr>
          <a:xfrm>
            <a:off x="4149854" y="1003177"/>
            <a:ext cx="2527177" cy="369332"/>
          </a:xfrm>
          <a:prstGeom prst="rect">
            <a:avLst/>
          </a:prstGeom>
          <a:noFill/>
        </p:spPr>
        <p:txBody>
          <a:bodyPr wrap="square" rtlCol="0">
            <a:spAutoFit/>
          </a:bodyPr>
          <a:lstStyle/>
          <a:p>
            <a:r>
              <a:rPr lang="en-US" dirty="0"/>
              <a:t>ATM Machine</a:t>
            </a:r>
          </a:p>
        </p:txBody>
      </p:sp>
    </p:spTree>
    <p:extLst>
      <p:ext uri="{BB962C8B-B14F-4D97-AF65-F5344CB8AC3E}">
        <p14:creationId xmlns:p14="http://schemas.microsoft.com/office/powerpoint/2010/main" val="32916339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Use Case Diagram Tutorial ( Guide with Examples ) - Creately Blog | Use  case, Diagram, Tutorial">
            <a:extLst>
              <a:ext uri="{FF2B5EF4-FFF2-40B4-BE49-F238E27FC236}">
                <a16:creationId xmlns="" xmlns:a16="http://schemas.microsoft.com/office/drawing/2014/main" id="{30FBA6FE-C886-DB6C-4027-A1E82079EA3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947368" y="1208531"/>
            <a:ext cx="6486395" cy="473506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 xmlns:a16="http://schemas.microsoft.com/office/drawing/2014/main" id="{CDF481FB-A0C7-86C2-037E-9077A86A18D9}"/>
              </a:ext>
            </a:extLst>
          </p:cNvPr>
          <p:cNvSpPr>
            <a:spLocks noGrp="1"/>
          </p:cNvSpPr>
          <p:nvPr>
            <p:ph type="title"/>
          </p:nvPr>
        </p:nvSpPr>
        <p:spPr>
          <a:xfrm>
            <a:off x="8296275" y="1419225"/>
            <a:ext cx="3081576" cy="2085869"/>
          </a:xfrm>
        </p:spPr>
        <p:txBody>
          <a:bodyPr vert="horz" lIns="91440" tIns="45720" rIns="91440" bIns="45720" rtlCol="0" anchor="b">
            <a:normAutofit fontScale="90000"/>
          </a:bodyPr>
          <a:lstStyle/>
          <a:p>
            <a:r>
              <a:rPr lang="en-US" sz="3600" dirty="0">
                <a:solidFill>
                  <a:srgbClr val="FFFFFF"/>
                </a:solidFill>
              </a:rPr>
              <a:t>Travel Agency Use Case Diagram</a:t>
            </a:r>
          </a:p>
        </p:txBody>
      </p:sp>
    </p:spTree>
    <p:extLst>
      <p:ext uri="{BB962C8B-B14F-4D97-AF65-F5344CB8AC3E}">
        <p14:creationId xmlns:p14="http://schemas.microsoft.com/office/powerpoint/2010/main" val="30699310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TM03457464[[fn=Dividend]]</Template>
  <TotalTime>30</TotalTime>
  <Words>2839</Words>
  <Application>Microsoft Office PowerPoint</Application>
  <PresentationFormat>Widescreen</PresentationFormat>
  <Paragraphs>298</Paragraphs>
  <Slides>37</Slides>
  <Notes>22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Arial</vt:lpstr>
      <vt:lpstr>Arial</vt:lpstr>
      <vt:lpstr>Calibri</vt:lpstr>
      <vt:lpstr>Gill Sans MT</vt:lpstr>
      <vt:lpstr>Google Sans</vt:lpstr>
      <vt:lpstr>Graphik</vt:lpstr>
      <vt:lpstr>Liberation Sans Narrow</vt:lpstr>
      <vt:lpstr>Times</vt:lpstr>
      <vt:lpstr>Wingdings 2</vt:lpstr>
      <vt:lpstr>Zapf Dingbats</vt:lpstr>
      <vt:lpstr>Dividend</vt:lpstr>
      <vt:lpstr>Sen-220 software engineering</vt:lpstr>
      <vt:lpstr>Unified modeling language</vt:lpstr>
      <vt:lpstr>What is Modeling?</vt:lpstr>
      <vt:lpstr>What is Modeling?</vt:lpstr>
      <vt:lpstr>What is Modeling?</vt:lpstr>
      <vt:lpstr>System modeling</vt:lpstr>
      <vt:lpstr>Unified Modeling Language </vt:lpstr>
      <vt:lpstr>UML Diagrams                     </vt:lpstr>
      <vt:lpstr>UML Diagram Classification</vt:lpstr>
      <vt:lpstr>UML Diagram Classification</vt:lpstr>
      <vt:lpstr>Use case diagram</vt:lpstr>
      <vt:lpstr>Use Cases</vt:lpstr>
      <vt:lpstr>Use Cases</vt:lpstr>
      <vt:lpstr>Use Cases</vt:lpstr>
      <vt:lpstr>Actors</vt:lpstr>
      <vt:lpstr>Use Cases</vt:lpstr>
      <vt:lpstr>Use Cases</vt:lpstr>
      <vt:lpstr>Use Cases</vt:lpstr>
      <vt:lpstr>Use Cases</vt:lpstr>
      <vt:lpstr>Use Case Componentss</vt:lpstr>
      <vt:lpstr>Use Case</vt:lpstr>
      <vt:lpstr>Use Case</vt:lpstr>
      <vt:lpstr>Use Case - Actor</vt:lpstr>
      <vt:lpstr>Use Case  - Relationships</vt:lpstr>
      <vt:lpstr>Use Case  - Relationships</vt:lpstr>
      <vt:lpstr>Use-Case Diagram</vt:lpstr>
      <vt:lpstr>Use Case Diagram</vt:lpstr>
      <vt:lpstr>Components of Use Case Diagram</vt:lpstr>
      <vt:lpstr>Example of Relationships</vt:lpstr>
      <vt:lpstr>Use Case Diagram</vt:lpstr>
      <vt:lpstr>Use Case Diagram</vt:lpstr>
      <vt:lpstr>Example of Relationships</vt:lpstr>
      <vt:lpstr>Use Case Relationships</vt:lpstr>
      <vt:lpstr>Library system Use Case Diagram</vt:lpstr>
      <vt:lpstr>restaurantUse Case Diagram</vt:lpstr>
      <vt:lpstr>PowerPoint Presentation</vt:lpstr>
      <vt:lpstr>Travel Agency Use Case Diagram</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Sen-220 software engineering</dc:title>
  <dc:creator>Reema Qaiser BUKC</dc:creator>
  <cp:lastModifiedBy>BUKC</cp:lastModifiedBy>
  <cp:revision>5</cp:revision>
  <dcterms:created xsi:type="dcterms:W3CDTF">2022-11-17T05:43:22Z</dcterms:created>
  <dcterms:modified xsi:type="dcterms:W3CDTF">2024-10-17T04:44:30Z</dcterms:modified>
</cp:coreProperties>
</file>