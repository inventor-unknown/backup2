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87" r:id="rId3"/>
    <p:sldId id="288" r:id="rId4"/>
    <p:sldId id="259" r:id="rId5"/>
    <p:sldId id="295" r:id="rId6"/>
    <p:sldId id="296" r:id="rId7"/>
    <p:sldId id="267" r:id="rId8"/>
    <p:sldId id="261" r:id="rId9"/>
    <p:sldId id="262" r:id="rId10"/>
    <p:sldId id="263" r:id="rId11"/>
    <p:sldId id="264" r:id="rId12"/>
    <p:sldId id="289" r:id="rId13"/>
    <p:sldId id="290" r:id="rId14"/>
    <p:sldId id="265" r:id="rId15"/>
    <p:sldId id="266" r:id="rId16"/>
    <p:sldId id="291" r:id="rId17"/>
    <p:sldId id="292" r:id="rId18"/>
    <p:sldId id="268" r:id="rId19"/>
    <p:sldId id="269" r:id="rId20"/>
    <p:sldId id="297" r:id="rId21"/>
    <p:sldId id="293" r:id="rId22"/>
    <p:sldId id="271" r:id="rId23"/>
    <p:sldId id="272" r:id="rId24"/>
    <p:sldId id="274" r:id="rId25"/>
    <p:sldId id="275" r:id="rId26"/>
    <p:sldId id="276" r:id="rId27"/>
    <p:sldId id="277" r:id="rId28"/>
    <p:sldId id="278" r:id="rId29"/>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9/16/2024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9/16/2024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0F6DCA-CA2E-C3C9-5077-B380524D7253}"/>
              </a:ext>
            </a:extLst>
          </p:cNvPr>
          <p:cNvSpPr>
            <a:spLocks noGrp="1"/>
          </p:cNvSpPr>
          <p:nvPr>
            <p:ph type="ctrTitle"/>
          </p:nvPr>
        </p:nvSpPr>
        <p:spPr/>
        <p:txBody>
          <a:bodyPr/>
          <a:lstStyle/>
          <a:p>
            <a:r>
              <a:rPr lang="en-US" dirty="0"/>
              <a:t>Sen-220 software engineering</a:t>
            </a:r>
          </a:p>
        </p:txBody>
      </p:sp>
      <p:sp>
        <p:nvSpPr>
          <p:cNvPr id="3" name="Subtitle 2">
            <a:extLst>
              <a:ext uri="{FF2B5EF4-FFF2-40B4-BE49-F238E27FC236}">
                <a16:creationId xmlns:a16="http://schemas.microsoft.com/office/drawing/2014/main" xmlns="" id="{914B93FF-B20F-85AF-8F17-B9B8FC8093F1}"/>
              </a:ext>
            </a:extLst>
          </p:cNvPr>
          <p:cNvSpPr>
            <a:spLocks noGrp="1"/>
          </p:cNvSpPr>
          <p:nvPr>
            <p:ph type="subTitle" idx="1"/>
          </p:nvPr>
        </p:nvSpPr>
        <p:spPr/>
        <p:txBody>
          <a:bodyPr>
            <a:normAutofit/>
          </a:bodyPr>
          <a:lstStyle/>
          <a:p>
            <a:r>
              <a:rPr lang="en-US" sz="2800" dirty="0"/>
              <a:t>Software engineering</a:t>
            </a:r>
          </a:p>
        </p:txBody>
      </p:sp>
    </p:spTree>
    <p:extLst>
      <p:ext uri="{BB962C8B-B14F-4D97-AF65-F5344CB8AC3E}">
        <p14:creationId xmlns:p14="http://schemas.microsoft.com/office/powerpoint/2010/main" val="9781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255CA4F-49D0-6FD6-AF38-4A355FA36583}"/>
              </a:ext>
            </a:extLst>
          </p:cNvPr>
          <p:cNvPicPr>
            <a:picLocks noGrp="1" noChangeAspect="1"/>
          </p:cNvPicPr>
          <p:nvPr>
            <p:ph idx="1"/>
          </p:nvPr>
        </p:nvPicPr>
        <p:blipFill>
          <a:blip r:embed="rId2"/>
          <a:stretch>
            <a:fillRect/>
          </a:stretch>
        </p:blipFill>
        <p:spPr>
          <a:xfrm>
            <a:off x="1948707" y="599252"/>
            <a:ext cx="8294585" cy="6258748"/>
          </a:xfrm>
        </p:spPr>
      </p:pic>
    </p:spTree>
    <p:extLst>
      <p:ext uri="{BB962C8B-B14F-4D97-AF65-F5344CB8AC3E}">
        <p14:creationId xmlns:p14="http://schemas.microsoft.com/office/powerpoint/2010/main" val="847313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635557-BE73-A01D-740B-995D735D087E}"/>
              </a:ext>
            </a:extLst>
          </p:cNvPr>
          <p:cNvSpPr>
            <a:spLocks noGrp="1"/>
          </p:cNvSpPr>
          <p:nvPr>
            <p:ph type="title"/>
          </p:nvPr>
        </p:nvSpPr>
        <p:spPr/>
        <p:txBody>
          <a:bodyPr/>
          <a:lstStyle/>
          <a:p>
            <a:r>
              <a:rPr lang="en-US" dirty="0"/>
              <a:t>Software engineering</a:t>
            </a:r>
          </a:p>
        </p:txBody>
      </p:sp>
      <p:sp>
        <p:nvSpPr>
          <p:cNvPr id="3" name="Content Placeholder 2">
            <a:extLst>
              <a:ext uri="{FF2B5EF4-FFF2-40B4-BE49-F238E27FC236}">
                <a16:creationId xmlns:a16="http://schemas.microsoft.com/office/drawing/2014/main" xmlns="" id="{4F7EDB0B-4E66-518B-0878-87860B7060D8}"/>
              </a:ext>
            </a:extLst>
          </p:cNvPr>
          <p:cNvSpPr>
            <a:spLocks noGrp="1"/>
          </p:cNvSpPr>
          <p:nvPr>
            <p:ph idx="1"/>
          </p:nvPr>
        </p:nvSpPr>
        <p:spPr/>
        <p:txBody>
          <a:bodyPr/>
          <a:lstStyle/>
          <a:p>
            <a:r>
              <a:rPr lang="en-US" dirty="0"/>
              <a:t>The IEEE [IEE93a] has developed the following definition for software engineering: Software Engineering : </a:t>
            </a:r>
          </a:p>
          <a:p>
            <a:pPr marL="0" indent="0">
              <a:buNone/>
            </a:pPr>
            <a:r>
              <a:rPr lang="en-US" dirty="0"/>
              <a:t>(1) The application of a systematic, disciplined, quantifiable approach to the development, operation, and maintenance of software; that is, the application of engineering to software. </a:t>
            </a:r>
          </a:p>
          <a:p>
            <a:pPr marL="0" indent="0">
              <a:buNone/>
            </a:pPr>
            <a:r>
              <a:rPr lang="en-US" dirty="0"/>
              <a:t>(2) The study of approaches as in (1). </a:t>
            </a:r>
          </a:p>
        </p:txBody>
      </p:sp>
    </p:spTree>
    <p:extLst>
      <p:ext uri="{BB962C8B-B14F-4D97-AF65-F5344CB8AC3E}">
        <p14:creationId xmlns:p14="http://schemas.microsoft.com/office/powerpoint/2010/main" val="144019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E5DEFC-0DF3-7F66-D0C1-C238158AB53A}"/>
              </a:ext>
            </a:extLst>
          </p:cNvPr>
          <p:cNvSpPr>
            <a:spLocks noGrp="1"/>
          </p:cNvSpPr>
          <p:nvPr>
            <p:ph type="title"/>
          </p:nvPr>
        </p:nvSpPr>
        <p:spPr/>
        <p:txBody>
          <a:bodyPr/>
          <a:lstStyle/>
          <a:p>
            <a:r>
              <a:rPr lang="en-US" dirty="0"/>
              <a:t>stakeholder</a:t>
            </a:r>
          </a:p>
        </p:txBody>
      </p:sp>
      <p:sp>
        <p:nvSpPr>
          <p:cNvPr id="3" name="Content Placeholder 2">
            <a:extLst>
              <a:ext uri="{FF2B5EF4-FFF2-40B4-BE49-F238E27FC236}">
                <a16:creationId xmlns:a16="http://schemas.microsoft.com/office/drawing/2014/main" xmlns="" id="{C3398C9F-BBFA-2AFB-787F-ECECB5CE6D39}"/>
              </a:ext>
            </a:extLst>
          </p:cNvPr>
          <p:cNvSpPr>
            <a:spLocks noGrp="1"/>
          </p:cNvSpPr>
          <p:nvPr>
            <p:ph idx="1"/>
          </p:nvPr>
        </p:nvSpPr>
        <p:spPr/>
        <p:txBody>
          <a:bodyPr/>
          <a:lstStyle/>
          <a:p>
            <a:r>
              <a:rPr lang="en-US" dirty="0"/>
              <a:t>A stakeholder is anyone who has a stake in the successful outcome of the project—business managers, end users, software engineers, support people, etc.</a:t>
            </a:r>
          </a:p>
        </p:txBody>
      </p:sp>
    </p:spTree>
    <p:extLst>
      <p:ext uri="{BB962C8B-B14F-4D97-AF65-F5344CB8AC3E}">
        <p14:creationId xmlns:p14="http://schemas.microsoft.com/office/powerpoint/2010/main" val="3076783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algn="l" eaLnBrk="0" fontAlgn="base" hangingPunct="0">
              <a:spcAft>
                <a:spcPct val="0"/>
              </a:spcAft>
            </a:pPr>
            <a:r>
              <a:rPr lang="en-US" dirty="0"/>
              <a:t>Software Engineering - a Layered Technology</a:t>
            </a:r>
          </a:p>
        </p:txBody>
      </p:sp>
      <p:grpSp>
        <p:nvGrpSpPr>
          <p:cNvPr id="13" name="Group 12"/>
          <p:cNvGrpSpPr/>
          <p:nvPr/>
        </p:nvGrpSpPr>
        <p:grpSpPr>
          <a:xfrm>
            <a:off x="3595688" y="3273425"/>
            <a:ext cx="5091112" cy="2326158"/>
            <a:chOff x="1004888" y="2282825"/>
            <a:chExt cx="7620000" cy="3215002"/>
          </a:xfrm>
        </p:grpSpPr>
        <p:sp>
          <p:nvSpPr>
            <p:cNvPr id="4" name="Rectangle 3"/>
            <p:cNvSpPr>
              <a:spLocks noChangeArrowheads="1"/>
            </p:cNvSpPr>
            <p:nvPr/>
          </p:nvSpPr>
          <p:spPr bwMode="auto">
            <a:xfrm>
              <a:off x="3429000" y="5029200"/>
              <a:ext cx="3565293" cy="468627"/>
            </a:xfrm>
            <a:prstGeom prst="rect">
              <a:avLst/>
            </a:prstGeom>
            <a:noFill/>
            <a:ln w="12700">
              <a:noFill/>
              <a:miter lim="800000"/>
              <a:headEnd/>
              <a:tailEnd/>
            </a:ln>
          </p:spPr>
          <p:txBody>
            <a:bodyPr wrap="none" lIns="90487" tIns="44450" rIns="90487" bIns="44450">
              <a:spAutoFit/>
            </a:bodyPr>
            <a:lstStyle/>
            <a:p>
              <a:pPr>
                <a:lnSpc>
                  <a:spcPct val="90000"/>
                </a:lnSpc>
              </a:pPr>
              <a:r>
                <a:rPr lang="en-US" b="1" i="1">
                  <a:solidFill>
                    <a:schemeClr val="folHlink"/>
                  </a:solidFill>
                  <a:latin typeface="Palatino" pitchFamily="-128" charset="0"/>
                </a:rPr>
                <a:t>Software Engineering</a:t>
              </a:r>
              <a:endParaRPr lang="en-US" b="1">
                <a:latin typeface="Palatino" pitchFamily="-128" charset="0"/>
              </a:endParaRPr>
            </a:p>
          </p:txBody>
        </p:sp>
        <p:sp>
          <p:nvSpPr>
            <p:cNvPr id="5" name="Oval 4"/>
            <p:cNvSpPr>
              <a:spLocks noChangeArrowheads="1"/>
            </p:cNvSpPr>
            <p:nvPr/>
          </p:nvSpPr>
          <p:spPr bwMode="auto">
            <a:xfrm>
              <a:off x="1004888" y="3397250"/>
              <a:ext cx="7620000" cy="1285875"/>
            </a:xfrm>
            <a:prstGeom prst="ellipse">
              <a:avLst/>
            </a:prstGeom>
            <a:solidFill>
              <a:srgbClr val="01EA89"/>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6" name="Oval 5"/>
            <p:cNvSpPr>
              <a:spLocks noChangeArrowheads="1"/>
            </p:cNvSpPr>
            <p:nvPr/>
          </p:nvSpPr>
          <p:spPr bwMode="auto">
            <a:xfrm>
              <a:off x="1462088" y="2968625"/>
              <a:ext cx="6629400" cy="1200150"/>
            </a:xfrm>
            <a:prstGeom prst="ellipse">
              <a:avLst/>
            </a:prstGeom>
            <a:solidFill>
              <a:srgbClr val="BC3700"/>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7" name="Oval 6"/>
            <p:cNvSpPr>
              <a:spLocks noChangeArrowheads="1"/>
            </p:cNvSpPr>
            <p:nvPr/>
          </p:nvSpPr>
          <p:spPr bwMode="auto">
            <a:xfrm>
              <a:off x="1995488" y="2511425"/>
              <a:ext cx="5486400" cy="1028700"/>
            </a:xfrm>
            <a:prstGeom prst="ellipse">
              <a:avLst/>
            </a:prstGeom>
            <a:solidFill>
              <a:schemeClr val="tx2"/>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8" name="Oval 7"/>
            <p:cNvSpPr>
              <a:spLocks noChangeArrowheads="1"/>
            </p:cNvSpPr>
            <p:nvPr/>
          </p:nvSpPr>
          <p:spPr bwMode="auto">
            <a:xfrm>
              <a:off x="2376488" y="2282825"/>
              <a:ext cx="4724400" cy="685800"/>
            </a:xfrm>
            <a:prstGeom prst="ellipse">
              <a:avLst/>
            </a:prstGeom>
            <a:solidFill>
              <a:srgbClr val="790015"/>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9" name="Rectangle 8"/>
            <p:cNvSpPr>
              <a:spLocks noChangeArrowheads="1"/>
            </p:cNvSpPr>
            <p:nvPr/>
          </p:nvSpPr>
          <p:spPr bwMode="auto">
            <a:xfrm>
              <a:off x="3657600" y="4238626"/>
              <a:ext cx="3236595" cy="549450"/>
            </a:xfrm>
            <a:prstGeom prst="rect">
              <a:avLst/>
            </a:prstGeom>
            <a:noFill/>
            <a:ln w="12700">
              <a:noFill/>
              <a:miter lim="800000"/>
              <a:headEnd/>
              <a:tailEnd/>
            </a:ln>
            <a:effectLst/>
          </p:spPr>
          <p:txBody>
            <a:bodyPr wrap="none" lIns="90487" tIns="44450" rIns="90487" bIns="44450">
              <a:spAutoFit/>
            </a:bodyPr>
            <a:lstStyle/>
            <a:p>
              <a:pPr>
                <a:defRPr/>
              </a:pPr>
              <a:r>
                <a:rPr lang="en-US" sz="2000" b="1">
                  <a:effectLst>
                    <a:outerShdw blurRad="38100" dist="38100" dir="2700000" algn="tl">
                      <a:srgbClr val="FFFFFF"/>
                    </a:outerShdw>
                  </a:effectLst>
                  <a:latin typeface="Palatino" pitchFamily="-128" charset="0"/>
                  <a:ea typeface="ＭＳ Ｐゴシック" pitchFamily="-128" charset="-128"/>
                </a:rPr>
                <a:t>a “quality” focus</a:t>
              </a:r>
            </a:p>
          </p:txBody>
        </p:sp>
        <p:sp>
          <p:nvSpPr>
            <p:cNvPr id="10" name="Rectangle 9"/>
            <p:cNvSpPr>
              <a:spLocks noChangeArrowheads="1"/>
            </p:cNvSpPr>
            <p:nvPr/>
          </p:nvSpPr>
          <p:spPr bwMode="auto">
            <a:xfrm>
              <a:off x="4176917" y="3638550"/>
              <a:ext cx="1573911" cy="549450"/>
            </a:xfrm>
            <a:prstGeom prst="rect">
              <a:avLst/>
            </a:prstGeom>
            <a:noFill/>
            <a:ln w="12700">
              <a:noFill/>
              <a:miter lim="800000"/>
              <a:headEnd/>
              <a:tailEnd/>
            </a:ln>
            <a:effectLst/>
          </p:spPr>
          <p:txBody>
            <a:bodyPr wrap="none" lIns="90487" tIns="44450" rIns="90487" bIns="44450">
              <a:spAutoFit/>
            </a:bodyPr>
            <a:lstStyle/>
            <a:p>
              <a:pPr>
                <a:defRPr/>
              </a:pPr>
              <a:r>
                <a:rPr lang="en-US" sz="2000" b="1" dirty="0">
                  <a:solidFill>
                    <a:srgbClr val="DADADA"/>
                  </a:solidFill>
                  <a:effectLst>
                    <a:outerShdw blurRad="38100" dist="38100" dir="2700000" algn="tl">
                      <a:srgbClr val="000000"/>
                    </a:outerShdw>
                  </a:effectLst>
                  <a:latin typeface="Palatino" pitchFamily="-128" charset="0"/>
                  <a:ea typeface="ＭＳ Ｐゴシック" pitchFamily="-128" charset="-128"/>
                </a:rPr>
                <a:t>process</a:t>
              </a:r>
            </a:p>
          </p:txBody>
        </p:sp>
        <p:sp>
          <p:nvSpPr>
            <p:cNvPr id="11" name="Rectangle 10"/>
            <p:cNvSpPr>
              <a:spLocks noChangeArrowheads="1"/>
            </p:cNvSpPr>
            <p:nvPr/>
          </p:nvSpPr>
          <p:spPr bwMode="auto">
            <a:xfrm>
              <a:off x="4114800" y="3038475"/>
              <a:ext cx="1787446" cy="549450"/>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000000"/>
                    </a:outerShdw>
                  </a:effectLst>
                  <a:latin typeface="Palatino" pitchFamily="-128" charset="0"/>
                  <a:ea typeface="ＭＳ Ｐゴシック" pitchFamily="-128" charset="-128"/>
                </a:rPr>
                <a:t>methods</a:t>
              </a:r>
            </a:p>
          </p:txBody>
        </p:sp>
        <p:sp>
          <p:nvSpPr>
            <p:cNvPr id="12" name="Rectangle 11"/>
            <p:cNvSpPr>
              <a:spLocks noChangeArrowheads="1"/>
            </p:cNvSpPr>
            <p:nvPr/>
          </p:nvSpPr>
          <p:spPr bwMode="auto">
            <a:xfrm>
              <a:off x="4419600" y="2438401"/>
              <a:ext cx="1125251" cy="549450"/>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000000"/>
                    </a:outerShdw>
                  </a:effectLst>
                  <a:latin typeface="Palatino" pitchFamily="-128" charset="0"/>
                  <a:ea typeface="ＭＳ Ｐゴシック" pitchFamily="-128" charset="-128"/>
                </a:rPr>
                <a:t>tools</a:t>
              </a:r>
            </a:p>
          </p:txBody>
        </p:sp>
      </p:grpSp>
      <p:sp>
        <p:nvSpPr>
          <p:cNvPr id="14" name="Rectangle 13"/>
          <p:cNvSpPr/>
          <p:nvPr/>
        </p:nvSpPr>
        <p:spPr>
          <a:xfrm>
            <a:off x="4267200" y="5830669"/>
            <a:ext cx="6172200" cy="923330"/>
          </a:xfrm>
          <a:prstGeom prst="rect">
            <a:avLst/>
          </a:prstGeom>
          <a:solidFill>
            <a:schemeClr val="accent6">
              <a:lumMod val="75000"/>
            </a:schemeClr>
          </a:solidFill>
        </p:spPr>
        <p:txBody>
          <a:bodyPr wrap="square">
            <a:spAutoFit/>
          </a:bodyPr>
          <a:lstStyle/>
          <a:p>
            <a:r>
              <a:rPr lang="en-US" dirty="0"/>
              <a:t>The glue that holds the technology layers together and enables rational and timely development of Quality computer software</a:t>
            </a:r>
          </a:p>
          <a:p>
            <a:pPr algn="ctr"/>
            <a:r>
              <a:rPr lang="en-US" dirty="0"/>
              <a:t>&lt;&lt;Process defines a framework&gt;&gt;</a:t>
            </a:r>
          </a:p>
        </p:txBody>
      </p:sp>
      <p:sp>
        <p:nvSpPr>
          <p:cNvPr id="15" name="Rectangle 14"/>
          <p:cNvSpPr/>
          <p:nvPr/>
        </p:nvSpPr>
        <p:spPr>
          <a:xfrm>
            <a:off x="5791200" y="2311402"/>
            <a:ext cx="4648200" cy="646331"/>
          </a:xfrm>
          <a:prstGeom prst="rect">
            <a:avLst/>
          </a:prstGeom>
          <a:solidFill>
            <a:schemeClr val="tx2">
              <a:lumMod val="60000"/>
              <a:lumOff val="40000"/>
            </a:schemeClr>
          </a:solidFill>
        </p:spPr>
        <p:txBody>
          <a:bodyPr wrap="square">
            <a:spAutoFit/>
          </a:bodyPr>
          <a:lstStyle/>
          <a:p>
            <a:r>
              <a:rPr lang="en-US" i="1" dirty="0"/>
              <a:t>The methods </a:t>
            </a:r>
            <a:r>
              <a:rPr lang="en-US" dirty="0"/>
              <a:t>provide the technical how-to's for building software.</a:t>
            </a:r>
          </a:p>
        </p:txBody>
      </p:sp>
      <p:sp>
        <p:nvSpPr>
          <p:cNvPr id="16" name="Rectangle 15"/>
          <p:cNvSpPr/>
          <p:nvPr/>
        </p:nvSpPr>
        <p:spPr>
          <a:xfrm>
            <a:off x="1981200" y="1752601"/>
            <a:ext cx="3276600" cy="1200329"/>
          </a:xfrm>
          <a:prstGeom prst="rect">
            <a:avLst/>
          </a:prstGeom>
          <a:solidFill>
            <a:schemeClr val="accent2">
              <a:lumMod val="75000"/>
            </a:schemeClr>
          </a:solidFill>
        </p:spPr>
        <p:txBody>
          <a:bodyPr wrap="square">
            <a:spAutoFit/>
          </a:bodyPr>
          <a:lstStyle/>
          <a:p>
            <a:r>
              <a:rPr lang="en-US" dirty="0">
                <a:solidFill>
                  <a:schemeClr val="bg1"/>
                </a:solidFill>
              </a:rPr>
              <a:t>The </a:t>
            </a:r>
            <a:r>
              <a:rPr lang="en-US" i="1" dirty="0">
                <a:solidFill>
                  <a:schemeClr val="bg1"/>
                </a:solidFill>
              </a:rPr>
              <a:t>tools </a:t>
            </a:r>
            <a:r>
              <a:rPr lang="en-US" dirty="0">
                <a:solidFill>
                  <a:schemeClr val="bg1"/>
                </a:solidFill>
              </a:rPr>
              <a:t>provide automated or </a:t>
            </a:r>
          </a:p>
          <a:p>
            <a:r>
              <a:rPr lang="en-US" dirty="0">
                <a:solidFill>
                  <a:schemeClr val="bg1"/>
                </a:solidFill>
              </a:rPr>
              <a:t>semi-automated support for the</a:t>
            </a:r>
            <a:br>
              <a:rPr lang="en-US" dirty="0">
                <a:solidFill>
                  <a:schemeClr val="bg1"/>
                </a:solidFill>
              </a:rPr>
            </a:br>
            <a:r>
              <a:rPr lang="en-US" dirty="0">
                <a:solidFill>
                  <a:schemeClr val="bg1"/>
                </a:solidFill>
              </a:rPr>
              <a:t>process and the methods</a:t>
            </a:r>
          </a:p>
          <a:p>
            <a:pPr algn="ctr"/>
            <a:r>
              <a:rPr lang="en-US" dirty="0">
                <a:solidFill>
                  <a:schemeClr val="bg1"/>
                </a:solidFill>
              </a:rPr>
              <a:t>&lt;&lt;CASE tools&gt;&gt;</a:t>
            </a:r>
          </a:p>
        </p:txBody>
      </p:sp>
      <p:sp>
        <p:nvSpPr>
          <p:cNvPr id="17" name="Rectangle 16"/>
          <p:cNvSpPr/>
          <p:nvPr/>
        </p:nvSpPr>
        <p:spPr>
          <a:xfrm>
            <a:off x="2057400" y="5906870"/>
            <a:ext cx="1905000" cy="646331"/>
          </a:xfrm>
          <a:prstGeom prst="rect">
            <a:avLst/>
          </a:prstGeom>
          <a:solidFill>
            <a:srgbClr val="5AEC61"/>
          </a:solidFill>
        </p:spPr>
        <p:txBody>
          <a:bodyPr wrap="square">
            <a:spAutoFit/>
          </a:bodyPr>
          <a:lstStyle/>
          <a:p>
            <a:r>
              <a:rPr lang="en-US" dirty="0"/>
              <a:t>Quality Software</a:t>
            </a:r>
          </a:p>
          <a:p>
            <a:r>
              <a:rPr lang="en-US" dirty="0"/>
              <a:t> Development</a:t>
            </a:r>
          </a:p>
        </p:txBody>
      </p:sp>
      <p:sp>
        <p:nvSpPr>
          <p:cNvPr id="18" name="Rounded Rectangle 17"/>
          <p:cNvSpPr/>
          <p:nvPr/>
        </p:nvSpPr>
        <p:spPr>
          <a:xfrm>
            <a:off x="3200400" y="3200400"/>
            <a:ext cx="6172200" cy="24384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a:off x="3657600" y="4724400"/>
            <a:ext cx="381000" cy="12192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7848600" y="4495800"/>
            <a:ext cx="381000" cy="13716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wn Arrow 20"/>
          <p:cNvSpPr/>
          <p:nvPr/>
        </p:nvSpPr>
        <p:spPr>
          <a:xfrm rot="10800000">
            <a:off x="7696200" y="2971800"/>
            <a:ext cx="381000" cy="9144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rot="10800000">
            <a:off x="4800601" y="2895601"/>
            <a:ext cx="381000" cy="53339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44935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normAutofit/>
          </a:bodyPr>
          <a:lstStyle/>
          <a:p>
            <a:pPr algn="l" eaLnBrk="0" fontAlgn="base" hangingPunct="0">
              <a:spcAft>
                <a:spcPct val="0"/>
              </a:spcAft>
            </a:pPr>
            <a:r>
              <a:rPr lang="en-US" dirty="0" smtClean="0"/>
              <a:t>Relationship between Process Model and Framework</a:t>
            </a:r>
            <a:endParaRPr lang="en-US" dirty="0"/>
          </a:p>
        </p:txBody>
      </p:sp>
      <p:grpSp>
        <p:nvGrpSpPr>
          <p:cNvPr id="4" name="Group 3"/>
          <p:cNvGrpSpPr/>
          <p:nvPr/>
        </p:nvGrpSpPr>
        <p:grpSpPr>
          <a:xfrm>
            <a:off x="3276600" y="2743200"/>
            <a:ext cx="4114800" cy="2124968"/>
            <a:chOff x="1004888" y="2282825"/>
            <a:chExt cx="7620000" cy="3267794"/>
          </a:xfrm>
        </p:grpSpPr>
        <p:sp>
          <p:nvSpPr>
            <p:cNvPr id="5" name="Rectangle 4"/>
            <p:cNvSpPr>
              <a:spLocks noChangeArrowheads="1"/>
            </p:cNvSpPr>
            <p:nvPr/>
          </p:nvSpPr>
          <p:spPr bwMode="auto">
            <a:xfrm>
              <a:off x="3121555" y="5029199"/>
              <a:ext cx="4274080" cy="521420"/>
            </a:xfrm>
            <a:prstGeom prst="rect">
              <a:avLst/>
            </a:prstGeom>
            <a:noFill/>
            <a:ln w="12700">
              <a:noFill/>
              <a:miter lim="800000"/>
              <a:headEnd/>
              <a:tailEnd/>
            </a:ln>
          </p:spPr>
          <p:txBody>
            <a:bodyPr wrap="none" lIns="90487" tIns="44450" rIns="90487" bIns="44450">
              <a:spAutoFit/>
            </a:bodyPr>
            <a:lstStyle/>
            <a:p>
              <a:pPr>
                <a:lnSpc>
                  <a:spcPct val="90000"/>
                </a:lnSpc>
              </a:pPr>
              <a:r>
                <a:rPr lang="en-US" b="1" dirty="0">
                  <a:solidFill>
                    <a:srgbClr val="0070C0"/>
                  </a:solidFill>
                  <a:latin typeface="Palatino" pitchFamily="-128" charset="0"/>
                </a:rPr>
                <a:t>Layered Technology</a:t>
              </a:r>
            </a:p>
          </p:txBody>
        </p:sp>
        <p:sp>
          <p:nvSpPr>
            <p:cNvPr id="6" name="Oval 5"/>
            <p:cNvSpPr>
              <a:spLocks noChangeArrowheads="1"/>
            </p:cNvSpPr>
            <p:nvPr/>
          </p:nvSpPr>
          <p:spPr bwMode="auto">
            <a:xfrm>
              <a:off x="1004888" y="3397250"/>
              <a:ext cx="7620000" cy="1285875"/>
            </a:xfrm>
            <a:prstGeom prst="ellipse">
              <a:avLst/>
            </a:prstGeom>
            <a:solidFill>
              <a:srgbClr val="01EA89"/>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7" name="Oval 6"/>
            <p:cNvSpPr>
              <a:spLocks noChangeArrowheads="1"/>
            </p:cNvSpPr>
            <p:nvPr/>
          </p:nvSpPr>
          <p:spPr bwMode="auto">
            <a:xfrm>
              <a:off x="1462088" y="2968625"/>
              <a:ext cx="6629400" cy="1200150"/>
            </a:xfrm>
            <a:prstGeom prst="ellipse">
              <a:avLst/>
            </a:prstGeom>
            <a:solidFill>
              <a:srgbClr val="BC3700"/>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8" name="Oval 7"/>
            <p:cNvSpPr>
              <a:spLocks noChangeArrowheads="1"/>
            </p:cNvSpPr>
            <p:nvPr/>
          </p:nvSpPr>
          <p:spPr bwMode="auto">
            <a:xfrm>
              <a:off x="1995488" y="2511425"/>
              <a:ext cx="5486400" cy="1028700"/>
            </a:xfrm>
            <a:prstGeom prst="ellipse">
              <a:avLst/>
            </a:prstGeom>
            <a:solidFill>
              <a:schemeClr val="tx2"/>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9" name="Oval 8"/>
            <p:cNvSpPr>
              <a:spLocks noChangeArrowheads="1"/>
            </p:cNvSpPr>
            <p:nvPr/>
          </p:nvSpPr>
          <p:spPr bwMode="auto">
            <a:xfrm>
              <a:off x="2376488" y="2282825"/>
              <a:ext cx="4724400" cy="685800"/>
            </a:xfrm>
            <a:prstGeom prst="ellipse">
              <a:avLst/>
            </a:prstGeom>
            <a:solidFill>
              <a:srgbClr val="790015"/>
            </a:solidFill>
            <a:ln w="12700">
              <a:noFill/>
              <a:round/>
              <a:headEnd/>
              <a:tailEnd/>
            </a:ln>
            <a:effectLst>
              <a:outerShdw dist="107763" dir="2700000" algn="ctr" rotWithShape="0">
                <a:srgbClr val="808080"/>
              </a:outerShdw>
            </a:effectLst>
          </p:spPr>
          <p:txBody>
            <a:bodyPr wrap="none" anchor="ctr"/>
            <a:lstStyle/>
            <a:p>
              <a:pPr>
                <a:defRPr/>
              </a:pPr>
              <a:endParaRPr lang="en-US">
                <a:latin typeface="Arial" charset="0"/>
                <a:ea typeface="ＭＳ Ｐゴシック" pitchFamily="-128" charset="-128"/>
              </a:endParaRPr>
            </a:p>
          </p:txBody>
        </p:sp>
        <p:sp>
          <p:nvSpPr>
            <p:cNvPr id="10" name="Rectangle 9"/>
            <p:cNvSpPr>
              <a:spLocks noChangeArrowheads="1"/>
            </p:cNvSpPr>
            <p:nvPr/>
          </p:nvSpPr>
          <p:spPr bwMode="auto">
            <a:xfrm>
              <a:off x="3657599" y="4238625"/>
              <a:ext cx="4004537" cy="611348"/>
            </a:xfrm>
            <a:prstGeom prst="rect">
              <a:avLst/>
            </a:prstGeom>
            <a:noFill/>
            <a:ln w="12700">
              <a:noFill/>
              <a:miter lim="800000"/>
              <a:headEnd/>
              <a:tailEnd/>
            </a:ln>
            <a:effectLst/>
          </p:spPr>
          <p:txBody>
            <a:bodyPr wrap="none" lIns="90487" tIns="44450" rIns="90487" bIns="44450">
              <a:spAutoFit/>
            </a:bodyPr>
            <a:lstStyle/>
            <a:p>
              <a:pPr>
                <a:defRPr/>
              </a:pPr>
              <a:r>
                <a:rPr lang="en-US" sz="2000" b="1">
                  <a:effectLst>
                    <a:outerShdw blurRad="38100" dist="38100" dir="2700000" algn="tl">
                      <a:srgbClr val="FFFFFF"/>
                    </a:outerShdw>
                  </a:effectLst>
                  <a:latin typeface="Palatino" pitchFamily="-128" charset="0"/>
                  <a:ea typeface="ＭＳ Ｐゴシック" pitchFamily="-128" charset="-128"/>
                </a:rPr>
                <a:t>a “quality” focus</a:t>
              </a:r>
            </a:p>
          </p:txBody>
        </p:sp>
        <p:sp>
          <p:nvSpPr>
            <p:cNvPr id="11" name="Rectangle 10"/>
            <p:cNvSpPr>
              <a:spLocks noChangeArrowheads="1"/>
            </p:cNvSpPr>
            <p:nvPr/>
          </p:nvSpPr>
          <p:spPr bwMode="auto">
            <a:xfrm>
              <a:off x="4176918" y="3638549"/>
              <a:ext cx="1947350" cy="611348"/>
            </a:xfrm>
            <a:prstGeom prst="rect">
              <a:avLst/>
            </a:prstGeom>
            <a:noFill/>
            <a:ln w="12700">
              <a:noFill/>
              <a:miter lim="800000"/>
              <a:headEnd/>
              <a:tailEnd/>
            </a:ln>
            <a:effectLst/>
          </p:spPr>
          <p:txBody>
            <a:bodyPr wrap="none" lIns="90487" tIns="44450" rIns="90487" bIns="44450">
              <a:spAutoFit/>
            </a:bodyPr>
            <a:lstStyle/>
            <a:p>
              <a:pPr>
                <a:defRPr/>
              </a:pPr>
              <a:r>
                <a:rPr lang="en-US" sz="2000" b="1" dirty="0">
                  <a:solidFill>
                    <a:srgbClr val="DADADA"/>
                  </a:solidFill>
                  <a:effectLst>
                    <a:outerShdw blurRad="38100" dist="38100" dir="2700000" algn="tl">
                      <a:srgbClr val="000000"/>
                    </a:outerShdw>
                  </a:effectLst>
                  <a:latin typeface="Palatino" pitchFamily="-128" charset="0"/>
                  <a:ea typeface="ＭＳ Ｐゴシック" pitchFamily="-128" charset="-128"/>
                </a:rPr>
                <a:t>process</a:t>
              </a:r>
            </a:p>
          </p:txBody>
        </p:sp>
        <p:sp>
          <p:nvSpPr>
            <p:cNvPr id="12" name="Rectangle 11"/>
            <p:cNvSpPr>
              <a:spLocks noChangeArrowheads="1"/>
            </p:cNvSpPr>
            <p:nvPr/>
          </p:nvSpPr>
          <p:spPr bwMode="auto">
            <a:xfrm>
              <a:off x="4114799" y="3038475"/>
              <a:ext cx="2211550" cy="611348"/>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000000"/>
                    </a:outerShdw>
                  </a:effectLst>
                  <a:latin typeface="Palatino" pitchFamily="-128" charset="0"/>
                  <a:ea typeface="ＭＳ Ｐゴシック" pitchFamily="-128" charset="-128"/>
                </a:rPr>
                <a:t>methods</a:t>
              </a:r>
            </a:p>
          </p:txBody>
        </p:sp>
        <p:sp>
          <p:nvSpPr>
            <p:cNvPr id="13" name="Rectangle 12"/>
            <p:cNvSpPr>
              <a:spLocks noChangeArrowheads="1"/>
            </p:cNvSpPr>
            <p:nvPr/>
          </p:nvSpPr>
          <p:spPr bwMode="auto">
            <a:xfrm>
              <a:off x="4419599" y="2438400"/>
              <a:ext cx="1392237" cy="611348"/>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000000"/>
                    </a:outerShdw>
                  </a:effectLst>
                  <a:latin typeface="Palatino" pitchFamily="-128" charset="0"/>
                  <a:ea typeface="ＭＳ Ｐゴシック" pitchFamily="-128" charset="-128"/>
                </a:rPr>
                <a:t>tools</a:t>
              </a:r>
            </a:p>
          </p:txBody>
        </p:sp>
      </p:grpSp>
      <p:cxnSp>
        <p:nvCxnSpPr>
          <p:cNvPr id="14" name="Straight Arrow Connector 13"/>
          <p:cNvCxnSpPr/>
          <p:nvPr/>
        </p:nvCxnSpPr>
        <p:spPr>
          <a:xfrm>
            <a:off x="6096000" y="3886199"/>
            <a:ext cx="21336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153400" y="3653135"/>
            <a:ext cx="2362200" cy="461665"/>
          </a:xfrm>
          <a:prstGeom prst="rect">
            <a:avLst/>
          </a:prstGeom>
          <a:noFill/>
        </p:spPr>
        <p:txBody>
          <a:bodyPr wrap="square" rtlCol="0">
            <a:spAutoFit/>
          </a:bodyPr>
          <a:lstStyle/>
          <a:p>
            <a:r>
              <a:rPr lang="en-US" sz="2400" b="1" dirty="0"/>
              <a:t>Process </a:t>
            </a:r>
            <a:r>
              <a:rPr lang="en-US" sz="2400" b="1" dirty="0">
                <a:solidFill>
                  <a:srgbClr val="FF0000"/>
                </a:solidFill>
              </a:rPr>
              <a:t>Model</a:t>
            </a:r>
            <a:r>
              <a:rPr lang="en-US" sz="2400" b="1" dirty="0"/>
              <a:t>(s)</a:t>
            </a:r>
          </a:p>
        </p:txBody>
      </p:sp>
      <p:sp>
        <p:nvSpPr>
          <p:cNvPr id="16" name="TextBox 15"/>
          <p:cNvSpPr txBox="1"/>
          <p:nvPr/>
        </p:nvSpPr>
        <p:spPr>
          <a:xfrm>
            <a:off x="8153400" y="5100935"/>
            <a:ext cx="2743200" cy="461665"/>
          </a:xfrm>
          <a:prstGeom prst="rect">
            <a:avLst/>
          </a:prstGeom>
          <a:noFill/>
        </p:spPr>
        <p:txBody>
          <a:bodyPr wrap="square" rtlCol="0">
            <a:spAutoFit/>
          </a:bodyPr>
          <a:lstStyle/>
          <a:p>
            <a:r>
              <a:rPr lang="en-US" sz="2400" b="1" dirty="0"/>
              <a:t>Process </a:t>
            </a:r>
            <a:r>
              <a:rPr lang="en-US" sz="2400" b="1" dirty="0">
                <a:solidFill>
                  <a:srgbClr val="FF0000"/>
                </a:solidFill>
              </a:rPr>
              <a:t>Framework</a:t>
            </a:r>
          </a:p>
        </p:txBody>
      </p:sp>
      <p:cxnSp>
        <p:nvCxnSpPr>
          <p:cNvPr id="17" name="Straight Arrow Connector 16"/>
          <p:cNvCxnSpPr/>
          <p:nvPr/>
        </p:nvCxnSpPr>
        <p:spPr>
          <a:xfrm>
            <a:off x="9296400" y="4190999"/>
            <a:ext cx="0" cy="9144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 xmlns:a16="http://schemas.microsoft.com/office/drawing/2014/main" id="{125B0077-1C81-4E14-BCFB-7D7186ABB189}"/>
              </a:ext>
            </a:extLst>
          </p:cNvPr>
          <p:cNvSpPr/>
          <p:nvPr/>
        </p:nvSpPr>
        <p:spPr>
          <a:xfrm>
            <a:off x="949513" y="3143737"/>
            <a:ext cx="2590800" cy="4616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roadmap</a:t>
            </a:r>
          </a:p>
        </p:txBody>
      </p:sp>
      <p:sp>
        <p:nvSpPr>
          <p:cNvPr id="20" name="Rectangle 19">
            <a:extLst>
              <a:ext uri="{FF2B5EF4-FFF2-40B4-BE49-F238E27FC236}">
                <a16:creationId xmlns="" xmlns:a16="http://schemas.microsoft.com/office/drawing/2014/main" id="{B113EA0E-2051-40D7-BD3A-384821FC0A24}"/>
              </a:ext>
            </a:extLst>
          </p:cNvPr>
          <p:cNvSpPr/>
          <p:nvPr/>
        </p:nvSpPr>
        <p:spPr>
          <a:xfrm>
            <a:off x="7958281" y="4073225"/>
            <a:ext cx="2590800" cy="4616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Different strategies</a:t>
            </a:r>
          </a:p>
        </p:txBody>
      </p:sp>
      <p:sp>
        <p:nvSpPr>
          <p:cNvPr id="24" name="Rectangle 23">
            <a:extLst>
              <a:ext uri="{FF2B5EF4-FFF2-40B4-BE49-F238E27FC236}">
                <a16:creationId xmlns="" xmlns:a16="http://schemas.microsoft.com/office/drawing/2014/main" id="{BBF30DE3-0110-4B51-9C8D-FCB6D7FCF5AA}"/>
              </a:ext>
            </a:extLst>
          </p:cNvPr>
          <p:cNvSpPr/>
          <p:nvPr/>
        </p:nvSpPr>
        <p:spPr>
          <a:xfrm>
            <a:off x="7958281" y="5511090"/>
            <a:ext cx="2590800" cy="4616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Details about </a:t>
            </a:r>
            <a:r>
              <a:rPr lang="en-US" b="1" dirty="0" err="1"/>
              <a:t>raodmaps</a:t>
            </a:r>
            <a:endParaRPr lang="en-US" b="1" dirty="0"/>
          </a:p>
        </p:txBody>
      </p:sp>
    </p:spTree>
    <p:extLst>
      <p:ext uri="{BB962C8B-B14F-4D97-AF65-F5344CB8AC3E}">
        <p14:creationId xmlns:p14="http://schemas.microsoft.com/office/powerpoint/2010/main" val="19188779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E3AACB0-8C0B-06FB-2F62-2B686BAB45A2}"/>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xmlns="" id="{C16AAD3F-6AD8-AEB9-B815-7600B38A9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571500"/>
            <a:ext cx="11315700" cy="628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08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A9775D-0199-9E60-5F90-6CDCBAF6847A}"/>
              </a:ext>
            </a:extLst>
          </p:cNvPr>
          <p:cNvSpPr>
            <a:spLocks noGrp="1"/>
          </p:cNvSpPr>
          <p:nvPr>
            <p:ph type="title"/>
          </p:nvPr>
        </p:nvSpPr>
        <p:spPr/>
        <p:txBody>
          <a:bodyPr/>
          <a:lstStyle/>
          <a:p>
            <a:r>
              <a:rPr lang="en-US" dirty="0"/>
              <a:t>The process framework</a:t>
            </a:r>
          </a:p>
        </p:txBody>
      </p:sp>
      <p:sp>
        <p:nvSpPr>
          <p:cNvPr id="4" name="Rectangle: Rounded Corners 3">
            <a:extLst>
              <a:ext uri="{FF2B5EF4-FFF2-40B4-BE49-F238E27FC236}">
                <a16:creationId xmlns:a16="http://schemas.microsoft.com/office/drawing/2014/main" xmlns="" id="{0745D297-83BD-A6CF-41E5-10777E06F0FA}"/>
              </a:ext>
            </a:extLst>
          </p:cNvPr>
          <p:cNvSpPr/>
          <p:nvPr/>
        </p:nvSpPr>
        <p:spPr>
          <a:xfrm>
            <a:off x="1047565" y="3542190"/>
            <a:ext cx="1828800" cy="86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Communication</a:t>
            </a:r>
          </a:p>
        </p:txBody>
      </p:sp>
      <p:sp>
        <p:nvSpPr>
          <p:cNvPr id="5" name="Rectangle: Rounded Corners 4">
            <a:extLst>
              <a:ext uri="{FF2B5EF4-FFF2-40B4-BE49-F238E27FC236}">
                <a16:creationId xmlns:a16="http://schemas.microsoft.com/office/drawing/2014/main" xmlns="" id="{2C025BFD-6917-EDE4-5D5B-1AB3FC2F6959}"/>
              </a:ext>
            </a:extLst>
          </p:cNvPr>
          <p:cNvSpPr/>
          <p:nvPr/>
        </p:nvSpPr>
        <p:spPr>
          <a:xfrm>
            <a:off x="3028765" y="3542190"/>
            <a:ext cx="1828800" cy="86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Planning</a:t>
            </a:r>
          </a:p>
        </p:txBody>
      </p:sp>
      <p:sp>
        <p:nvSpPr>
          <p:cNvPr id="6" name="Rectangle: Rounded Corners 5">
            <a:extLst>
              <a:ext uri="{FF2B5EF4-FFF2-40B4-BE49-F238E27FC236}">
                <a16:creationId xmlns:a16="http://schemas.microsoft.com/office/drawing/2014/main" xmlns="" id="{9169120B-88AE-1DA9-25A1-814B2B726918}"/>
              </a:ext>
            </a:extLst>
          </p:cNvPr>
          <p:cNvSpPr/>
          <p:nvPr/>
        </p:nvSpPr>
        <p:spPr>
          <a:xfrm>
            <a:off x="5009965" y="3542190"/>
            <a:ext cx="1828800" cy="86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Modeling</a:t>
            </a:r>
          </a:p>
        </p:txBody>
      </p:sp>
      <p:sp>
        <p:nvSpPr>
          <p:cNvPr id="7" name="Rectangle: Rounded Corners 6">
            <a:extLst>
              <a:ext uri="{FF2B5EF4-FFF2-40B4-BE49-F238E27FC236}">
                <a16:creationId xmlns:a16="http://schemas.microsoft.com/office/drawing/2014/main" xmlns="" id="{A4821D31-5D90-210B-2B20-7E5A6EFE0924}"/>
              </a:ext>
            </a:extLst>
          </p:cNvPr>
          <p:cNvSpPr/>
          <p:nvPr/>
        </p:nvSpPr>
        <p:spPr>
          <a:xfrm>
            <a:off x="6991165" y="3542190"/>
            <a:ext cx="1828800" cy="86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Construction</a:t>
            </a:r>
          </a:p>
        </p:txBody>
      </p:sp>
      <p:sp>
        <p:nvSpPr>
          <p:cNvPr id="8" name="Rectangle: Rounded Corners 7">
            <a:extLst>
              <a:ext uri="{FF2B5EF4-FFF2-40B4-BE49-F238E27FC236}">
                <a16:creationId xmlns:a16="http://schemas.microsoft.com/office/drawing/2014/main" xmlns="" id="{5659C842-73C1-0469-B048-19A60F09D88F}"/>
              </a:ext>
            </a:extLst>
          </p:cNvPr>
          <p:cNvSpPr/>
          <p:nvPr/>
        </p:nvSpPr>
        <p:spPr>
          <a:xfrm>
            <a:off x="8972365" y="3542190"/>
            <a:ext cx="1828800" cy="86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Deployment</a:t>
            </a:r>
          </a:p>
        </p:txBody>
      </p:sp>
    </p:spTree>
    <p:extLst>
      <p:ext uri="{BB962C8B-B14F-4D97-AF65-F5344CB8AC3E}">
        <p14:creationId xmlns:p14="http://schemas.microsoft.com/office/powerpoint/2010/main" val="262553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B8D881-7086-CC16-CB01-40DFEE52768D}"/>
              </a:ext>
            </a:extLst>
          </p:cNvPr>
          <p:cNvSpPr>
            <a:spLocks noGrp="1"/>
          </p:cNvSpPr>
          <p:nvPr>
            <p:ph type="title"/>
          </p:nvPr>
        </p:nvSpPr>
        <p:spPr/>
        <p:txBody>
          <a:bodyPr/>
          <a:lstStyle/>
          <a:p>
            <a:r>
              <a:rPr lang="en-US" dirty="0"/>
              <a:t>The process framework-Communication</a:t>
            </a:r>
          </a:p>
        </p:txBody>
      </p:sp>
      <p:sp>
        <p:nvSpPr>
          <p:cNvPr id="3" name="Content Placeholder 2">
            <a:extLst>
              <a:ext uri="{FF2B5EF4-FFF2-40B4-BE49-F238E27FC236}">
                <a16:creationId xmlns:a16="http://schemas.microsoft.com/office/drawing/2014/main" xmlns="" id="{C41FE9EB-E136-24FA-C86E-4660DE269E57}"/>
              </a:ext>
            </a:extLst>
          </p:cNvPr>
          <p:cNvSpPr>
            <a:spLocks noGrp="1"/>
          </p:cNvSpPr>
          <p:nvPr>
            <p:ph idx="1"/>
          </p:nvPr>
        </p:nvSpPr>
        <p:spPr/>
        <p:txBody>
          <a:bodyPr/>
          <a:lstStyle/>
          <a:p>
            <a:r>
              <a:rPr lang="en-US" dirty="0"/>
              <a:t>Before any technical work can commence, it is critically important to communicate and collaborate with the customer (and other stakeholders). </a:t>
            </a:r>
          </a:p>
          <a:p>
            <a:r>
              <a:rPr lang="en-US" dirty="0"/>
              <a:t>The intent is to understand stakeholders’ objectives for the project and to gather requirements that help define software features and functions. </a:t>
            </a:r>
          </a:p>
        </p:txBody>
      </p:sp>
    </p:spTree>
    <p:extLst>
      <p:ext uri="{BB962C8B-B14F-4D97-AF65-F5344CB8AC3E}">
        <p14:creationId xmlns:p14="http://schemas.microsoft.com/office/powerpoint/2010/main" val="1609010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B8D881-7086-CC16-CB01-40DFEE52768D}"/>
              </a:ext>
            </a:extLst>
          </p:cNvPr>
          <p:cNvSpPr>
            <a:spLocks noGrp="1"/>
          </p:cNvSpPr>
          <p:nvPr>
            <p:ph type="title"/>
          </p:nvPr>
        </p:nvSpPr>
        <p:spPr/>
        <p:txBody>
          <a:bodyPr/>
          <a:lstStyle/>
          <a:p>
            <a:r>
              <a:rPr lang="en-US" dirty="0"/>
              <a:t>The process framework-planning</a:t>
            </a:r>
          </a:p>
        </p:txBody>
      </p:sp>
      <p:sp>
        <p:nvSpPr>
          <p:cNvPr id="3" name="Content Placeholder 2">
            <a:extLst>
              <a:ext uri="{FF2B5EF4-FFF2-40B4-BE49-F238E27FC236}">
                <a16:creationId xmlns:a16="http://schemas.microsoft.com/office/drawing/2014/main" xmlns="" id="{C41FE9EB-E136-24FA-C86E-4660DE269E57}"/>
              </a:ext>
            </a:extLst>
          </p:cNvPr>
          <p:cNvSpPr>
            <a:spLocks noGrp="1"/>
          </p:cNvSpPr>
          <p:nvPr>
            <p:ph idx="1"/>
          </p:nvPr>
        </p:nvSpPr>
        <p:spPr/>
        <p:txBody>
          <a:bodyPr/>
          <a:lstStyle/>
          <a:p>
            <a:r>
              <a:rPr lang="en-US" dirty="0"/>
              <a:t>Any complicated journey can be simplified if a map exists. </a:t>
            </a:r>
          </a:p>
          <a:p>
            <a:r>
              <a:rPr lang="en-US" dirty="0"/>
              <a:t>A software project is a complicated journey, and the planning activity creates a “map” that helps guide the team as it makes the journey. </a:t>
            </a:r>
          </a:p>
          <a:p>
            <a:r>
              <a:rPr lang="en-US" dirty="0"/>
              <a:t>The map—called a software project plan—defines the software engineering work by describing the technical tasks to be conducted, the risks that are likely, the resources that will be required, the work products to be produced, and a work schedule.</a:t>
            </a:r>
          </a:p>
        </p:txBody>
      </p:sp>
    </p:spTree>
    <p:extLst>
      <p:ext uri="{BB962C8B-B14F-4D97-AF65-F5344CB8AC3E}">
        <p14:creationId xmlns:p14="http://schemas.microsoft.com/office/powerpoint/2010/main" val="816365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8F1BD2-6913-7A5D-00DA-BC18AD8A99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CFB42E4-4214-5B6A-7DD6-FE38393C4667}"/>
              </a:ext>
            </a:extLst>
          </p:cNvPr>
          <p:cNvSpPr>
            <a:spLocks noGrp="1"/>
          </p:cNvSpPr>
          <p:nvPr>
            <p:ph idx="1"/>
          </p:nvPr>
        </p:nvSpPr>
        <p:spPr/>
        <p:txBody>
          <a:bodyPr/>
          <a:lstStyle/>
          <a:p>
            <a:endParaRPr lang="en-US"/>
          </a:p>
        </p:txBody>
      </p:sp>
      <p:pic>
        <p:nvPicPr>
          <p:cNvPr id="1026" name="Picture 2" descr="Asana">
            <a:extLst>
              <a:ext uri="{FF2B5EF4-FFF2-40B4-BE49-F238E27FC236}">
                <a16:creationId xmlns:a16="http://schemas.microsoft.com/office/drawing/2014/main" xmlns="" id="{A56D7076-558A-9B44-ED59-1ACFCB9F0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7" y="0"/>
            <a:ext cx="11363324" cy="62726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D64ED98B-D3A7-E461-AEE3-B426C24E7BEA}"/>
              </a:ext>
            </a:extLst>
          </p:cNvPr>
          <p:cNvSpPr txBox="1"/>
          <p:nvPr/>
        </p:nvSpPr>
        <p:spPr>
          <a:xfrm>
            <a:off x="238125" y="2962275"/>
            <a:ext cx="1228725" cy="369332"/>
          </a:xfrm>
          <a:prstGeom prst="rect">
            <a:avLst/>
          </a:prstGeom>
          <a:solidFill>
            <a:srgbClr val="00B0F0"/>
          </a:solidFill>
        </p:spPr>
        <p:txBody>
          <a:bodyPr wrap="square" rtlCol="0">
            <a:spAutoFit/>
          </a:bodyPr>
          <a:lstStyle/>
          <a:p>
            <a:r>
              <a:rPr lang="en-US" dirty="0"/>
              <a:t>ASANA</a:t>
            </a:r>
          </a:p>
        </p:txBody>
      </p:sp>
    </p:spTree>
    <p:extLst>
      <p:ext uri="{BB962C8B-B14F-4D97-AF65-F5344CB8AC3E}">
        <p14:creationId xmlns:p14="http://schemas.microsoft.com/office/powerpoint/2010/main" val="2686180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DDFC8C-244E-3440-E028-4E8FE76257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3CF5565-80E7-5075-6D2D-135BE19C3755}"/>
              </a:ext>
            </a:extLst>
          </p:cNvPr>
          <p:cNvSpPr>
            <a:spLocks noGrp="1"/>
          </p:cNvSpPr>
          <p:nvPr>
            <p:ph idx="1"/>
          </p:nvPr>
        </p:nvSpPr>
        <p:spPr/>
        <p:txBody>
          <a:bodyPr/>
          <a:lstStyle/>
          <a:p>
            <a:endParaRPr lang="en-US"/>
          </a:p>
        </p:txBody>
      </p:sp>
      <p:pic>
        <p:nvPicPr>
          <p:cNvPr id="1028" name="Picture 4" descr="timeline view">
            <a:extLst>
              <a:ext uri="{FF2B5EF4-FFF2-40B4-BE49-F238E27FC236}">
                <a16:creationId xmlns:a16="http://schemas.microsoft.com/office/drawing/2014/main" xmlns="" id="{AA49F12E-BA09-3CAA-98F0-2046E6822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104775"/>
            <a:ext cx="12106275" cy="6753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E3AB64DB-CDEE-CD80-F7D4-7E2AD4ED186E}"/>
              </a:ext>
            </a:extLst>
          </p:cNvPr>
          <p:cNvSpPr txBox="1"/>
          <p:nvPr/>
        </p:nvSpPr>
        <p:spPr>
          <a:xfrm>
            <a:off x="5999733" y="811963"/>
            <a:ext cx="1768228" cy="369332"/>
          </a:xfrm>
          <a:prstGeom prst="rect">
            <a:avLst/>
          </a:prstGeom>
          <a:solidFill>
            <a:srgbClr val="00B0F0"/>
          </a:solidFill>
        </p:spPr>
        <p:txBody>
          <a:bodyPr wrap="square" rtlCol="0">
            <a:spAutoFit/>
          </a:bodyPr>
          <a:lstStyle/>
          <a:p>
            <a:r>
              <a:rPr lang="en-US" dirty="0"/>
              <a:t>MONDAY.COM</a:t>
            </a:r>
          </a:p>
        </p:txBody>
      </p:sp>
    </p:spTree>
    <p:extLst>
      <p:ext uri="{BB962C8B-B14F-4D97-AF65-F5344CB8AC3E}">
        <p14:creationId xmlns:p14="http://schemas.microsoft.com/office/powerpoint/2010/main" val="2963763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237981-B747-AE2C-9D62-8093EC5585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79E55C3-1B13-BD98-0E41-562F242A9B0F}"/>
              </a:ext>
            </a:extLst>
          </p:cNvPr>
          <p:cNvSpPr>
            <a:spLocks noGrp="1"/>
          </p:cNvSpPr>
          <p:nvPr>
            <p:ph idx="1"/>
          </p:nvPr>
        </p:nvSpPr>
        <p:spPr/>
        <p:txBody>
          <a:bodyPr/>
          <a:lstStyle/>
          <a:p>
            <a:endParaRPr lang="en-US"/>
          </a:p>
        </p:txBody>
      </p:sp>
      <p:pic>
        <p:nvPicPr>
          <p:cNvPr id="2050" name="Picture 2" descr="monday.com | A new way of working">
            <a:extLst>
              <a:ext uri="{FF2B5EF4-FFF2-40B4-BE49-F238E27FC236}">
                <a16:creationId xmlns:a16="http://schemas.microsoft.com/office/drawing/2014/main" xmlns="" id="{480205C0-7EF6-9E78-4895-16CD5F8632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379" y="304800"/>
            <a:ext cx="11463800"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486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D51BAC-2EE9-7FA8-D149-F32B6F1AF0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D168004-AA61-6B82-FB29-D4CF2745E09C}"/>
              </a:ext>
            </a:extLst>
          </p:cNvPr>
          <p:cNvSpPr>
            <a:spLocks noGrp="1"/>
          </p:cNvSpPr>
          <p:nvPr>
            <p:ph idx="1"/>
          </p:nvPr>
        </p:nvSpPr>
        <p:spPr/>
        <p:txBody>
          <a:bodyPr/>
          <a:lstStyle/>
          <a:p>
            <a:endParaRPr lang="en-US"/>
          </a:p>
        </p:txBody>
      </p:sp>
      <p:pic>
        <p:nvPicPr>
          <p:cNvPr id="2050" name="Picture 2" descr="Jira Software">
            <a:extLst>
              <a:ext uri="{FF2B5EF4-FFF2-40B4-BE49-F238E27FC236}">
                <a16:creationId xmlns:a16="http://schemas.microsoft.com/office/drawing/2014/main" xmlns="" id="{63694E8C-3924-33BD-573F-690006E80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220" y="602339"/>
            <a:ext cx="11515557" cy="5922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957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6922A-4C30-1809-80D5-3196D08D17EC}"/>
              </a:ext>
            </a:extLst>
          </p:cNvPr>
          <p:cNvSpPr>
            <a:spLocks noGrp="1"/>
          </p:cNvSpPr>
          <p:nvPr>
            <p:ph type="title"/>
          </p:nvPr>
        </p:nvSpPr>
        <p:spPr/>
        <p:txBody>
          <a:bodyPr/>
          <a:lstStyle/>
          <a:p>
            <a:r>
              <a:rPr lang="en-US" dirty="0"/>
              <a:t>The process framework-modeling</a:t>
            </a:r>
          </a:p>
        </p:txBody>
      </p:sp>
      <p:sp>
        <p:nvSpPr>
          <p:cNvPr id="3" name="Content Placeholder 2">
            <a:extLst>
              <a:ext uri="{FF2B5EF4-FFF2-40B4-BE49-F238E27FC236}">
                <a16:creationId xmlns:a16="http://schemas.microsoft.com/office/drawing/2014/main" xmlns="" id="{F9978E6E-B111-678E-DB5F-FB25B2672990}"/>
              </a:ext>
            </a:extLst>
          </p:cNvPr>
          <p:cNvSpPr>
            <a:spLocks noGrp="1"/>
          </p:cNvSpPr>
          <p:nvPr>
            <p:ph idx="1"/>
          </p:nvPr>
        </p:nvSpPr>
        <p:spPr/>
        <p:txBody>
          <a:bodyPr/>
          <a:lstStyle/>
          <a:p>
            <a:r>
              <a:rPr lang="en-US" dirty="0"/>
              <a:t>Whether you’re a landscaper, a bridge builder, an aeronautical engineer, a carpenter, or an architect, you work with models every day. </a:t>
            </a:r>
          </a:p>
          <a:p>
            <a:r>
              <a:rPr lang="en-US" dirty="0"/>
              <a:t>You create a “sketch” of the thing so that you’ll understand the big picture—what it will look like architecturally, how the constituent parts fit together, and many other characteristics. </a:t>
            </a:r>
          </a:p>
          <a:p>
            <a:r>
              <a:rPr lang="en-US" dirty="0"/>
              <a:t>If required, you refine the sketch into greater and greater detail in an effort to better understand the problem and how you’re going to solve it. </a:t>
            </a:r>
          </a:p>
          <a:p>
            <a:r>
              <a:rPr lang="en-US" dirty="0"/>
              <a:t>A software engineer does the same thing by creating models to better understand software requirements and the design that will achieve those requirements. </a:t>
            </a:r>
          </a:p>
        </p:txBody>
      </p:sp>
    </p:spTree>
    <p:extLst>
      <p:ext uri="{BB962C8B-B14F-4D97-AF65-F5344CB8AC3E}">
        <p14:creationId xmlns:p14="http://schemas.microsoft.com/office/powerpoint/2010/main" val="2123277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FFC25C-D9C3-3CB3-26A8-88E782FDF7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F5224E1-6D47-637D-3F70-F5BC42B978BD}"/>
              </a:ext>
            </a:extLst>
          </p:cNvPr>
          <p:cNvSpPr>
            <a:spLocks noGrp="1"/>
          </p:cNvSpPr>
          <p:nvPr>
            <p:ph idx="1"/>
          </p:nvPr>
        </p:nvSpPr>
        <p:spPr/>
        <p:txBody>
          <a:bodyPr/>
          <a:lstStyle/>
          <a:p>
            <a:endParaRPr lang="en-US"/>
          </a:p>
        </p:txBody>
      </p:sp>
      <p:pic>
        <p:nvPicPr>
          <p:cNvPr id="3074" name="Picture 2" descr="Website Template Sketch Layout Idea Stock Photo, Picture and Royalty Free  Image. Image 81787600.">
            <a:extLst>
              <a:ext uri="{FF2B5EF4-FFF2-40B4-BE49-F238E27FC236}">
                <a16:creationId xmlns:a16="http://schemas.microsoft.com/office/drawing/2014/main" xmlns="" id="{9DFCC427-C18C-38A9-8DF6-E425E20E9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11430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088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1BBDE8-CFDE-D5D4-7C62-F04ADC606D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AAD9D9D-E88F-F5DE-09F1-B632497917E3}"/>
              </a:ext>
            </a:extLst>
          </p:cNvPr>
          <p:cNvSpPr>
            <a:spLocks noGrp="1"/>
          </p:cNvSpPr>
          <p:nvPr>
            <p:ph idx="1"/>
          </p:nvPr>
        </p:nvSpPr>
        <p:spPr/>
        <p:txBody>
          <a:bodyPr/>
          <a:lstStyle/>
          <a:p>
            <a:endParaRPr lang="en-US"/>
          </a:p>
        </p:txBody>
      </p:sp>
      <p:pic>
        <p:nvPicPr>
          <p:cNvPr id="4098" name="Picture 2" descr="Redesigned Paper Prototype for Meditation Oasis' Mobile Application">
            <a:extLst>
              <a:ext uri="{FF2B5EF4-FFF2-40B4-BE49-F238E27FC236}">
                <a16:creationId xmlns:a16="http://schemas.microsoft.com/office/drawing/2014/main" xmlns="" id="{7F8D858C-5E02-DF07-C763-73978A793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19" y="0"/>
            <a:ext cx="11922711" cy="6848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40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834234-0090-4DA9-2AE4-87A2403E88A6}"/>
              </a:ext>
            </a:extLst>
          </p:cNvPr>
          <p:cNvSpPr>
            <a:spLocks noGrp="1"/>
          </p:cNvSpPr>
          <p:nvPr>
            <p:ph type="title"/>
          </p:nvPr>
        </p:nvSpPr>
        <p:spPr/>
        <p:txBody>
          <a:bodyPr/>
          <a:lstStyle/>
          <a:p>
            <a:r>
              <a:rPr lang="en-US" dirty="0"/>
              <a:t>The process framework-construction</a:t>
            </a:r>
          </a:p>
        </p:txBody>
      </p:sp>
      <p:sp>
        <p:nvSpPr>
          <p:cNvPr id="3" name="Content Placeholder 2">
            <a:extLst>
              <a:ext uri="{FF2B5EF4-FFF2-40B4-BE49-F238E27FC236}">
                <a16:creationId xmlns:a16="http://schemas.microsoft.com/office/drawing/2014/main" xmlns="" id="{66BEB6B5-D887-8A36-4722-B1FE7E8DF061}"/>
              </a:ext>
            </a:extLst>
          </p:cNvPr>
          <p:cNvSpPr>
            <a:spLocks noGrp="1"/>
          </p:cNvSpPr>
          <p:nvPr>
            <p:ph idx="1"/>
          </p:nvPr>
        </p:nvSpPr>
        <p:spPr/>
        <p:txBody>
          <a:bodyPr/>
          <a:lstStyle/>
          <a:p>
            <a:r>
              <a:rPr lang="en-US" dirty="0"/>
              <a:t>What you design must be built. This activity combines code generation (either manual or automated) and the testing that is required to uncover errors in the code. </a:t>
            </a:r>
          </a:p>
        </p:txBody>
      </p:sp>
    </p:spTree>
    <p:extLst>
      <p:ext uri="{BB962C8B-B14F-4D97-AF65-F5344CB8AC3E}">
        <p14:creationId xmlns:p14="http://schemas.microsoft.com/office/powerpoint/2010/main" val="477424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834234-0090-4DA9-2AE4-87A2403E88A6}"/>
              </a:ext>
            </a:extLst>
          </p:cNvPr>
          <p:cNvSpPr>
            <a:spLocks noGrp="1"/>
          </p:cNvSpPr>
          <p:nvPr>
            <p:ph type="title"/>
          </p:nvPr>
        </p:nvSpPr>
        <p:spPr/>
        <p:txBody>
          <a:bodyPr/>
          <a:lstStyle/>
          <a:p>
            <a:r>
              <a:rPr lang="en-US" dirty="0"/>
              <a:t>The process framework-deployment</a:t>
            </a:r>
          </a:p>
        </p:txBody>
      </p:sp>
      <p:sp>
        <p:nvSpPr>
          <p:cNvPr id="3" name="Content Placeholder 2">
            <a:extLst>
              <a:ext uri="{FF2B5EF4-FFF2-40B4-BE49-F238E27FC236}">
                <a16:creationId xmlns:a16="http://schemas.microsoft.com/office/drawing/2014/main" xmlns="" id="{66BEB6B5-D887-8A36-4722-B1FE7E8DF061}"/>
              </a:ext>
            </a:extLst>
          </p:cNvPr>
          <p:cNvSpPr>
            <a:spLocks noGrp="1"/>
          </p:cNvSpPr>
          <p:nvPr>
            <p:ph idx="1"/>
          </p:nvPr>
        </p:nvSpPr>
        <p:spPr/>
        <p:txBody>
          <a:bodyPr/>
          <a:lstStyle/>
          <a:p>
            <a:r>
              <a:rPr lang="en-US" dirty="0"/>
              <a:t>The software (as a complete entity or as a partially completed increment) is delivered to the customer who evaluates the delivered product and provides feedback based on the evaluation. </a:t>
            </a:r>
          </a:p>
          <a:p>
            <a:r>
              <a:rPr lang="en-US" dirty="0"/>
              <a:t>These five generic framework activities can be used during the development of small, simple programs, the creation of Web applications, and for the engineering of large, complex computer-based systems.</a:t>
            </a:r>
          </a:p>
        </p:txBody>
      </p:sp>
    </p:spTree>
    <p:extLst>
      <p:ext uri="{BB962C8B-B14F-4D97-AF65-F5344CB8AC3E}">
        <p14:creationId xmlns:p14="http://schemas.microsoft.com/office/powerpoint/2010/main" val="279503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0816611" cy="74564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normAutofit/>
          </a:bodyPr>
          <a:lstStyle/>
          <a:p>
            <a:pPr algn="l" eaLnBrk="0" fontAlgn="base" hangingPunct="0">
              <a:spcAft>
                <a:spcPct val="0"/>
              </a:spcAft>
            </a:pPr>
            <a:r>
              <a:rPr lang="en-US" dirty="0" smtClean="0"/>
              <a:t>The</a:t>
            </a:r>
            <a:r>
              <a:rPr lang="en-US" dirty="0" smtClean="0">
                <a:solidFill>
                  <a:srgbClr val="C00000"/>
                </a:solidFill>
              </a:rPr>
              <a:t> </a:t>
            </a:r>
            <a:r>
              <a:rPr lang="en-US" dirty="0" smtClean="0"/>
              <a:t>Software Process</a:t>
            </a:r>
            <a:endParaRPr lang="en-US" dirty="0"/>
          </a:p>
        </p:txBody>
      </p:sp>
      <p:sp>
        <p:nvSpPr>
          <p:cNvPr id="4" name="Rectangle 4"/>
          <p:cNvSpPr txBox="1">
            <a:spLocks noChangeArrowheads="1"/>
          </p:cNvSpPr>
          <p:nvPr/>
        </p:nvSpPr>
        <p:spPr>
          <a:xfrm>
            <a:off x="3800340" y="1600200"/>
            <a:ext cx="4114800" cy="5257800"/>
          </a:xfrm>
          <a:prstGeom prst="rect">
            <a:avLst/>
          </a:prstGeom>
          <a:solidFill>
            <a:schemeClr val="bg1">
              <a:lumMod val="65000"/>
            </a:schemeClr>
          </a:solidFill>
        </p:spPr>
        <p:txBody>
          <a:bodyPr vert="horz" lIns="91440" tIns="45720" rIns="91440" bIns="45720" rtlCol="0">
            <a:noAutofit/>
          </a:bodyPr>
          <a:lstStyle/>
          <a:p>
            <a:pPr marL="342900" indent="-342900" algn="just">
              <a:lnSpc>
                <a:spcPct val="90000"/>
              </a:lnSpc>
              <a:spcBef>
                <a:spcPct val="20000"/>
              </a:spcBef>
              <a:buFont typeface="Arial" pitchFamily="34" charset="0"/>
              <a:buChar char="•"/>
              <a:defRPr/>
            </a:pPr>
            <a:r>
              <a:rPr lang="en-US" sz="2000" b="1" dirty="0"/>
              <a:t>Communication</a:t>
            </a:r>
          </a:p>
          <a:p>
            <a:pPr marL="800100" lvl="1" indent="-342900" algn="just">
              <a:lnSpc>
                <a:spcPct val="90000"/>
              </a:lnSpc>
              <a:spcBef>
                <a:spcPct val="20000"/>
              </a:spcBef>
              <a:buFont typeface="Arial" pitchFamily="34" charset="0"/>
              <a:buChar char="•"/>
              <a:defRPr/>
            </a:pPr>
            <a:r>
              <a:rPr lang="en-US" b="1" dirty="0"/>
              <a:t>Project Initiation</a:t>
            </a:r>
          </a:p>
          <a:p>
            <a:pPr marL="800100" lvl="1" indent="-342900" algn="just">
              <a:lnSpc>
                <a:spcPct val="90000"/>
              </a:lnSpc>
              <a:spcBef>
                <a:spcPct val="20000"/>
              </a:spcBef>
              <a:buFont typeface="Arial" pitchFamily="34" charset="0"/>
              <a:buChar char="•"/>
              <a:defRPr/>
            </a:pPr>
            <a:r>
              <a:rPr lang="en-US" b="1" dirty="0"/>
              <a:t>Requirement gathering</a:t>
            </a:r>
          </a:p>
          <a:p>
            <a:pPr marL="342900" indent="-342900" algn="just">
              <a:lnSpc>
                <a:spcPct val="90000"/>
              </a:lnSpc>
              <a:spcBef>
                <a:spcPct val="20000"/>
              </a:spcBef>
              <a:buFont typeface="Arial" pitchFamily="34" charset="0"/>
              <a:buChar char="•"/>
              <a:defRPr/>
            </a:pPr>
            <a:r>
              <a:rPr lang="en-US" sz="2000" b="1" dirty="0"/>
              <a:t>Planning</a:t>
            </a:r>
          </a:p>
          <a:p>
            <a:pPr marL="800100" lvl="1" indent="-342900" algn="just">
              <a:lnSpc>
                <a:spcPct val="90000"/>
              </a:lnSpc>
              <a:spcBef>
                <a:spcPct val="20000"/>
              </a:spcBef>
              <a:buFont typeface="Arial" pitchFamily="34" charset="0"/>
              <a:buChar char="•"/>
              <a:defRPr/>
            </a:pPr>
            <a:r>
              <a:rPr lang="en-US" b="1" dirty="0"/>
              <a:t>Estimating</a:t>
            </a:r>
          </a:p>
          <a:p>
            <a:pPr marL="800100" lvl="1" indent="-342900" algn="just">
              <a:lnSpc>
                <a:spcPct val="90000"/>
              </a:lnSpc>
              <a:spcBef>
                <a:spcPct val="20000"/>
              </a:spcBef>
              <a:buFont typeface="Arial" pitchFamily="34" charset="0"/>
              <a:buChar char="•"/>
              <a:defRPr/>
            </a:pPr>
            <a:r>
              <a:rPr lang="en-US" b="1" dirty="0"/>
              <a:t>Scheduling </a:t>
            </a:r>
          </a:p>
          <a:p>
            <a:pPr marL="800100" lvl="1" indent="-342900" algn="just">
              <a:lnSpc>
                <a:spcPct val="90000"/>
              </a:lnSpc>
              <a:spcBef>
                <a:spcPct val="20000"/>
              </a:spcBef>
              <a:buFont typeface="Arial" pitchFamily="34" charset="0"/>
              <a:buChar char="•"/>
              <a:defRPr/>
            </a:pPr>
            <a:r>
              <a:rPr lang="en-US" b="1" dirty="0"/>
              <a:t>Tracking</a:t>
            </a:r>
          </a:p>
          <a:p>
            <a:pPr marL="342900" indent="-342900" algn="just">
              <a:lnSpc>
                <a:spcPct val="90000"/>
              </a:lnSpc>
              <a:spcBef>
                <a:spcPct val="20000"/>
              </a:spcBef>
              <a:buFont typeface="Arial" pitchFamily="34" charset="0"/>
              <a:buChar char="•"/>
              <a:defRPr/>
            </a:pPr>
            <a:r>
              <a:rPr lang="en-US" sz="2000" b="1" dirty="0"/>
              <a:t>Modeling</a:t>
            </a:r>
          </a:p>
          <a:p>
            <a:pPr marL="800100" lvl="1" indent="-342900" algn="just">
              <a:lnSpc>
                <a:spcPct val="90000"/>
              </a:lnSpc>
              <a:spcBef>
                <a:spcPct val="20000"/>
              </a:spcBef>
              <a:buFont typeface="Arial" pitchFamily="34" charset="0"/>
              <a:buChar char="•"/>
              <a:defRPr/>
            </a:pPr>
            <a:r>
              <a:rPr lang="en-US" b="1" dirty="0"/>
              <a:t>Analysis of requirements</a:t>
            </a:r>
          </a:p>
          <a:p>
            <a:pPr marL="800100" lvl="1" indent="-342900" algn="just">
              <a:lnSpc>
                <a:spcPct val="90000"/>
              </a:lnSpc>
              <a:spcBef>
                <a:spcPct val="20000"/>
              </a:spcBef>
              <a:buFont typeface="Arial" pitchFamily="34" charset="0"/>
              <a:buChar char="•"/>
              <a:defRPr/>
            </a:pPr>
            <a:r>
              <a:rPr lang="en-US" b="1" dirty="0"/>
              <a:t>Design</a:t>
            </a:r>
          </a:p>
          <a:p>
            <a:pPr marL="342900" indent="-342900" algn="just">
              <a:lnSpc>
                <a:spcPct val="90000"/>
              </a:lnSpc>
              <a:spcBef>
                <a:spcPct val="20000"/>
              </a:spcBef>
              <a:buFont typeface="Arial" pitchFamily="34" charset="0"/>
              <a:buChar char="•"/>
              <a:defRPr/>
            </a:pPr>
            <a:r>
              <a:rPr lang="en-US" sz="2000" b="1" dirty="0"/>
              <a:t>Construction</a:t>
            </a:r>
          </a:p>
          <a:p>
            <a:pPr marL="800100" lvl="1" indent="-342900" algn="just">
              <a:lnSpc>
                <a:spcPct val="90000"/>
              </a:lnSpc>
              <a:spcBef>
                <a:spcPct val="20000"/>
              </a:spcBef>
              <a:buFont typeface="Arial" pitchFamily="34" charset="0"/>
              <a:buChar char="•"/>
              <a:defRPr/>
            </a:pPr>
            <a:r>
              <a:rPr lang="en-US" b="1" dirty="0"/>
              <a:t>Code generation</a:t>
            </a:r>
          </a:p>
          <a:p>
            <a:pPr marL="800100" lvl="1" indent="-342900" algn="just">
              <a:lnSpc>
                <a:spcPct val="90000"/>
              </a:lnSpc>
              <a:spcBef>
                <a:spcPct val="20000"/>
              </a:spcBef>
              <a:buFont typeface="Arial" pitchFamily="34" charset="0"/>
              <a:buChar char="•"/>
              <a:defRPr/>
            </a:pPr>
            <a:r>
              <a:rPr lang="en-US" b="1" dirty="0"/>
              <a:t>Testing</a:t>
            </a:r>
          </a:p>
          <a:p>
            <a:pPr marL="342900" indent="-342900" algn="just">
              <a:lnSpc>
                <a:spcPct val="90000"/>
              </a:lnSpc>
              <a:spcBef>
                <a:spcPct val="20000"/>
              </a:spcBef>
              <a:buFont typeface="Arial" pitchFamily="34" charset="0"/>
              <a:buChar char="•"/>
              <a:defRPr/>
            </a:pPr>
            <a:r>
              <a:rPr lang="en-US" sz="2000" b="1" dirty="0"/>
              <a:t>Deployment</a:t>
            </a:r>
          </a:p>
          <a:p>
            <a:pPr marL="800100" lvl="1" indent="-342900" algn="just">
              <a:lnSpc>
                <a:spcPct val="90000"/>
              </a:lnSpc>
              <a:spcBef>
                <a:spcPct val="20000"/>
              </a:spcBef>
              <a:buFont typeface="Arial" pitchFamily="34" charset="0"/>
              <a:buChar char="•"/>
              <a:defRPr/>
            </a:pPr>
            <a:r>
              <a:rPr lang="en-US" b="1" dirty="0"/>
              <a:t>Delivery</a:t>
            </a:r>
          </a:p>
          <a:p>
            <a:pPr marL="800100" lvl="1" indent="-342900" algn="just">
              <a:lnSpc>
                <a:spcPct val="90000"/>
              </a:lnSpc>
              <a:spcBef>
                <a:spcPct val="20000"/>
              </a:spcBef>
              <a:buFont typeface="Arial" pitchFamily="34" charset="0"/>
              <a:buChar char="•"/>
              <a:defRPr/>
            </a:pPr>
            <a:r>
              <a:rPr lang="en-US" b="1" dirty="0"/>
              <a:t>Support</a:t>
            </a:r>
          </a:p>
          <a:p>
            <a:pPr marL="800100" lvl="1" indent="-342900" algn="just">
              <a:lnSpc>
                <a:spcPct val="90000"/>
              </a:lnSpc>
              <a:spcBef>
                <a:spcPct val="20000"/>
              </a:spcBef>
              <a:buFont typeface="Arial" pitchFamily="34" charset="0"/>
              <a:buChar char="•"/>
              <a:defRPr/>
            </a:pPr>
            <a:r>
              <a:rPr lang="en-US" b="1" dirty="0"/>
              <a:t>Feedback</a:t>
            </a:r>
          </a:p>
        </p:txBody>
      </p:sp>
    </p:spTree>
    <p:extLst>
      <p:ext uri="{BB962C8B-B14F-4D97-AF65-F5344CB8AC3E}">
        <p14:creationId xmlns:p14="http://schemas.microsoft.com/office/powerpoint/2010/main" val="247614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21658-71AB-5DDB-15E6-E2BE6316C448}"/>
              </a:ext>
            </a:extLst>
          </p:cNvPr>
          <p:cNvSpPr>
            <a:spLocks noGrp="1"/>
          </p:cNvSpPr>
          <p:nvPr>
            <p:ph type="title"/>
          </p:nvPr>
        </p:nvSpPr>
        <p:spPr/>
        <p:txBody>
          <a:bodyPr/>
          <a:lstStyle/>
          <a:p>
            <a:r>
              <a:rPr lang="en-US" dirty="0"/>
              <a:t>Software Umbrella Terms</a:t>
            </a:r>
          </a:p>
        </p:txBody>
      </p:sp>
      <p:sp>
        <p:nvSpPr>
          <p:cNvPr id="3" name="Content Placeholder 2">
            <a:extLst>
              <a:ext uri="{FF2B5EF4-FFF2-40B4-BE49-F238E27FC236}">
                <a16:creationId xmlns:a16="http://schemas.microsoft.com/office/drawing/2014/main" xmlns="" id="{D9FFF7E8-A871-01F1-FFC3-B8FC808DAF19}"/>
              </a:ext>
            </a:extLst>
          </p:cNvPr>
          <p:cNvSpPr>
            <a:spLocks noGrp="1"/>
          </p:cNvSpPr>
          <p:nvPr>
            <p:ph idx="1"/>
          </p:nvPr>
        </p:nvSpPr>
        <p:spPr>
          <a:xfrm>
            <a:off x="581192" y="2180496"/>
            <a:ext cx="11029615" cy="4406735"/>
          </a:xfrm>
        </p:spPr>
        <p:txBody>
          <a:bodyPr>
            <a:normAutofit fontScale="85000" lnSpcReduction="10000"/>
          </a:bodyPr>
          <a:lstStyle/>
          <a:p>
            <a:pPr algn="l">
              <a:buFont typeface="+mj-lt"/>
              <a:buAutoNum type="arabicPeriod"/>
            </a:pPr>
            <a:r>
              <a:rPr lang="en-US" b="1" i="0" dirty="0">
                <a:solidFill>
                  <a:srgbClr val="0D0D0D"/>
                </a:solidFill>
                <a:effectLst/>
                <a:latin typeface="Söhne"/>
              </a:rPr>
              <a:t>Programming Languages</a:t>
            </a:r>
            <a:r>
              <a:rPr lang="en-US" b="0" i="0" dirty="0">
                <a:solidFill>
                  <a:srgbClr val="0D0D0D"/>
                </a:solidFill>
                <a:effectLst/>
                <a:latin typeface="Söhne"/>
              </a:rPr>
              <a:t>: Languages like Python, Java, C++, etc.</a:t>
            </a:r>
          </a:p>
          <a:p>
            <a:pPr algn="l">
              <a:buFont typeface="+mj-lt"/>
              <a:buAutoNum type="arabicPeriod"/>
            </a:pPr>
            <a:r>
              <a:rPr lang="en-US" b="1" i="0" dirty="0">
                <a:solidFill>
                  <a:srgbClr val="0D0D0D"/>
                </a:solidFill>
                <a:effectLst/>
                <a:latin typeface="Söhne"/>
              </a:rPr>
              <a:t>Development Environment</a:t>
            </a:r>
            <a:r>
              <a:rPr lang="en-US" b="0" i="0" dirty="0">
                <a:solidFill>
                  <a:srgbClr val="0D0D0D"/>
                </a:solidFill>
                <a:effectLst/>
                <a:latin typeface="Söhne"/>
              </a:rPr>
              <a:t>: Tools and platforms used for coding, debugging, and testing like IDEs (Integrated Development Environments) and text editors.</a:t>
            </a:r>
          </a:p>
          <a:p>
            <a:pPr algn="l">
              <a:buFont typeface="+mj-lt"/>
              <a:buAutoNum type="arabicPeriod"/>
            </a:pPr>
            <a:r>
              <a:rPr lang="en-US" b="1" i="0" dirty="0">
                <a:solidFill>
                  <a:srgbClr val="0D0D0D"/>
                </a:solidFill>
                <a:effectLst/>
                <a:latin typeface="Söhne"/>
              </a:rPr>
              <a:t>Reusability management—</a:t>
            </a:r>
            <a:r>
              <a:rPr lang="en-US" dirty="0">
                <a:solidFill>
                  <a:srgbClr val="0D0D0D"/>
                </a:solidFill>
                <a:latin typeface="Söhne"/>
              </a:rPr>
              <a:t>D</a:t>
            </a:r>
            <a:r>
              <a:rPr lang="en-US" i="0" dirty="0">
                <a:solidFill>
                  <a:srgbClr val="0D0D0D"/>
                </a:solidFill>
                <a:effectLst/>
                <a:latin typeface="Söhne"/>
              </a:rPr>
              <a:t>efines criteria for work product reuse (including software components) and establishes mechanisms to achieve reusable components. </a:t>
            </a:r>
          </a:p>
          <a:p>
            <a:pPr algn="l">
              <a:buFont typeface="+mj-lt"/>
              <a:buAutoNum type="arabicPeriod"/>
            </a:pPr>
            <a:r>
              <a:rPr lang="en-US" b="1" i="0" dirty="0">
                <a:solidFill>
                  <a:srgbClr val="0D0D0D"/>
                </a:solidFill>
                <a:effectLst/>
                <a:latin typeface="Söhne"/>
              </a:rPr>
              <a:t>Software Development Life Cycle (SDLC)</a:t>
            </a:r>
            <a:r>
              <a:rPr lang="en-US" b="0" i="0" dirty="0">
                <a:solidFill>
                  <a:srgbClr val="0D0D0D"/>
                </a:solidFill>
                <a:effectLst/>
                <a:latin typeface="Söhne"/>
              </a:rPr>
              <a:t>: The process followed in software development, including stages like planning, designing, coding, testing, and deployment.</a:t>
            </a:r>
          </a:p>
          <a:p>
            <a:pPr algn="l">
              <a:buFont typeface="+mj-lt"/>
              <a:buAutoNum type="arabicPeriod"/>
            </a:pPr>
            <a:r>
              <a:rPr lang="en-US" b="1" i="0" dirty="0">
                <a:solidFill>
                  <a:srgbClr val="0D0D0D"/>
                </a:solidFill>
                <a:effectLst/>
                <a:latin typeface="Söhne"/>
              </a:rPr>
              <a:t>Agile Development</a:t>
            </a:r>
            <a:r>
              <a:rPr lang="en-US" b="0" i="0" dirty="0">
                <a:solidFill>
                  <a:srgbClr val="0D0D0D"/>
                </a:solidFill>
                <a:effectLst/>
                <a:latin typeface="Söhne"/>
              </a:rPr>
              <a:t>: An iterative approach to software development, emphasizing flexibility and customer collaboration.</a:t>
            </a:r>
          </a:p>
          <a:p>
            <a:pPr algn="l">
              <a:buFont typeface="+mj-lt"/>
              <a:buAutoNum type="arabicPeriod"/>
            </a:pPr>
            <a:r>
              <a:rPr lang="en-US" b="1" i="0" dirty="0">
                <a:solidFill>
                  <a:srgbClr val="0D0D0D"/>
                </a:solidFill>
                <a:effectLst/>
                <a:latin typeface="Söhne"/>
              </a:rPr>
              <a:t>Debugging</a:t>
            </a:r>
            <a:r>
              <a:rPr lang="en-US" b="0" i="0" dirty="0">
                <a:solidFill>
                  <a:srgbClr val="0D0D0D"/>
                </a:solidFill>
                <a:effectLst/>
                <a:latin typeface="Söhne"/>
              </a:rPr>
              <a:t>: The process of identifying and fixing errors or bugs in code.</a:t>
            </a:r>
          </a:p>
          <a:p>
            <a:pPr algn="l">
              <a:buFont typeface="+mj-lt"/>
              <a:buAutoNum type="arabicPeriod"/>
            </a:pPr>
            <a:r>
              <a:rPr lang="en-US" b="1" i="0" dirty="0">
                <a:solidFill>
                  <a:srgbClr val="0D0D0D"/>
                </a:solidFill>
                <a:effectLst/>
                <a:latin typeface="Söhne"/>
              </a:rPr>
              <a:t>Deployment</a:t>
            </a:r>
            <a:r>
              <a:rPr lang="en-US" b="0" i="0" dirty="0">
                <a:solidFill>
                  <a:srgbClr val="0D0D0D"/>
                </a:solidFill>
                <a:effectLst/>
                <a:latin typeface="Söhne"/>
              </a:rPr>
              <a:t>: The process of releasing software for users to access.</a:t>
            </a:r>
          </a:p>
          <a:p>
            <a:pPr algn="l">
              <a:buFont typeface="+mj-lt"/>
              <a:buAutoNum type="arabicPeriod"/>
            </a:pPr>
            <a:r>
              <a:rPr lang="en-US" b="1" i="0" dirty="0">
                <a:solidFill>
                  <a:srgbClr val="0D0D0D"/>
                </a:solidFill>
                <a:effectLst/>
                <a:latin typeface="Söhne"/>
              </a:rPr>
              <a:t>Maintenance</a:t>
            </a:r>
            <a:r>
              <a:rPr lang="en-US" b="0" i="0" dirty="0">
                <a:solidFill>
                  <a:srgbClr val="0D0D0D"/>
                </a:solidFill>
                <a:effectLst/>
                <a:latin typeface="Söhne"/>
              </a:rPr>
              <a:t>: Activities involved in keeping software running smoothly after deployment, including updates and bug fixes.</a:t>
            </a:r>
          </a:p>
          <a:p>
            <a:pPr algn="l">
              <a:buFont typeface="+mj-lt"/>
              <a:buAutoNum type="arabicPeriod"/>
            </a:pPr>
            <a:r>
              <a:rPr lang="en-US" b="1" i="0" dirty="0">
                <a:solidFill>
                  <a:srgbClr val="0D0D0D"/>
                </a:solidFill>
                <a:effectLst/>
                <a:latin typeface="Söhne"/>
              </a:rPr>
              <a:t>Documentation</a:t>
            </a:r>
            <a:r>
              <a:rPr lang="en-US" b="0" i="0" dirty="0">
                <a:solidFill>
                  <a:srgbClr val="0D0D0D"/>
                </a:solidFill>
                <a:effectLst/>
                <a:latin typeface="Söhne"/>
              </a:rPr>
              <a:t>: Writing and maintaining documentation to describe the software's functionality, architecture, and usage.</a:t>
            </a:r>
          </a:p>
          <a:p>
            <a:pPr algn="l">
              <a:buFont typeface="+mj-lt"/>
              <a:buAutoNum type="arabicPeriod"/>
            </a:pPr>
            <a:r>
              <a:rPr lang="en-US" b="1" i="0" dirty="0">
                <a:solidFill>
                  <a:srgbClr val="0D0D0D"/>
                </a:solidFill>
                <a:effectLst/>
                <a:latin typeface="Söhne"/>
              </a:rPr>
              <a:t>Quality Assurance (QA)</a:t>
            </a:r>
            <a:r>
              <a:rPr lang="en-US" b="0" i="0" dirty="0">
                <a:solidFill>
                  <a:srgbClr val="0D0D0D"/>
                </a:solidFill>
                <a:effectLst/>
                <a:latin typeface="Söhne"/>
              </a:rPr>
              <a:t>: Activities and processes to ensure that software meets quality standards and fulfills requirements.</a:t>
            </a:r>
          </a:p>
          <a:p>
            <a:pPr>
              <a:buFont typeface="+mj-lt"/>
              <a:buAutoNum type="arabicPeriod"/>
            </a:pPr>
            <a:r>
              <a:rPr lang="en-US" b="1" dirty="0"/>
              <a:t>Risk management</a:t>
            </a:r>
            <a:r>
              <a:rPr lang="en-US" dirty="0"/>
              <a:t>—</a:t>
            </a:r>
            <a:r>
              <a:rPr lang="en-US" sz="1900" dirty="0">
                <a:solidFill>
                  <a:srgbClr val="0D0D0D"/>
                </a:solidFill>
                <a:latin typeface="Söhne"/>
              </a:rPr>
              <a:t>assesses risks that may affect the outcome of the project or the quality of the product.</a:t>
            </a:r>
          </a:p>
          <a:p>
            <a:pPr marL="0" indent="0" algn="l">
              <a:buNone/>
            </a:pP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1738114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0A23D6-DCFD-03D2-6090-9902D10D13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B36710B-6462-580C-CC1A-ADC5ECAE242B}"/>
              </a:ext>
            </a:extLst>
          </p:cNvPr>
          <p:cNvSpPr>
            <a:spLocks noGrp="1"/>
          </p:cNvSpPr>
          <p:nvPr>
            <p:ph idx="1"/>
          </p:nvPr>
        </p:nvSpPr>
        <p:spPr/>
        <p:txBody>
          <a:bodyPr/>
          <a:lstStyle/>
          <a:p>
            <a:endParaRPr lang="en-US"/>
          </a:p>
        </p:txBody>
      </p:sp>
      <p:pic>
        <p:nvPicPr>
          <p:cNvPr id="4098" name="Picture 2" descr="[inline illustration] 7 common project risks (infographic)">
            <a:extLst>
              <a:ext uri="{FF2B5EF4-FFF2-40B4-BE49-F238E27FC236}">
                <a16:creationId xmlns:a16="http://schemas.microsoft.com/office/drawing/2014/main" xmlns="" id="{D69EF706-0970-7E00-AAF1-E5B6A6907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628650"/>
            <a:ext cx="11334750" cy="622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7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93A263-E94C-BE0E-225E-DA1575EAFD7B}"/>
              </a:ext>
            </a:extLst>
          </p:cNvPr>
          <p:cNvSpPr>
            <a:spLocks noGrp="1"/>
          </p:cNvSpPr>
          <p:nvPr>
            <p:ph type="title"/>
          </p:nvPr>
        </p:nvSpPr>
        <p:spPr/>
        <p:txBody>
          <a:bodyPr/>
          <a:lstStyle/>
          <a:p>
            <a:r>
              <a:rPr lang="en-US" dirty="0"/>
              <a:t>Umbrella activities</a:t>
            </a:r>
          </a:p>
        </p:txBody>
      </p:sp>
      <p:sp>
        <p:nvSpPr>
          <p:cNvPr id="3" name="Content Placeholder 2">
            <a:extLst>
              <a:ext uri="{FF2B5EF4-FFF2-40B4-BE49-F238E27FC236}">
                <a16:creationId xmlns:a16="http://schemas.microsoft.com/office/drawing/2014/main" xmlns="" id="{5269B786-7DDF-050C-E0D2-76A3A254F01D}"/>
              </a:ext>
            </a:extLst>
          </p:cNvPr>
          <p:cNvSpPr>
            <a:spLocks noGrp="1"/>
          </p:cNvSpPr>
          <p:nvPr>
            <p:ph idx="1"/>
          </p:nvPr>
        </p:nvSpPr>
        <p:spPr/>
        <p:txBody>
          <a:bodyPr>
            <a:normAutofit/>
          </a:bodyPr>
          <a:lstStyle/>
          <a:p>
            <a:r>
              <a:rPr lang="en-US" dirty="0"/>
              <a:t>Software quality assurance—defines and conducts the activities required to ensure software quality. Technical reviews—assess software engineering work products in an effort to uncover and remove errors before they are propagated to the next activity.</a:t>
            </a:r>
          </a:p>
          <a:p>
            <a:endParaRPr lang="en-US" dirty="0"/>
          </a:p>
          <a:p>
            <a:endParaRPr lang="en-US" dirty="0"/>
          </a:p>
          <a:p>
            <a:endParaRPr lang="en-US" dirty="0"/>
          </a:p>
        </p:txBody>
      </p:sp>
      <p:pic>
        <p:nvPicPr>
          <p:cNvPr id="5122" name="Picture 2" descr="Difference between Software Quality Assurance and Quality Control, Plan,  and Activities">
            <a:extLst>
              <a:ext uri="{FF2B5EF4-FFF2-40B4-BE49-F238E27FC236}">
                <a16:creationId xmlns:a16="http://schemas.microsoft.com/office/drawing/2014/main" xmlns="" id="{FB0DC13A-9EF4-D132-E456-5E9D3ACE1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521" y="3861786"/>
            <a:ext cx="9525000" cy="2996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233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4375-A371-D801-204B-07CC278B84AE}"/>
              </a:ext>
            </a:extLst>
          </p:cNvPr>
          <p:cNvSpPr>
            <a:spLocks noGrp="1"/>
          </p:cNvSpPr>
          <p:nvPr>
            <p:ph type="title"/>
          </p:nvPr>
        </p:nvSpPr>
        <p:spPr/>
        <p:txBody>
          <a:bodyPr/>
          <a:lstStyle/>
          <a:p>
            <a:r>
              <a:rPr lang="en-US" dirty="0"/>
              <a:t>Software engineering practice-the essence of practice</a:t>
            </a:r>
          </a:p>
        </p:txBody>
      </p:sp>
      <p:sp>
        <p:nvSpPr>
          <p:cNvPr id="3" name="Content Placeholder 2">
            <a:extLst>
              <a:ext uri="{FF2B5EF4-FFF2-40B4-BE49-F238E27FC236}">
                <a16:creationId xmlns:a16="http://schemas.microsoft.com/office/drawing/2014/main" xmlns="" id="{C63A917C-FF03-3B91-111E-742E5C4B5594}"/>
              </a:ext>
            </a:extLst>
          </p:cNvPr>
          <p:cNvSpPr>
            <a:spLocks noGrp="1"/>
          </p:cNvSpPr>
          <p:nvPr>
            <p:ph idx="1"/>
          </p:nvPr>
        </p:nvSpPr>
        <p:spPr/>
        <p:txBody>
          <a:bodyPr/>
          <a:lstStyle/>
          <a:p>
            <a:r>
              <a:rPr lang="en-US" dirty="0"/>
              <a:t>In the classic book, How to Solve It, written before modern computers existed, George </a:t>
            </a:r>
            <a:r>
              <a:rPr lang="en-US" dirty="0" err="1"/>
              <a:t>Polya</a:t>
            </a:r>
            <a:r>
              <a:rPr lang="en-US" dirty="0"/>
              <a:t> outlined the essence of problem solving , and consequently, the essence of software engineering practice: </a:t>
            </a:r>
          </a:p>
          <a:p>
            <a:pPr marL="342900" indent="-342900">
              <a:buFont typeface="+mj-lt"/>
              <a:buAutoNum type="arabicPeriod"/>
            </a:pPr>
            <a:r>
              <a:rPr lang="en-US" dirty="0"/>
              <a:t>Understand the problem (communication and analysis).</a:t>
            </a:r>
          </a:p>
          <a:p>
            <a:pPr marL="342900" indent="-342900">
              <a:buFont typeface="+mj-lt"/>
              <a:buAutoNum type="arabicPeriod"/>
            </a:pPr>
            <a:r>
              <a:rPr lang="en-US" dirty="0"/>
              <a:t>Plan a solution (modeling and software design).</a:t>
            </a:r>
          </a:p>
          <a:p>
            <a:pPr marL="342900" indent="-342900">
              <a:buFont typeface="+mj-lt"/>
              <a:buAutoNum type="arabicPeriod"/>
            </a:pPr>
            <a:r>
              <a:rPr lang="en-US" dirty="0"/>
              <a:t>Carry out the plan (code generation).</a:t>
            </a:r>
          </a:p>
          <a:p>
            <a:pPr marL="342900" indent="-342900">
              <a:buFont typeface="+mj-lt"/>
              <a:buAutoNum type="arabicPeriod"/>
            </a:pPr>
            <a:r>
              <a:rPr lang="en-US" dirty="0"/>
              <a:t>Examine the result for accuracy (testing and quality assurance).</a:t>
            </a:r>
          </a:p>
        </p:txBody>
      </p:sp>
    </p:spTree>
    <p:extLst>
      <p:ext uri="{BB962C8B-B14F-4D97-AF65-F5344CB8AC3E}">
        <p14:creationId xmlns:p14="http://schemas.microsoft.com/office/powerpoint/2010/main" val="3502443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4375-A371-D801-204B-07CC278B84AE}"/>
              </a:ext>
            </a:extLst>
          </p:cNvPr>
          <p:cNvSpPr>
            <a:spLocks noGrp="1"/>
          </p:cNvSpPr>
          <p:nvPr>
            <p:ph type="title"/>
          </p:nvPr>
        </p:nvSpPr>
        <p:spPr/>
        <p:txBody>
          <a:bodyPr/>
          <a:lstStyle/>
          <a:p>
            <a:r>
              <a:rPr lang="en-US" dirty="0"/>
              <a:t>Software engineering practice-the essence of practice</a:t>
            </a:r>
          </a:p>
        </p:txBody>
      </p:sp>
      <p:pic>
        <p:nvPicPr>
          <p:cNvPr id="5" name="Content Placeholder 4">
            <a:extLst>
              <a:ext uri="{FF2B5EF4-FFF2-40B4-BE49-F238E27FC236}">
                <a16:creationId xmlns:a16="http://schemas.microsoft.com/office/drawing/2014/main" xmlns="" id="{453C18EC-FAB2-5229-EB42-126FE02A0442}"/>
              </a:ext>
            </a:extLst>
          </p:cNvPr>
          <p:cNvPicPr>
            <a:picLocks noGrp="1" noChangeAspect="1"/>
          </p:cNvPicPr>
          <p:nvPr>
            <p:ph idx="1"/>
          </p:nvPr>
        </p:nvPicPr>
        <p:blipFill>
          <a:blip r:embed="rId2"/>
          <a:stretch>
            <a:fillRect/>
          </a:stretch>
        </p:blipFill>
        <p:spPr>
          <a:xfrm>
            <a:off x="2145325" y="2130790"/>
            <a:ext cx="7446350" cy="4025054"/>
          </a:xfrm>
        </p:spPr>
      </p:pic>
    </p:spTree>
    <p:extLst>
      <p:ext uri="{BB962C8B-B14F-4D97-AF65-F5344CB8AC3E}">
        <p14:creationId xmlns:p14="http://schemas.microsoft.com/office/powerpoint/2010/main" val="2726024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4375-A371-D801-204B-07CC278B84AE}"/>
              </a:ext>
            </a:extLst>
          </p:cNvPr>
          <p:cNvSpPr>
            <a:spLocks noGrp="1"/>
          </p:cNvSpPr>
          <p:nvPr>
            <p:ph type="title"/>
          </p:nvPr>
        </p:nvSpPr>
        <p:spPr/>
        <p:txBody>
          <a:bodyPr/>
          <a:lstStyle/>
          <a:p>
            <a:r>
              <a:rPr lang="en-US" dirty="0"/>
              <a:t>Software engineering practice-the essence of practice</a:t>
            </a:r>
          </a:p>
        </p:txBody>
      </p:sp>
      <p:pic>
        <p:nvPicPr>
          <p:cNvPr id="7" name="Picture 6">
            <a:extLst>
              <a:ext uri="{FF2B5EF4-FFF2-40B4-BE49-F238E27FC236}">
                <a16:creationId xmlns:a16="http://schemas.microsoft.com/office/drawing/2014/main" xmlns="" id="{DBF89CC6-2918-051D-68A8-DFA2C6D43E43}"/>
              </a:ext>
            </a:extLst>
          </p:cNvPr>
          <p:cNvPicPr>
            <a:picLocks noChangeAspect="1"/>
          </p:cNvPicPr>
          <p:nvPr/>
        </p:nvPicPr>
        <p:blipFill>
          <a:blip r:embed="rId2"/>
          <a:stretch>
            <a:fillRect/>
          </a:stretch>
        </p:blipFill>
        <p:spPr>
          <a:xfrm>
            <a:off x="2415063" y="2124074"/>
            <a:ext cx="7361873" cy="3743325"/>
          </a:xfrm>
          <a:prstGeom prst="rect">
            <a:avLst/>
          </a:prstGeom>
        </p:spPr>
      </p:pic>
    </p:spTree>
    <p:extLst>
      <p:ext uri="{BB962C8B-B14F-4D97-AF65-F5344CB8AC3E}">
        <p14:creationId xmlns:p14="http://schemas.microsoft.com/office/powerpoint/2010/main" val="1232205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4375-A371-D801-204B-07CC278B84AE}"/>
              </a:ext>
            </a:extLst>
          </p:cNvPr>
          <p:cNvSpPr>
            <a:spLocks noGrp="1"/>
          </p:cNvSpPr>
          <p:nvPr>
            <p:ph type="title"/>
          </p:nvPr>
        </p:nvSpPr>
        <p:spPr/>
        <p:txBody>
          <a:bodyPr/>
          <a:lstStyle/>
          <a:p>
            <a:r>
              <a:rPr lang="en-US" dirty="0"/>
              <a:t>Software engineering practice-the essence of practice</a:t>
            </a:r>
          </a:p>
        </p:txBody>
      </p:sp>
      <p:pic>
        <p:nvPicPr>
          <p:cNvPr id="4" name="Picture 3">
            <a:extLst>
              <a:ext uri="{FF2B5EF4-FFF2-40B4-BE49-F238E27FC236}">
                <a16:creationId xmlns:a16="http://schemas.microsoft.com/office/drawing/2014/main" xmlns="" id="{523713A6-55A3-AC73-C41B-39528F6D527A}"/>
              </a:ext>
            </a:extLst>
          </p:cNvPr>
          <p:cNvPicPr>
            <a:picLocks noChangeAspect="1"/>
          </p:cNvPicPr>
          <p:nvPr/>
        </p:nvPicPr>
        <p:blipFill>
          <a:blip r:embed="rId2"/>
          <a:stretch>
            <a:fillRect/>
          </a:stretch>
        </p:blipFill>
        <p:spPr>
          <a:xfrm>
            <a:off x="1950115" y="2027370"/>
            <a:ext cx="8291770" cy="3114675"/>
          </a:xfrm>
          <a:prstGeom prst="rect">
            <a:avLst/>
          </a:prstGeom>
        </p:spPr>
      </p:pic>
    </p:spTree>
    <p:extLst>
      <p:ext uri="{BB962C8B-B14F-4D97-AF65-F5344CB8AC3E}">
        <p14:creationId xmlns:p14="http://schemas.microsoft.com/office/powerpoint/2010/main" val="3123221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4375-A371-D801-204B-07CC278B84AE}"/>
              </a:ext>
            </a:extLst>
          </p:cNvPr>
          <p:cNvSpPr>
            <a:spLocks noGrp="1"/>
          </p:cNvSpPr>
          <p:nvPr>
            <p:ph type="title"/>
          </p:nvPr>
        </p:nvSpPr>
        <p:spPr/>
        <p:txBody>
          <a:bodyPr/>
          <a:lstStyle/>
          <a:p>
            <a:r>
              <a:rPr lang="en-US" dirty="0"/>
              <a:t>Software engineering practice-the essence of practice</a:t>
            </a:r>
          </a:p>
        </p:txBody>
      </p:sp>
      <p:pic>
        <p:nvPicPr>
          <p:cNvPr id="5" name="Picture 4">
            <a:extLst>
              <a:ext uri="{FF2B5EF4-FFF2-40B4-BE49-F238E27FC236}">
                <a16:creationId xmlns:a16="http://schemas.microsoft.com/office/drawing/2014/main" xmlns="" id="{63839671-2480-00B8-6753-F12A74CCE68A}"/>
              </a:ext>
            </a:extLst>
          </p:cNvPr>
          <p:cNvPicPr>
            <a:picLocks noChangeAspect="1"/>
          </p:cNvPicPr>
          <p:nvPr/>
        </p:nvPicPr>
        <p:blipFill>
          <a:blip r:embed="rId2"/>
          <a:stretch>
            <a:fillRect/>
          </a:stretch>
        </p:blipFill>
        <p:spPr>
          <a:xfrm>
            <a:off x="1972814" y="2085974"/>
            <a:ext cx="8246372" cy="3857625"/>
          </a:xfrm>
          <a:prstGeom prst="rect">
            <a:avLst/>
          </a:prstGeom>
        </p:spPr>
      </p:pic>
    </p:spTree>
    <p:extLst>
      <p:ext uri="{BB962C8B-B14F-4D97-AF65-F5344CB8AC3E}">
        <p14:creationId xmlns:p14="http://schemas.microsoft.com/office/powerpoint/2010/main" val="3931687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D58DC2-39CF-3252-D1AC-650DD3CE6217}"/>
              </a:ext>
            </a:extLst>
          </p:cNvPr>
          <p:cNvSpPr>
            <a:spLocks noGrp="1"/>
          </p:cNvSpPr>
          <p:nvPr>
            <p:ph type="title"/>
          </p:nvPr>
        </p:nvSpPr>
        <p:spPr/>
        <p:txBody>
          <a:bodyPr/>
          <a:lstStyle/>
          <a:p>
            <a:r>
              <a:rPr lang="en-US" dirty="0"/>
              <a:t>General principle</a:t>
            </a:r>
          </a:p>
        </p:txBody>
      </p:sp>
      <p:pic>
        <p:nvPicPr>
          <p:cNvPr id="9" name="Content Placeholder 8">
            <a:extLst>
              <a:ext uri="{FF2B5EF4-FFF2-40B4-BE49-F238E27FC236}">
                <a16:creationId xmlns:a16="http://schemas.microsoft.com/office/drawing/2014/main" xmlns="" id="{3B816D9A-A084-9F3D-E492-6D058552E568}"/>
              </a:ext>
            </a:extLst>
          </p:cNvPr>
          <p:cNvPicPr>
            <a:picLocks noGrp="1" noChangeAspect="1"/>
          </p:cNvPicPr>
          <p:nvPr>
            <p:ph idx="1"/>
          </p:nvPr>
        </p:nvPicPr>
        <p:blipFill>
          <a:blip r:embed="rId2"/>
          <a:stretch>
            <a:fillRect/>
          </a:stretch>
        </p:blipFill>
        <p:spPr>
          <a:xfrm>
            <a:off x="2359024" y="4115528"/>
            <a:ext cx="7009266" cy="497994"/>
          </a:xfrm>
        </p:spPr>
      </p:pic>
      <p:pic>
        <p:nvPicPr>
          <p:cNvPr id="7" name="Picture 6">
            <a:extLst>
              <a:ext uri="{FF2B5EF4-FFF2-40B4-BE49-F238E27FC236}">
                <a16:creationId xmlns:a16="http://schemas.microsoft.com/office/drawing/2014/main" xmlns="" id="{0A711B09-101B-CED0-1581-701F7BBC3C35}"/>
              </a:ext>
            </a:extLst>
          </p:cNvPr>
          <p:cNvPicPr>
            <a:picLocks noChangeAspect="1"/>
          </p:cNvPicPr>
          <p:nvPr/>
        </p:nvPicPr>
        <p:blipFill>
          <a:blip r:embed="rId3"/>
          <a:stretch>
            <a:fillRect/>
          </a:stretch>
        </p:blipFill>
        <p:spPr>
          <a:xfrm>
            <a:off x="2359024" y="2058128"/>
            <a:ext cx="7340600" cy="2057400"/>
          </a:xfrm>
          <a:prstGeom prst="rect">
            <a:avLst/>
          </a:prstGeom>
        </p:spPr>
      </p:pic>
      <p:sp>
        <p:nvSpPr>
          <p:cNvPr id="3" name="TextBox 2">
            <a:extLst>
              <a:ext uri="{FF2B5EF4-FFF2-40B4-BE49-F238E27FC236}">
                <a16:creationId xmlns:a16="http://schemas.microsoft.com/office/drawing/2014/main" xmlns="" id="{BA75DD9B-BC9D-9D48-FE26-FA1921830859}"/>
              </a:ext>
            </a:extLst>
          </p:cNvPr>
          <p:cNvSpPr txBox="1"/>
          <p:nvPr/>
        </p:nvSpPr>
        <p:spPr>
          <a:xfrm>
            <a:off x="2530136" y="2058128"/>
            <a:ext cx="5007006" cy="369332"/>
          </a:xfrm>
          <a:prstGeom prst="rect">
            <a:avLst/>
          </a:prstGeom>
          <a:solidFill>
            <a:srgbClr val="00B0F0"/>
          </a:solidFill>
        </p:spPr>
        <p:txBody>
          <a:bodyPr wrap="square" rtlCol="0">
            <a:spAutoFit/>
          </a:bodyPr>
          <a:lstStyle/>
          <a:p>
            <a:r>
              <a:rPr lang="en-US" dirty="0"/>
              <a:t>Keep it simple, stupid!-KISS</a:t>
            </a:r>
          </a:p>
        </p:txBody>
      </p:sp>
    </p:spTree>
    <p:extLst>
      <p:ext uri="{BB962C8B-B14F-4D97-AF65-F5344CB8AC3E}">
        <p14:creationId xmlns:p14="http://schemas.microsoft.com/office/powerpoint/2010/main" val="252701635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Template>
  <TotalTime>228</TotalTime>
  <Words>930</Words>
  <Application>Microsoft Office PowerPoint</Application>
  <PresentationFormat>Widescreen</PresentationFormat>
  <Paragraphs>103</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ＭＳ Ｐゴシック</vt:lpstr>
      <vt:lpstr>Arial</vt:lpstr>
      <vt:lpstr>Gill Sans MT</vt:lpstr>
      <vt:lpstr>Palatino</vt:lpstr>
      <vt:lpstr>Söhne</vt:lpstr>
      <vt:lpstr>Wingdings 2</vt:lpstr>
      <vt:lpstr>Dividend</vt:lpstr>
      <vt:lpstr>Sen-220 software engineering</vt:lpstr>
      <vt:lpstr>PowerPoint Presentation</vt:lpstr>
      <vt:lpstr>Software engineering</vt:lpstr>
      <vt:lpstr>stakeholder</vt:lpstr>
      <vt:lpstr>Software Engineering - a Layered Technology</vt:lpstr>
      <vt:lpstr>Relationship between Process Model and Framework</vt:lpstr>
      <vt:lpstr>PowerPoint Presentation</vt:lpstr>
      <vt:lpstr>The process framework</vt:lpstr>
      <vt:lpstr>The process framework-Communication</vt:lpstr>
      <vt:lpstr>The process framework-planning</vt:lpstr>
      <vt:lpstr>PowerPoint Presentation</vt:lpstr>
      <vt:lpstr>PowerPoint Presentation</vt:lpstr>
      <vt:lpstr>PowerPoint Presentation</vt:lpstr>
      <vt:lpstr>PowerPoint Presentation</vt:lpstr>
      <vt:lpstr>The process framework-modeling</vt:lpstr>
      <vt:lpstr>PowerPoint Presentation</vt:lpstr>
      <vt:lpstr>PowerPoint Presentation</vt:lpstr>
      <vt:lpstr>The process framework-construction</vt:lpstr>
      <vt:lpstr>The process framework-deployment</vt:lpstr>
      <vt:lpstr>The Software Process</vt:lpstr>
      <vt:lpstr>Software Umbrella Terms</vt:lpstr>
      <vt:lpstr>PowerPoint Presentation</vt:lpstr>
      <vt:lpstr>Umbrella activities</vt:lpstr>
      <vt:lpstr>Software engineering practice-the essence of practice</vt:lpstr>
      <vt:lpstr>Software engineering practice-the essence of practice</vt:lpstr>
      <vt:lpstr>Software engineering practice-the essence of practice</vt:lpstr>
      <vt:lpstr>Software engineering practice-the essence of practice</vt:lpstr>
      <vt:lpstr>Software engineering practice-the essence of practice</vt:lpstr>
      <vt:lpstr>General principle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Sen-220 software engineering</dc:title>
  <dc:creator>Reema Qaiser BUKC</dc:creator>
  <cp:lastModifiedBy>BUKC</cp:lastModifiedBy>
  <cp:revision>22</cp:revision>
  <dcterms:created xsi:type="dcterms:W3CDTF">2022-10-02T06:03:20Z</dcterms:created>
  <dcterms:modified xsi:type="dcterms:W3CDTF">2024-09-16T04:19:42Z</dcterms:modified>
</cp:coreProperties>
</file>