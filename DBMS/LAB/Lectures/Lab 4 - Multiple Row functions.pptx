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3" r:id="rId4"/>
    <p:sldId id="274" r:id="rId5"/>
    <p:sldId id="270" r:id="rId6"/>
    <p:sldId id="275" r:id="rId7"/>
    <p:sldId id="276" r:id="rId8"/>
    <p:sldId id="27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FE96-DA67-47D4-8B7D-08BF2616D15B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4EDD-CE35-46A5-896D-CBE6A7A64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4378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FE96-DA67-47D4-8B7D-08BF2616D15B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4EDD-CE35-46A5-896D-CBE6A7A64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532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FE96-DA67-47D4-8B7D-08BF2616D15B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4EDD-CE35-46A5-896D-CBE6A7A64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0804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FE96-DA67-47D4-8B7D-08BF2616D15B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4EDD-CE35-46A5-896D-CBE6A7A64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418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FE96-DA67-47D4-8B7D-08BF2616D15B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4EDD-CE35-46A5-896D-CBE6A7A64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252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FE96-DA67-47D4-8B7D-08BF2616D15B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4EDD-CE35-46A5-896D-CBE6A7A64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54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FE96-DA67-47D4-8B7D-08BF2616D15B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4EDD-CE35-46A5-896D-CBE6A7A64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143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FE96-DA67-47D4-8B7D-08BF2616D15B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4EDD-CE35-46A5-896D-CBE6A7A64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114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FE96-DA67-47D4-8B7D-08BF2616D15B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4EDD-CE35-46A5-896D-CBE6A7A64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782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FE96-DA67-47D4-8B7D-08BF2616D15B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4EDD-CE35-46A5-896D-CBE6A7A64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8452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1FE96-DA67-47D4-8B7D-08BF2616D15B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04EDD-CE35-46A5-896D-CBE6A7A64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714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81FE96-DA67-47D4-8B7D-08BF2616D15B}" type="datetimeFigureOut">
              <a:rPr lang="en-GB" smtClean="0"/>
              <a:t>25/02/2025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04EDD-CE35-46A5-896D-CBE6A7A64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454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implilearn.com/tutorials/sql-tutorial/sql-hav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0125" y="1976846"/>
            <a:ext cx="9144000" cy="3248706"/>
          </a:xfrm>
        </p:spPr>
        <p:txBody>
          <a:bodyPr>
            <a:normAutofit fontScale="90000"/>
          </a:bodyPr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CSL-220: Database Management Systems </a:t>
            </a:r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</a:t>
            </a:r>
            <a:b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#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04 Multiple Row Functions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06" y="174793"/>
            <a:ext cx="4020251" cy="104876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03271" y="5978844"/>
            <a:ext cx="55176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Instructor: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Engr.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Hareem Fatima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264380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9811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Multiple-Row 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(Aggregate Functions</a:t>
            </a:r>
            <a:r>
              <a:rPr lang="en-GB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54925"/>
            <a:ext cx="10515600" cy="4696506"/>
          </a:xfrm>
        </p:spPr>
        <p:txBody>
          <a:bodyPr>
            <a:normAutofit lnSpcReduction="10000"/>
          </a:bodyPr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Operate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multiple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 as a group.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result for the entire group.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calculations on groups of rows, often in conjunction with the </a:t>
            </a:r>
            <a:r>
              <a:rPr lang="en-GB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2" tooltip="HAVING clauses"/>
              </a:rPr>
              <a:t>HAVING clauses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 the SELECT statement.</a:t>
            </a:r>
          </a:p>
          <a:p>
            <a:pPr marL="0" lvl="0" indent="0" fontAlgn="base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aggregate functions: </a:t>
            </a:r>
          </a:p>
          <a:p>
            <a:pPr lvl="0" fontAlgn="base"/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AVG()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Returns the average value </a:t>
            </a:r>
          </a:p>
          <a:p>
            <a:pPr lvl="0" fontAlgn="base"/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COUNT()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Returns the number of rows </a:t>
            </a:r>
          </a:p>
          <a:p>
            <a:pPr lvl="0" fontAlgn="base"/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MAX()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Returns the largest value </a:t>
            </a:r>
          </a:p>
          <a:p>
            <a:pPr lvl="0" fontAlgn="base"/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MIN()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Returns the smallest value </a:t>
            </a:r>
          </a:p>
          <a:p>
            <a:pPr lvl="0" fontAlgn="base"/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SUM()-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sum</a:t>
            </a:r>
          </a:p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73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7708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37778" y="4866792"/>
            <a:ext cx="6416040" cy="9480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 smtClean="0">
                <a:solidFill>
                  <a:srgbClr val="FF00FF"/>
                </a:solidFill>
                <a:latin typeface="Consolas" panose="020B0609020204030204" pitchFamily="49" charset="0"/>
              </a:rPr>
              <a:t>avg</a:t>
            </a:r>
            <a:r>
              <a:rPr lang="en-GB" dirty="0" smtClean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sal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AvgSalary</a:t>
            </a:r>
            <a:r>
              <a:rPr lang="en-GB" dirty="0" err="1" smtClean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dirty="0" err="1" smtClean="0">
                <a:solidFill>
                  <a:srgbClr val="FF00FF"/>
                </a:solidFill>
                <a:latin typeface="Consolas" panose="020B0609020204030204" pitchFamily="49" charset="0"/>
              </a:rPr>
              <a:t>max</a:t>
            </a:r>
            <a:r>
              <a:rPr lang="en-GB" dirty="0" smtClean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sal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MaxSalary</a:t>
            </a:r>
            <a:r>
              <a:rPr lang="en-GB" dirty="0" smtClean="0">
                <a:solidFill>
                  <a:srgbClr val="808080"/>
                </a:solidFill>
                <a:latin typeface="Consolas" panose="020B0609020204030204" pitchFamily="49" charset="0"/>
              </a:rPr>
              <a:t>, </a:t>
            </a:r>
            <a:r>
              <a:rPr lang="en-GB" dirty="0" smtClean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GB" dirty="0" smtClean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sal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TotalSalary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emp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smtClean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job 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like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'SALES%'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315" y="4866792"/>
            <a:ext cx="4129704" cy="7100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778" y="1401780"/>
            <a:ext cx="6992326" cy="311511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29682" y="1375439"/>
            <a:ext cx="37648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comm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emp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deptno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30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974" y="2237289"/>
            <a:ext cx="1998724" cy="53715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32387" y="593322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distinct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deptno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numberofdepts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emp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315" y="5918165"/>
            <a:ext cx="2109872" cy="75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69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7708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?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644" y="487679"/>
            <a:ext cx="6308819" cy="281060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41805" y="1764530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(*)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emp</a:t>
            </a:r>
            <a:r>
              <a:rPr lang="en-GB" dirty="0" smtClean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DISTINCT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DEPTNO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emp</a:t>
            </a:r>
            <a:r>
              <a:rPr lang="en-GB" dirty="0" smtClean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(ALL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DEPTNO</a:t>
            </a:r>
            <a:r>
              <a:rPr lang="en-GB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emp</a:t>
            </a:r>
            <a:r>
              <a:rPr lang="en-GB" dirty="0" smtClean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05" y="2294533"/>
            <a:ext cx="2621388" cy="84055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05" y="3949991"/>
            <a:ext cx="2259325" cy="86584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05" y="5577594"/>
            <a:ext cx="2509892" cy="88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85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23483" y="547868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GROUP BY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23483" y="1492931"/>
            <a:ext cx="10771831" cy="462453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GROUP BY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statement is used along with the SQL aggregate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organize rows with similar values in specific columns together, It's like putting similar items into categories,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 performing calculations or aggregations on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group separately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number of employees against each job title in every department. </a:t>
            </a:r>
            <a:endParaRPr lang="en-GB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deptno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job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FF00FF"/>
                </a:solidFill>
                <a:latin typeface="Consolas" panose="020B0609020204030204" pitchFamily="49" charset="0"/>
              </a:rPr>
              <a:t>count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EMPNO/*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numberofemployees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emp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GB" sz="2400" dirty="0">
                <a:solidFill>
                  <a:srgbClr val="000000"/>
                </a:solidFill>
                <a:latin typeface="Consolas" panose="020B0609020204030204" pitchFamily="49" charset="0"/>
              </a:rPr>
              <a:t> job, </a:t>
            </a:r>
            <a:r>
              <a:rPr lang="en-GB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deptno</a:t>
            </a:r>
            <a:r>
              <a:rPr lang="en-GB" sz="24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761" y="4140925"/>
            <a:ext cx="3739322" cy="254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76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23483" y="547868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GROUP BY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23483" y="1580017"/>
            <a:ext cx="10771831" cy="462453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want to display the total salary being paid to each job title, within each department.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 yourself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en-US" sz="24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92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23483" y="547868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HAVING CLAUSE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23483" y="1654629"/>
            <a:ext cx="10771831" cy="494180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4732" y="1794192"/>
            <a:ext cx="10554788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clause in SQL is used in conjunction with the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clause to filter the results of a query based on aggregate conditions. </a:t>
            </a:r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clause is used to filter individual rows before grouping, the HAVING clause is used to filter groups of rows after they have been grouped and aggregated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457200" indent="-457200"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Departments with Total Salary Greater Than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10,000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DEPTNO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SAL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TotalSalary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Emp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DEPTNO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HAVING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F00FF"/>
                </a:solidFill>
                <a:latin typeface="Consolas" panose="020B0609020204030204" pitchFamily="49" charset="0"/>
              </a:rPr>
              <a:t>SUM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SAL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10000</a:t>
            </a:r>
            <a:r>
              <a:rPr lang="en-GB" sz="2000" dirty="0" smtClean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GB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532" y="4917476"/>
            <a:ext cx="3470026" cy="106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88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23483" y="547868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HAVING CLAUSE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23483" y="1654629"/>
            <a:ext cx="10771831" cy="494180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4732" y="1794192"/>
            <a:ext cx="1018902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Show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with Average Salary Above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2000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JOB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F00FF"/>
                </a:solidFill>
                <a:latin typeface="Consolas" panose="020B0609020204030204" pitchFamily="49" charset="0"/>
              </a:rPr>
              <a:t>AVG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SAL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AverageSalary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Emp</a:t>
            </a:r>
            <a:endParaRPr lang="en-GB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GROUP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JOB</a:t>
            </a:r>
          </a:p>
          <a:p>
            <a:r>
              <a:rPr lang="en-GB" sz="2000" dirty="0">
                <a:solidFill>
                  <a:srgbClr val="0000FF"/>
                </a:solidFill>
                <a:latin typeface="Consolas" panose="020B0609020204030204" pitchFamily="49" charset="0"/>
              </a:rPr>
              <a:t>HAVING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FF00FF"/>
                </a:solidFill>
                <a:latin typeface="Consolas" panose="020B0609020204030204" pitchFamily="49" charset="0"/>
              </a:rPr>
              <a:t>AVG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SAL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GB" sz="2000" dirty="0">
                <a:solidFill>
                  <a:srgbClr val="000000"/>
                </a:solidFill>
                <a:latin typeface="Consolas" panose="020B0609020204030204" pitchFamily="49" charset="0"/>
              </a:rPr>
              <a:t> 2000</a:t>
            </a:r>
            <a:r>
              <a:rPr lang="en-GB" sz="2000" dirty="0" smtClean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2000" dirty="0">
              <a:solidFill>
                <a:srgbClr val="808080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Show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with More Than 2 Employees and Average Salary Above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2500.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 yourself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en-US" sz="24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298" y="2012994"/>
            <a:ext cx="3170921" cy="144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347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411</Words>
  <Application>Microsoft Office PowerPoint</Application>
  <PresentationFormat>Widescreen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Times New Roman</vt:lpstr>
      <vt:lpstr>Wingdings</vt:lpstr>
      <vt:lpstr>Office Theme</vt:lpstr>
      <vt:lpstr>CSL-220: Database Management Systems Lab   Lab # 04 Multiple Row Functions </vt:lpstr>
      <vt:lpstr>SQL Multiple-Row Functions (Aggregate Functions)</vt:lpstr>
      <vt:lpstr>Examples</vt:lpstr>
      <vt:lpstr>Difference ?</vt:lpstr>
      <vt:lpstr>SQL GROUP BY</vt:lpstr>
      <vt:lpstr>SQL GROUP BY</vt:lpstr>
      <vt:lpstr>SQL HAVING CLAUSE</vt:lpstr>
      <vt:lpstr>SQL HAVING CLAUSE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 SYSTEM</dc:title>
  <dc:creator>USER</dc:creator>
  <cp:lastModifiedBy>USER</cp:lastModifiedBy>
  <cp:revision>63</cp:revision>
  <dcterms:created xsi:type="dcterms:W3CDTF">2024-02-18T15:22:54Z</dcterms:created>
  <dcterms:modified xsi:type="dcterms:W3CDTF">2025-02-25T08:50:32Z</dcterms:modified>
</cp:coreProperties>
</file>