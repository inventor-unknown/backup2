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accent1">
                <a:lumMod val="5000"/>
                <a:lumOff val="95000"/>
              </a:schemeClr>
            </a:gs>
            <a:gs pos="31000">
              <a:schemeClr val="accent2">
                <a:lumMod val="40000"/>
                <a:lumOff val="60000"/>
                <a:alpha val="71000"/>
              </a:schemeClr>
            </a:gs>
            <a:gs pos="77000">
              <a:schemeClr val="accent4">
                <a:lumMod val="20000"/>
                <a:lumOff val="80000"/>
              </a:schemeClr>
            </a:gs>
            <a:gs pos="100000">
              <a:schemeClr val="accent6">
                <a:lumMod val="20000"/>
                <a:lumOff val="80000"/>
                <a:alpha val="92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US" b="1">
                <a:latin typeface="Times New Roman" panose="02020603050405020304" charset="0"/>
                <a:cs typeface="Times New Roman" panose="02020603050405020304" charset="0"/>
              </a:rPr>
              <a:t>Cohesion</a:t>
            </a:r>
            <a:endParaRPr lang="en-US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93265" y="4891088"/>
            <a:ext cx="9144000" cy="1655762"/>
          </a:xfrm>
        </p:spPr>
        <p:txBody>
          <a:bodyPr>
            <a:normAutofit lnSpcReduction="20000"/>
          </a:bodyPr>
          <a:p>
            <a:r>
              <a:rPr lang="en-US"/>
              <a:t>Hiba Qureshi</a:t>
            </a:r>
            <a:endParaRPr lang="en-US"/>
          </a:p>
          <a:p>
            <a:r>
              <a:rPr lang="en-US"/>
              <a:t>Lecturer</a:t>
            </a:r>
            <a:endParaRPr lang="en-US"/>
          </a:p>
          <a:p>
            <a:r>
              <a:rPr lang="en-US"/>
              <a:t>Research Scholar</a:t>
            </a:r>
            <a:endParaRPr lang="en-US"/>
          </a:p>
          <a:p>
            <a:r>
              <a:rPr lang="en-US"/>
              <a:t>Bahria University Karachi Campus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0280" y="1136015"/>
            <a:ext cx="10515600" cy="4585970"/>
          </a:xfrm>
        </p:spPr>
        <p:txBody>
          <a:bodyPr/>
          <a:p>
            <a:pPr marL="0" indent="0" algn="ctr">
              <a:buNone/>
            </a:pPr>
            <a:endParaRPr lang="en-US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ctr">
              <a:buNone/>
            </a:pPr>
            <a:r>
              <a:rPr lang="en-US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Cohesion means linking phrases together so that the whole  text is clear and readable. It is achieved by several methods,  such as the use of </a:t>
            </a:r>
            <a:r>
              <a:rPr lang="en-US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Times New Roman" panose="02020603050405020304" charset="0"/>
                <a:cs typeface="Times New Roman" panose="02020603050405020304" charset="0"/>
              </a:rPr>
              <a:t>conjunctions</a:t>
            </a:r>
            <a:r>
              <a:rPr lang="en-US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. Another is the linking of  phrases and sentences with words like </a:t>
            </a:r>
            <a:r>
              <a:rPr lang="en-US" altLang="en-US" b="1" u="sng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he, they and that</a:t>
            </a:r>
            <a:r>
              <a:rPr lang="en-US" altLang="en-US" u="sng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which refer back to something mentioned before:</a:t>
            </a:r>
            <a:endParaRPr lang="en-US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ctr">
              <a:buNone/>
            </a:pPr>
            <a:endParaRPr lang="en-US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ctr">
              <a:buNone/>
            </a:pPr>
            <a:r>
              <a:rPr lang="en-US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Jane Austen wrote six major novels in </a:t>
            </a:r>
            <a:r>
              <a:rPr lang="en-US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Times New Roman" panose="02020603050405020304" charset="0"/>
                <a:cs typeface="Times New Roman" panose="02020603050405020304" charset="0"/>
              </a:rPr>
              <a:t>her </a:t>
            </a:r>
            <a:r>
              <a:rPr lang="en-US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short life. </a:t>
            </a:r>
            <a:r>
              <a:rPr lang="en-US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Times New Roman" panose="02020603050405020304" charset="0"/>
                <a:cs typeface="Times New Roman" panose="02020603050405020304" charset="0"/>
              </a:rPr>
              <a:t>They</a:t>
            </a:r>
            <a:r>
              <a:rPr lang="en-US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 deal</a:t>
            </a:r>
            <a:endParaRPr lang="en-US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ctr">
              <a:buNone/>
            </a:pPr>
            <a:endParaRPr lang="en-US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ctr">
              <a:buNone/>
            </a:pPr>
            <a:r>
              <a:rPr lang="en-US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with domestic drama in middle-class families.</a:t>
            </a:r>
            <a:endParaRPr lang="en-US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5" name="Straight Arrow Connector 4"/>
          <p:cNvCxnSpPr/>
          <p:nvPr/>
        </p:nvCxnSpPr>
        <p:spPr>
          <a:xfrm flipH="1">
            <a:off x="3219450" y="4167505"/>
            <a:ext cx="4469130" cy="14605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 flipH="1">
            <a:off x="6123940" y="4860290"/>
            <a:ext cx="3432175" cy="11430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0410" y="731520"/>
            <a:ext cx="10515600" cy="1325563"/>
          </a:xfrm>
        </p:spPr>
        <p:txBody>
          <a:bodyPr/>
          <a:p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Examples of reference words and phrases</a:t>
            </a:r>
            <a:endParaRPr lang="en-US" altLang="en-US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05105" y="2524125"/>
            <a:ext cx="11586210" cy="308546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sz="3200" b="1">
                <a:latin typeface="Times New Roman" panose="02020603050405020304" charset="0"/>
                <a:cs typeface="Times New Roman" panose="02020603050405020304" charset="0"/>
              </a:rPr>
              <a:t>Read the following paragraph and complete the table</a:t>
            </a:r>
            <a:endParaRPr lang="en-US" altLang="en-US" sz="32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81305" y="1691005"/>
            <a:ext cx="5181600" cy="4556125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Jenkins (1987) has researched the life cycle of new  businesses. He found that they have an average life of  only 4.7 years. This is due to two main reasons; one economic and one social. The former appears to be a lack  of capital, the latter a failure to carry out sufficient market  research. Jenkins considers that together these account for approximately 70% of business failures.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4" name="Content Placeholder 3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5323840" y="2270125"/>
            <a:ext cx="6717665" cy="345630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sz="3200" b="1">
                <a:latin typeface="Times New Roman" panose="02020603050405020304" charset="0"/>
                <a:cs typeface="Times New Roman" panose="02020603050405020304" charset="0"/>
              </a:rPr>
              <a:t>Read the paragraph and complete the table below to show what the reference words </a:t>
            </a:r>
            <a:r>
              <a:rPr lang="en-US" altLang="en-US" sz="3200" b="1">
                <a:highlight>
                  <a:srgbClr val="FFFF00"/>
                </a:highlight>
                <a:latin typeface="Times New Roman" panose="02020603050405020304" charset="0"/>
                <a:cs typeface="Times New Roman" panose="02020603050405020304" charset="0"/>
              </a:rPr>
              <a:t>(in italics)</a:t>
            </a:r>
            <a:r>
              <a:rPr lang="en-US" altLang="en-US" sz="3200" b="1">
                <a:latin typeface="Times New Roman" panose="02020603050405020304" charset="0"/>
                <a:cs typeface="Times New Roman" panose="02020603050405020304" charset="0"/>
              </a:rPr>
              <a:t> refer to.</a:t>
            </a:r>
            <a:endParaRPr lang="en-US" altLang="en-US" sz="32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0495" y="1591310"/>
            <a:ext cx="6983095" cy="5054600"/>
          </a:xfrm>
        </p:spPr>
        <p:txBody>
          <a:bodyPr>
            <a:noAutofit/>
          </a:bodyPr>
          <a:p>
            <a:pPr marL="0" indent="0">
              <a:buNone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There is little prospect of improvement in the standard of  living of the villagers from </a:t>
            </a:r>
            <a:r>
              <a:rPr lang="en-US" altLang="en-US" i="1">
                <a:latin typeface="Times New Roman" panose="02020603050405020304" charset="0"/>
                <a:cs typeface="Times New Roman" panose="02020603050405020304" charset="0"/>
              </a:rPr>
              <a:t>their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 present low level without  the support of electricity. Presently, the households can  enjoy only a limited number of hours of illumination based  on kerosene or diesel. </a:t>
            </a:r>
            <a:r>
              <a:rPr lang="en-US" altLang="en-US" i="1">
                <a:latin typeface="Times New Roman" panose="02020603050405020304" charset="0"/>
                <a:cs typeface="Times New Roman" panose="02020603050405020304" charset="0"/>
              </a:rPr>
              <a:t>These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 are not cheap and so are  not affordable by a large majority of the rural masses. </a:t>
            </a:r>
            <a:r>
              <a:rPr lang="en-US" altLang="en-US" i="1">
                <a:latin typeface="Times New Roman" panose="02020603050405020304" charset="0"/>
                <a:cs typeface="Times New Roman" panose="02020603050405020304" charset="0"/>
              </a:rPr>
              <a:t>This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 restricts the range as well as the intensity of </a:t>
            </a:r>
            <a:r>
              <a:rPr lang="en-US" altLang="en-US" i="1">
                <a:latin typeface="Times New Roman" panose="02020603050405020304" charset="0"/>
                <a:cs typeface="Times New Roman" panose="02020603050405020304" charset="0"/>
              </a:rPr>
              <a:t>their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 activities  severely. But even if supply of power from </a:t>
            </a:r>
            <a:r>
              <a:rPr lang="en-US" altLang="en-US" i="1">
                <a:latin typeface="Times New Roman" panose="02020603050405020304" charset="0"/>
                <a:cs typeface="Times New Roman" panose="02020603050405020304" charset="0"/>
              </a:rPr>
              <a:t>these sources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 is available more abundantly, there is the problem of adverse environmental effects of </a:t>
            </a:r>
            <a:r>
              <a:rPr lang="en-US" altLang="en-US" i="1">
                <a:latin typeface="Times New Roman" panose="02020603050405020304" charset="0"/>
                <a:cs typeface="Times New Roman" panose="02020603050405020304" charset="0"/>
              </a:rPr>
              <a:t>such use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5" name="Content Placeholder 4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6991985" y="2224405"/>
            <a:ext cx="5200015" cy="308483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en-US" sz="4000" b="1">
                <a:latin typeface="Times New Roman" panose="02020603050405020304" charset="0"/>
                <a:cs typeface="Times New Roman" panose="02020603050405020304" charset="0"/>
              </a:rPr>
              <a:t>In the following paragraph, insert suitable reference words from  the box below in the gaps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805" y="1825625"/>
            <a:ext cx="8112760" cy="4747260"/>
          </a:xfrm>
        </p:spPr>
        <p:txBody>
          <a:bodyPr>
            <a:noAutofit/>
          </a:bodyPr>
          <a:p>
            <a:pPr marL="0" indent="0" algn="just">
              <a:buNone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The Victoria and Albert Museum is in South Kensington  in London. a) . . . . . . . is named after Queen Victoria  and b) . . . . . . . husband, Prince Albert. c) . . . . . . . was  made Queen in 1837, and married d) . . . . . . . three years  later. e) . . . . . . . had a happy marriage which produced  nine children. f) . . . . . . . . life together was quite simple,  although g) . . . . . . . was the queen of the world’s most   powerful nation. Albert had a serious character, and  perhaps h) . . . . . . . major achievement was to organise  the Great Exhibition of 1851, the profits from which helped  to build the Museum.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5" name="Content Placeholder 4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8811895" y="1691005"/>
            <a:ext cx="3051810" cy="41529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934970" y="594360"/>
            <a:ext cx="8361045" cy="5802630"/>
          </a:xfrm>
        </p:spPr>
        <p:txBody>
          <a:bodyPr/>
          <a:p>
            <a:pPr marL="0" indent="0">
              <a:buNone/>
            </a:pPr>
            <a:r>
              <a:rPr lang="en-US" altLang="en-US" sz="3200">
                <a:latin typeface="Times New Roman" panose="02020603050405020304" charset="0"/>
                <a:cs typeface="Times New Roman" panose="02020603050405020304" charset="0"/>
              </a:rPr>
              <a:t>Cohesion and coherence are the two important things considered while writing any content and are properties of written material considered in discourse analysis and text linguistics.</a:t>
            </a:r>
            <a:endParaRPr lang="en-US" altLang="en-US" sz="32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altLang="en-US" sz="32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  <a:buChar char="Ø"/>
            </a:pPr>
            <a:r>
              <a:rPr lang="en-US" altLang="en-US" sz="3200" b="1">
                <a:highlight>
                  <a:srgbClr val="FFFF00"/>
                </a:highlight>
                <a:latin typeface="Times New Roman" panose="02020603050405020304" charset="0"/>
                <a:cs typeface="Times New Roman" panose="02020603050405020304" charset="0"/>
              </a:rPr>
              <a:t>Coherence: </a:t>
            </a:r>
            <a:r>
              <a:rPr lang="en-US" altLang="en-US" sz="3200">
                <a:latin typeface="Times New Roman" panose="02020603050405020304" charset="0"/>
                <a:cs typeface="Times New Roman" panose="02020603050405020304" charset="0"/>
              </a:rPr>
              <a:t>A text makes sense to readers through the relevancy of theories, ideas and concepts.</a:t>
            </a:r>
            <a:endParaRPr lang="en-US" altLang="en-US" sz="32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altLang="en-US" sz="32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  <a:buChar char="Ø"/>
            </a:pPr>
            <a:r>
              <a:rPr lang="en-US" altLang="en-US" sz="3200" b="1">
                <a:highlight>
                  <a:srgbClr val="FFFF00"/>
                </a:highlight>
                <a:latin typeface="Times New Roman" panose="02020603050405020304" charset="0"/>
                <a:cs typeface="Times New Roman" panose="02020603050405020304" charset="0"/>
              </a:rPr>
              <a:t>Cohesion:</a:t>
            </a:r>
            <a:r>
              <a:rPr lang="en-US" altLang="en-US" sz="3200">
                <a:latin typeface="Times New Roman" panose="02020603050405020304" charset="0"/>
                <a:cs typeface="Times New Roman" panose="02020603050405020304" charset="0"/>
              </a:rPr>
              <a:t> The grammatical and lexical relationship in the text.</a:t>
            </a:r>
            <a:endParaRPr lang="en-US" altLang="en-US" sz="32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5" name="Content Placeholder 4"/>
          <p:cNvPicPr>
            <a:picLocks noChangeAspect="1"/>
          </p:cNvPicPr>
          <p:nvPr>
            <p:ph sz="half" idx="2"/>
          </p:nvPr>
        </p:nvPicPr>
        <p:blipFill>
          <a:blip r:embed="rId1"/>
          <a:srcRect r="56311"/>
          <a:stretch>
            <a:fillRect/>
          </a:stretch>
        </p:blipFill>
        <p:spPr>
          <a:xfrm>
            <a:off x="-27940" y="0"/>
            <a:ext cx="2658110" cy="27997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7940" y="3742690"/>
            <a:ext cx="2747645" cy="2979420"/>
          </a:xfrm>
          <a:prstGeom prst="rect">
            <a:avLst/>
          </a:prstGeom>
        </p:spPr>
      </p:pic>
      <p:sp>
        <p:nvSpPr>
          <p:cNvPr id="8" name="Text Box 7"/>
          <p:cNvSpPr txBox="1"/>
          <p:nvPr/>
        </p:nvSpPr>
        <p:spPr>
          <a:xfrm>
            <a:off x="234950" y="2974340"/>
            <a:ext cx="2110105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4400" b="1">
                <a:latin typeface="Times New Roman" panose="02020603050405020304" charset="0"/>
                <a:cs typeface="Times New Roman" panose="02020603050405020304" charset="0"/>
              </a:rPr>
              <a:t>VS</a:t>
            </a:r>
            <a:endParaRPr lang="en-US" sz="4400" b="1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5" name="Content Placeholder 4"/>
          <p:cNvPicPr>
            <a:picLocks noChangeAspect="1"/>
          </p:cNvPicPr>
          <p:nvPr>
            <p:ph sz="half" idx="1"/>
          </p:nvPr>
        </p:nvPicPr>
        <p:blipFill>
          <a:blip r:embed="rId1"/>
          <a:stretch>
            <a:fillRect/>
          </a:stretch>
        </p:blipFill>
        <p:spPr>
          <a:xfrm>
            <a:off x="-635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2685</Words>
  <Application>WPS Presentation</Application>
  <PresentationFormat>Widescreen</PresentationFormat>
  <Paragraphs>35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9" baseType="lpstr">
      <vt:lpstr>Arial</vt:lpstr>
      <vt:lpstr>SimSun</vt:lpstr>
      <vt:lpstr>Wingdings</vt:lpstr>
      <vt:lpstr>Arial Unicode MS</vt:lpstr>
      <vt:lpstr>Calibri Light</vt:lpstr>
      <vt:lpstr>Calibri</vt:lpstr>
      <vt:lpstr>Microsoft YaHei</vt:lpstr>
      <vt:lpstr>Times New Roman</vt:lpstr>
      <vt:lpstr>Broadway</vt:lpstr>
      <vt:lpstr>Wingdings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Cohesion</dc:title>
  <dc:creator>karachi computer</dc:creator>
  <cp:lastModifiedBy>Hiba Qureshi</cp:lastModifiedBy>
  <cp:revision>1</cp:revision>
  <dcterms:created xsi:type="dcterms:W3CDTF">2025-02-17T07:20:39Z</dcterms:created>
  <dcterms:modified xsi:type="dcterms:W3CDTF">2025-02-17T07:20:39Z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32A2EBC4E1B144FEBEEAB4504FC8AF03_11</vt:lpwstr>
  </property>
  <property fmtid="{D5CDD505-2E9C-101B-9397-08002B2CF9AE}" pid="3" name="KSOProductBuildVer">
    <vt:lpwstr>1033-12.2.0.19805</vt:lpwstr>
  </property>
</Properties>
</file>