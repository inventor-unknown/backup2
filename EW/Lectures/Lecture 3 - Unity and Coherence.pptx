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4" r:id="rId6"/>
    <p:sldId id="261" r:id="rId7"/>
    <p:sldId id="262" r:id="rId8"/>
    <p:sldId id="263" r:id="rId9"/>
    <p:sldId id="265" r:id="rId10"/>
    <p:sldId id="266" r:id="rId11"/>
    <p:sldId id="267" r:id="rId12"/>
    <p:sldId id="259" r:id="rId13"/>
    <p:sldId id="260" r:id="rId14"/>
    <p:sldId id="268" r:id="rId15"/>
    <p:sldId id="269" r:id="rId16"/>
    <p:sldId id="270" r:id="rId17"/>
    <p:sldId id="271" r:id="rId18"/>
    <p:sldId id="272"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39000">
              <a:schemeClr val="accent4">
                <a:lumMod val="40000"/>
                <a:lumOff val="60000"/>
              </a:schemeClr>
            </a:gs>
            <a:gs pos="0">
              <a:schemeClr val="accent1">
                <a:lumMod val="5000"/>
                <a:lumOff val="95000"/>
              </a:schemeClr>
            </a:gs>
            <a:gs pos="69000">
              <a:schemeClr val="accent2">
                <a:lumMod val="40000"/>
                <a:lumOff val="60000"/>
              </a:schemeClr>
            </a:gs>
            <a:gs pos="91000">
              <a:schemeClr val="accent6">
                <a:lumMod val="20000"/>
                <a:lumOff val="80000"/>
              </a:schemeClr>
            </a:gs>
            <a:gs pos="100000">
              <a:schemeClr val="accent1">
                <a:lumMod val="30000"/>
                <a:lumOff val="70000"/>
              </a:schemeClr>
            </a:gs>
          </a:gsLst>
          <a:lin ang="5400000" scaled="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9.png"/><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effectLst>
                  <a:outerShdw blurRad="38100" dist="38100" dir="2700000" algn="tl">
                    <a:srgbClr val="000000">
                      <a:alpha val="43137"/>
                    </a:srgbClr>
                  </a:outerShdw>
                </a:effectLst>
                <a:latin typeface="Times New Roman" panose="02020603050405020304" charset="0"/>
                <a:cs typeface="Times New Roman" panose="02020603050405020304" charset="0"/>
              </a:rPr>
              <a:t>Unity and Coherence</a:t>
            </a:r>
            <a:endParaRPr lang="en-US" b="1" dirty="0">
              <a:effectLst>
                <a:outerShdw blurRad="38100" dist="38100" dir="2700000" algn="tl">
                  <a:srgbClr val="000000">
                    <a:alpha val="43137"/>
                  </a:srgbClr>
                </a:outerShdw>
              </a:effectLst>
              <a:latin typeface="Times New Roman" panose="02020603050405020304" charset="0"/>
              <a:cs typeface="Times New Roman" panose="02020603050405020304" charset="0"/>
            </a:endParaRPr>
          </a:p>
        </p:txBody>
      </p:sp>
      <p:sp>
        <p:nvSpPr>
          <p:cNvPr id="3" name="Subtitle 2"/>
          <p:cNvSpPr>
            <a:spLocks noGrp="1"/>
          </p:cNvSpPr>
          <p:nvPr>
            <p:ph type="subTitle" idx="1"/>
          </p:nvPr>
        </p:nvSpPr>
        <p:spPr>
          <a:xfrm>
            <a:off x="1685925" y="4950143"/>
            <a:ext cx="9144000" cy="1655762"/>
          </a:xfrm>
        </p:spPr>
        <p:txBody>
          <a:bodyPr>
            <a:normAutofit lnSpcReduction="20000"/>
          </a:bodyPr>
          <a:lstStyle/>
          <a:p>
            <a:r>
              <a:rPr lang="en-US"/>
              <a:t>Hiba Qureshi</a:t>
            </a:r>
            <a:endParaRPr lang="en-US"/>
          </a:p>
          <a:p>
            <a:r>
              <a:rPr lang="en-US"/>
              <a:t>Research Scholar</a:t>
            </a:r>
            <a:endParaRPr lang="en-US"/>
          </a:p>
          <a:p>
            <a:r>
              <a:rPr lang="en-US"/>
              <a:t>Lecturer</a:t>
            </a:r>
            <a:endParaRPr lang="en-US"/>
          </a:p>
          <a:p>
            <a:r>
              <a:rPr lang="en-US"/>
              <a:t>Bahria University Karachi Campus</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635" y="0"/>
            <a:ext cx="1219327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effectLst>
                  <a:outerShdw blurRad="38100" dist="38100" dir="2700000" algn="tl">
                    <a:srgbClr val="000000">
                      <a:alpha val="43137"/>
                    </a:srgbClr>
                  </a:outerShdw>
                </a:effectLst>
                <a:latin typeface="Times New Roman" panose="02020603050405020304" charset="0"/>
                <a:cs typeface="Times New Roman" panose="02020603050405020304" charset="0"/>
              </a:rPr>
              <a:t>Unity</a:t>
            </a:r>
            <a:endParaRPr lang="en-US" b="1">
              <a:effectLst>
                <a:outerShdw blurRad="38100" dist="38100" dir="2700000" algn="tl">
                  <a:srgbClr val="000000">
                    <a:alpha val="43137"/>
                  </a:srgbClr>
                </a:outerShdw>
              </a:effectLst>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pPr>
              <a:buFont typeface="Wingdings" panose="05000000000000000000" charset="0"/>
              <a:buChar char="Ø"/>
            </a:pPr>
            <a:r>
              <a:rPr lang="en-US">
                <a:latin typeface="Times New Roman" panose="02020603050405020304" charset="0"/>
                <a:cs typeface="Times New Roman" panose="02020603050405020304" charset="0"/>
              </a:rPr>
              <a:t> Drift from the subject/ topic and break in thoughts is called </a:t>
            </a:r>
            <a:r>
              <a:rPr lang="en-US" b="1">
                <a:latin typeface="Times New Roman" panose="02020603050405020304" charset="0"/>
                <a:cs typeface="Times New Roman" panose="02020603050405020304" charset="0"/>
              </a:rPr>
              <a:t>Unity.</a:t>
            </a:r>
            <a:endParaRPr lang="en-US" b="1">
              <a:latin typeface="Times New Roman" panose="02020603050405020304" charset="0"/>
              <a:cs typeface="Times New Roman" panose="02020603050405020304" charset="0"/>
            </a:endParaRPr>
          </a:p>
          <a:p>
            <a:pPr>
              <a:buFont typeface="Wingdings" panose="05000000000000000000" charset="0"/>
              <a:buChar char="Ø"/>
            </a:pPr>
            <a:r>
              <a:rPr lang="en-US" b="1">
                <a:latin typeface="Times New Roman" panose="02020603050405020304" charset="0"/>
                <a:cs typeface="Times New Roman" panose="02020603050405020304" charset="0"/>
              </a:rPr>
              <a:t> </a:t>
            </a:r>
            <a:r>
              <a:rPr lang="en-US">
                <a:latin typeface="Times New Roman" panose="02020603050405020304" charset="0"/>
                <a:cs typeface="Times New Roman" panose="02020603050405020304" charset="0"/>
              </a:rPr>
              <a:t>It means </a:t>
            </a:r>
            <a:r>
              <a:rPr lang="en-US" b="1">
                <a:latin typeface="Times New Roman" panose="02020603050405020304" charset="0"/>
                <a:cs typeface="Times New Roman" panose="02020603050405020304" charset="0"/>
              </a:rPr>
              <a:t>“Oneness” or “Singleness of Purpose”</a:t>
            </a:r>
            <a:r>
              <a:rPr lang="en-US">
                <a:latin typeface="Times New Roman" panose="02020603050405020304" charset="0"/>
                <a:cs typeface="Times New Roman" panose="02020603050405020304" charset="0"/>
              </a:rPr>
              <a:t>.</a:t>
            </a:r>
            <a:endParaRPr lang="en-US">
              <a:latin typeface="Times New Roman" panose="02020603050405020304" charset="0"/>
              <a:cs typeface="Times New Roman" panose="02020603050405020304" charset="0"/>
            </a:endParaRPr>
          </a:p>
          <a:p>
            <a:pPr>
              <a:buFont typeface="Wingdings" panose="05000000000000000000" charset="0"/>
              <a:buChar char="Ø"/>
            </a:pPr>
            <a:r>
              <a:rPr lang="en-US" b="1">
                <a:latin typeface="Times New Roman" panose="02020603050405020304" charset="0"/>
                <a:cs typeface="Times New Roman" panose="02020603050405020304" charset="0"/>
              </a:rPr>
              <a:t> </a:t>
            </a:r>
            <a:r>
              <a:rPr lang="en-US">
                <a:latin typeface="Times New Roman" panose="02020603050405020304" charset="0"/>
                <a:cs typeface="Times New Roman" panose="02020603050405020304" charset="0"/>
              </a:rPr>
              <a:t>A </a:t>
            </a:r>
            <a:r>
              <a:rPr lang="en-US" b="1">
                <a:latin typeface="Times New Roman" panose="02020603050405020304" charset="0"/>
                <a:cs typeface="Times New Roman" panose="02020603050405020304" charset="0"/>
              </a:rPr>
              <a:t>Unified</a:t>
            </a:r>
            <a:r>
              <a:rPr lang="en-US">
                <a:latin typeface="Times New Roman" panose="02020603050405020304" charset="0"/>
                <a:cs typeface="Times New Roman" panose="02020603050405020304" charset="0"/>
              </a:rPr>
              <a:t> paragraph or essay.</a:t>
            </a:r>
            <a:endParaRPr lang="en-US">
              <a:latin typeface="Times New Roman" panose="02020603050405020304" charset="0"/>
              <a:cs typeface="Times New Roman" panose="02020603050405020304" charset="0"/>
            </a:endParaRPr>
          </a:p>
          <a:p>
            <a:pPr>
              <a:buFont typeface="Wingdings" panose="05000000000000000000" charset="0"/>
              <a:buChar char="Ø"/>
            </a:pPr>
            <a:endParaRPr lang="en-US">
              <a:latin typeface="Times New Roman" panose="02020603050405020304" charset="0"/>
              <a:cs typeface="Times New Roman" panose="02020603050405020304" charset="0"/>
            </a:endParaRPr>
          </a:p>
          <a:p>
            <a:pPr>
              <a:buFont typeface="Wingdings" panose="05000000000000000000" charset="0"/>
              <a:buChar char="Ø"/>
            </a:pPr>
            <a:endParaRPr lang="en-US" b="1">
              <a:latin typeface="Times New Roman" panose="02020603050405020304" charset="0"/>
              <a:cs typeface="Times New Roman" panose="02020603050405020304" charset="0"/>
            </a:endParaRPr>
          </a:p>
          <a:p>
            <a:pPr>
              <a:buFont typeface="Wingdings" panose="05000000000000000000" charset="0"/>
              <a:buChar char="Ø"/>
            </a:pPr>
            <a:r>
              <a:rPr lang="en-US">
                <a:highlight>
                  <a:srgbClr val="FFFF00"/>
                </a:highlight>
                <a:latin typeface="Times New Roman" panose="02020603050405020304" charset="0"/>
                <a:cs typeface="Times New Roman" panose="02020603050405020304" charset="0"/>
              </a:rPr>
              <a:t>When is the good time to check </a:t>
            </a:r>
            <a:r>
              <a:rPr lang="en-US" b="1">
                <a:highlight>
                  <a:srgbClr val="FFFF00"/>
                </a:highlight>
                <a:latin typeface="Times New Roman" panose="02020603050405020304" charset="0"/>
                <a:cs typeface="Times New Roman" panose="02020603050405020304" charset="0"/>
              </a:rPr>
              <a:t>UNITY </a:t>
            </a:r>
            <a:r>
              <a:rPr lang="en-US">
                <a:highlight>
                  <a:srgbClr val="FFFF00"/>
                </a:highlight>
                <a:latin typeface="Times New Roman" panose="02020603050405020304" charset="0"/>
                <a:cs typeface="Times New Roman" panose="02020603050405020304" charset="0"/>
              </a:rPr>
              <a:t>in your writing? </a:t>
            </a:r>
            <a:endParaRPr lang="en-US" b="1">
              <a:highlight>
                <a:srgbClr val="FFFF00"/>
              </a:highlight>
              <a:latin typeface="Times New Roman" panose="02020603050405020304" charset="0"/>
              <a:cs typeface="Times New Roman" panose="02020603050405020304" charset="0"/>
            </a:endParaRPr>
          </a:p>
          <a:p>
            <a:pPr>
              <a:buFont typeface="Wingdings" panose="05000000000000000000" charset="0"/>
              <a:buChar char="Ø"/>
            </a:pPr>
            <a:endParaRPr lang="en-US" b="1">
              <a:highlight>
                <a:srgbClr val="FFFF00"/>
              </a:highlight>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917575"/>
            <a:ext cx="10515600" cy="5259705"/>
          </a:xfrm>
        </p:spPr>
        <p:txBody>
          <a:bodyPr/>
          <a:p>
            <a:pPr marL="0" indent="0" algn="ctr">
              <a:buNone/>
            </a:pPr>
            <a:r>
              <a:rPr lang="en-US" altLang="en-US" b="1" u="sng">
                <a:highlight>
                  <a:srgbClr val="FFFF00"/>
                </a:highlight>
                <a:latin typeface="Times New Roman" panose="02020603050405020304" charset="0"/>
                <a:cs typeface="Times New Roman" panose="02020603050405020304" charset="0"/>
              </a:rPr>
              <a:t>What is unity in  writing?</a:t>
            </a:r>
            <a:endParaRPr lang="en-US" altLang="en-US" b="1" u="sng">
              <a:highlight>
                <a:srgbClr val="FFFF00"/>
              </a:highlight>
              <a:latin typeface="Times New Roman" panose="02020603050405020304" charset="0"/>
              <a:cs typeface="Times New Roman" panose="02020603050405020304" charset="0"/>
            </a:endParaRPr>
          </a:p>
          <a:p>
            <a:pPr>
              <a:buFont typeface="Wingdings" panose="05000000000000000000" charset="0"/>
              <a:buChar char="Ø"/>
            </a:pPr>
            <a:r>
              <a:rPr lang="en-US" altLang="en-US">
                <a:latin typeface="Times New Roman" panose="02020603050405020304" charset="0"/>
                <a:cs typeface="Times New Roman" panose="02020603050405020304" charset="0"/>
              </a:rPr>
              <a:t>Unity in writing would be when a writer is having all of the details in their work lead to a message. </a:t>
            </a:r>
            <a:endParaRPr lang="en-US" altLang="en-US">
              <a:latin typeface="Times New Roman" panose="02020603050405020304" charset="0"/>
              <a:cs typeface="Times New Roman" panose="02020603050405020304" charset="0"/>
            </a:endParaRPr>
          </a:p>
          <a:p>
            <a:pPr>
              <a:buFont typeface="Wingdings" panose="05000000000000000000" charset="0"/>
              <a:buChar char="Ø"/>
            </a:pPr>
            <a:r>
              <a:rPr lang="en-US" altLang="en-US">
                <a:latin typeface="Times New Roman" panose="02020603050405020304" charset="0"/>
                <a:cs typeface="Times New Roman" panose="02020603050405020304" charset="0"/>
              </a:rPr>
              <a:t>They convey this message to their reader using a specific structure.</a:t>
            </a:r>
            <a:endParaRPr lang="en-US" altLang="en-US">
              <a:latin typeface="Times New Roman" panose="02020603050405020304" charset="0"/>
              <a:cs typeface="Times New Roman" panose="02020603050405020304" charset="0"/>
            </a:endParaRPr>
          </a:p>
          <a:p>
            <a:pPr marL="0" indent="0">
              <a:buNone/>
            </a:pPr>
            <a:endParaRPr lang="en-US" altLang="en-US">
              <a:latin typeface="Times New Roman" panose="02020603050405020304" charset="0"/>
              <a:cs typeface="Times New Roman" panose="02020603050405020304" charset="0"/>
            </a:endParaRPr>
          </a:p>
          <a:p>
            <a:pPr marL="0" indent="0" algn="ctr">
              <a:buNone/>
            </a:pPr>
            <a:r>
              <a:rPr lang="en-US" altLang="en-US" b="1">
                <a:effectLst>
                  <a:outerShdw blurRad="38100" dist="38100" dir="2700000" algn="tl">
                    <a:srgbClr val="000000">
                      <a:alpha val="43137"/>
                    </a:srgbClr>
                  </a:outerShdw>
                </a:effectLst>
                <a:highlight>
                  <a:srgbClr val="FFFF00"/>
                </a:highlight>
                <a:latin typeface="Times New Roman" panose="02020603050405020304" charset="0"/>
                <a:cs typeface="Times New Roman" panose="02020603050405020304" charset="0"/>
              </a:rPr>
              <a:t>Why is unity important in writing?</a:t>
            </a:r>
            <a:endParaRPr lang="en-US" altLang="en-US" b="1">
              <a:effectLst>
                <a:outerShdw blurRad="38100" dist="38100" dir="2700000" algn="tl">
                  <a:srgbClr val="000000">
                    <a:alpha val="43137"/>
                  </a:srgbClr>
                </a:outerShdw>
              </a:effectLst>
              <a:highlight>
                <a:srgbClr val="FFFF00"/>
              </a:highlight>
              <a:latin typeface="Times New Roman" panose="02020603050405020304" charset="0"/>
              <a:cs typeface="Times New Roman" panose="02020603050405020304" charset="0"/>
            </a:endParaRPr>
          </a:p>
          <a:p>
            <a:pPr marL="0" indent="0" algn="ctr">
              <a:buNone/>
            </a:pPr>
            <a:endParaRPr lang="en-US" altLang="en-US" b="1">
              <a:effectLst>
                <a:outerShdw blurRad="38100" dist="38100" dir="2700000" algn="tl">
                  <a:srgbClr val="000000">
                    <a:alpha val="43137"/>
                  </a:srgbClr>
                </a:outerShdw>
              </a:effectLst>
              <a:highlight>
                <a:srgbClr val="FFFF00"/>
              </a:highlight>
              <a:latin typeface="Times New Roman" panose="02020603050405020304" charset="0"/>
              <a:cs typeface="Times New Roman" panose="02020603050405020304" charset="0"/>
            </a:endParaRPr>
          </a:p>
          <a:p>
            <a:pPr>
              <a:buFont typeface="Wingdings" panose="05000000000000000000" charset="0"/>
              <a:buChar char="Ø"/>
            </a:pPr>
            <a:r>
              <a:rPr lang="en-US" altLang="en-US">
                <a:latin typeface="Times New Roman" panose="02020603050405020304" charset="0"/>
                <a:cs typeface="Times New Roman" panose="02020603050405020304" charset="0"/>
              </a:rPr>
              <a:t>Unity is important in writing because it helps the reader understand the message of what is being written about. </a:t>
            </a:r>
            <a:endParaRPr lang="en-US" altLang="en-US">
              <a:latin typeface="Times New Roman" panose="02020603050405020304" charset="0"/>
              <a:cs typeface="Times New Roman" panose="02020603050405020304" charset="0"/>
            </a:endParaRPr>
          </a:p>
          <a:p>
            <a:pPr>
              <a:buFont typeface="Wingdings" panose="05000000000000000000" charset="0"/>
              <a:buChar char="Ø"/>
            </a:pPr>
            <a:r>
              <a:rPr lang="en-US" altLang="en-US">
                <a:latin typeface="Times New Roman" panose="02020603050405020304" charset="0"/>
                <a:cs typeface="Times New Roman" panose="02020603050405020304" charset="0"/>
              </a:rPr>
              <a:t>It helps by creating cohesion and consistency.</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sz="half" idx="1"/>
          </p:nvPr>
        </p:nvPicPr>
        <p:blipFill>
          <a:blip r:embed="rId1"/>
          <a:stretch>
            <a:fillRect/>
          </a:stretch>
        </p:blipFill>
        <p:spPr>
          <a:xfrm>
            <a:off x="0" y="0"/>
            <a:ext cx="9077960" cy="3273425"/>
          </a:xfrm>
          <a:prstGeom prst="rect">
            <a:avLst/>
          </a:prstGeom>
        </p:spPr>
      </p:pic>
      <p:pic>
        <p:nvPicPr>
          <p:cNvPr id="5" name="Content Placeholder 4"/>
          <p:cNvPicPr>
            <a:picLocks noChangeAspect="1"/>
          </p:cNvPicPr>
          <p:nvPr>
            <p:ph sz="half" idx="2"/>
          </p:nvPr>
        </p:nvPicPr>
        <p:blipFill>
          <a:blip r:embed="rId2"/>
          <a:stretch>
            <a:fillRect/>
          </a:stretch>
        </p:blipFill>
        <p:spPr>
          <a:xfrm>
            <a:off x="4284980" y="3274060"/>
            <a:ext cx="7907020" cy="35839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Content Placeholder 4"/>
          <p:cNvPicPr>
            <a:picLocks noChangeAspect="1"/>
          </p:cNvPicPr>
          <p:nvPr>
            <p:ph sz="half" idx="1"/>
          </p:nvPr>
        </p:nvPicPr>
        <p:blipFill>
          <a:blip r:embed="rId1"/>
          <a:stretch>
            <a:fillRect/>
          </a:stretch>
        </p:blipFill>
        <p:spPr>
          <a:xfrm>
            <a:off x="635" y="0"/>
            <a:ext cx="1219136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Times New Roman" panose="02020603050405020304" charset="0"/>
                <a:cs typeface="Times New Roman" panose="02020603050405020304" charset="0"/>
              </a:rPr>
              <a:t>Paragraph Unity</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sz="half" idx="1"/>
          </p:nvPr>
        </p:nvSpPr>
        <p:spPr>
          <a:xfrm>
            <a:off x="838200" y="1691640"/>
            <a:ext cx="10516235" cy="4485640"/>
          </a:xfrm>
        </p:spPr>
        <p:txBody>
          <a:bodyPr>
            <a:normAutofit fontScale="90000" lnSpcReduction="10000"/>
          </a:bodyPr>
          <a:p>
            <a:r>
              <a:rPr lang="en-US" altLang="en-US" sz="2400"/>
              <a:t>Develop a paragraph around a </a:t>
            </a:r>
            <a:r>
              <a:rPr lang="en-US" altLang="en-US" sz="2400" b="1"/>
              <a:t>major idea</a:t>
            </a:r>
            <a:r>
              <a:rPr lang="en-US" altLang="en-US" sz="2400"/>
              <a:t>. Express this idea in the </a:t>
            </a:r>
            <a:r>
              <a:rPr lang="en-US" altLang="en-US" sz="2400" b="1"/>
              <a:t>topic sentence</a:t>
            </a:r>
            <a:r>
              <a:rPr lang="en-US" altLang="en-US" sz="2400"/>
              <a:t>.</a:t>
            </a:r>
            <a:endParaRPr lang="en-US" altLang="en-US" sz="2400"/>
          </a:p>
          <a:p>
            <a:r>
              <a:rPr lang="en-US" altLang="en-US" sz="2400"/>
              <a:t>Make the relationship between the </a:t>
            </a:r>
            <a:r>
              <a:rPr lang="en-US" altLang="en-US" sz="2400" b="1"/>
              <a:t>main idea of the paragraph and the thesis sentence.</a:t>
            </a:r>
            <a:r>
              <a:rPr lang="en-US" altLang="en-US" sz="2400"/>
              <a:t> </a:t>
            </a:r>
            <a:endParaRPr lang="en-US" altLang="en-US" sz="2400"/>
          </a:p>
          <a:p>
            <a:r>
              <a:rPr lang="en-US" altLang="en-US" sz="2400" b="1">
                <a:highlight>
                  <a:srgbClr val="FFFF00"/>
                </a:highlight>
              </a:rPr>
              <a:t>Don’t assume that the reader will “get it.”</a:t>
            </a:r>
            <a:r>
              <a:rPr lang="en-US" altLang="en-US" sz="2400"/>
              <a:t> </a:t>
            </a:r>
            <a:endParaRPr lang="en-US" altLang="en-US" sz="2400"/>
          </a:p>
          <a:p>
            <a:pPr marL="0" indent="0">
              <a:buNone/>
            </a:pPr>
            <a:endParaRPr lang="en-US" altLang="en-US" sz="2400"/>
          </a:p>
          <a:p>
            <a:r>
              <a:rPr lang="en-US" altLang="en-US" sz="2400"/>
              <a:t>Support the main idea of the paragraph with </a:t>
            </a:r>
            <a:r>
              <a:rPr lang="en-US" altLang="en-US" sz="2400" b="1"/>
              <a:t>details.</a:t>
            </a:r>
            <a:endParaRPr lang="en-US" altLang="en-US" sz="2400" b="1"/>
          </a:p>
          <a:p>
            <a:endParaRPr lang="en-US" altLang="en-US" sz="2400" b="1"/>
          </a:p>
          <a:p>
            <a:r>
              <a:rPr lang="en-US" altLang="en-US" b="1"/>
              <a:t>Create separate paragraphs for those details that explore your topic from different perspectives.</a:t>
            </a:r>
            <a:endParaRPr lang="en-US" altLang="en-US" b="1"/>
          </a:p>
          <a:p>
            <a:endParaRPr lang="en-US" altLang="en-US" sz="2400"/>
          </a:p>
          <a:p>
            <a:r>
              <a:rPr lang="en-US" altLang="en-US" sz="2400"/>
              <a:t>Eliminate sentences that do not support the main idea. Alternately, you may revise the main idea to include those sentences.</a:t>
            </a:r>
            <a:endParaRPr lang="en-US" altLang="en-US"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pPr algn="ctr"/>
            <a:r>
              <a:rPr lang="en-US" altLang="en-US" sz="3555" b="1">
                <a:latin typeface="Times New Roman" panose="02020603050405020304" charset="0"/>
                <a:cs typeface="Times New Roman" panose="02020603050405020304" charset="0"/>
              </a:rPr>
              <a:t>“Despite the amount of foreign aid pouring in, social conditions in Zeeland remain bleak because the aid is used for military purposes.”</a:t>
            </a:r>
            <a:endParaRPr lang="en-US" altLang="en-US" sz="3555" b="1">
              <a:latin typeface="Times New Roman" panose="02020603050405020304" charset="0"/>
              <a:cs typeface="Times New Roman" panose="02020603050405020304" charset="0"/>
            </a:endParaRPr>
          </a:p>
        </p:txBody>
      </p:sp>
      <p:sp>
        <p:nvSpPr>
          <p:cNvPr id="3" name="Content Placeholder 2"/>
          <p:cNvSpPr>
            <a:spLocks noGrp="1"/>
          </p:cNvSpPr>
          <p:nvPr>
            <p:ph sz="half" idx="1"/>
          </p:nvPr>
        </p:nvSpPr>
        <p:spPr>
          <a:xfrm>
            <a:off x="838200" y="2133600"/>
            <a:ext cx="10778490" cy="4351655"/>
          </a:xfrm>
        </p:spPr>
        <p:txBody>
          <a:bodyPr>
            <a:normAutofit lnSpcReduction="10000"/>
          </a:bodyPr>
          <a:p>
            <a:pPr marL="0" indent="0">
              <a:buNone/>
            </a:pPr>
            <a:r>
              <a:rPr lang="en-US" altLang="en-US"/>
              <a:t>Robert Bee wrote, “The Zeeland massacre illustrates the need for greater control and vigilance.” This is related to the thesis. Some 20,000 people disappeared from the villages. Financial mishandling can lead to great misfortune. Corruption in the government was exposed repeatedly to no avail. A police force, under orders to eliminate suspected terrorists, grabbed political dissidents and their families.</a:t>
            </a:r>
            <a:endParaRPr lang="en-US" altLang="en-US"/>
          </a:p>
          <a:p>
            <a:pPr marL="0" indent="0">
              <a:buNone/>
            </a:pPr>
            <a:endParaRPr lang="en-US" altLang="en-US"/>
          </a:p>
          <a:p>
            <a:pPr marL="0" indent="0" algn="ctr">
              <a:buNone/>
            </a:pPr>
            <a:r>
              <a:rPr lang="en-US" altLang="en-US" b="1">
                <a:highlight>
                  <a:srgbClr val="FFFF00"/>
                </a:highlight>
              </a:rPr>
              <a:t>Is this paragraph UNIFIED?</a:t>
            </a:r>
            <a:endParaRPr lang="en-US" altLang="en-US" b="1">
              <a:highlight>
                <a:srgbClr val="FFFF00"/>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668020"/>
            <a:ext cx="11101070" cy="5509260"/>
          </a:xfrm>
        </p:spPr>
        <p:txBody>
          <a:bodyPr>
            <a:normAutofit/>
          </a:bodyPr>
          <a:p>
            <a:pPr marL="0" indent="0">
              <a:buNone/>
            </a:pPr>
            <a:r>
              <a:rPr lang="en-US" altLang="en-US"/>
              <a:t>The pogrom of May 3, 1987 exemplifies how foreign aid funds were appropriated for repressive rather than social development purposes. On that day, some 20,000 people were abducted from villages in the countryside, charged as traitors and summarily executed. Then governor-for-life Zeely Zeelafsun had recently used $5 billion in aid to create a standing paramilitary police force. Without some restrictive control over the aid, human rights organizations were unable to prevent the buildup and unleashing of this disaster. Robert Bee, the director of the Development as Freedom Foundation wrote, “The Zeeland massacre illustrates the need for greater control and vigilance.”</a:t>
            </a:r>
            <a:endParaRPr lang="en-US" altLang="en-US"/>
          </a:p>
          <a:p>
            <a:pPr marL="0" indent="0">
              <a:buNone/>
            </a:pPr>
            <a:endParaRPr lang="en-US" altLang="en-US"/>
          </a:p>
          <a:p>
            <a:pPr marL="0" indent="0" algn="ctr">
              <a:buNone/>
            </a:pPr>
            <a:r>
              <a:rPr lang="en-US" altLang="en-US" b="1">
                <a:highlight>
                  <a:srgbClr val="FFFF00"/>
                </a:highlight>
              </a:rPr>
              <a:t>Is this paragraph UNIFIED?</a:t>
            </a:r>
            <a:endParaRPr lang="en-US" altLang="en-US" b="1">
              <a:highlight>
                <a:srgbClr val="FFFF00"/>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Revise this  “poor Unified Paragraph”</a:t>
            </a:r>
            <a:endParaRPr lang="en-US" b="1"/>
          </a:p>
        </p:txBody>
      </p:sp>
      <p:sp>
        <p:nvSpPr>
          <p:cNvPr id="3" name="Content Placeholder 2"/>
          <p:cNvSpPr>
            <a:spLocks noGrp="1"/>
          </p:cNvSpPr>
          <p:nvPr>
            <p:ph sz="half" idx="1"/>
          </p:nvPr>
        </p:nvSpPr>
        <p:spPr>
          <a:xfrm>
            <a:off x="838200" y="1825625"/>
            <a:ext cx="10516235" cy="4351655"/>
          </a:xfrm>
        </p:spPr>
        <p:txBody>
          <a:bodyPr>
            <a:normAutofit/>
          </a:bodyPr>
          <a:p>
            <a:pPr marL="0" indent="0">
              <a:buNone/>
            </a:pPr>
            <a:r>
              <a:rPr lang="en-US" altLang="en-US"/>
              <a:t>Hikers all over Himaliyah can access hiking trails and enjoy nature. Hiking is a good way to get exercise. In southern </a:t>
            </a:r>
            <a:r>
              <a:rPr lang="en-US" altLang="en-US">
                <a:sym typeface="+mn-ea"/>
              </a:rPr>
              <a:t>Himaliyah</a:t>
            </a:r>
            <a:r>
              <a:rPr lang="en-US" altLang="en-US"/>
              <a:t>, hikers enjoy the scenic trails in Zion’s National Park. In northern </a:t>
            </a:r>
            <a:r>
              <a:rPr lang="en-US" altLang="en-US">
                <a:sym typeface="+mn-ea"/>
              </a:rPr>
              <a:t>Himaliyah</a:t>
            </a:r>
            <a:r>
              <a:rPr lang="en-US" altLang="en-US"/>
              <a:t>, trails have been made to showcase the beauties of nature like Waterfall Canyon. Waterfalls all over the world are beautiful. There are hiking paths in </a:t>
            </a:r>
            <a:r>
              <a:rPr lang="en-US" altLang="en-US">
                <a:sym typeface="+mn-ea"/>
              </a:rPr>
              <a:t>Himaliyah</a:t>
            </a:r>
            <a:r>
              <a:rPr lang="en-US" altLang="en-US"/>
              <a:t>’s Rocky Mountains as well that provide beautiful views. But you don’t have to go up to the mountains or drive up the canyon to access hiking trails in </a:t>
            </a:r>
            <a:r>
              <a:rPr lang="en-US" altLang="en-US">
                <a:sym typeface="+mn-ea"/>
              </a:rPr>
              <a:t>Himaliyah</a:t>
            </a:r>
            <a:r>
              <a:rPr lang="en-US" altLang="en-US"/>
              <a:t>. Many cities in Utah have created hiking trails in city parks for people to use that are closer to home. If you like to spend time hiking in nature, there are many hiking trails you can access in </a:t>
            </a:r>
            <a:r>
              <a:rPr lang="en-US" altLang="en-US">
                <a:sym typeface="+mn-ea"/>
              </a:rPr>
              <a:t>Himaliyah</a:t>
            </a:r>
            <a:r>
              <a:rPr lang="en-US" altLang="en-US"/>
              <a:t>.</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0" y="0"/>
            <a:ext cx="12192635" cy="67938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17780" y="635"/>
            <a:ext cx="12209145" cy="686689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Writing Time....</a:t>
            </a:r>
            <a:endParaRPr lang="en-US" b="1"/>
          </a:p>
        </p:txBody>
      </p:sp>
      <p:sp>
        <p:nvSpPr>
          <p:cNvPr id="3" name="Content Placeholder 2"/>
          <p:cNvSpPr>
            <a:spLocks noGrp="1"/>
          </p:cNvSpPr>
          <p:nvPr>
            <p:ph idx="1"/>
          </p:nvPr>
        </p:nvSpPr>
        <p:spPr/>
        <p:txBody>
          <a:bodyPr/>
          <a:p>
            <a:pPr marL="0" indent="0">
              <a:buNone/>
            </a:pPr>
            <a:endParaRPr lang="en-US" altLang="en-US"/>
          </a:p>
          <a:p>
            <a:pPr marL="0" indent="0">
              <a:buNone/>
            </a:pPr>
            <a:r>
              <a:rPr lang="en-US" altLang="en-US" b="1"/>
              <a:t>In order to choose the right diet for you, you need to know what foods you typically eat.</a:t>
            </a:r>
            <a:endParaRPr lang="en-US" altLang="en-US"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effectLst>
                  <a:outerShdw blurRad="38100" dist="38100" dir="2700000" algn="tl">
                    <a:srgbClr val="000000">
                      <a:alpha val="43137"/>
                    </a:srgbClr>
                  </a:outerShdw>
                </a:effectLst>
                <a:latin typeface="Times New Roman" panose="02020603050405020304" charset="0"/>
                <a:cs typeface="Times New Roman" panose="02020603050405020304" charset="0"/>
              </a:rPr>
              <a:t>Coherence </a:t>
            </a:r>
            <a:endParaRPr lang="en-US" b="1">
              <a:effectLst>
                <a:outerShdw blurRad="38100" dist="38100" dir="2700000" algn="tl">
                  <a:srgbClr val="000000">
                    <a:alpha val="43137"/>
                  </a:srgbClr>
                </a:outerShdw>
              </a:effectLst>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pPr marL="0" indent="0">
              <a:buNone/>
            </a:pPr>
            <a:r>
              <a:rPr lang="en-US"/>
              <a:t>It involves clatifying the relationships between ideas. </a:t>
            </a:r>
            <a:endParaRPr lang="en-US"/>
          </a:p>
          <a:p>
            <a:pPr marL="0" indent="0">
              <a:buNone/>
            </a:pPr>
            <a:r>
              <a:rPr lang="en-US"/>
              <a:t>When ideas/ sentences are coherent, they are understandable. </a:t>
            </a:r>
            <a:endParaRPr lang="en-US"/>
          </a:p>
          <a:p>
            <a:pPr marL="0" indent="0">
              <a:buNone/>
            </a:pPr>
            <a:endParaRPr lang="en-US"/>
          </a:p>
          <a:p>
            <a:pPr marL="0" indent="0">
              <a:buNone/>
            </a:pPr>
            <a:r>
              <a:rPr lang="en-US"/>
              <a:t>For instance:</a:t>
            </a:r>
            <a:endParaRPr lang="en-US"/>
          </a:p>
          <a:p>
            <a:pPr marL="0" indent="0" algn="ctr">
              <a:buNone/>
            </a:pPr>
            <a:r>
              <a:rPr lang="en-US" b="1"/>
              <a:t>“Snow! Last Winters! Trees! Gone!”</a:t>
            </a:r>
            <a:endParaRPr lang="en-US" b="1"/>
          </a:p>
          <a:p>
            <a:pPr marL="0" indent="0" algn="ctr">
              <a:buNone/>
            </a:pPr>
            <a:r>
              <a:rPr lang="en-US"/>
              <a:t>???</a:t>
            </a:r>
            <a:endParaRPr lang="en-US"/>
          </a:p>
          <a:p>
            <a:pPr marL="0" indent="0" algn="ctr">
              <a:buNone/>
            </a:pPr>
            <a:r>
              <a:rPr lang="en-US"/>
              <a:t>What is missing here is....?</a:t>
            </a:r>
            <a:endParaRPr lang="en-US"/>
          </a:p>
          <a:p>
            <a:pPr marL="0" indent="0" algn="ctr">
              <a:buNone/>
            </a:pPr>
            <a:r>
              <a:rPr lang="en-US" b="1"/>
              <a:t>(The connection between the ideas)</a:t>
            </a:r>
            <a:endParaRPr lang="en-US"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0" y="635"/>
            <a:ext cx="1219136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effectLst>
                  <a:outerShdw blurRad="38100" dist="38100" dir="2700000" algn="tl">
                    <a:srgbClr val="000000">
                      <a:alpha val="43137"/>
                    </a:srgbClr>
                  </a:outerShdw>
                </a:effectLst>
                <a:latin typeface="Times New Roman" panose="02020603050405020304" charset="0"/>
                <a:cs typeface="Times New Roman" panose="02020603050405020304" charset="0"/>
              </a:rPr>
              <a:t>Improving Coherence</a:t>
            </a:r>
            <a:endParaRPr lang="en-US" b="1">
              <a:effectLst>
                <a:outerShdw blurRad="38100" dist="38100" dir="2700000" algn="tl">
                  <a:srgbClr val="000000">
                    <a:alpha val="43137"/>
                  </a:srgbClr>
                </a:outerShdw>
              </a:effectLst>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pPr marL="0" indent="0">
              <a:buNone/>
            </a:pPr>
            <a:endParaRPr lang="en-US"/>
          </a:p>
          <a:p>
            <a:pPr marL="0" indent="0">
              <a:buNone/>
            </a:pPr>
            <a:r>
              <a:rPr lang="en-US"/>
              <a:t>Use words that refer to the central idea.</a:t>
            </a:r>
            <a:endParaRPr lang="en-US"/>
          </a:p>
          <a:p>
            <a:pPr marL="0" indent="0">
              <a:buNone/>
            </a:pPr>
            <a:endParaRPr lang="en-US"/>
          </a:p>
          <a:p>
            <a:pPr marL="0" indent="0">
              <a:buNone/>
            </a:pPr>
            <a:r>
              <a:rPr lang="en-US"/>
              <a:t>Use common trasitional words ~ which tell you what direction a sentance is about to take. </a:t>
            </a:r>
            <a:endParaRPr lang="en-US"/>
          </a:p>
          <a:p>
            <a:pPr marL="0" indent="0">
              <a:buNone/>
            </a:pPr>
            <a:endParaRPr lang="en-US"/>
          </a:p>
          <a:p>
            <a:pPr marL="0" indent="0">
              <a:buNone/>
            </a:pP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sz="half" idx="1"/>
          </p:nvPr>
        </p:nvPicPr>
        <p:blipFill>
          <a:blip r:embed="rId1"/>
          <a:stretch>
            <a:fillRect/>
          </a:stretch>
        </p:blipFill>
        <p:spPr>
          <a:xfrm>
            <a:off x="-9525" y="205105"/>
            <a:ext cx="12201525" cy="3126740"/>
          </a:xfrm>
          <a:prstGeom prst="rect">
            <a:avLst/>
          </a:prstGeom>
        </p:spPr>
      </p:pic>
      <p:pic>
        <p:nvPicPr>
          <p:cNvPr id="5" name="Content Placeholder 4"/>
          <p:cNvPicPr>
            <a:picLocks noChangeAspect="1"/>
          </p:cNvPicPr>
          <p:nvPr>
            <p:ph sz="half" idx="2"/>
          </p:nvPr>
        </p:nvPicPr>
        <p:blipFill>
          <a:blip r:embed="rId2"/>
          <a:srcRect b="33625"/>
          <a:stretch>
            <a:fillRect/>
          </a:stretch>
        </p:blipFill>
        <p:spPr>
          <a:xfrm>
            <a:off x="-9525" y="3331845"/>
            <a:ext cx="12201525" cy="272161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61290" y="0"/>
            <a:ext cx="10515600" cy="1325563"/>
          </a:xfrm>
        </p:spPr>
        <p:txBody>
          <a:bodyPr/>
          <a:p>
            <a:r>
              <a:rPr lang="en-US" b="1">
                <a:effectLst>
                  <a:outerShdw blurRad="38100" dist="38100" dir="2700000" algn="tl">
                    <a:srgbClr val="000000">
                      <a:alpha val="43137"/>
                    </a:srgbClr>
                  </a:outerShdw>
                </a:effectLst>
              </a:rPr>
              <a:t>Task</a:t>
            </a:r>
            <a:endParaRPr lang="en-US" b="1">
              <a:effectLst>
                <a:outerShdw blurRad="38100" dist="38100" dir="2700000" algn="tl">
                  <a:srgbClr val="000000">
                    <a:alpha val="43137"/>
                  </a:srgbClr>
                </a:outerShdw>
              </a:effectLst>
            </a:endParaRPr>
          </a:p>
        </p:txBody>
      </p:sp>
      <p:pic>
        <p:nvPicPr>
          <p:cNvPr id="5" name="Content Placeholder 4"/>
          <p:cNvPicPr>
            <a:picLocks noChangeAspect="1"/>
          </p:cNvPicPr>
          <p:nvPr>
            <p:ph sz="half" idx="1"/>
          </p:nvPr>
        </p:nvPicPr>
        <p:blipFill>
          <a:blip r:embed="rId1"/>
          <a:stretch>
            <a:fillRect/>
          </a:stretch>
        </p:blipFill>
        <p:spPr>
          <a:xfrm>
            <a:off x="1851025" y="0"/>
            <a:ext cx="1034161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3723</Words>
  <Application>WPS Presentation</Application>
  <PresentationFormat>Widescreen</PresentationFormat>
  <Paragraphs>77</Paragraphs>
  <Slides>18</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18</vt:i4>
      </vt:variant>
    </vt:vector>
  </HeadingPairs>
  <TitlesOfParts>
    <vt:vector size="32" baseType="lpstr">
      <vt:lpstr>Arial</vt:lpstr>
      <vt:lpstr>SimSun</vt:lpstr>
      <vt:lpstr>Wingdings</vt:lpstr>
      <vt:lpstr>Calibri Light</vt:lpstr>
      <vt:lpstr>Calibri</vt:lpstr>
      <vt:lpstr>Microsoft YaHei</vt:lpstr>
      <vt:lpstr>Arial Unicode MS</vt:lpstr>
      <vt:lpstr>Broadway</vt:lpstr>
      <vt:lpstr>Times New Roman</vt:lpstr>
      <vt:lpstr>Wingdings</vt:lpstr>
      <vt:lpstr>Bodoni MT</vt:lpstr>
      <vt:lpstr>Bodoni MT Black</vt:lpstr>
      <vt:lpstr>Bodoni MT Condensed</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Unity and Coherence</dc:title>
  <dc:creator/>
  <cp:lastModifiedBy>Hiba Qureshi</cp:lastModifiedBy>
  <cp:revision>2</cp:revision>
  <dcterms:created xsi:type="dcterms:W3CDTF">2025-02-10T07:31:40Z</dcterms:created>
  <dcterms:modified xsi:type="dcterms:W3CDTF">2025-02-13T07:33:25Z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47853A898C684A91AFC8B98D97D4F645_11</vt:lpwstr>
  </property>
  <property fmtid="{D5CDD505-2E9C-101B-9397-08002B2CF9AE}" pid="3" name="KSOProductBuildVer">
    <vt:lpwstr>1033-12.2.0.19805</vt:lpwstr>
  </property>
</Properties>
</file>