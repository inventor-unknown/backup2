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62" r:id="rId2"/>
    <p:sldId id="261" r:id="rId3"/>
    <p:sldId id="256" r:id="rId4"/>
    <p:sldId id="263" r:id="rId5"/>
    <p:sldId id="265" r:id="rId6"/>
    <p:sldId id="266" r:id="rId7"/>
    <p:sldId id="267" r:id="rId8"/>
    <p:sldId id="268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3" r:id="rId24"/>
    <p:sldId id="345" r:id="rId25"/>
    <p:sldId id="346" r:id="rId26"/>
    <p:sldId id="351" r:id="rId27"/>
    <p:sldId id="352" r:id="rId28"/>
    <p:sldId id="353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269" r:id="rId50"/>
    <p:sldId id="270" r:id="rId51"/>
    <p:sldId id="271" r:id="rId52"/>
    <p:sldId id="272" r:id="rId53"/>
    <p:sldId id="273" r:id="rId54"/>
    <p:sldId id="274" r:id="rId55"/>
    <p:sldId id="275" r:id="rId56"/>
    <p:sldId id="276" r:id="rId57"/>
    <p:sldId id="277" r:id="rId58"/>
    <p:sldId id="278" r:id="rId59"/>
    <p:sldId id="279" r:id="rId60"/>
    <p:sldId id="280" r:id="rId61"/>
    <p:sldId id="281" r:id="rId62"/>
    <p:sldId id="282" r:id="rId63"/>
    <p:sldId id="283" r:id="rId64"/>
    <p:sldId id="284" r:id="rId65"/>
    <p:sldId id="285" r:id="rId66"/>
    <p:sldId id="286" r:id="rId67"/>
    <p:sldId id="287" r:id="rId68"/>
    <p:sldId id="288" r:id="rId69"/>
    <p:sldId id="289" r:id="rId70"/>
    <p:sldId id="292" r:id="rId71"/>
    <p:sldId id="293" r:id="rId72"/>
    <p:sldId id="294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A284C-4959-4480-ABB8-2D2DF1A84BB1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8CD9D-F793-45A3-885F-8DB507A1D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8CD9D-F793-45A3-885F-8DB507A1D6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22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0CC7B7-284B-4290-9097-9D31DA523BF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502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911548-7B26-4FF3-AE40-DDB50AF834A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63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E17FF6-7B5A-4DC7-9E79-ABD244B9F16D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7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65A72-3AC9-4B02-A351-992246EDDBA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06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can mention how the division of nations make up different markets</a:t>
            </a:r>
          </a:p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can further illustrate each nation is further divided into provinces/states/cities where the markets could be different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FFAF6B-BDEE-4E38-8DEA-42268CE532F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5585F0-CE56-4972-A179-90C37B1EA2F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9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illustrates different occupations could mean different buying power (eg. Doctors earn more than nurses)</a:t>
            </a:r>
          </a:p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different occupations could mean different needs for different types of products (eg. Office workers need to buy work clothes, while blue-collared workers usually attired differently)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5A169D-0740-4EE0-B57E-57DC95BB7BEA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00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531C87-FF86-4E30-8102-F5F452555C2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10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Families with young children have different needs from families with grown children – products and services purchased differ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BA1C6A-89A2-4FBD-B055-DBD496CFAC0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25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14B7F-ADCF-428E-889B-684EC122DCD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64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78C4C7-E720-4501-9623-2D0F554DEC8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032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B948A0-05D2-4545-8F25-95E1F346724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7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55EF68-EE02-4321-86FF-D6A875F89570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690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D664F7-4DBE-442F-8CBE-318B7AC50ED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67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F51A03-F6DD-425C-AEBC-24C0DD37411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73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DA3B54-C06F-4BF3-A715-ABC73241F064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82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DA88864-F699-411B-9B1E-DD07C920777D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087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36682C-F730-486C-9152-47330896E69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98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94A4E-976F-4A58-951F-E259E011E16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008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36A01D-FD99-4796-BA53-F08480DED94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44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E4EB59-EB14-4B80-82DF-4688EAD87862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941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F4A09F-45A5-4238-8D35-FDF8D54F4BE0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611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57800A-F70E-4F2F-81D3-FFD5FCCCC626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8779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0252FE-5387-426B-93F6-C157233210CF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2007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01953-8F03-4B33-9F8A-7FF7C5AE732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19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6F3C4A-12B0-4F7A-B814-D0F65706768B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065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BD2F4A-9A65-42FB-A7BF-AA4EBB49E37C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37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426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D1310B-20DC-4412-976A-D71A4508764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366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BF525F-6BCB-4C66-B68C-53709E89EDC6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7474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85B867-7EFD-4BC1-9C29-292806D44CB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763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6AC144-0255-4D5D-8697-71D30C5A4FE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693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EEA6CE-9C66-49C2-A339-A6C3FE974E9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8313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5E3874-E955-4ED8-ABC3-D78A814F638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44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0206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7225DE-F383-48CA-BE4C-3D12ABDFDFAA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11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A92322-10CB-4BB1-8698-E76F5F917103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47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24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416A36-B275-42B7-A0FE-140EF3D88F90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48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1253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70DBAB-49FF-423C-8992-BF7AB80351F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2739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911548-7B26-4FF3-AE40-DDB50AF834A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7302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E17FF6-7B5A-4DC7-9E79-ABD244B9F16D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6492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65A72-3AC9-4B02-A351-992246EDDBA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9499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can mention how the division of nations make up different markets</a:t>
            </a:r>
          </a:p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can further illustrate each nation is further divided into provinces/states/cities where the markets could be different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FFAF6B-BDEE-4E38-8DEA-42268CE532F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53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107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5585F0-CE56-4972-A179-90C37B1EA2F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54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150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illustrates different occupations could mean different buying power (eg. Doctors earn more than nurses)</a:t>
            </a:r>
          </a:p>
          <a:p>
            <a:pPr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different occupations could mean different needs for different types of products (eg. Office workers need to buy work clothes, while blue-collared workers usually attired differently)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5A169D-0740-4EE0-B57E-57DC95BB7BEA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55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16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531C87-FF86-4E30-8102-F5F452555C2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56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739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Families with young children have different needs from families with grown children – products and services purchased differ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BA1C6A-89A2-4FBD-B055-DBD496CFAC0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58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663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14B7F-ADCF-428E-889B-684EC122DCD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498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78C4C7-E720-4501-9623-2D0F554DEC8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6326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B948A0-05D2-4545-8F25-95E1F3467245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6512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55EF68-EE02-4321-86FF-D6A875F89570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8411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D664F7-4DBE-442F-8CBE-318B7AC50ED7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63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2283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8ACD64-8F32-4E25-BAF6-154E4BB9F24D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64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5424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F51A03-F6DD-425C-AEBC-24C0DD37411E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65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849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348451D-0E42-4FEC-8069-9E8C0A283702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6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DA3B54-C06F-4BF3-A715-ABC73241F064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909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DA88864-F699-411B-9B1E-DD07C920777D}" type="slidenum">
              <a:rPr lang="en-US" altLang="en-US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68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738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152311-E5D7-42BD-9821-166785FF4688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69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4016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B155B5-7BA8-4B53-9C23-641ADA0C5C79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70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605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36682C-F730-486C-9152-47330896E691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432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94A4E-976F-4A58-951F-E259E011E16C}" type="slidenum">
              <a:rPr lang="en-US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72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4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0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5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9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7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0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2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6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4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0D294-CC73-4E1E-AA75-BB44A2DE8FE2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4F9CC-5AA2-4679-A451-2234AF1B6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8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dbs.com.sg/sg/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xtTey7-3Zuk&amp;NR=1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youtube.com/watch?v=MsIn6iTgL3Q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wmf"/><Relationship Id="rId4" Type="http://schemas.openxmlformats.org/officeDocument/2006/relationships/image" Target="../media/image33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Research and Identification of the potential Customers.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76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areas to identify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Need/ Want/and Demand</a:t>
            </a:r>
          </a:p>
          <a:p>
            <a:r>
              <a:rPr lang="en-US" dirty="0" smtClean="0"/>
              <a:t>Need (defined)</a:t>
            </a:r>
          </a:p>
          <a:p>
            <a:pPr marL="457200" lvl="1" indent="0">
              <a:buNone/>
            </a:pPr>
            <a:r>
              <a:rPr lang="en-US" dirty="0" smtClean="0"/>
              <a:t>Upper - Upper class</a:t>
            </a:r>
          </a:p>
          <a:p>
            <a:pPr lvl="1"/>
            <a:r>
              <a:rPr lang="en-US" dirty="0" smtClean="0"/>
              <a:t>Upper Middle </a:t>
            </a:r>
          </a:p>
          <a:p>
            <a:pPr lvl="1"/>
            <a:r>
              <a:rPr lang="en-US" dirty="0" smtClean="0"/>
              <a:t>Lower upper</a:t>
            </a:r>
          </a:p>
          <a:p>
            <a:pPr marL="457200" lvl="1" indent="0">
              <a:buNone/>
            </a:pPr>
            <a:r>
              <a:rPr lang="en-US" dirty="0" smtClean="0"/>
              <a:t>Middle upper</a:t>
            </a:r>
          </a:p>
          <a:p>
            <a:pPr lvl="1"/>
            <a:r>
              <a:rPr lang="en-US" dirty="0" smtClean="0"/>
              <a:t>Middle -Middle</a:t>
            </a:r>
          </a:p>
          <a:p>
            <a:pPr lvl="1"/>
            <a:r>
              <a:rPr lang="en-US" dirty="0" smtClean="0"/>
              <a:t>Middle </a:t>
            </a:r>
            <a:r>
              <a:rPr lang="en-US" dirty="0" err="1" smtClean="0"/>
              <a:t>Middle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Lower Upper</a:t>
            </a:r>
          </a:p>
          <a:p>
            <a:pPr marL="457200" lvl="1" indent="0">
              <a:buNone/>
            </a:pPr>
            <a:r>
              <a:rPr lang="en-US" dirty="0" smtClean="0"/>
              <a:t>Lower middle</a:t>
            </a:r>
          </a:p>
          <a:p>
            <a:pPr marL="457200" lvl="1" indent="0">
              <a:buNone/>
            </a:pPr>
            <a:r>
              <a:rPr lang="en-US" dirty="0" smtClean="0"/>
              <a:t>Lower- Lower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Maslow Hierarchy of Need</a:t>
            </a:r>
            <a:endParaRPr lang="en-US" dirty="0"/>
          </a:p>
        </p:txBody>
      </p:sp>
      <p:pic>
        <p:nvPicPr>
          <p:cNvPr id="1026" name="Picture 2" descr="Maslow's hierarchy of needs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86" y="1825625"/>
            <a:ext cx="57380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9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BCG Matrix (Growth Share Matrix)</a:t>
            </a:r>
            <a:endParaRPr lang="en-US" dirty="0"/>
          </a:p>
        </p:txBody>
      </p:sp>
      <p:pic>
        <p:nvPicPr>
          <p:cNvPr id="1026" name="Picture 2" descr="Assessment of BCG Matrix, its need and appli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408" y="1825625"/>
            <a:ext cx="544718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74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Market Extension Grid -  </a:t>
            </a:r>
            <a:r>
              <a:rPr lang="en-US" dirty="0" err="1" smtClean="0"/>
              <a:t>Ans</a:t>
            </a:r>
            <a:r>
              <a:rPr lang="en-US" dirty="0"/>
              <a:t>-</a:t>
            </a:r>
            <a:r>
              <a:rPr lang="en-US" dirty="0" smtClean="0"/>
              <a:t>Off</a:t>
            </a:r>
            <a:endParaRPr lang="en-US" dirty="0"/>
          </a:p>
        </p:txBody>
      </p:sp>
      <p:pic>
        <p:nvPicPr>
          <p:cNvPr id="2050" name="Picture 2" descr="The Ansoff Model [Marketing strategy matrix] | Smart Insigh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508" y="1825625"/>
            <a:ext cx="43769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40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Portfolio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product portfolio is a collection of all </a:t>
            </a:r>
            <a:r>
              <a:rPr lang="en-US" dirty="0" smtClean="0"/>
              <a:t>a company’s products and services </a:t>
            </a:r>
            <a:r>
              <a:rPr lang="en-US" dirty="0"/>
              <a:t>to its customers. It encompasses a diverse range of </a:t>
            </a:r>
            <a:r>
              <a:rPr lang="en-US" dirty="0" smtClean="0"/>
              <a:t>items at varying stages in their lifecycle </a:t>
            </a:r>
            <a:r>
              <a:rPr lang="en-US" dirty="0"/>
              <a:t>to meet a target market's diverse needs.</a:t>
            </a:r>
          </a:p>
        </p:txBody>
      </p:sp>
    </p:spTree>
    <p:extLst>
      <p:ext uri="{BB962C8B-B14F-4D97-AF65-F5344CB8AC3E}">
        <p14:creationId xmlns:p14="http://schemas.microsoft.com/office/powerpoint/2010/main" val="220677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life cycle</a:t>
            </a:r>
            <a:endParaRPr lang="en-US" dirty="0"/>
          </a:p>
        </p:txBody>
      </p:sp>
      <p:pic>
        <p:nvPicPr>
          <p:cNvPr id="3078" name="Picture 6" descr="What is a Product Life Cycle? (Definition, Stages and Examples) - TW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89" y="1690688"/>
            <a:ext cx="7620000" cy="515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8F3BB873-386D-4566-9EEC-45D808DB31A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b="1">
                <a:latin typeface="Arial" panose="020B0604020202020204" pitchFamily="34" charset="0"/>
              </a:rPr>
              <a:t>Market Segmentation</a:t>
            </a:r>
          </a:p>
          <a:p>
            <a:pPr marL="533400" indent="-533400">
              <a:spcAft>
                <a:spcPct val="20000"/>
              </a:spcAft>
              <a:buFontTx/>
              <a:buAutoNum type="arabicPeriod"/>
            </a:pPr>
            <a:r>
              <a:rPr lang="en-US" altLang="en-US" b="1">
                <a:latin typeface="Arial" panose="020B0604020202020204" pitchFamily="34" charset="0"/>
              </a:rPr>
              <a:t>Marketing Targeting</a:t>
            </a:r>
          </a:p>
          <a:p>
            <a:pPr marL="533400" indent="-533400">
              <a:spcAft>
                <a:spcPct val="20000"/>
              </a:spcAft>
              <a:buFontTx/>
              <a:buAutoNum type="arabicPeriod"/>
            </a:pPr>
            <a:r>
              <a:rPr lang="en-US" altLang="en-US" b="1">
                <a:latin typeface="Arial" panose="020B0604020202020204" pitchFamily="34" charset="0"/>
              </a:rPr>
              <a:t>Differentiation</a:t>
            </a:r>
          </a:p>
          <a:p>
            <a:pPr marL="533400" indent="-533400">
              <a:spcAft>
                <a:spcPct val="20000"/>
              </a:spcAft>
              <a:buFontTx/>
              <a:buAutoNum type="arabicPeriod"/>
            </a:pPr>
            <a:r>
              <a:rPr lang="en-US" altLang="en-US" b="1">
                <a:latin typeface="Arial" panose="020B0604020202020204" pitchFamily="34" charset="0"/>
              </a:rPr>
              <a:t>Positioning for Competitive Advantage</a:t>
            </a:r>
          </a:p>
        </p:txBody>
      </p:sp>
      <p:pic>
        <p:nvPicPr>
          <p:cNvPr id="8198" name="Picture 6" descr="Fig 7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14800"/>
            <a:ext cx="9144000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1212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658A74F-3FC5-407F-9D61-9472E85C474F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3200">
                <a:latin typeface="Arial" panose="020B0604020202020204" pitchFamily="34" charset="0"/>
              </a:rPr>
              <a:t>Segmenting 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Consumer markets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Business markets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International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3200">
                <a:latin typeface="Arial" panose="020B0604020202020204" pitchFamily="34" charset="0"/>
              </a:rPr>
              <a:t>Requirements for effective segmentation</a:t>
            </a:r>
          </a:p>
        </p:txBody>
      </p:sp>
    </p:spTree>
    <p:extLst>
      <p:ext uri="{BB962C8B-B14F-4D97-AF65-F5344CB8AC3E}">
        <p14:creationId xmlns:p14="http://schemas.microsoft.com/office/powerpoint/2010/main" val="2370256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B225731-C074-437D-BBE6-B06EB646690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Marketers try different segmentation variables, alone and in combination, to find the best way to view the market structure.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Geographic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Demographic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Psychographic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Behavioral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202153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3DF44597-C0F8-4333-A711-A48C7D50B9E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Market Segmentation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79613" y="1443039"/>
            <a:ext cx="8229600" cy="44656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600" i="1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Geographic </a:t>
            </a:r>
            <a:r>
              <a:rPr lang="en-US" altLang="en-US" dirty="0">
                <a:latin typeface="Arial" panose="020B0604020202020204" pitchFamily="34" charset="0"/>
              </a:rPr>
              <a:t>segmentation divides the market into different geographical units such as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nations, regions, states, counties, cities</a:t>
            </a:r>
            <a:r>
              <a:rPr lang="en-US" altLang="en-US" dirty="0">
                <a:latin typeface="Arial" panose="020B0604020202020204" pitchFamily="34" charset="0"/>
              </a:rPr>
              <a:t>, or even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neighborhoods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Localizing products, advertising, promotion, and sales efforts to fit the needs of individual regions, cities, …</a:t>
            </a:r>
          </a:p>
        </p:txBody>
      </p:sp>
    </p:spTree>
    <p:extLst>
      <p:ext uri="{BB962C8B-B14F-4D97-AF65-F5344CB8AC3E}">
        <p14:creationId xmlns:p14="http://schemas.microsoft.com/office/powerpoint/2010/main" val="3898316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2798F74-D60A-415B-83C2-9AFCDC1EFFDA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/>
          </a:p>
        </p:txBody>
      </p:sp>
      <p:pic>
        <p:nvPicPr>
          <p:cNvPr id="18435" name="Picture 2" descr="Map of A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57200"/>
            <a:ext cx="7467600" cy="560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Box 2"/>
          <p:cNvSpPr txBox="1">
            <a:spLocks noChangeArrowheads="1"/>
          </p:cNvSpPr>
          <p:nvPr/>
        </p:nvSpPr>
        <p:spPr bwMode="auto">
          <a:xfrm>
            <a:off x="3810000" y="6172201"/>
            <a:ext cx="443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Geographic Segmentation -  by nations</a:t>
            </a:r>
          </a:p>
        </p:txBody>
      </p:sp>
    </p:spTree>
    <p:extLst>
      <p:ext uri="{BB962C8B-B14F-4D97-AF65-F5344CB8AC3E}">
        <p14:creationId xmlns:p14="http://schemas.microsoft.com/office/powerpoint/2010/main" val="89320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8E1FC926-3288-49B7-8718-FACCD40678C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Demographic segmentation </a:t>
            </a:r>
            <a:r>
              <a:rPr lang="en-US" altLang="en-US" dirty="0">
                <a:latin typeface="Arial" panose="020B0604020202020204" pitchFamily="34" charset="0"/>
              </a:rPr>
              <a:t>divides the market into groups based on variables such as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age, gender, family size, family life cycle, income, occupation, education, religion, race, generation</a:t>
            </a:r>
            <a:r>
              <a:rPr lang="en-US" altLang="en-US" dirty="0">
                <a:latin typeface="Arial" panose="020B0604020202020204" pitchFamily="34" charset="0"/>
              </a:rPr>
              <a:t>, and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nationality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i="1" dirty="0">
                <a:latin typeface="Arial" panose="020B0604020202020204" pitchFamily="34" charset="0"/>
              </a:rPr>
              <a:t>(1) Consumer needs, wants, and usage rates often vary closely with demographic variables;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i="1" dirty="0">
                <a:latin typeface="Arial" panose="020B0604020202020204" pitchFamily="34" charset="0"/>
              </a:rPr>
              <a:t>(2) Easier to measure than other variables;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2400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164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B7019AE-B5E4-4322-AAA8-80BC9516862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/>
          </a:p>
        </p:txBody>
      </p:sp>
      <p:pic>
        <p:nvPicPr>
          <p:cNvPr id="22531" name="Picture 1" descr="C:\Program Files\Microsoft Office\MEDIA\CAGCAT10\j0186348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90600"/>
            <a:ext cx="12890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" descr="C:\Program Files\Microsoft Office\MEDIA\CAGCAT10\j0240719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19401"/>
            <a:ext cx="1163638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3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762000"/>
            <a:ext cx="1868488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C:\Program Files\Microsoft Office\MEDIA\CAGCAT10\j0301252.wm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14801"/>
            <a:ext cx="1830388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5" descr="C:\Users\Peggy\AppData\Local\Microsoft\Windows\Temporary Internet Files\Content.IE5\0A90GTSG\MCj04368240000[1]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209800"/>
            <a:ext cx="14097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Box 6"/>
          <p:cNvSpPr txBox="1">
            <a:spLocks noChangeArrowheads="1"/>
          </p:cNvSpPr>
          <p:nvPr/>
        </p:nvSpPr>
        <p:spPr bwMode="auto">
          <a:xfrm>
            <a:off x="4114800" y="5105401"/>
            <a:ext cx="449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Demographic segmentation - occupation</a:t>
            </a:r>
          </a:p>
        </p:txBody>
      </p:sp>
    </p:spTree>
    <p:extLst>
      <p:ext uri="{BB962C8B-B14F-4D97-AF65-F5344CB8AC3E}">
        <p14:creationId xmlns:p14="http://schemas.microsoft.com/office/powerpoint/2010/main" val="2119667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597C93D3-A09B-4659-ABFD-33F3186BAD46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600" b="1" i="1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Age and life-cycle </a:t>
            </a:r>
            <a:r>
              <a:rPr lang="en-US" altLang="en-US" dirty="0">
                <a:latin typeface="Arial" panose="020B0604020202020204" pitchFamily="34" charset="0"/>
              </a:rPr>
              <a:t>stage segmentation is the process of offering different products or using different marketing approaches for different age and life-cycle groups.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endParaRPr lang="en-US" altLang="en-US" sz="1000" b="1" dirty="0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Gender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segmentation divides the market based on sex (male or female).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Income </a:t>
            </a:r>
            <a:r>
              <a:rPr lang="en-US" altLang="en-US" dirty="0">
                <a:latin typeface="Arial" panose="020B0604020202020204" pitchFamily="34" charset="0"/>
              </a:rPr>
              <a:t>segmentation</a:t>
            </a:r>
            <a:r>
              <a:rPr lang="en-US" altLang="en-US" dirty="0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divides the market into affluent or low-income consumers.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90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8BD6567-CBB2-4943-B83E-AB6C42338352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1981200" y="533400"/>
            <a:ext cx="7924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Aft>
                <a:spcPct val="20000"/>
              </a:spcAft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Be careful to guard against stereotypes when using age and life-cycle segmentation. </a:t>
            </a:r>
          </a:p>
          <a:p>
            <a:pPr eaLnBrk="1" hangingPunct="1">
              <a:lnSpc>
                <a:spcPct val="95000"/>
              </a:lnSpc>
              <a:spcAft>
                <a:spcPct val="20000"/>
              </a:spcAft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Age is a poor predictor of a person’s life cycle, health, work or family status, needs and buying power.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What are the traditional family life-cycle stages?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Young singles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Married couples with children</a:t>
            </a:r>
          </a:p>
          <a:p>
            <a:pPr eaLnBrk="1" hangingPunct="1">
              <a:buSzPct val="55000"/>
              <a:buFontTx/>
              <a:buNone/>
            </a:pPr>
            <a:r>
              <a:rPr lang="en-US" altLang="zh-CN" sz="2400" b="1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What are the non-traditional family life-cycle stages? (Marketers are increasingly catering to…)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Unmarried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Singles marrying later in life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Childless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Same-sex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Single parents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Extended parents (those with young children returning home)</a:t>
            </a:r>
          </a:p>
        </p:txBody>
      </p:sp>
    </p:spTree>
    <p:extLst>
      <p:ext uri="{BB962C8B-B14F-4D97-AF65-F5344CB8AC3E}">
        <p14:creationId xmlns:p14="http://schemas.microsoft.com/office/powerpoint/2010/main" val="2841704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2C639117-AC72-43F1-9729-0C6FAF85C98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/>
          </a:p>
        </p:txBody>
      </p:sp>
      <p:pic>
        <p:nvPicPr>
          <p:cNvPr id="27651" name="Picture 3" descr="C:\Users\Peggy\AppData\Local\Microsoft\Windows\Temporary Internet Files\Content.IE5\QSGL5HGK\MPj0427839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90601"/>
            <a:ext cx="29718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Box 7"/>
          <p:cNvSpPr txBox="1">
            <a:spLocks noChangeArrowheads="1"/>
          </p:cNvSpPr>
          <p:nvPr/>
        </p:nvSpPr>
        <p:spPr bwMode="auto">
          <a:xfrm>
            <a:off x="6096000" y="1828801"/>
            <a:ext cx="411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Age &amp; Life Cycle Segmentation – families with young children</a:t>
            </a:r>
          </a:p>
        </p:txBody>
      </p:sp>
    </p:spTree>
    <p:extLst>
      <p:ext uri="{BB962C8B-B14F-4D97-AF65-F5344CB8AC3E}">
        <p14:creationId xmlns:p14="http://schemas.microsoft.com/office/powerpoint/2010/main" val="117708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EB5ED956-E723-429F-94A9-B70E4A3EC3D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600" b="1" u="sng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Psychographic</a:t>
            </a:r>
            <a:r>
              <a:rPr lang="en-US" altLang="en-US" b="1" dirty="0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segmentation divides buyers into different groups based on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social class, lifestyle, or personality traits.</a:t>
            </a:r>
          </a:p>
        </p:txBody>
      </p:sp>
      <p:pic>
        <p:nvPicPr>
          <p:cNvPr id="29701" name="Picture 6" descr="bagua zha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33800"/>
            <a:ext cx="160655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3" descr="C:\Users\Peggy\AppData\Local\Microsoft\Windows\Temporary Internet Files\Content.IE5\0A90GTSG\MPj04276780000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62400"/>
            <a:ext cx="36639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8" descr="Young Musicia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572001"/>
            <a:ext cx="25908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9089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9BF97E38-6F85-483F-9006-567B9D2FBDE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60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Behavioral </a:t>
            </a:r>
            <a:r>
              <a:rPr lang="en-US" altLang="en-US" dirty="0">
                <a:latin typeface="Arial" panose="020B0604020202020204" pitchFamily="34" charset="0"/>
              </a:rPr>
              <a:t>segmentation divides buyers into groups based on their knowledge, attitudes, uses, or responses to a product.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Occasion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Benefits sought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User status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Usage rate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Loyalty status</a:t>
            </a:r>
          </a:p>
        </p:txBody>
      </p:sp>
    </p:spTree>
    <p:extLst>
      <p:ext uri="{BB962C8B-B14F-4D97-AF65-F5344CB8AC3E}">
        <p14:creationId xmlns:p14="http://schemas.microsoft.com/office/powerpoint/2010/main" val="958762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EF36EAF5-ED5C-4DCC-B8BE-F3A46913C19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en-US" altLang="en-US" sz="38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Occasion </a:t>
            </a:r>
            <a:r>
              <a:rPr lang="en-US" altLang="en-US" dirty="0">
                <a:latin typeface="Arial" panose="020B0604020202020204" pitchFamily="34" charset="0"/>
              </a:rPr>
              <a:t>segmentation divides buyers into groups according to occasions </a:t>
            </a:r>
            <a:r>
              <a:rPr lang="en-US" altLang="en-US" sz="2400" b="1" i="1" dirty="0">
                <a:latin typeface="Arial" panose="020B0604020202020204" pitchFamily="34" charset="0"/>
              </a:rPr>
              <a:t>when they get the idea to buy, actually make purchases, or respond to a product.</a:t>
            </a:r>
            <a:r>
              <a:rPr lang="en-US" altLang="en-US" sz="2400" dirty="0">
                <a:latin typeface="Arial" panose="020B0604020202020204" pitchFamily="34" charset="0"/>
              </a:rPr>
              <a:t> – help build up product usage</a:t>
            </a:r>
            <a:endParaRPr lang="en-US" altLang="en-US" sz="2400" b="1" i="1" dirty="0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Benefit</a:t>
            </a:r>
            <a:r>
              <a:rPr lang="en-US" altLang="en-US" b="1" dirty="0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segmentation requires finding the </a:t>
            </a:r>
            <a:r>
              <a:rPr lang="en-US" altLang="en-US" sz="2400" b="1" i="1" dirty="0">
                <a:latin typeface="Arial" panose="020B0604020202020204" pitchFamily="34" charset="0"/>
              </a:rPr>
              <a:t>major benefits people look for in the product class, the kinds of people who look for each benefit, and the major brands that deliver each benefit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9641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A4E22DF-CE92-4542-B2F0-F943D8D552E2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/>
          </a:p>
        </p:txBody>
      </p:sp>
      <p:pic>
        <p:nvPicPr>
          <p:cNvPr id="35843" name="Picture 2" descr="C:\Users\Peggy\AppData\Local\Microsoft\Windows\Temporary Internet Files\Content.IE5\QSGL5HGK\MPj0427780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88" y="682626"/>
            <a:ext cx="6170612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2001838" y="4876801"/>
            <a:ext cx="63039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Occasion Segmentation – consumers buy special items for occasions like birthdays</a:t>
            </a:r>
          </a:p>
        </p:txBody>
      </p:sp>
    </p:spTree>
    <p:extLst>
      <p:ext uri="{BB962C8B-B14F-4D97-AF65-F5344CB8AC3E}">
        <p14:creationId xmlns:p14="http://schemas.microsoft.com/office/powerpoint/2010/main" val="879371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B8CE468-C44D-43C0-ADC9-29027C5CC3F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User </a:t>
            </a: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status </a:t>
            </a:r>
            <a:r>
              <a:rPr lang="en-US" altLang="en-US" dirty="0">
                <a:latin typeface="Arial" panose="020B0604020202020204" pitchFamily="34" charset="0"/>
              </a:rPr>
              <a:t>divides buyers into ex-users, potential users, first-time users, and regular users of a product.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Usage rate </a:t>
            </a:r>
            <a:r>
              <a:rPr lang="en-US" altLang="en-US" dirty="0">
                <a:latin typeface="Arial" panose="020B0604020202020204" pitchFamily="34" charset="0"/>
              </a:rPr>
              <a:t>divides buyers into light, medium, and heavy product users.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Loyalty status </a:t>
            </a:r>
            <a:r>
              <a:rPr lang="en-US" altLang="en-US" dirty="0">
                <a:latin typeface="Arial" panose="020B0604020202020204" pitchFamily="34" charset="0"/>
              </a:rPr>
              <a:t>divides buyers into groups according to their degree of loyalty.</a:t>
            </a:r>
          </a:p>
        </p:txBody>
      </p:sp>
    </p:spTree>
    <p:extLst>
      <p:ext uri="{BB962C8B-B14F-4D97-AF65-F5344CB8AC3E}">
        <p14:creationId xmlns:p14="http://schemas.microsoft.com/office/powerpoint/2010/main" val="22593569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7C696BB0-9065-4687-858F-2D2D90C474D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Using Multiple Segmentation Bases</a:t>
            </a:r>
            <a:endParaRPr lang="en-US" altLang="en-US" sz="3000" b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Multiple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is used to identify smaller, better-defined target groups.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Geodemographic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is an example of multivariable segmentation that divides groups into consumer lifestyle patterns.</a:t>
            </a:r>
          </a:p>
        </p:txBody>
      </p:sp>
    </p:spTree>
    <p:extLst>
      <p:ext uri="{BB962C8B-B14F-4D97-AF65-F5344CB8AC3E}">
        <p14:creationId xmlns:p14="http://schemas.microsoft.com/office/powerpoint/2010/main" val="32464032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F861A28-59D8-48DA-9DE7-E8871E84DB9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Explain which basis would be most important to marketers of Credit Cards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4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Demographic segmentation</a:t>
            </a:r>
            <a:r>
              <a:rPr lang="en-US" altLang="en-US" smtClean="0"/>
              <a:t> – income (gold and platinum cards)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Behavioral segmentation</a:t>
            </a:r>
            <a:r>
              <a:rPr lang="en-US" altLang="en-US" smtClean="0"/>
              <a:t> – usage rate (the higher usage rate customers are more profitable and appealing), user status (users of competing cards or banks)</a:t>
            </a:r>
          </a:p>
        </p:txBody>
      </p:sp>
    </p:spTree>
    <p:extLst>
      <p:ext uri="{BB962C8B-B14F-4D97-AF65-F5344CB8AC3E}">
        <p14:creationId xmlns:p14="http://schemas.microsoft.com/office/powerpoint/2010/main" val="2481544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74D2A61-36DE-4AD2-A9F3-99F3C26563B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Explain which basis would be most important to marketers of Coffee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4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Demographic segmentation</a:t>
            </a:r>
            <a:r>
              <a:rPr lang="en-US" altLang="en-US" smtClean="0"/>
              <a:t> – income for premium brands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Geographical segmentation</a:t>
            </a:r>
            <a:r>
              <a:rPr lang="en-US" altLang="en-US" smtClean="0"/>
              <a:t> – taste and product form (instant vs. brewed)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Behavioral segmentation</a:t>
            </a:r>
            <a:r>
              <a:rPr lang="en-US" altLang="en-US" smtClean="0"/>
              <a:t> – occasions (out of home, eight o’clock), benefits sought (low acid)</a:t>
            </a:r>
          </a:p>
        </p:txBody>
      </p:sp>
    </p:spTree>
    <p:extLst>
      <p:ext uri="{BB962C8B-B14F-4D97-AF65-F5344CB8AC3E}">
        <p14:creationId xmlns:p14="http://schemas.microsoft.com/office/powerpoint/2010/main" val="2382717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33F3D00-CC1A-4A5C-94A2-96112471FF1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Requirements for Effective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To be useful, a market segment must be: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Measurable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Accessible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Substantial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Differentiable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Actionable</a:t>
            </a:r>
          </a:p>
        </p:txBody>
      </p:sp>
    </p:spTree>
    <p:extLst>
      <p:ext uri="{BB962C8B-B14F-4D97-AF65-F5344CB8AC3E}">
        <p14:creationId xmlns:p14="http://schemas.microsoft.com/office/powerpoint/2010/main" val="3125596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5B013BD-A7D9-486A-952C-8766C4DD60A5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>
                <a:solidFill>
                  <a:srgbClr val="0000FF"/>
                </a:solidFill>
              </a:rPr>
              <a:t/>
            </a:r>
            <a:br>
              <a:rPr lang="en-US" altLang="en-US" sz="3800">
                <a:solidFill>
                  <a:srgbClr val="0000FF"/>
                </a:solidFill>
              </a:rPr>
            </a:br>
            <a:r>
              <a:rPr lang="en-US" altLang="en-US" sz="3800"/>
              <a:t>Market Segmentation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Requirements for Effective Segmentation</a:t>
            </a:r>
            <a:endParaRPr lang="en-US" altLang="en-US" b="1" i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Measurable: </a:t>
            </a:r>
            <a:r>
              <a:rPr lang="en-US" altLang="en-US">
                <a:latin typeface="Arial" panose="020B0604020202020204" pitchFamily="34" charset="0"/>
              </a:rPr>
              <a:t>Examples include the size, purchasing power, and profiles of the segments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Accessible: </a:t>
            </a:r>
            <a:r>
              <a:rPr lang="en-US" altLang="en-US">
                <a:latin typeface="Arial" panose="020B0604020202020204" pitchFamily="34" charset="0"/>
              </a:rPr>
              <a:t>Refers to the fact that the market can be effectively reached and served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Substantial</a:t>
            </a:r>
            <a:r>
              <a:rPr lang="en-US" altLang="en-US" b="1">
                <a:latin typeface="Arial" panose="020B0604020202020204" pitchFamily="34" charset="0"/>
              </a:rPr>
              <a:t>: </a:t>
            </a:r>
            <a:r>
              <a:rPr lang="en-US" altLang="en-US">
                <a:latin typeface="Arial" panose="020B0604020202020204" pitchFamily="34" charset="0"/>
              </a:rPr>
              <a:t>Refers to the fact that the markets are large and profitable enough to serve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5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DF00D57B-71DC-4E9F-B843-1CBEEA8D546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Requirements for Effective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Differentiable</a:t>
            </a:r>
            <a:r>
              <a:rPr lang="en-US" altLang="en-US" b="1">
                <a:latin typeface="Arial" panose="020B0604020202020204" pitchFamily="34" charset="0"/>
              </a:rPr>
              <a:t>: </a:t>
            </a:r>
            <a:r>
              <a:rPr lang="en-US" altLang="en-US">
                <a:latin typeface="Arial" panose="020B0604020202020204" pitchFamily="34" charset="0"/>
              </a:rPr>
              <a:t>Refers to the fact that the markets are conceptually distinguishable and respond differently to marketing mix elements and programs</a:t>
            </a:r>
          </a:p>
          <a:p>
            <a:pPr marL="533400" indent="-533400"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Actionable: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Refers to the fact that effective programs can be designed for attracting and serving the segments</a:t>
            </a:r>
          </a:p>
        </p:txBody>
      </p:sp>
    </p:spTree>
    <p:extLst>
      <p:ext uri="{BB962C8B-B14F-4D97-AF65-F5344CB8AC3E}">
        <p14:creationId xmlns:p14="http://schemas.microsoft.com/office/powerpoint/2010/main" val="3957312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250FC58-C0A3-490B-B272-F81A74D1906F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Concentrated marketing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targets a small share of a large market; the marketer goes after a large share of one or a few niches.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Niche marketing appealing when</a:t>
            </a:r>
          </a:p>
          <a:p>
            <a:pPr lvl="2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Limited resources</a:t>
            </a:r>
          </a:p>
          <a:p>
            <a:pPr lvl="2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Greater knowledge of consumer needs in the niches</a:t>
            </a:r>
          </a:p>
          <a:p>
            <a:pPr lvl="2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Special reputation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More effective and efficient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Higher-than-normal risks</a:t>
            </a:r>
            <a:endParaRPr lang="en-US" altLang="en-US" i="1" dirty="0" smtClean="0">
              <a:latin typeface="Arial" panose="020B0604020202020204" pitchFamily="34" charset="0"/>
            </a:endParaRPr>
          </a:p>
        </p:txBody>
      </p:sp>
      <p:sp>
        <p:nvSpPr>
          <p:cNvPr id="80900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Market Targeting</a:t>
            </a:r>
          </a:p>
        </p:txBody>
      </p:sp>
    </p:spTree>
    <p:extLst>
      <p:ext uri="{BB962C8B-B14F-4D97-AF65-F5344CB8AC3E}">
        <p14:creationId xmlns:p14="http://schemas.microsoft.com/office/powerpoint/2010/main" val="2875079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ABAA350-EEF0-46CA-B5EC-A6929C4D611D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Micromarketing</a:t>
            </a:r>
            <a:r>
              <a:rPr lang="en-US" altLang="en-US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is the practice of tailoring products and marketing programs to suit the tastes of specific individuals and locations.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Local marketing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Individual marketing</a:t>
            </a:r>
            <a:endParaRPr lang="en-US" altLang="en-US" sz="2800" i="1">
              <a:latin typeface="Arial" panose="020B0604020202020204" pitchFamily="34" charset="0"/>
            </a:endParaRPr>
          </a:p>
        </p:txBody>
      </p:sp>
      <p:sp>
        <p:nvSpPr>
          <p:cNvPr id="82948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Market Targeting</a:t>
            </a:r>
          </a:p>
        </p:txBody>
      </p:sp>
    </p:spTree>
    <p:extLst>
      <p:ext uri="{BB962C8B-B14F-4D97-AF65-F5344CB8AC3E}">
        <p14:creationId xmlns:p14="http://schemas.microsoft.com/office/powerpoint/2010/main" val="2590437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74EA2C1-1420-4D13-80E2-1DC59EFB6A1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84995" name="Rectangle 4"/>
          <p:cNvSpPr>
            <a:spLocks noChangeArrowheads="1"/>
          </p:cNvSpPr>
          <p:nvPr/>
        </p:nvSpPr>
        <p:spPr bwMode="auto">
          <a:xfrm>
            <a:off x="4897438" y="3810000"/>
            <a:ext cx="2798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00000"/>
                </a:solidFill>
              </a:rPr>
              <a:t>BK Double Rendang</a:t>
            </a:r>
          </a:p>
        </p:txBody>
      </p:sp>
      <p:sp>
        <p:nvSpPr>
          <p:cNvPr id="84996" name="TextBox 6"/>
          <p:cNvSpPr txBox="1">
            <a:spLocks noChangeArrowheads="1"/>
          </p:cNvSpPr>
          <p:nvPr/>
        </p:nvSpPr>
        <p:spPr bwMode="auto">
          <a:xfrm>
            <a:off x="1905000" y="4543425"/>
            <a:ext cx="6096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Micromarketing – fast food chains like Burger King introduce rendang burgers in Singapore and Malaysia, where local palates prefer spicy food.</a:t>
            </a:r>
          </a:p>
        </p:txBody>
      </p:sp>
      <p:pic>
        <p:nvPicPr>
          <p:cNvPr id="84997" name="Picture 7" descr="2482373764_3eda2c2e8d_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28600"/>
            <a:ext cx="41148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8" name="Text Box 8"/>
          <p:cNvSpPr txBox="1">
            <a:spLocks noChangeArrowheads="1"/>
          </p:cNvSpPr>
          <p:nvPr/>
        </p:nvSpPr>
        <p:spPr bwMode="auto">
          <a:xfrm>
            <a:off x="8077200" y="32766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Gene Lee</a:t>
            </a:r>
          </a:p>
        </p:txBody>
      </p:sp>
      <p:pic>
        <p:nvPicPr>
          <p:cNvPr id="84999" name="Picture 9" descr="67222433_f3f64965aa_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"/>
            <a:ext cx="3848100" cy="269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00" name="Picture 2" descr="http://www.bon-food.com.sg/images/Dbl_Rendan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281940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01" name="Picture 4" descr="http://www.bon-food.com.sg/images/index_0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90800"/>
            <a:ext cx="1879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02" name="Text Box 10"/>
          <p:cNvSpPr txBox="1">
            <a:spLocks noChangeArrowheads="1"/>
          </p:cNvSpPr>
          <p:nvPr/>
        </p:nvSpPr>
        <p:spPr bwMode="auto">
          <a:xfrm>
            <a:off x="1676400" y="28956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Stephan Mosel</a:t>
            </a:r>
          </a:p>
        </p:txBody>
      </p:sp>
    </p:spTree>
    <p:extLst>
      <p:ext uri="{BB962C8B-B14F-4D97-AF65-F5344CB8AC3E}">
        <p14:creationId xmlns:p14="http://schemas.microsoft.com/office/powerpoint/2010/main" val="411867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A060316-8AA2-4B40-B911-4B512EAD7CA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286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/>
              <a:t>Market Targeting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Local marketing</a:t>
            </a:r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involves tailoring brands and promotion to the needs and wants of local customer groups (cities, neighborhoods and stores).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Benefits of local marketing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Increased marketing effectiveness in competitive markets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More customer-specific offerings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Challenges of local marketing</a:t>
            </a:r>
          </a:p>
          <a:p>
            <a:pPr marL="742950" lvl="1" indent="-285750"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Increased manufacturing and marketing costs</a:t>
            </a:r>
          </a:p>
          <a:p>
            <a:pPr marL="742950" lvl="1" indent="-285750"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Less economy of scale</a:t>
            </a:r>
          </a:p>
          <a:p>
            <a:pPr marL="742950" lvl="1" indent="-285750"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Logistics </a:t>
            </a:r>
          </a:p>
          <a:p>
            <a:pPr marL="742950" lvl="1" indent="-285750"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Dilution of company image</a:t>
            </a:r>
            <a:endParaRPr lang="en-US" altLang="en-US" sz="2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8770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3601B4BF-84CD-4D50-8198-9F69ACA34AE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79614" y="1443038"/>
            <a:ext cx="8231187" cy="4424362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Individual marketing</a:t>
            </a:r>
            <a:r>
              <a:rPr lang="en-US" altLang="en-US" b="1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involves tailoring products and marketing programs to the needs and preferences of individual customers.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Also known as: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600">
                <a:latin typeface="Arial" panose="020B0604020202020204" pitchFamily="34" charset="0"/>
              </a:rPr>
              <a:t>One-to-one marketing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600">
                <a:latin typeface="Arial" panose="020B0604020202020204" pitchFamily="34" charset="0"/>
              </a:rPr>
              <a:t>Mass customization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600">
                <a:latin typeface="Arial" panose="020B0604020202020204" pitchFamily="34" charset="0"/>
              </a:rPr>
              <a:t>Markets-of-one marketing</a:t>
            </a:r>
          </a:p>
        </p:txBody>
      </p:sp>
      <p:sp>
        <p:nvSpPr>
          <p:cNvPr id="88068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800">
                <a:solidFill>
                  <a:srgbClr val="0000FF"/>
                </a:solidFill>
                <a:latin typeface="Arial" panose="020B0604020202020204" pitchFamily="34" charset="0"/>
              </a:rPr>
              <a:t/>
            </a:r>
            <a:br>
              <a:rPr lang="en-US" altLang="en-US" sz="380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Market Targeting</a:t>
            </a:r>
          </a:p>
        </p:txBody>
      </p:sp>
    </p:spTree>
    <p:extLst>
      <p:ext uri="{BB962C8B-B14F-4D97-AF65-F5344CB8AC3E}">
        <p14:creationId xmlns:p14="http://schemas.microsoft.com/office/powerpoint/2010/main" val="803368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A7A315E-9BDC-44E0-9E8A-2C974DE8E8C6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Market Targeting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Mass customization </a:t>
            </a:r>
            <a:r>
              <a:rPr lang="en-US" altLang="en-US">
                <a:latin typeface="Arial" panose="020B0604020202020204" pitchFamily="34" charset="0"/>
              </a:rPr>
              <a:t>is the process through which firms interact one-to-one with masses of customers to design products and services tailor-made to meet individual needs. 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Has made relationships with customers important in the new economy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Provides a way to distinguish the company against competitors</a:t>
            </a:r>
          </a:p>
        </p:txBody>
      </p:sp>
    </p:spTree>
    <p:extLst>
      <p:ext uri="{BB962C8B-B14F-4D97-AF65-F5344CB8AC3E}">
        <p14:creationId xmlns:p14="http://schemas.microsoft.com/office/powerpoint/2010/main" val="6774592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DAACA2B2-DD3C-4D3E-B3CD-514479071D4F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/>
          </a:p>
        </p:txBody>
      </p:sp>
      <p:grpSp>
        <p:nvGrpSpPr>
          <p:cNvPr id="92163" name="Group 9"/>
          <p:cNvGrpSpPr>
            <a:grpSpLocks/>
          </p:cNvGrpSpPr>
          <p:nvPr/>
        </p:nvGrpSpPr>
        <p:grpSpPr bwMode="auto">
          <a:xfrm>
            <a:off x="1981200" y="838200"/>
            <a:ext cx="4095750" cy="2095500"/>
            <a:chOff x="192" y="624"/>
            <a:chExt cx="2580" cy="1320"/>
          </a:xfrm>
        </p:grpSpPr>
        <p:pic>
          <p:nvPicPr>
            <p:cNvPr id="92169" name="Picture 2" descr="http://dbs.com.sg/img/treasures/sg/common/main/bnr_430x180_generic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864"/>
              <a:ext cx="2580" cy="1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70" name="Picture 4" descr="DBS Singapore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624"/>
              <a:ext cx="85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2164" name="Picture 6" descr="http://www.abnamro.com.sg/sg/images/spacer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"/>
            <a:ext cx="9525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165" name="Group 10"/>
          <p:cNvGrpSpPr>
            <a:grpSpLocks/>
          </p:cNvGrpSpPr>
          <p:nvPr/>
        </p:nvGrpSpPr>
        <p:grpSpPr bwMode="auto">
          <a:xfrm>
            <a:off x="5867401" y="2971800"/>
            <a:ext cx="4264025" cy="2590800"/>
            <a:chOff x="2928" y="2112"/>
            <a:chExt cx="2686" cy="1584"/>
          </a:xfrm>
        </p:grpSpPr>
        <p:pic>
          <p:nvPicPr>
            <p:cNvPr id="92167" name="Picture 8" descr="HSBC Premier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2256"/>
              <a:ext cx="2686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68" name="Picture 10" descr="HSBC logo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4" y="2112"/>
              <a:ext cx="1242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166" name="TextBox 11"/>
          <p:cNvSpPr txBox="1">
            <a:spLocks noChangeArrowheads="1"/>
          </p:cNvSpPr>
          <p:nvPr/>
        </p:nvSpPr>
        <p:spPr bwMode="auto">
          <a:xfrm>
            <a:off x="1905001" y="3200400"/>
            <a:ext cx="368141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Mass customization by banks to reach groups of customers who hold large sums of savings and investments with the bank</a:t>
            </a:r>
          </a:p>
        </p:txBody>
      </p:sp>
    </p:spTree>
    <p:extLst>
      <p:ext uri="{BB962C8B-B14F-4D97-AF65-F5344CB8AC3E}">
        <p14:creationId xmlns:p14="http://schemas.microsoft.com/office/powerpoint/2010/main" val="173984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046EEDA0-20CB-408A-B2D4-89F4D412493D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Market Targeting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Choosing a Targeting Strategy 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>
                <a:latin typeface="Arial" panose="020B0604020202020204" pitchFamily="34" charset="0"/>
              </a:rPr>
              <a:t>Depends on: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Company resources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Product variability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Product life-cycle stage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Market variability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Competitor’s marketing strategies</a:t>
            </a:r>
          </a:p>
          <a:p>
            <a:pPr marL="533400" indent="-533400"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118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979B38FA-E139-4E86-A3F9-4FEE1BBACADF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Targeting 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Which targeting strategy is best: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When the firm’s resources are limited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Uniform products such as grapefruit or steel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Products that vary in design such as cameras and automobiles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When a firm introduces a new product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Most buyers have the same tastes, buy the same amounts, react the same way to marketing efforts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When competitors use differentiated marketing</a:t>
            </a:r>
          </a:p>
          <a:p>
            <a:pPr marL="533400" indent="-533400"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5735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888140C3-C96F-46E8-BD32-1AC050949F5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Targeting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371601"/>
            <a:ext cx="7924800" cy="5110163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Socially Responsible Target Marketing</a:t>
            </a:r>
            <a:endParaRPr lang="en-US" altLang="en-US" b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Concerned with the issues of targeting vulnerable or disadvantaged consumers with controversial or potentially harmful products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Vulnerable segments: </a:t>
            </a:r>
            <a:r>
              <a:rPr lang="en-US" altLang="en-US" smtClean="0">
                <a:latin typeface="Arial" panose="020B0604020202020204" pitchFamily="34" charset="0"/>
              </a:rPr>
              <a:t>children, minorities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Controversial products: alcohol, cigarettes, fast-food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Benefits both company and targeted customers with specific needs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Case: Tainted Sanlu Infant Milk Powder Incident </a:t>
            </a:r>
            <a:r>
              <a:rPr lang="en-US" altLang="en-US" sz="2000">
                <a:hlinkClick r:id="rId3"/>
              </a:rPr>
              <a:t>http://www.youtube.com/watch?v=xtTey7-3Zuk&amp;NR=1</a:t>
            </a:r>
            <a:endParaRPr lang="en-US" altLang="en-US" sz="2000"/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000"/>
              <a:t>	</a:t>
            </a:r>
            <a:r>
              <a:rPr lang="en-US" altLang="en-US" sz="2000">
                <a:hlinkClick r:id="rId4"/>
              </a:rPr>
              <a:t>http://www.youtube.com/watch?v=MsIn6iTgL3Q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3358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63665CC3-267E-4189-A803-20E0740FE455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00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Differentiation and Positioning</a:t>
            </a:r>
            <a:r>
              <a:rPr lang="en-US" altLang="en-US" sz="380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Product position </a:t>
            </a:r>
            <a:r>
              <a:rPr lang="en-US" altLang="en-US">
                <a:latin typeface="Arial" panose="020B0604020202020204" pitchFamily="34" charset="0"/>
              </a:rPr>
              <a:t>is the way the product is defined by consumers on important attributes—the place the product occupies in consumers’ minds relative to competing products.</a:t>
            </a:r>
          </a:p>
          <a:p>
            <a:pPr marL="914400" lvl="1" indent="-457200"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Perceptions</a:t>
            </a:r>
          </a:p>
          <a:p>
            <a:pPr marL="914400" lvl="1" indent="-457200"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Impressions</a:t>
            </a:r>
          </a:p>
          <a:p>
            <a:pPr marL="914400" lvl="1" indent="-457200"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Feelings</a:t>
            </a:r>
          </a:p>
        </p:txBody>
      </p:sp>
    </p:spTree>
    <p:extLst>
      <p:ext uri="{BB962C8B-B14F-4D97-AF65-F5344CB8AC3E}">
        <p14:creationId xmlns:p14="http://schemas.microsoft.com/office/powerpoint/2010/main" val="38964712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7D5900B-F70E-46FC-A491-FC798ED369D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00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Differentiation and Positioning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Positioning maps </a:t>
            </a:r>
            <a:r>
              <a:rPr lang="en-US" altLang="en-US">
                <a:latin typeface="Arial" panose="020B0604020202020204" pitchFamily="34" charset="0"/>
              </a:rPr>
              <a:t>show consumer perceptions of their brands versus competing products on important buying dimensions.</a:t>
            </a:r>
          </a:p>
          <a:p>
            <a:pPr marL="742950" lvl="1" indent="-285750">
              <a:buFontTx/>
              <a:buChar char="•"/>
            </a:pPr>
            <a:r>
              <a:rPr lang="en-US" altLang="en-US" sz="2600">
                <a:latin typeface="Arial" panose="020B0604020202020204" pitchFamily="34" charset="0"/>
              </a:rPr>
              <a:t>Price and orientation</a:t>
            </a:r>
          </a:p>
        </p:txBody>
      </p:sp>
    </p:spTree>
    <p:extLst>
      <p:ext uri="{BB962C8B-B14F-4D97-AF65-F5344CB8AC3E}">
        <p14:creationId xmlns:p14="http://schemas.microsoft.com/office/powerpoint/2010/main" val="1169100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6978B4F0-E2CB-442A-8941-2AA0D71C896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Differentiation and Positioning</a:t>
            </a:r>
            <a:r>
              <a:rPr lang="en-US" altLang="en-US" sz="360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Choosing a Differentiation and Positioning Strategy</a:t>
            </a:r>
            <a:endParaRPr lang="en-US" altLang="en-US" b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Identifying a set of possible competitive advantages to build a position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Choosing the right competitive advantages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Selecting an overall positioning strategy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	Competitive advantage</a:t>
            </a:r>
            <a:r>
              <a:rPr lang="en-US" altLang="en-US" sz="2000" b="1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>
                <a:latin typeface="Arial" panose="020B0604020202020204" pitchFamily="34" charset="0"/>
              </a:rPr>
              <a:t>is the advantage over competitors gained by offering greater value either through lower prices or by providing more benefits that justify higher prices</a:t>
            </a:r>
            <a:endParaRPr lang="en-US" altLang="en-US">
              <a:latin typeface="Arial" panose="020B0604020202020204" pitchFamily="34" charset="0"/>
            </a:endParaRPr>
          </a:p>
          <a:p>
            <a:pPr marL="533400" indent="-533400">
              <a:buSzPct val="55000"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96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3601ADE3-B72C-4DA3-8E63-8CE42FEA8544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000"/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Differentiation and Positioning</a:t>
            </a:r>
            <a:r>
              <a:rPr lang="en-US" altLang="en-US" sz="380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271463" indent="-271463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Choosing a Differentiation and Positioning Strategy</a:t>
            </a:r>
          </a:p>
          <a:p>
            <a:pPr marL="271463" indent="-271463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u="sng">
                <a:latin typeface="Arial" panose="020B0604020202020204" pitchFamily="34" charset="0"/>
              </a:rPr>
              <a:t>Step 1</a:t>
            </a:r>
            <a:r>
              <a:rPr lang="en-US" altLang="en-US" sz="2400">
                <a:latin typeface="Arial" panose="020B0604020202020204" pitchFamily="34" charset="0"/>
              </a:rPr>
              <a:t>: Identifying a set of possible competitive advantages to build a position by providing superior value from:</a:t>
            </a:r>
          </a:p>
          <a:p>
            <a:pPr marL="1008063" lvl="1" indent="-285750">
              <a:lnSpc>
                <a:spcPct val="95000"/>
              </a:lnSpc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Product differentiation </a:t>
            </a:r>
            <a:r>
              <a:rPr lang="en-US" altLang="en-US" sz="2000" i="1">
                <a:latin typeface="Arial" panose="020B0604020202020204" pitchFamily="34" charset="0"/>
              </a:rPr>
              <a:t>on</a:t>
            </a:r>
            <a:r>
              <a:rPr lang="en-US" altLang="en-US" smtClean="0">
                <a:latin typeface="Arial" panose="020B0604020202020204" pitchFamily="34" charset="0"/>
              </a:rPr>
              <a:t> </a:t>
            </a:r>
            <a:r>
              <a:rPr lang="en-US" altLang="en-US" sz="2000" i="1">
                <a:latin typeface="Arial" panose="020B0604020202020204" pitchFamily="34" charset="0"/>
              </a:rPr>
              <a:t>features, performance, style or design</a:t>
            </a:r>
          </a:p>
          <a:p>
            <a:pPr marL="1008063" lvl="1" indent="-285750">
              <a:lnSpc>
                <a:spcPct val="95000"/>
              </a:lnSpc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Service differentiation </a:t>
            </a:r>
            <a:r>
              <a:rPr lang="en-US" altLang="en-US" sz="2000" i="1">
                <a:latin typeface="Arial" panose="020B0604020202020204" pitchFamily="34" charset="0"/>
              </a:rPr>
              <a:t>through speedy, convenient, or careful delivery</a:t>
            </a:r>
          </a:p>
          <a:p>
            <a:pPr marL="1008063" lvl="1" indent="-285750">
              <a:lnSpc>
                <a:spcPct val="95000"/>
              </a:lnSpc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Channels - </a:t>
            </a:r>
            <a:r>
              <a:rPr lang="en-US" altLang="en-US" sz="2000" i="1">
                <a:latin typeface="Arial" panose="020B0604020202020204" pitchFamily="34" charset="0"/>
              </a:rPr>
              <a:t>coverage, expertise, and performance</a:t>
            </a:r>
          </a:p>
          <a:p>
            <a:pPr marL="1008063" lvl="1" indent="-285750">
              <a:lnSpc>
                <a:spcPct val="95000"/>
              </a:lnSpc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People – </a:t>
            </a:r>
            <a:r>
              <a:rPr lang="en-US" altLang="en-US" sz="2000" i="1">
                <a:latin typeface="Arial" panose="020B0604020202020204" pitchFamily="34" charset="0"/>
              </a:rPr>
              <a:t>hiring and training better people</a:t>
            </a:r>
            <a:endParaRPr lang="en-US" altLang="en-US" smtClean="0">
              <a:latin typeface="Arial" panose="020B0604020202020204" pitchFamily="34" charset="0"/>
            </a:endParaRPr>
          </a:p>
          <a:p>
            <a:pPr marL="1008063" lvl="1" indent="-285750">
              <a:lnSpc>
                <a:spcPct val="95000"/>
              </a:lnSpc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Image – </a:t>
            </a:r>
            <a:r>
              <a:rPr lang="en-US" altLang="en-US" sz="2000" i="1">
                <a:latin typeface="Arial" panose="020B0604020202020204" pitchFamily="34" charset="0"/>
              </a:rPr>
              <a:t>company or brand image</a:t>
            </a:r>
          </a:p>
        </p:txBody>
      </p:sp>
    </p:spTree>
    <p:extLst>
      <p:ext uri="{BB962C8B-B14F-4D97-AF65-F5344CB8AC3E}">
        <p14:creationId xmlns:p14="http://schemas.microsoft.com/office/powerpoint/2010/main" val="3147271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8262963-6394-4506-9A36-2D28A510A9E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108547" name="TextBox 6"/>
          <p:cNvSpPr txBox="1">
            <a:spLocks noChangeArrowheads="1"/>
          </p:cNvSpPr>
          <p:nvPr/>
        </p:nvSpPr>
        <p:spPr bwMode="auto">
          <a:xfrm>
            <a:off x="1981200" y="4254500"/>
            <a:ext cx="4572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Singapore Airlines may charge a higher price, but provides excellent services – product and service differentiation.</a:t>
            </a:r>
          </a:p>
        </p:txBody>
      </p:sp>
      <p:pic>
        <p:nvPicPr>
          <p:cNvPr id="108548" name="Picture 7" descr="457592902_7ad5782c85_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28600"/>
            <a:ext cx="32353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9" name="Text Box 8"/>
          <p:cNvSpPr txBox="1">
            <a:spLocks noChangeArrowheads="1"/>
          </p:cNvSpPr>
          <p:nvPr/>
        </p:nvSpPr>
        <p:spPr bwMode="auto">
          <a:xfrm>
            <a:off x="1676400" y="26670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Rick Hall</a:t>
            </a:r>
          </a:p>
        </p:txBody>
      </p:sp>
      <p:pic>
        <p:nvPicPr>
          <p:cNvPr id="108550" name="Picture 10" descr="582684596_4015152b1a_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8600"/>
            <a:ext cx="3454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1" name="Text Box 11"/>
          <p:cNvSpPr txBox="1">
            <a:spLocks noChangeArrowheads="1"/>
          </p:cNvSpPr>
          <p:nvPr/>
        </p:nvSpPr>
        <p:spPr bwMode="auto">
          <a:xfrm>
            <a:off x="8077200" y="28194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James Cridland</a:t>
            </a:r>
          </a:p>
        </p:txBody>
      </p:sp>
      <p:pic>
        <p:nvPicPr>
          <p:cNvPr id="108552" name="Picture 9" descr="363718847_d52c61562b_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3352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3" name="Text Box 12"/>
          <p:cNvSpPr txBox="1">
            <a:spLocks noChangeArrowheads="1"/>
          </p:cNvSpPr>
          <p:nvPr/>
        </p:nvSpPr>
        <p:spPr bwMode="auto">
          <a:xfrm>
            <a:off x="4953000" y="12192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Nakedsky.org</a:t>
            </a:r>
          </a:p>
        </p:txBody>
      </p:sp>
      <p:pic>
        <p:nvPicPr>
          <p:cNvPr id="108554" name="Picture 14" descr="2598960070_3ddff37b85_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3276600"/>
            <a:ext cx="2625725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5" name="Text Box 15"/>
          <p:cNvSpPr txBox="1">
            <a:spLocks noChangeArrowheads="1"/>
          </p:cNvSpPr>
          <p:nvPr/>
        </p:nvSpPr>
        <p:spPr bwMode="auto">
          <a:xfrm>
            <a:off x="7315200" y="6553201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© juandazeng | Flickr.com</a:t>
            </a:r>
          </a:p>
        </p:txBody>
      </p:sp>
    </p:spTree>
    <p:extLst>
      <p:ext uri="{BB962C8B-B14F-4D97-AF65-F5344CB8AC3E}">
        <p14:creationId xmlns:p14="http://schemas.microsoft.com/office/powerpoint/2010/main" val="19323743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A5A435E-184F-4FA7-9BB5-01B5E197D6A9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u="sng">
                <a:latin typeface="Arial" panose="020B0604020202020204" pitchFamily="34" charset="0"/>
              </a:rPr>
              <a:t>Step 2</a:t>
            </a:r>
            <a:r>
              <a:rPr lang="en-US" altLang="en-US" sz="2400">
                <a:latin typeface="Arial" panose="020B0604020202020204" pitchFamily="34" charset="0"/>
              </a:rPr>
              <a:t>: Choosing the Right Competitive Advantages 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A difference is worth establishing to the extent that it satisfies the following criteria: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b="1" u="sng">
                <a:latin typeface="Arial" panose="020B0604020202020204" pitchFamily="34" charset="0"/>
              </a:rPr>
              <a:t>Important </a:t>
            </a:r>
            <a:r>
              <a:rPr lang="en-US" altLang="en-US" sz="2000" b="1">
                <a:latin typeface="Arial" panose="020B0604020202020204" pitchFamily="34" charset="0"/>
              </a:rPr>
              <a:t>– </a:t>
            </a:r>
            <a:r>
              <a:rPr lang="en-US" altLang="en-US" sz="2000" i="1">
                <a:latin typeface="Arial" panose="020B0604020202020204" pitchFamily="34" charset="0"/>
              </a:rPr>
              <a:t>delivers a highly valued benefit to target buyers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Distinctive – offers in a more distinctive way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Superior – superior to other ways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Communicable – visible to buyers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Preemptive – cannot easily be copied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Affordable – buyers can pay for the difference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 typeface="Times" panose="02020603050405020304" pitchFamily="18" charset="0"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Profitable</a:t>
            </a:r>
          </a:p>
        </p:txBody>
      </p:sp>
      <p:sp>
        <p:nvSpPr>
          <p:cNvPr id="109572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Differentiation and Positioning</a:t>
            </a:r>
            <a:r>
              <a:rPr lang="en-US" altLang="en-US" sz="36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24471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23AA8707-F412-4461-8EAE-52CA2806B41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000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Differentiation and Positioning</a:t>
            </a:r>
            <a:r>
              <a:rPr lang="en-US" altLang="en-US" sz="360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i="1" u="sng">
                <a:latin typeface="Arial" panose="020B0604020202020204" pitchFamily="34" charset="0"/>
              </a:rPr>
              <a:t>Step 3</a:t>
            </a:r>
            <a:r>
              <a:rPr lang="en-US" altLang="en-US" sz="2400">
                <a:latin typeface="Arial" panose="020B0604020202020204" pitchFamily="34" charset="0"/>
              </a:rPr>
              <a:t>: Selecting an Overall Strategy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Value proposition </a:t>
            </a:r>
            <a:r>
              <a:rPr lang="en-US" altLang="en-US" sz="2400">
                <a:latin typeface="Arial" panose="020B0604020202020204" pitchFamily="34" charset="0"/>
              </a:rPr>
              <a:t>is the full mix of benefits upon which a brand is positioned.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i="1" smtClean="0">
                <a:latin typeface="Arial" panose="020B0604020202020204" pitchFamily="34" charset="0"/>
              </a:rPr>
              <a:t>More for more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i="1" smtClean="0">
                <a:latin typeface="Arial" panose="020B0604020202020204" pitchFamily="34" charset="0"/>
              </a:rPr>
              <a:t>More for the same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i="1" smtClean="0">
                <a:latin typeface="Arial" panose="020B0604020202020204" pitchFamily="34" charset="0"/>
              </a:rPr>
              <a:t>Same for less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i="1" smtClean="0">
                <a:latin typeface="Arial" panose="020B0604020202020204" pitchFamily="34" charset="0"/>
              </a:rPr>
              <a:t>Less for much less</a:t>
            </a:r>
          </a:p>
          <a:p>
            <a:pPr marL="742950" lvl="1" indent="-28575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i="1" smtClean="0">
                <a:latin typeface="Arial" panose="020B0604020202020204" pitchFamily="34" charset="0"/>
              </a:rPr>
              <a:t>More for less</a:t>
            </a:r>
            <a:endParaRPr lang="en-US" altLang="en-US" i="1" smtClean="0"/>
          </a:p>
        </p:txBody>
      </p:sp>
    </p:spTree>
    <p:extLst>
      <p:ext uri="{BB962C8B-B14F-4D97-AF65-F5344CB8AC3E}">
        <p14:creationId xmlns:p14="http://schemas.microsoft.com/office/powerpoint/2010/main" val="2781977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1E4F452-BBEA-4D8C-A5C6-5E7EFA8F3F7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000"/>
          </a:p>
        </p:txBody>
      </p:sp>
      <p:pic>
        <p:nvPicPr>
          <p:cNvPr id="113667" name="Picture 4" descr="Fig 7-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2888"/>
            <a:ext cx="7162800" cy="608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8" name="Text Box 5"/>
          <p:cNvSpPr txBox="1">
            <a:spLocks noChangeArrowheads="1"/>
          </p:cNvSpPr>
          <p:nvPr/>
        </p:nvSpPr>
        <p:spPr bwMode="auto">
          <a:xfrm>
            <a:off x="8763000" y="3886200"/>
            <a:ext cx="1676400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1800" b="1"/>
              <a:t>Figure 7.7</a:t>
            </a:r>
          </a:p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1800"/>
              <a:t>Possible value propositions</a:t>
            </a:r>
          </a:p>
        </p:txBody>
      </p:sp>
    </p:spTree>
    <p:extLst>
      <p:ext uri="{BB962C8B-B14F-4D97-AF65-F5344CB8AC3E}">
        <p14:creationId xmlns:p14="http://schemas.microsoft.com/office/powerpoint/2010/main" val="1093819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14B07AE6-A026-4B06-9015-BE63F5537A92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00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79614" y="1443038"/>
            <a:ext cx="7926387" cy="4500562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Developing a Positioning Statement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Positioning statement </a:t>
            </a:r>
            <a:r>
              <a:rPr lang="en-US" altLang="en-US" sz="2400">
                <a:latin typeface="Arial" panose="020B0604020202020204" pitchFamily="34" charset="0"/>
              </a:rPr>
              <a:t>states the product’s membership in a category and then shows its point-of-difference from other members of the category.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“To (target segment and need), our (brand) is (concept) that (point of difference).”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To busy professionals who need to stay organized, Palm is an electronic organizer that allows you to backup files on your PC more easily and reliably than competitive products</a:t>
            </a:r>
          </a:p>
        </p:txBody>
      </p:sp>
      <p:sp>
        <p:nvSpPr>
          <p:cNvPr id="114692" name="Rectangle 2"/>
          <p:cNvSpPr>
            <a:spLocks noChangeArrowheads="1"/>
          </p:cNvSpPr>
          <p:nvPr/>
        </p:nvSpPr>
        <p:spPr bwMode="auto">
          <a:xfrm>
            <a:off x="1981200" y="5334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tx2"/>
                </a:solidFill>
                <a:latin typeface="Arial" panose="020B0604020202020204" pitchFamily="34" charset="0"/>
              </a:rPr>
              <a:t>Positioning for a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1825040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40D876B3-1D33-42E9-90E8-01F54479937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00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79614" y="1443038"/>
            <a:ext cx="7926387" cy="4500562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Discussion Questions: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How does P&amp;G use positioning to differentiate the brands in a particular product category?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What basis of segmentation does P&amp;G use to differentiate the products?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</a:rPr>
              <a:t>How does P&amp;G use its variety of brands to build relationships with the right customers?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16740" name="Rectangle 2"/>
          <p:cNvSpPr>
            <a:spLocks noChangeArrowheads="1"/>
          </p:cNvSpPr>
          <p:nvPr/>
        </p:nvSpPr>
        <p:spPr bwMode="auto">
          <a:xfrm>
            <a:off x="1981200" y="5334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tx2"/>
                </a:solidFill>
                <a:latin typeface="Arial" panose="020B0604020202020204" pitchFamily="34" charset="0"/>
              </a:rPr>
              <a:t>Video Case: Procter &amp; Gamble</a:t>
            </a:r>
          </a:p>
        </p:txBody>
      </p:sp>
    </p:spTree>
    <p:extLst>
      <p:ext uri="{BB962C8B-B14F-4D97-AF65-F5344CB8AC3E}">
        <p14:creationId xmlns:p14="http://schemas.microsoft.com/office/powerpoint/2010/main" val="3692923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D98D4E10-C029-49F6-A44F-A536686899D6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0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Market segmentation </a:t>
            </a:r>
            <a:r>
              <a:rPr lang="en-US" altLang="en-US">
                <a:latin typeface="Arial" panose="020B0604020202020204" pitchFamily="34" charset="0"/>
              </a:rPr>
              <a:t>is the process that companies use to divide large heterogeneous markets into small markets that can be reached more efficiently and effectively with products and services that match their unique needs.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arenBoth"/>
            </a:pPr>
            <a:r>
              <a:rPr lang="en-US" altLang="en-US" sz="2400" i="1">
                <a:latin typeface="Arial" panose="020B0604020202020204" pitchFamily="34" charset="0"/>
              </a:rPr>
              <a:t>Use a variety of different meaningful variables (bases) for segmenting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 typeface="Wingdings" panose="05000000000000000000" pitchFamily="2" charset="2"/>
              <a:buAutoNum type="arabicParenBoth"/>
            </a:pPr>
            <a:r>
              <a:rPr lang="en-US" altLang="en-US" sz="2400" i="1">
                <a:latin typeface="Arial" panose="020B0604020202020204" pitchFamily="34" charset="0"/>
              </a:rPr>
              <a:t>Segments can be better reached with the resources of the marketer</a:t>
            </a:r>
          </a:p>
        </p:txBody>
      </p:sp>
    </p:spTree>
    <p:extLst>
      <p:ext uri="{BB962C8B-B14F-4D97-AF65-F5344CB8AC3E}">
        <p14:creationId xmlns:p14="http://schemas.microsoft.com/office/powerpoint/2010/main" val="4139664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658A74F-3FC5-407F-9D61-9472E85C474F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0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3200">
                <a:latin typeface="Arial" panose="020B0604020202020204" pitchFamily="34" charset="0"/>
              </a:rPr>
              <a:t>Segmenting 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Consumer markets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Business markets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AutoNum type="arabicPeriod"/>
            </a:pPr>
            <a:r>
              <a:rPr lang="en-US" altLang="en-US" sz="3000">
                <a:latin typeface="Arial" panose="020B0604020202020204" pitchFamily="34" charset="0"/>
              </a:rPr>
              <a:t>International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3200">
                <a:latin typeface="Arial" panose="020B0604020202020204" pitchFamily="34" charset="0"/>
              </a:rPr>
              <a:t>Requirements for effective segmentation</a:t>
            </a:r>
          </a:p>
        </p:txBody>
      </p:sp>
    </p:spTree>
    <p:extLst>
      <p:ext uri="{BB962C8B-B14F-4D97-AF65-F5344CB8AC3E}">
        <p14:creationId xmlns:p14="http://schemas.microsoft.com/office/powerpoint/2010/main" val="1559988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B225731-C074-437D-BBE6-B06EB646690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0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>
                <a:solidFill>
                  <a:srgbClr val="000099"/>
                </a:solidFill>
                <a:latin typeface="Arial" panose="020B0604020202020204" pitchFamily="34" charset="0"/>
              </a:rPr>
              <a:t>Marketers try different segmentation variables, alone and in combination, to find the best way to view the market structure.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Geographic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Demographic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Psychographic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Behavioral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550336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3DF44597-C0F8-4333-A711-A48C7D50B9E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0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Market Segmentation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79613" y="1443039"/>
            <a:ext cx="8229600" cy="44656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 i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Geographic </a:t>
            </a:r>
            <a:r>
              <a:rPr lang="en-US" altLang="en-US">
                <a:latin typeface="Arial" panose="020B0604020202020204" pitchFamily="34" charset="0"/>
              </a:rPr>
              <a:t>segmentation divides the market into different geographical units such as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nations, regions, states, counties, cities</a:t>
            </a:r>
            <a:r>
              <a:rPr lang="en-US" altLang="en-US">
                <a:latin typeface="Arial" panose="020B0604020202020204" pitchFamily="34" charset="0"/>
              </a:rPr>
              <a:t>, or even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neighborhoods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>
                <a:latin typeface="Arial" panose="020B0604020202020204" pitchFamily="34" charset="0"/>
              </a:rPr>
              <a:t>Localizing products, advertising, promotion, and sales efforts to fit the needs of individual regions, cities, …</a:t>
            </a:r>
          </a:p>
        </p:txBody>
      </p:sp>
    </p:spTree>
    <p:extLst>
      <p:ext uri="{BB962C8B-B14F-4D97-AF65-F5344CB8AC3E}">
        <p14:creationId xmlns:p14="http://schemas.microsoft.com/office/powerpoint/2010/main" val="35742669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2798F74-D60A-415B-83C2-9AFCDC1EFFDA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000"/>
          </a:p>
        </p:txBody>
      </p:sp>
      <p:pic>
        <p:nvPicPr>
          <p:cNvPr id="18435" name="Picture 2" descr="Map of A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57200"/>
            <a:ext cx="7467600" cy="560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Box 2"/>
          <p:cNvSpPr txBox="1">
            <a:spLocks noChangeArrowheads="1"/>
          </p:cNvSpPr>
          <p:nvPr/>
        </p:nvSpPr>
        <p:spPr bwMode="auto">
          <a:xfrm>
            <a:off x="3810000" y="6172201"/>
            <a:ext cx="443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Geographic Segmentation -  by nations</a:t>
            </a:r>
          </a:p>
        </p:txBody>
      </p:sp>
    </p:spTree>
    <p:extLst>
      <p:ext uri="{BB962C8B-B14F-4D97-AF65-F5344CB8AC3E}">
        <p14:creationId xmlns:p14="http://schemas.microsoft.com/office/powerpoint/2010/main" val="228868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8E1FC926-3288-49B7-8718-FACCD40678C8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0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 b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Demographic segmentation </a:t>
            </a:r>
            <a:r>
              <a:rPr lang="en-US" altLang="en-US">
                <a:latin typeface="Arial" panose="020B0604020202020204" pitchFamily="34" charset="0"/>
              </a:rPr>
              <a:t>divides the market into groups based on variables such as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age, gender, family size, family life cycle, income, occupation, education, religion, race, generation</a:t>
            </a:r>
            <a:r>
              <a:rPr lang="en-US" altLang="en-US">
                <a:latin typeface="Arial" panose="020B0604020202020204" pitchFamily="34" charset="0"/>
              </a:rPr>
              <a:t>, and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nationality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i="1">
                <a:latin typeface="Arial" panose="020B0604020202020204" pitchFamily="34" charset="0"/>
              </a:rPr>
              <a:t>(1) Consumer needs, wants, and usage rates often vary closely with demographic variables;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sz="2400" i="1">
                <a:latin typeface="Arial" panose="020B0604020202020204" pitchFamily="34" charset="0"/>
              </a:rPr>
              <a:t>(2) Easier to measure than other variables;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2400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87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B7019AE-B5E4-4322-AAA8-80BC9516862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000"/>
          </a:p>
        </p:txBody>
      </p:sp>
      <p:pic>
        <p:nvPicPr>
          <p:cNvPr id="22531" name="Picture 1" descr="C:\Program Files\Microsoft Office\MEDIA\CAGCAT10\j0186348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90600"/>
            <a:ext cx="12890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" descr="C:\Program Files\Microsoft Office\MEDIA\CAGCAT10\j0240719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19401"/>
            <a:ext cx="1163638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3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762000"/>
            <a:ext cx="1868488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C:\Program Files\Microsoft Office\MEDIA\CAGCAT10\j0301252.wm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14801"/>
            <a:ext cx="1830388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5" descr="C:\Users\Peggy\AppData\Local\Microsoft\Windows\Temporary Internet Files\Content.IE5\0A90GTSG\MCj04368240000[1]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209800"/>
            <a:ext cx="14097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Box 6"/>
          <p:cNvSpPr txBox="1">
            <a:spLocks noChangeArrowheads="1"/>
          </p:cNvSpPr>
          <p:nvPr/>
        </p:nvSpPr>
        <p:spPr bwMode="auto">
          <a:xfrm>
            <a:off x="4114800" y="5105401"/>
            <a:ext cx="449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Demographic segmentation - occupation</a:t>
            </a:r>
          </a:p>
        </p:txBody>
      </p:sp>
    </p:spTree>
    <p:extLst>
      <p:ext uri="{BB962C8B-B14F-4D97-AF65-F5344CB8AC3E}">
        <p14:creationId xmlns:p14="http://schemas.microsoft.com/office/powerpoint/2010/main" val="3341313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597C93D3-A09B-4659-ABFD-33F3186BAD46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0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 b="1" i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Age and life-cycle </a:t>
            </a:r>
            <a:r>
              <a:rPr lang="en-US" altLang="en-US">
                <a:latin typeface="Arial" panose="020B0604020202020204" pitchFamily="34" charset="0"/>
              </a:rPr>
              <a:t>stage segmentation is the process of offering different products or using different marketing approaches for different age and life-cycle groups.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endParaRPr lang="en-US" altLang="en-US" sz="1000" b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Gender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divides the market based on sex (male or female).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Income </a:t>
            </a:r>
            <a:r>
              <a:rPr lang="en-US" altLang="en-US">
                <a:latin typeface="Arial" panose="020B0604020202020204" pitchFamily="34" charset="0"/>
              </a:rPr>
              <a:t>segmentation</a:t>
            </a:r>
            <a:r>
              <a:rPr lang="en-US" altLang="en-US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divides the market into affluent or low-income consumers.</a:t>
            </a:r>
            <a:endParaRPr lang="en-US" altLang="en-US" b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76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8BD6567-CBB2-4943-B83E-AB6C42338352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000"/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1981200" y="533400"/>
            <a:ext cx="7924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Aft>
                <a:spcPct val="20000"/>
              </a:spcAft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Be careful to guard against stereotypes when using age and life-cycle segmentation. </a:t>
            </a:r>
          </a:p>
          <a:p>
            <a:pPr eaLnBrk="1" hangingPunct="1">
              <a:lnSpc>
                <a:spcPct val="95000"/>
              </a:lnSpc>
              <a:spcAft>
                <a:spcPct val="20000"/>
              </a:spcAft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Age is a poor predictor of a person’s life cycle, health, work or family status, needs and buying power.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What are the traditional family life-cycle stages?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Young singles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Married couples with children</a:t>
            </a:r>
          </a:p>
          <a:p>
            <a:pPr eaLnBrk="1" hangingPunct="1">
              <a:buSzPct val="55000"/>
              <a:buFontTx/>
              <a:buNone/>
            </a:pPr>
            <a:r>
              <a:rPr lang="en-US" altLang="zh-CN" sz="2400" b="1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What are the non-traditional family life-cycle stages? (Marketers are increasingly catering to…)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Unmarried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Singles marrying later in life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Childless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Same-sex couples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Single parents</a:t>
            </a:r>
          </a:p>
          <a:p>
            <a:pPr eaLnBrk="1" hangingPunct="1">
              <a:buSzPct val="55000"/>
              <a:buFontTx/>
              <a:buChar char="-"/>
            </a:pPr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Extended parents (those with young children returning home)</a:t>
            </a:r>
          </a:p>
        </p:txBody>
      </p:sp>
    </p:spTree>
    <p:extLst>
      <p:ext uri="{BB962C8B-B14F-4D97-AF65-F5344CB8AC3E}">
        <p14:creationId xmlns:p14="http://schemas.microsoft.com/office/powerpoint/2010/main" val="30152429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2C639117-AC72-43F1-9729-0C6FAF85C98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000"/>
          </a:p>
        </p:txBody>
      </p:sp>
      <p:pic>
        <p:nvPicPr>
          <p:cNvPr id="27651" name="Picture 3" descr="C:\Users\Peggy\AppData\Local\Microsoft\Windows\Temporary Internet Files\Content.IE5\QSGL5HGK\MPj0427839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90601"/>
            <a:ext cx="29718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Box 7"/>
          <p:cNvSpPr txBox="1">
            <a:spLocks noChangeArrowheads="1"/>
          </p:cNvSpPr>
          <p:nvPr/>
        </p:nvSpPr>
        <p:spPr bwMode="auto">
          <a:xfrm>
            <a:off x="6096000" y="1828801"/>
            <a:ext cx="411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Age &amp; Life Cycle Segmentation – families with young children</a:t>
            </a:r>
          </a:p>
        </p:txBody>
      </p:sp>
    </p:spTree>
    <p:extLst>
      <p:ext uri="{BB962C8B-B14F-4D97-AF65-F5344CB8AC3E}">
        <p14:creationId xmlns:p14="http://schemas.microsoft.com/office/powerpoint/2010/main" val="2115855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EB5ED956-E723-429F-94A9-B70E4A3EC3D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0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 b="1" u="sng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Psychographic</a:t>
            </a:r>
            <a:r>
              <a:rPr lang="en-US" altLang="en-US" b="1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divides buyers into different groups based on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social class, lifestyle, or personality traits.</a:t>
            </a:r>
          </a:p>
        </p:txBody>
      </p:sp>
      <p:pic>
        <p:nvPicPr>
          <p:cNvPr id="29701" name="Picture 6" descr="bagua zha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33800"/>
            <a:ext cx="160655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3" descr="C:\Users\Peggy\AppData\Local\Microsoft\Windows\Temporary Internet Files\Content.IE5\0A90GTSG\MPj04276780000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62400"/>
            <a:ext cx="36639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8" descr="Young Musicia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572001"/>
            <a:ext cx="25908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403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9BF97E38-6F85-483F-9006-567B9D2FBDE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0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Behavioral </a:t>
            </a:r>
            <a:r>
              <a:rPr lang="en-US" altLang="en-US">
                <a:latin typeface="Arial" panose="020B0604020202020204" pitchFamily="34" charset="0"/>
              </a:rPr>
              <a:t>segmentation divides buyers into groups based on their knowledge, attitudes, uses, or responses to a product.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solidFill>
                  <a:srgbClr val="0000FF"/>
                </a:solidFill>
                <a:latin typeface="Arial" panose="020B0604020202020204" pitchFamily="34" charset="0"/>
              </a:rPr>
              <a:t>Occasion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solidFill>
                  <a:srgbClr val="0000FF"/>
                </a:solidFill>
                <a:latin typeface="Arial" panose="020B0604020202020204" pitchFamily="34" charset="0"/>
              </a:rPr>
              <a:t>Benefits sought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solidFill>
                  <a:srgbClr val="0000FF"/>
                </a:solidFill>
                <a:latin typeface="Arial" panose="020B0604020202020204" pitchFamily="34" charset="0"/>
              </a:rPr>
              <a:t>User status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solidFill>
                  <a:srgbClr val="0000FF"/>
                </a:solidFill>
                <a:latin typeface="Arial" panose="020B0604020202020204" pitchFamily="34" charset="0"/>
              </a:rPr>
              <a:t>Usage rate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solidFill>
                  <a:srgbClr val="0000FF"/>
                </a:solidFill>
                <a:latin typeface="Arial" panose="020B0604020202020204" pitchFamily="34" charset="0"/>
              </a:rPr>
              <a:t>Loyalty status</a:t>
            </a:r>
          </a:p>
        </p:txBody>
      </p:sp>
    </p:spTree>
    <p:extLst>
      <p:ext uri="{BB962C8B-B14F-4D97-AF65-F5344CB8AC3E}">
        <p14:creationId xmlns:p14="http://schemas.microsoft.com/office/powerpoint/2010/main" val="2783307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EF36EAF5-ED5C-4DCC-B8BE-F3A46913C19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0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Market Segmentation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sz="1600" b="1" i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Occasion </a:t>
            </a:r>
            <a:r>
              <a:rPr lang="en-US" altLang="en-US">
                <a:latin typeface="Arial" panose="020B0604020202020204" pitchFamily="34" charset="0"/>
              </a:rPr>
              <a:t>segmentation divides buyers into groups according to occasions </a:t>
            </a:r>
            <a:r>
              <a:rPr lang="en-US" altLang="en-US" sz="2400" b="1" i="1">
                <a:latin typeface="Arial" panose="020B0604020202020204" pitchFamily="34" charset="0"/>
              </a:rPr>
              <a:t>when they get the idea to buy, actually make purchases, or respond to a product.</a:t>
            </a:r>
            <a:r>
              <a:rPr lang="en-US" altLang="en-US" sz="2400">
                <a:latin typeface="Arial" panose="020B0604020202020204" pitchFamily="34" charset="0"/>
              </a:rPr>
              <a:t> – help build up product usage</a:t>
            </a:r>
            <a:endParaRPr lang="en-US" altLang="en-US" sz="2400" b="1" i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Benefit</a:t>
            </a:r>
            <a:r>
              <a:rPr lang="en-US" altLang="en-US" b="1">
                <a:solidFill>
                  <a:srgbClr val="546422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requires finding the </a:t>
            </a:r>
            <a:r>
              <a:rPr lang="en-US" altLang="en-US" sz="2400" b="1" i="1">
                <a:latin typeface="Arial" panose="020B0604020202020204" pitchFamily="34" charset="0"/>
              </a:rPr>
              <a:t>major benefits people look for in the product class, the kinds of people who look for each benefit, and the major brands that deliver each benefit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14900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CA4E22DF-CE92-4542-B2F0-F943D8D552E2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000"/>
          </a:p>
        </p:txBody>
      </p:sp>
      <p:pic>
        <p:nvPicPr>
          <p:cNvPr id="35843" name="Picture 2" descr="C:\Users\Peggy\AppData\Local\Microsoft\Windows\Temporary Internet Files\Content.IE5\QSGL5HGK\MPj0427780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88" y="682626"/>
            <a:ext cx="6170612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2001838" y="4876801"/>
            <a:ext cx="63039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Occasion Segmentation – consumers buy special items for occasions like birthdays</a:t>
            </a:r>
          </a:p>
        </p:txBody>
      </p:sp>
    </p:spTree>
    <p:extLst>
      <p:ext uri="{BB962C8B-B14F-4D97-AF65-F5344CB8AC3E}">
        <p14:creationId xmlns:p14="http://schemas.microsoft.com/office/powerpoint/2010/main" val="25488479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B8CE468-C44D-43C0-ADC9-29027C5CC3F0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0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  <a:endParaRPr lang="en-US" altLang="en-US" b="1" i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User status </a:t>
            </a:r>
            <a:r>
              <a:rPr lang="en-US" altLang="en-US">
                <a:latin typeface="Arial" panose="020B0604020202020204" pitchFamily="34" charset="0"/>
              </a:rPr>
              <a:t>divides buyers into ex-users, potential users, first-time users, and regular users of a product.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Usage rate </a:t>
            </a:r>
            <a:r>
              <a:rPr lang="en-US" altLang="en-US">
                <a:latin typeface="Arial" panose="020B0604020202020204" pitchFamily="34" charset="0"/>
              </a:rPr>
              <a:t>divides buyers into light, medium, and heavy product users.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Loyalty status </a:t>
            </a:r>
            <a:r>
              <a:rPr lang="en-US" altLang="en-US">
                <a:latin typeface="Arial" panose="020B0604020202020204" pitchFamily="34" charset="0"/>
              </a:rPr>
              <a:t>divides buyers into groups according to their degree of loyalty.</a:t>
            </a:r>
          </a:p>
        </p:txBody>
      </p:sp>
    </p:spTree>
    <p:extLst>
      <p:ext uri="{BB962C8B-B14F-4D97-AF65-F5344CB8AC3E}">
        <p14:creationId xmlns:p14="http://schemas.microsoft.com/office/powerpoint/2010/main" val="4227884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9851734E-8BD9-4895-BAC9-9F6FE2021039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00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79614" y="1443038"/>
            <a:ext cx="8231187" cy="2366962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Consumer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Loyalty status </a:t>
            </a:r>
            <a:r>
              <a:rPr lang="en-US" altLang="en-US">
                <a:latin typeface="Arial" panose="020B0604020202020204" pitchFamily="34" charset="0"/>
              </a:rPr>
              <a:t>divides buyers into groups according to their degree of loyalty.</a:t>
            </a:r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Market Segmentation</a:t>
            </a:r>
          </a:p>
        </p:txBody>
      </p:sp>
      <p:pic>
        <p:nvPicPr>
          <p:cNvPr id="27656" name="Picture 8" descr="Fig 7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27364"/>
            <a:ext cx="3810000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362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7C696BB0-9065-4687-858F-2D2D90C474D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0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Using Multiple Segmentation Bases</a:t>
            </a:r>
            <a:endParaRPr lang="en-US" altLang="en-US" sz="3000" b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Multiple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is used to identify smaller, better-defined target groups.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Geodemographic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segmentation is an example of multivariable segmentation that divides groups into consumer lifestyle patterns.</a:t>
            </a:r>
          </a:p>
        </p:txBody>
      </p:sp>
    </p:spTree>
    <p:extLst>
      <p:ext uri="{BB962C8B-B14F-4D97-AF65-F5344CB8AC3E}">
        <p14:creationId xmlns:p14="http://schemas.microsoft.com/office/powerpoint/2010/main" val="630329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024245D2-C954-4F5B-B78C-B699C9548DDE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0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Explain which basis would be most important to marketers of Vitamins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4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Demographic segmentation</a:t>
            </a:r>
            <a:r>
              <a:rPr lang="en-US" altLang="en-US" smtClean="0"/>
              <a:t> – age and gender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Psychographic segmentation</a:t>
            </a:r>
            <a:r>
              <a:rPr lang="en-US" altLang="en-US" smtClean="0"/>
              <a:t> – very active or “extreme” lifestyle individuals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Behavioral segmentation</a:t>
            </a:r>
            <a:r>
              <a:rPr lang="en-US" altLang="en-US" smtClean="0"/>
              <a:t> – benefits sought, with some having calcium, vitamin B12, and even nutraceutical or herbal components</a:t>
            </a:r>
          </a:p>
        </p:txBody>
      </p:sp>
    </p:spTree>
    <p:extLst>
      <p:ext uri="{BB962C8B-B14F-4D97-AF65-F5344CB8AC3E}">
        <p14:creationId xmlns:p14="http://schemas.microsoft.com/office/powerpoint/2010/main" val="1748313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F861A28-59D8-48DA-9DE7-E8871E84DB9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0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Explain which basis would be most important to marketers of Credit Cards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4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Demographic segmentation</a:t>
            </a:r>
            <a:r>
              <a:rPr lang="en-US" altLang="en-US" smtClean="0"/>
              <a:t> – income (gold and platinum cards)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Behavioral segmentation</a:t>
            </a:r>
            <a:r>
              <a:rPr lang="en-US" altLang="en-US" smtClean="0"/>
              <a:t> – usage rate (the higher usage rate customers are more profitable and appealing), user status (users of competing cards or banks)</a:t>
            </a:r>
          </a:p>
        </p:txBody>
      </p:sp>
    </p:spTree>
    <p:extLst>
      <p:ext uri="{BB962C8B-B14F-4D97-AF65-F5344CB8AC3E}">
        <p14:creationId xmlns:p14="http://schemas.microsoft.com/office/powerpoint/2010/main" val="2694474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F74D2A61-36DE-4AD2-A9F3-99F3C26563B1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0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43039"/>
            <a:ext cx="8229600" cy="4389437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Explain which basis would be most important to marketers of Coffee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 sz="14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Demographic segmentation</a:t>
            </a:r>
            <a:r>
              <a:rPr lang="en-US" altLang="en-US" smtClean="0"/>
              <a:t> – income for premium brands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Geographical segmentation</a:t>
            </a:r>
            <a:r>
              <a:rPr lang="en-US" altLang="en-US" smtClean="0"/>
              <a:t> – taste and product form (instant vs. brewed)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 smtClean="0"/>
              <a:t>Behavioral segmentation</a:t>
            </a:r>
            <a:r>
              <a:rPr lang="en-US" altLang="en-US" smtClean="0"/>
              <a:t> – occasions (out of home, eight o’clock), benefits sought (low acid)</a:t>
            </a:r>
          </a:p>
        </p:txBody>
      </p:sp>
    </p:spTree>
    <p:extLst>
      <p:ext uri="{BB962C8B-B14F-4D97-AF65-F5344CB8AC3E}">
        <p14:creationId xmlns:p14="http://schemas.microsoft.com/office/powerpoint/2010/main" val="20582864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19D8CF74-B582-4B31-A39A-F9F1B55B7836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0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Business Markets</a:t>
            </a:r>
            <a:endParaRPr lang="en-US" altLang="en-US" b="1"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Business buyers can be segmented using many of the same variables as consumers: 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Geographically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Demographically (industry, company size)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mtClean="0">
                <a:latin typeface="Arial" panose="020B0604020202020204" pitchFamily="34" charset="0"/>
              </a:rPr>
              <a:t>Behaviorally (benefits sought, user status, usage rate, and loyalty status)</a:t>
            </a:r>
          </a:p>
        </p:txBody>
      </p:sp>
    </p:spTree>
    <p:extLst>
      <p:ext uri="{BB962C8B-B14F-4D97-AF65-F5344CB8AC3E}">
        <p14:creationId xmlns:p14="http://schemas.microsoft.com/office/powerpoint/2010/main" val="483378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727AA79D-CDB9-489E-A50E-C4CAFE9708C7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0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79614" y="1443038"/>
            <a:ext cx="8231187" cy="3733800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Segmenting International Markets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Intermarket </a:t>
            </a:r>
            <a:r>
              <a:rPr lang="en-US" altLang="en-US">
                <a:latin typeface="Arial" panose="020B0604020202020204" pitchFamily="34" charset="0"/>
              </a:rPr>
              <a:t>segmentation divides consumers into groups with similar needs and buying behaviors even though they are located in different countries.</a:t>
            </a:r>
          </a:p>
        </p:txBody>
      </p: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1981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Market Segmentation</a:t>
            </a:r>
          </a:p>
        </p:txBody>
      </p:sp>
      <p:pic>
        <p:nvPicPr>
          <p:cNvPr id="31752" name="Picture 2" descr="C:\Users\Peggy\AppData\Local\Microsoft\Windows\Temporary Internet Files\Content.IE5\PO8RHI8R\MPj0431026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9"/>
          <a:stretch>
            <a:fillRect/>
          </a:stretch>
        </p:blipFill>
        <p:spPr bwMode="auto">
          <a:xfrm>
            <a:off x="2133600" y="4038600"/>
            <a:ext cx="217963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3" descr="C:\Users\Peggy\AppData\Local\Microsoft\Windows\Temporary Internet Files\Content.IE5\IVFJ4T92\MPj04341230000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 bwMode="auto">
          <a:xfrm>
            <a:off x="7924801" y="3657600"/>
            <a:ext cx="22971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4" descr="C:\Users\Peggy\AppData\Local\Microsoft\Windows\Temporary Internet Files\Content.IE5\0A90GTSG\MCj04155600000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87788"/>
            <a:ext cx="2057400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05000" y="5835650"/>
            <a:ext cx="5486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Intermarket segmentation – whether Japanese, Chinese, Thais, or Indians, they all consume rice</a:t>
            </a:r>
          </a:p>
        </p:txBody>
      </p:sp>
    </p:spTree>
    <p:extLst>
      <p:ext uri="{BB962C8B-B14F-4D97-AF65-F5344CB8AC3E}">
        <p14:creationId xmlns:p14="http://schemas.microsoft.com/office/powerpoint/2010/main" val="2993398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B33F3D00-CC1A-4A5C-94A2-96112471FF13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0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Market Segmentation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Requirements for Effective Segmentation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To be useful, a market segment must be: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Measurable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Accessible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Substantial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Differentiable</a:t>
            </a:r>
          </a:p>
          <a:p>
            <a:pPr marL="914400" lvl="1" indent="-4572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Actionable</a:t>
            </a:r>
          </a:p>
        </p:txBody>
      </p:sp>
    </p:spTree>
    <p:extLst>
      <p:ext uri="{BB962C8B-B14F-4D97-AF65-F5344CB8AC3E}">
        <p14:creationId xmlns:p14="http://schemas.microsoft.com/office/powerpoint/2010/main" val="685207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7-</a:t>
            </a:r>
            <a:fld id="{A5B013BD-A7D9-486A-952C-8766C4DD60A5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0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>
                <a:solidFill>
                  <a:srgbClr val="0000FF"/>
                </a:solidFill>
              </a:rPr>
              <a:t/>
            </a:r>
            <a:br>
              <a:rPr lang="en-US" altLang="en-US" sz="3800">
                <a:solidFill>
                  <a:srgbClr val="0000FF"/>
                </a:solidFill>
              </a:rPr>
            </a:br>
            <a:r>
              <a:rPr lang="en-US" altLang="en-US" sz="3800"/>
              <a:t>Market Segmentation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r>
              <a:rPr lang="en-US" altLang="en-US" b="1" u="sng">
                <a:solidFill>
                  <a:srgbClr val="000099"/>
                </a:solidFill>
                <a:latin typeface="Arial" panose="020B0604020202020204" pitchFamily="34" charset="0"/>
              </a:rPr>
              <a:t>Requirements for Effective Segmentation</a:t>
            </a:r>
            <a:endParaRPr lang="en-US" altLang="en-US" b="1" i="1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Measurable: </a:t>
            </a:r>
            <a:r>
              <a:rPr lang="en-US" altLang="en-US">
                <a:latin typeface="Arial" panose="020B0604020202020204" pitchFamily="34" charset="0"/>
              </a:rPr>
              <a:t>Examples include the size, purchasing power, and profiles of the segments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Accessible: </a:t>
            </a:r>
            <a:r>
              <a:rPr lang="en-US" altLang="en-US">
                <a:latin typeface="Arial" panose="020B0604020202020204" pitchFamily="34" charset="0"/>
              </a:rPr>
              <a:t>Refers to the fact that the market can be effectively reached and served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FontTx/>
              <a:buChar char="•"/>
            </a:pP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Substantial</a:t>
            </a:r>
            <a:r>
              <a:rPr lang="en-US" altLang="en-US" b="1">
                <a:latin typeface="Arial" panose="020B0604020202020204" pitchFamily="34" charset="0"/>
              </a:rPr>
              <a:t>: </a:t>
            </a:r>
            <a:r>
              <a:rPr lang="en-US" altLang="en-US">
                <a:latin typeface="Arial" panose="020B0604020202020204" pitchFamily="34" charset="0"/>
              </a:rPr>
              <a:t>Refers to the fact that the markets are large and profitable enough to serve</a:t>
            </a:r>
          </a:p>
          <a:p>
            <a:pPr marL="533400" indent="-533400">
              <a:lnSpc>
                <a:spcPct val="95000"/>
              </a:lnSpc>
              <a:spcAft>
                <a:spcPct val="2000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8894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2908</Words>
  <Application>Microsoft Office PowerPoint</Application>
  <PresentationFormat>Widescreen</PresentationFormat>
  <Paragraphs>480</Paragraphs>
  <Slides>72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宋体</vt:lpstr>
      <vt:lpstr>Arial</vt:lpstr>
      <vt:lpstr>Calibri</vt:lpstr>
      <vt:lpstr>Calibri Light</vt:lpstr>
      <vt:lpstr>Tahoma</vt:lpstr>
      <vt:lpstr>Times</vt:lpstr>
      <vt:lpstr>Wingdings</vt:lpstr>
      <vt:lpstr>Office Theme</vt:lpstr>
      <vt:lpstr>Market Research and Identification of the potential Customers.</vt:lpstr>
      <vt:lpstr>Key areas to identify opportunity</vt:lpstr>
      <vt:lpstr>Maslow Hierarchy of Need</vt:lpstr>
      <vt:lpstr>BCG Matrix (Growth Share Matrix)</vt:lpstr>
      <vt:lpstr>Product Market Extension Grid -  Ans-Off</vt:lpstr>
      <vt:lpstr>Product Portfolio</vt:lpstr>
      <vt:lpstr>Product life cycle</vt:lpstr>
      <vt:lpstr>PowerPoint Presentation</vt:lpstr>
      <vt:lpstr>Market Segmentation</vt:lpstr>
      <vt:lpstr>Market Segmentation</vt:lpstr>
      <vt:lpstr>Market Segmentation</vt:lpstr>
      <vt:lpstr>PowerPoint Presentation</vt:lpstr>
      <vt:lpstr>Market Segmentation</vt:lpstr>
      <vt:lpstr>PowerPoint Presentation</vt:lpstr>
      <vt:lpstr>Market Segmentation</vt:lpstr>
      <vt:lpstr>PowerPoint Presentation</vt:lpstr>
      <vt:lpstr>PowerPoint Presentation</vt:lpstr>
      <vt:lpstr>Market Segmentation</vt:lpstr>
      <vt:lpstr>Market Segmentation</vt:lpstr>
      <vt:lpstr>PowerPoint Presentation</vt:lpstr>
      <vt:lpstr>PowerPoint Presentation</vt:lpstr>
      <vt:lpstr>Market Segmentation</vt:lpstr>
      <vt:lpstr>Market Segmentation</vt:lpstr>
      <vt:lpstr>PowerPoint Presentation</vt:lpstr>
      <vt:lpstr>PowerPoint Presentation</vt:lpstr>
      <vt:lpstr>Market Segmentation</vt:lpstr>
      <vt:lpstr> Market Segmentation</vt:lpstr>
      <vt:lpstr>Market Segmentation</vt:lpstr>
      <vt:lpstr>PowerPoint Presentation</vt:lpstr>
      <vt:lpstr>PowerPoint Presentation</vt:lpstr>
      <vt:lpstr>PowerPoint Presentation</vt:lpstr>
      <vt:lpstr>Market Targeting</vt:lpstr>
      <vt:lpstr>PowerPoint Presentation</vt:lpstr>
      <vt:lpstr>Market Targeting</vt:lpstr>
      <vt:lpstr>PowerPoint Presentation</vt:lpstr>
      <vt:lpstr>Market Targeting</vt:lpstr>
      <vt:lpstr>Market Targeting </vt:lpstr>
      <vt:lpstr>Market Targeting</vt:lpstr>
      <vt:lpstr>Differentiation and Positioning </vt:lpstr>
      <vt:lpstr>Differentiation and Positioning</vt:lpstr>
      <vt:lpstr>Differentiation and Positioning </vt:lpstr>
      <vt:lpstr>Differentiation and Positioning </vt:lpstr>
      <vt:lpstr>PowerPoint Presentation</vt:lpstr>
      <vt:lpstr>PowerPoint Presentation</vt:lpstr>
      <vt:lpstr>Differentiation and Positioning </vt:lpstr>
      <vt:lpstr>PowerPoint Presentation</vt:lpstr>
      <vt:lpstr>PowerPoint Presentation</vt:lpstr>
      <vt:lpstr>PowerPoint Presentation</vt:lpstr>
      <vt:lpstr>Market Segmentation</vt:lpstr>
      <vt:lpstr>Market Segmentation</vt:lpstr>
      <vt:lpstr>Market Segmentation</vt:lpstr>
      <vt:lpstr>Market Segmentation</vt:lpstr>
      <vt:lpstr>PowerPoint Presentation</vt:lpstr>
      <vt:lpstr>Market Segmentation</vt:lpstr>
      <vt:lpstr>PowerPoint Presentation</vt:lpstr>
      <vt:lpstr>Market Segmentation</vt:lpstr>
      <vt:lpstr>PowerPoint Presentation</vt:lpstr>
      <vt:lpstr>PowerPoint Presentation</vt:lpstr>
      <vt:lpstr>Market Segmentation</vt:lpstr>
      <vt:lpstr>Market Segmentation</vt:lpstr>
      <vt:lpstr>Market Segmentation</vt:lpstr>
      <vt:lpstr>PowerPoint Presentation</vt:lpstr>
      <vt:lpstr>Market Segmentation</vt:lpstr>
      <vt:lpstr>PowerPoint Presentation</vt:lpstr>
      <vt:lpstr>Market Segmentation</vt:lpstr>
      <vt:lpstr>PowerPoint Presentation</vt:lpstr>
      <vt:lpstr>PowerPoint Presentation</vt:lpstr>
      <vt:lpstr>PowerPoint Presentation</vt:lpstr>
      <vt:lpstr>Market Segmentation</vt:lpstr>
      <vt:lpstr>PowerPoint Presentation</vt:lpstr>
      <vt:lpstr>Market Segmentation</vt:lpstr>
      <vt:lpstr> Market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areas to identify opportunity</dc:title>
  <dc:creator>Syeda Kazmi</dc:creator>
  <cp:lastModifiedBy>Syeda Kazmi</cp:lastModifiedBy>
  <cp:revision>6</cp:revision>
  <dcterms:created xsi:type="dcterms:W3CDTF">2025-02-13T03:50:56Z</dcterms:created>
  <dcterms:modified xsi:type="dcterms:W3CDTF">2025-02-28T03:44:06Z</dcterms:modified>
</cp:coreProperties>
</file>