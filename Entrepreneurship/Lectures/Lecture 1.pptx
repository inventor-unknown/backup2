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0.jpg" ContentType="image/jpg"/>
  <Override PartName="/ppt/media/image12.jpg" ContentType="image/jpg"/>
  <Override PartName="/ppt/media/image17.jpg" ContentType="image/jpg"/>
  <Override PartName="/ppt/media/image1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97" r:id="rId4"/>
    <p:sldId id="258" r:id="rId5"/>
    <p:sldId id="259" r:id="rId6"/>
    <p:sldId id="262" r:id="rId7"/>
    <p:sldId id="266" r:id="rId8"/>
    <p:sldId id="267" r:id="rId9"/>
    <p:sldId id="299" r:id="rId10"/>
    <p:sldId id="301" r:id="rId11"/>
    <p:sldId id="300" r:id="rId12"/>
    <p:sldId id="302" r:id="rId13"/>
    <p:sldId id="268" r:id="rId14"/>
    <p:sldId id="269" r:id="rId15"/>
    <p:sldId id="291" r:id="rId16"/>
    <p:sldId id="298" r:id="rId17"/>
    <p:sldId id="270" r:id="rId18"/>
    <p:sldId id="271" r:id="rId19"/>
    <p:sldId id="296" r:id="rId20"/>
    <p:sldId id="272" r:id="rId21"/>
    <p:sldId id="273" r:id="rId22"/>
    <p:sldId id="274" r:id="rId23"/>
    <p:sldId id="275" r:id="rId24"/>
    <p:sldId id="276" r:id="rId25"/>
    <p:sldId id="292" r:id="rId26"/>
    <p:sldId id="277" r:id="rId27"/>
    <p:sldId id="278" r:id="rId28"/>
    <p:sldId id="293" r:id="rId29"/>
    <p:sldId id="279" r:id="rId30"/>
    <p:sldId id="280" r:id="rId31"/>
    <p:sldId id="294" r:id="rId32"/>
    <p:sldId id="303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C8AE9-A7D6-4DE6-96FC-4BA4317AD15F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F394F-834D-40E2-9BDE-81797EDC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67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AF394F-834D-40E2-9BDE-81797EDC6E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69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AF394F-834D-40E2-9BDE-81797EDC6E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40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59839" y="284479"/>
            <a:ext cx="6624320" cy="87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©2010 </a:t>
            </a:r>
            <a:r>
              <a:rPr spc="-5" dirty="0"/>
              <a:t>Prentice</a:t>
            </a:r>
            <a:r>
              <a:rPr spc="-35" dirty="0"/>
              <a:t> </a:t>
            </a:r>
            <a:r>
              <a:rPr spc="-5"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0489">
              <a:lnSpc>
                <a:spcPts val="1645"/>
              </a:lnSpc>
            </a:pPr>
            <a:r>
              <a:rPr dirty="0"/>
              <a:t>2-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©2010 </a:t>
            </a:r>
            <a:r>
              <a:rPr spc="-5" dirty="0"/>
              <a:t>Prentice</a:t>
            </a:r>
            <a:r>
              <a:rPr spc="-35" dirty="0"/>
              <a:t> </a:t>
            </a:r>
            <a:r>
              <a:rPr spc="-5"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0489">
              <a:lnSpc>
                <a:spcPts val="1645"/>
              </a:lnSpc>
            </a:pPr>
            <a:r>
              <a:rPr dirty="0"/>
              <a:t>2-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©2010 </a:t>
            </a:r>
            <a:r>
              <a:rPr spc="-5" dirty="0"/>
              <a:t>Prentice</a:t>
            </a:r>
            <a:r>
              <a:rPr spc="-35" dirty="0"/>
              <a:t> </a:t>
            </a:r>
            <a:r>
              <a:rPr spc="-5" dirty="0"/>
              <a:t>Hall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0489">
              <a:lnSpc>
                <a:spcPts val="1645"/>
              </a:lnSpc>
            </a:pPr>
            <a:r>
              <a:rPr dirty="0"/>
              <a:t>2-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©2010 </a:t>
            </a:r>
            <a:r>
              <a:rPr spc="-5" dirty="0"/>
              <a:t>Prentice</a:t>
            </a:r>
            <a:r>
              <a:rPr spc="-35" dirty="0"/>
              <a:t> </a:t>
            </a:r>
            <a:r>
              <a:rPr spc="-5" dirty="0"/>
              <a:t>Hall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0489">
              <a:lnSpc>
                <a:spcPts val="1645"/>
              </a:lnSpc>
            </a:pPr>
            <a:r>
              <a:rPr dirty="0"/>
              <a:t>2-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©2010 </a:t>
            </a:r>
            <a:r>
              <a:rPr spc="-5" dirty="0"/>
              <a:t>Prentice</a:t>
            </a:r>
            <a:r>
              <a:rPr spc="-35" dirty="0"/>
              <a:t> </a:t>
            </a:r>
            <a:r>
              <a:rPr spc="-5" dirty="0"/>
              <a:t>Hall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0489">
              <a:lnSpc>
                <a:spcPts val="1645"/>
              </a:lnSpc>
            </a:pPr>
            <a:r>
              <a:rPr dirty="0"/>
              <a:t>2-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10883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1087119"/>
            <a:ext cx="9144000" cy="15608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2647950"/>
            <a:ext cx="9144000" cy="15608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4208779"/>
            <a:ext cx="9144000" cy="15608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5769609"/>
            <a:ext cx="9144000" cy="108839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2700" y="162559"/>
            <a:ext cx="9169400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56766"/>
            <a:ext cx="8093709" cy="3095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4400" y="6297126"/>
            <a:ext cx="1386839" cy="196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©2010 </a:t>
            </a:r>
            <a:r>
              <a:rPr spc="-5" dirty="0"/>
              <a:t>Prentice</a:t>
            </a:r>
            <a:r>
              <a:rPr spc="-35" dirty="0"/>
              <a:t> </a:t>
            </a:r>
            <a:r>
              <a:rPr spc="-5"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8330" y="6295722"/>
            <a:ext cx="393700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0489">
              <a:lnSpc>
                <a:spcPts val="1645"/>
              </a:lnSpc>
            </a:pPr>
            <a:r>
              <a:rPr dirty="0"/>
              <a:t>2-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Walt_Disney_Worl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29718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65800" y="1482090"/>
            <a:ext cx="24117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/>
              <a:t>Chapter</a:t>
            </a:r>
            <a:r>
              <a:rPr sz="4800" spc="-75" dirty="0"/>
              <a:t> </a:t>
            </a:r>
            <a:r>
              <a:rPr sz="4800" dirty="0"/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45100" y="3385820"/>
            <a:ext cx="352425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 algn="ctr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Times New Roman"/>
                <a:cs typeface="Times New Roman"/>
              </a:rPr>
              <a:t>Introduction to  </a:t>
            </a:r>
            <a:r>
              <a:rPr sz="3600" b="1" spc="-5" dirty="0" smtClean="0">
                <a:latin typeface="Times New Roman"/>
                <a:cs typeface="Times New Roman"/>
              </a:rPr>
              <a:t>Entr</a:t>
            </a:r>
            <a:r>
              <a:rPr sz="3600" b="1" spc="-10" dirty="0" smtClean="0">
                <a:latin typeface="Times New Roman"/>
                <a:cs typeface="Times New Roman"/>
              </a:rPr>
              <a:t>e</a:t>
            </a:r>
            <a:r>
              <a:rPr sz="3600" b="1" dirty="0" smtClean="0">
                <a:latin typeface="Times New Roman"/>
                <a:cs typeface="Times New Roman"/>
              </a:rPr>
              <a:t>p</a:t>
            </a:r>
            <a:r>
              <a:rPr sz="3600" b="1" spc="-10" dirty="0" smtClean="0">
                <a:latin typeface="Times New Roman"/>
                <a:cs typeface="Times New Roman"/>
              </a:rPr>
              <a:t>r</a:t>
            </a:r>
            <a:r>
              <a:rPr sz="3600" b="1" spc="-5" dirty="0" smtClean="0">
                <a:latin typeface="Times New Roman"/>
                <a:cs typeface="Times New Roman"/>
              </a:rPr>
              <a:t>eneurs</a:t>
            </a:r>
            <a:r>
              <a:rPr sz="3600" b="1" dirty="0" smtClean="0">
                <a:latin typeface="Times New Roman"/>
                <a:cs typeface="Times New Roman"/>
              </a:rPr>
              <a:t>h</a:t>
            </a:r>
            <a:r>
              <a:rPr sz="3600" b="1" spc="-15" dirty="0" smtClean="0">
                <a:latin typeface="Times New Roman"/>
                <a:cs typeface="Times New Roman"/>
              </a:rPr>
              <a:t>i</a:t>
            </a:r>
            <a:r>
              <a:rPr sz="3600" b="1" dirty="0" smtClean="0">
                <a:latin typeface="Times New Roman"/>
                <a:cs typeface="Times New Roman"/>
              </a:rPr>
              <a:t>p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083608"/>
            <a:ext cx="4495800" cy="2886695"/>
          </a:xfrm>
          <a:prstGeom prst="rect">
            <a:avLst/>
          </a:prstGeom>
        </p:spPr>
      </p:pic>
      <p:pic>
        <p:nvPicPr>
          <p:cNvPr id="8" name="Content Placeholder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5107"/>
            <a:ext cx="4495800" cy="27748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5400" y="-168042"/>
            <a:ext cx="9169400" cy="1551707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rgbClr val="0000FF"/>
                </a:solidFill>
              </a:rPr>
              <a:t>Difference between Businessman and Entrepreneur</a:t>
            </a:r>
            <a:endParaRPr spc="-5" dirty="0">
              <a:solidFill>
                <a:srgbClr val="0000FF"/>
              </a:solidFill>
            </a:endParaRPr>
          </a:p>
          <a:p>
            <a:pPr algn="ctr">
              <a:lnSpc>
                <a:spcPct val="100000"/>
              </a:lnSpc>
            </a:pPr>
            <a:r>
              <a:rPr sz="2000" dirty="0"/>
              <a:t>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39078"/>
            <a:ext cx="7924800" cy="5648341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622300" marR="5080" indent="-609600" algn="just">
              <a:lnSpc>
                <a:spcPts val="2690"/>
              </a:lnSpc>
              <a:spcBef>
                <a:spcPts val="69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businessman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walks on the defined path, but an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believes in making his own path, which becomes a guideline for other businessmen.</a:t>
            </a:r>
          </a:p>
          <a:p>
            <a:pPr marL="622300" marR="5080" indent="-609600" algn="just">
              <a:lnSpc>
                <a:spcPts val="2690"/>
              </a:lnSpc>
              <a:spcBef>
                <a:spcPts val="69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people have a misconception that the terms businessman and entrepreneur, carry the same meaning, due to which they use them interchangeably.</a:t>
            </a:r>
          </a:p>
          <a:p>
            <a:pPr marL="622300" marR="5080" indent="-609600" algn="just">
              <a:lnSpc>
                <a:spcPts val="2690"/>
              </a:lnSpc>
              <a:spcBef>
                <a:spcPts val="69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 is always a market leader whereas a businessman is a market player.</a:t>
            </a:r>
          </a:p>
          <a:p>
            <a:pPr marL="622300" marR="5080" indent="-609600" algn="just">
              <a:lnSpc>
                <a:spcPts val="2690"/>
              </a:lnSpc>
              <a:spcBef>
                <a:spcPts val="69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businessman is a person who runs the business, undertaking an unoriginal business idea.  On the contrary, An entrepreneur is a person who conceives a unique idea or concept to start an enterprise and brings it into reality. He is the person who bears risks and uncertainties of the business. </a:t>
            </a:r>
          </a:p>
          <a:p>
            <a:pPr marL="622300" marR="5080" indent="-609600" algn="just">
              <a:lnSpc>
                <a:spcPts val="2690"/>
              </a:lnSpc>
              <a:spcBef>
                <a:spcPts val="690"/>
              </a:spcBef>
              <a:buAutoNum type="arabicPeriod"/>
              <a:tabLst>
                <a:tab pos="621665" algn="l"/>
                <a:tab pos="622300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2" y="0"/>
            <a:ext cx="4479878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0"/>
            <a:ext cx="4800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162559"/>
            <a:ext cx="9169400" cy="68993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Chapter</a:t>
            </a:r>
            <a:r>
              <a:rPr spc="-65" dirty="0"/>
              <a:t> </a:t>
            </a:r>
            <a:r>
              <a:rPr spc="-5" dirty="0" smtClean="0"/>
              <a:t>Objectives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8129"/>
            <a:ext cx="7755890" cy="38773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622300" marR="1400810" indent="-609600">
              <a:lnSpc>
                <a:spcPts val="2690"/>
              </a:lnSpc>
              <a:spcBef>
                <a:spcPts val="74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Explain entrepreneurship and discuss </a:t>
            </a:r>
            <a:r>
              <a:rPr sz="2800" dirty="0">
                <a:latin typeface="Times New Roman"/>
                <a:cs typeface="Times New Roman"/>
              </a:rPr>
              <a:t>its  </a:t>
            </a:r>
            <a:r>
              <a:rPr sz="2800" spc="-5" dirty="0">
                <a:latin typeface="Times New Roman"/>
                <a:cs typeface="Times New Roman"/>
              </a:rPr>
              <a:t>importance.</a:t>
            </a:r>
            <a:endParaRPr sz="2800">
              <a:latin typeface="Times New Roman"/>
              <a:cs typeface="Times New Roman"/>
            </a:endParaRPr>
          </a:p>
          <a:p>
            <a:pPr marL="622300" marR="5080" indent="-609600">
              <a:lnSpc>
                <a:spcPts val="2690"/>
              </a:lnSpc>
              <a:spcBef>
                <a:spcPts val="69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Describe corporate entrepreneurship and </a:t>
            </a:r>
            <a:r>
              <a:rPr sz="2800" dirty="0">
                <a:latin typeface="Times New Roman"/>
                <a:cs typeface="Times New Roman"/>
              </a:rPr>
              <a:t>its use in  </a:t>
            </a:r>
            <a:r>
              <a:rPr sz="2800" spc="-5" dirty="0">
                <a:latin typeface="Times New Roman"/>
                <a:cs typeface="Times New Roman"/>
              </a:rPr>
              <a:t>established</a:t>
            </a:r>
            <a:r>
              <a:rPr sz="2800" spc="-10" dirty="0">
                <a:latin typeface="Times New Roman"/>
                <a:cs typeface="Times New Roman"/>
              </a:rPr>
              <a:t> firms.</a:t>
            </a:r>
            <a:endParaRPr sz="2800">
              <a:latin typeface="Times New Roman"/>
              <a:cs typeface="Times New Roman"/>
            </a:endParaRPr>
          </a:p>
          <a:p>
            <a:pPr marL="622300" marR="855980" indent="-609600">
              <a:lnSpc>
                <a:spcPts val="2690"/>
              </a:lnSpc>
              <a:spcBef>
                <a:spcPts val="69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Discuss three </a:t>
            </a:r>
            <a:r>
              <a:rPr sz="2800" spc="-10" dirty="0">
                <a:latin typeface="Times New Roman"/>
                <a:cs typeface="Times New Roman"/>
              </a:rPr>
              <a:t>main </a:t>
            </a:r>
            <a:r>
              <a:rPr sz="2800" spc="-5" dirty="0">
                <a:latin typeface="Times New Roman"/>
                <a:cs typeface="Times New Roman"/>
              </a:rPr>
              <a:t>reasons </a:t>
            </a:r>
            <a:r>
              <a:rPr sz="2800" dirty="0">
                <a:latin typeface="Times New Roman"/>
                <a:cs typeface="Times New Roman"/>
              </a:rPr>
              <a:t>people </a:t>
            </a:r>
            <a:r>
              <a:rPr sz="2800" spc="-5" dirty="0">
                <a:latin typeface="Times New Roman"/>
                <a:cs typeface="Times New Roman"/>
              </a:rPr>
              <a:t>decide </a:t>
            </a:r>
            <a:r>
              <a:rPr sz="2800" dirty="0">
                <a:latin typeface="Times New Roman"/>
                <a:cs typeface="Times New Roman"/>
              </a:rPr>
              <a:t>to  </a:t>
            </a:r>
            <a:r>
              <a:rPr sz="2800" spc="-5" dirty="0">
                <a:latin typeface="Times New Roman"/>
                <a:cs typeface="Times New Roman"/>
              </a:rPr>
              <a:t>become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entrepreneurs.</a:t>
            </a:r>
            <a:endParaRPr sz="2800">
              <a:latin typeface="Times New Roman"/>
              <a:cs typeface="Times New Roman"/>
            </a:endParaRPr>
          </a:p>
          <a:p>
            <a:pPr marL="622300" marR="473075" indent="-609600">
              <a:lnSpc>
                <a:spcPts val="2690"/>
              </a:lnSpc>
              <a:spcBef>
                <a:spcPts val="69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Identify </a:t>
            </a:r>
            <a:r>
              <a:rPr sz="2800" dirty="0">
                <a:latin typeface="Times New Roman"/>
                <a:cs typeface="Times New Roman"/>
              </a:rPr>
              <a:t>four </a:t>
            </a:r>
            <a:r>
              <a:rPr sz="2800" spc="-10" dirty="0">
                <a:latin typeface="Times New Roman"/>
                <a:cs typeface="Times New Roman"/>
              </a:rPr>
              <a:t>main </a:t>
            </a:r>
            <a:r>
              <a:rPr sz="2800" spc="-5" dirty="0">
                <a:latin typeface="Times New Roman"/>
                <a:cs typeface="Times New Roman"/>
              </a:rPr>
              <a:t>characteristics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successful  entrepreneurs.</a:t>
            </a:r>
            <a:endParaRPr sz="2800">
              <a:latin typeface="Times New Roman"/>
              <a:cs typeface="Times New Roman"/>
            </a:endParaRPr>
          </a:p>
          <a:p>
            <a:pPr marL="622300" marR="1641475" indent="-609600">
              <a:lnSpc>
                <a:spcPct val="79800"/>
              </a:lnSpc>
              <a:spcBef>
                <a:spcPts val="73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Explain five </a:t>
            </a:r>
            <a:r>
              <a:rPr sz="2800" spc="-10" dirty="0">
                <a:latin typeface="Times New Roman"/>
                <a:cs typeface="Times New Roman"/>
              </a:rPr>
              <a:t>common </a:t>
            </a:r>
            <a:r>
              <a:rPr sz="2800" spc="-5" dirty="0">
                <a:latin typeface="Times New Roman"/>
                <a:cs typeface="Times New Roman"/>
              </a:rPr>
              <a:t>myths regarding  entrepreneurship.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672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162559"/>
            <a:ext cx="9169400" cy="68993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Chapter</a:t>
            </a:r>
            <a:r>
              <a:rPr spc="-65" dirty="0"/>
              <a:t> </a:t>
            </a:r>
            <a:r>
              <a:rPr spc="-5" dirty="0" smtClean="0"/>
              <a:t>Objectives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33220"/>
            <a:ext cx="7910195" cy="3298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744220" indent="-609600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Explain </a:t>
            </a:r>
            <a:r>
              <a:rPr sz="2800" dirty="0">
                <a:latin typeface="Times New Roman"/>
                <a:cs typeface="Times New Roman"/>
              </a:rPr>
              <a:t>how </a:t>
            </a:r>
            <a:r>
              <a:rPr sz="2800" spc="-5" dirty="0">
                <a:latin typeface="Times New Roman"/>
                <a:cs typeface="Times New Roman"/>
              </a:rPr>
              <a:t>entrepreneurial </a:t>
            </a:r>
            <a:r>
              <a:rPr sz="2800" spc="-10" dirty="0">
                <a:latin typeface="Times New Roman"/>
                <a:cs typeface="Times New Roman"/>
              </a:rPr>
              <a:t>firms </a:t>
            </a:r>
            <a:r>
              <a:rPr sz="2800" spc="-5" dirty="0">
                <a:latin typeface="Times New Roman"/>
                <a:cs typeface="Times New Roman"/>
              </a:rPr>
              <a:t>differ from  salary-substitute and lifestyle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firms.</a:t>
            </a:r>
            <a:endParaRPr sz="2800" dirty="0">
              <a:latin typeface="Times New Roman"/>
              <a:cs typeface="Times New Roman"/>
            </a:endParaRPr>
          </a:p>
          <a:p>
            <a:pPr marL="622300" marR="697230" indent="-609600">
              <a:lnSpc>
                <a:spcPct val="100000"/>
              </a:lnSpc>
              <a:spcBef>
                <a:spcPts val="690"/>
              </a:spcBef>
              <a:buAutoNum type="arabicPeriod" startAt="6"/>
              <a:tabLst>
                <a:tab pos="621665" algn="l"/>
                <a:tab pos="622300" algn="l"/>
              </a:tabLst>
            </a:pPr>
            <a:r>
              <a:rPr sz="2800" spc="-5" dirty="0" smtClean="0">
                <a:latin typeface="Times New Roman"/>
                <a:cs typeface="Times New Roman"/>
              </a:rPr>
              <a:t>Discuss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impact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entrepreneurial </a:t>
            </a:r>
            <a:r>
              <a:rPr sz="2800" spc="-10" dirty="0">
                <a:latin typeface="Times New Roman"/>
                <a:cs typeface="Times New Roman"/>
              </a:rPr>
              <a:t>firms </a:t>
            </a:r>
            <a:r>
              <a:rPr sz="2800" dirty="0">
                <a:latin typeface="Times New Roman"/>
                <a:cs typeface="Times New Roman"/>
              </a:rPr>
              <a:t>on  </a:t>
            </a:r>
            <a:r>
              <a:rPr sz="2800" spc="-5" dirty="0">
                <a:latin typeface="Times New Roman"/>
                <a:cs typeface="Times New Roman"/>
              </a:rPr>
              <a:t>economies and societies.</a:t>
            </a:r>
            <a:endParaRPr sz="2800" dirty="0">
              <a:latin typeface="Times New Roman"/>
              <a:cs typeface="Times New Roman"/>
            </a:endParaRPr>
          </a:p>
          <a:p>
            <a:pPr marL="622300" marR="5080" indent="-609600">
              <a:lnSpc>
                <a:spcPct val="100000"/>
              </a:lnSpc>
              <a:spcBef>
                <a:spcPts val="700"/>
              </a:spcBef>
              <a:buAutoNum type="arabicPeriod" startAt="6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Identify ways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which large </a:t>
            </a:r>
            <a:r>
              <a:rPr sz="2800" spc="-10" dirty="0">
                <a:latin typeface="Times New Roman"/>
                <a:cs typeface="Times New Roman"/>
              </a:rPr>
              <a:t>firms </a:t>
            </a:r>
            <a:r>
              <a:rPr sz="2800" spc="-5" dirty="0">
                <a:latin typeface="Times New Roman"/>
                <a:cs typeface="Times New Roman"/>
              </a:rPr>
              <a:t>benefit from </a:t>
            </a:r>
            <a:r>
              <a:rPr sz="2800" dirty="0">
                <a:latin typeface="Times New Roman"/>
                <a:cs typeface="Times New Roman"/>
              </a:rPr>
              <a:t>the  </a:t>
            </a:r>
            <a:r>
              <a:rPr sz="2800" spc="-5" dirty="0">
                <a:latin typeface="Times New Roman"/>
                <a:cs typeface="Times New Roman"/>
              </a:rPr>
              <a:t>presence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smaller </a:t>
            </a:r>
            <a:r>
              <a:rPr sz="2800" spc="-5" dirty="0">
                <a:latin typeface="Times New Roman"/>
                <a:cs typeface="Times New Roman"/>
              </a:rPr>
              <a:t>entrepreneurial </a:t>
            </a:r>
            <a:r>
              <a:rPr sz="2800" spc="-10" dirty="0">
                <a:latin typeface="Times New Roman"/>
                <a:cs typeface="Times New Roman"/>
              </a:rPr>
              <a:t>firms.</a:t>
            </a:r>
            <a:endParaRPr sz="2800" dirty="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690"/>
              </a:spcBef>
              <a:buAutoNum type="arabicPeriod" startAt="6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Explain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entrepreneurial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process.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533400"/>
            <a:ext cx="853694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" dirty="0">
                <a:solidFill>
                  <a:srgbClr val="0000FF"/>
                </a:solidFill>
              </a:rPr>
              <a:t>Introduction to</a:t>
            </a:r>
            <a:r>
              <a:rPr sz="4400" b="1" spc="-55" dirty="0">
                <a:solidFill>
                  <a:srgbClr val="0000FF"/>
                </a:solidFill>
              </a:rPr>
              <a:t> </a:t>
            </a:r>
            <a:r>
              <a:rPr sz="4400" b="1" spc="-5" dirty="0">
                <a:solidFill>
                  <a:srgbClr val="0000FF"/>
                </a:solidFill>
              </a:rPr>
              <a:t>Entrepreneurship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1752600"/>
            <a:ext cx="8524241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735" marR="284480" indent="-1270" algn="ctr">
              <a:lnSpc>
                <a:spcPct val="99900"/>
              </a:lnSpc>
              <a:spcBef>
                <a:spcPts val="100"/>
              </a:spcBef>
            </a:pPr>
            <a:r>
              <a:rPr sz="6000" spc="-5" dirty="0">
                <a:latin typeface="Times New Roman"/>
                <a:cs typeface="Times New Roman"/>
              </a:rPr>
              <a:t>There </a:t>
            </a:r>
            <a:r>
              <a:rPr sz="6000" dirty="0">
                <a:latin typeface="Times New Roman"/>
                <a:cs typeface="Times New Roman"/>
              </a:rPr>
              <a:t>is </a:t>
            </a:r>
            <a:r>
              <a:rPr sz="6000" spc="-5" dirty="0">
                <a:latin typeface="Times New Roman"/>
                <a:cs typeface="Times New Roman"/>
              </a:rPr>
              <a:t>tremendous  interest </a:t>
            </a:r>
            <a:r>
              <a:rPr sz="6000" dirty="0">
                <a:latin typeface="Times New Roman"/>
                <a:cs typeface="Times New Roman"/>
              </a:rPr>
              <a:t>in  </a:t>
            </a:r>
            <a:r>
              <a:rPr sz="6000" spc="-5" dirty="0">
                <a:latin typeface="Times New Roman"/>
                <a:cs typeface="Times New Roman"/>
              </a:rPr>
              <a:t>entrepreneurship </a:t>
            </a:r>
            <a:r>
              <a:rPr sz="6000" dirty="0">
                <a:latin typeface="Times New Roman"/>
                <a:cs typeface="Times New Roman"/>
              </a:rPr>
              <a:t>in</a:t>
            </a:r>
            <a:r>
              <a:rPr sz="6000" spc="-65" dirty="0">
                <a:latin typeface="Times New Roman"/>
                <a:cs typeface="Times New Roman"/>
              </a:rPr>
              <a:t> </a:t>
            </a:r>
            <a:r>
              <a:rPr sz="6000" dirty="0">
                <a:latin typeface="Times New Roman"/>
                <a:cs typeface="Times New Roman"/>
              </a:rPr>
              <a:t>the</a:t>
            </a:r>
          </a:p>
          <a:p>
            <a:pPr marL="12700">
              <a:lnSpc>
                <a:spcPct val="100000"/>
              </a:lnSpc>
            </a:pPr>
            <a:r>
              <a:rPr sz="6000" spc="-10" dirty="0">
                <a:latin typeface="Times New Roman"/>
                <a:cs typeface="Times New Roman"/>
              </a:rPr>
              <a:t>U.S. </a:t>
            </a:r>
            <a:r>
              <a:rPr sz="6000" spc="-5" dirty="0">
                <a:latin typeface="Times New Roman"/>
                <a:cs typeface="Times New Roman"/>
              </a:rPr>
              <a:t>and </a:t>
            </a:r>
            <a:r>
              <a:rPr sz="6000" dirty="0">
                <a:latin typeface="Times New Roman"/>
                <a:cs typeface="Times New Roman"/>
              </a:rPr>
              <a:t>around the</a:t>
            </a:r>
            <a:r>
              <a:rPr sz="6000" spc="-80" dirty="0">
                <a:latin typeface="Times New Roman"/>
                <a:cs typeface="Times New Roman"/>
              </a:rPr>
              <a:t> </a:t>
            </a:r>
            <a:r>
              <a:rPr sz="6000" spc="-5" dirty="0">
                <a:latin typeface="Times New Roman"/>
                <a:cs typeface="Times New Roman"/>
              </a:rPr>
              <a:t>world.</a:t>
            </a:r>
            <a:endParaRPr sz="6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1760" y="284479"/>
            <a:ext cx="6250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Arial"/>
                <a:cs typeface="Arial"/>
              </a:rPr>
              <a:t>Mega</a:t>
            </a:r>
            <a:r>
              <a:rPr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0000"/>
                </a:solidFill>
                <a:latin typeface="Arial"/>
                <a:cs typeface="Arial"/>
              </a:rPr>
              <a:t>Entrepreneurs/Founders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9520"/>
            <a:ext cx="8303260" cy="5486116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lang="en-US" sz="2800" dirty="0">
                <a:solidFill>
                  <a:srgbClr val="6F2F9F"/>
                </a:solidFill>
                <a:latin typeface="Arial"/>
                <a:cs typeface="Arial"/>
              </a:rPr>
              <a:t>Jeff </a:t>
            </a:r>
            <a:r>
              <a:rPr lang="en-US" sz="2800" spc="-5" dirty="0">
                <a:solidFill>
                  <a:srgbClr val="6F2F9F"/>
                </a:solidFill>
                <a:latin typeface="Arial"/>
                <a:cs typeface="Arial"/>
              </a:rPr>
              <a:t>Bezos </a:t>
            </a:r>
            <a:r>
              <a:rPr lang="en-US" sz="2800" dirty="0">
                <a:latin typeface="Arial"/>
                <a:cs typeface="Arial"/>
              </a:rPr>
              <a:t>–</a:t>
            </a:r>
            <a:r>
              <a:rPr lang="en-US" sz="2800" spc="5" dirty="0">
                <a:latin typeface="Arial"/>
                <a:cs typeface="Arial"/>
              </a:rPr>
              <a:t> </a:t>
            </a:r>
            <a:r>
              <a:rPr lang="en-US" sz="2800" spc="-5" dirty="0" err="1">
                <a:latin typeface="Arial"/>
                <a:cs typeface="Arial"/>
              </a:rPr>
              <a:t>Amazon.Com</a:t>
            </a:r>
            <a:endParaRPr lang="en-US"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lang="en-US" sz="2800" spc="-5" dirty="0">
                <a:solidFill>
                  <a:srgbClr val="FF0000"/>
                </a:solidFill>
                <a:latin typeface="Arial"/>
                <a:cs typeface="Arial"/>
              </a:rPr>
              <a:t>Sergey </a:t>
            </a:r>
            <a:r>
              <a:rPr lang="en-US" sz="2800" spc="-5" dirty="0" err="1">
                <a:solidFill>
                  <a:srgbClr val="FF0000"/>
                </a:solidFill>
                <a:latin typeface="Arial"/>
                <a:cs typeface="Arial"/>
              </a:rPr>
              <a:t>Brin</a:t>
            </a:r>
            <a:r>
              <a:rPr lang="en-US" sz="2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&amp; </a:t>
            </a:r>
            <a:r>
              <a:rPr lang="en-US" sz="2800" spc="-5" dirty="0">
                <a:solidFill>
                  <a:srgbClr val="FF0000"/>
                </a:solidFill>
                <a:latin typeface="Arial"/>
                <a:cs typeface="Arial"/>
              </a:rPr>
              <a:t>Larry 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Page</a:t>
            </a:r>
            <a:r>
              <a:rPr lang="en-US" sz="2800" dirty="0">
                <a:latin typeface="Arial"/>
                <a:cs typeface="Arial"/>
              </a:rPr>
              <a:t>-</a:t>
            </a:r>
            <a:r>
              <a:rPr lang="en-US" sz="2800" spc="-35" dirty="0">
                <a:latin typeface="Arial"/>
                <a:cs typeface="Arial"/>
              </a:rPr>
              <a:t> </a:t>
            </a:r>
            <a:r>
              <a:rPr lang="en-US" sz="2800" spc="-5" dirty="0">
                <a:latin typeface="Arial"/>
                <a:cs typeface="Arial"/>
              </a:rPr>
              <a:t>Google</a:t>
            </a:r>
            <a:endParaRPr lang="en-US"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lang="en-US" sz="2800" spc="-5" dirty="0">
                <a:solidFill>
                  <a:srgbClr val="FF0000"/>
                </a:solidFill>
                <a:latin typeface="Arial"/>
                <a:cs typeface="Arial"/>
              </a:rPr>
              <a:t>Bill Gates 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&amp; </a:t>
            </a:r>
            <a:r>
              <a:rPr lang="en-US" sz="2800" spc="-5" dirty="0">
                <a:solidFill>
                  <a:srgbClr val="FF0000"/>
                </a:solidFill>
                <a:latin typeface="Arial"/>
                <a:cs typeface="Arial"/>
              </a:rPr>
              <a:t>Paul Allen </a:t>
            </a:r>
            <a:r>
              <a:rPr lang="en-US" sz="2800" dirty="0">
                <a:latin typeface="Arial"/>
                <a:cs typeface="Arial"/>
              </a:rPr>
              <a:t>-</a:t>
            </a:r>
            <a:r>
              <a:rPr lang="en-US" sz="2800" spc="30" dirty="0">
                <a:latin typeface="Arial"/>
                <a:cs typeface="Arial"/>
              </a:rPr>
              <a:t> </a:t>
            </a:r>
            <a:r>
              <a:rPr lang="en-US" sz="2800" spc="-5" dirty="0">
                <a:latin typeface="Arial"/>
                <a:cs typeface="Arial"/>
              </a:rPr>
              <a:t>Microsoft</a:t>
            </a:r>
            <a:endParaRPr lang="en-US"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  <a:tab pos="2729230" algn="l"/>
              </a:tabLst>
            </a:pPr>
            <a:r>
              <a:rPr lang="en-US" sz="2800" spc="-5" dirty="0">
                <a:solidFill>
                  <a:srgbClr val="6F2F9F"/>
                </a:solidFill>
                <a:latin typeface="Arial"/>
                <a:cs typeface="Arial"/>
              </a:rPr>
              <a:t>Larry</a:t>
            </a:r>
            <a:r>
              <a:rPr lang="en-US" sz="2800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6F2F9F"/>
                </a:solidFill>
                <a:latin typeface="Arial"/>
                <a:cs typeface="Arial"/>
              </a:rPr>
              <a:t>Ellison</a:t>
            </a:r>
            <a:r>
              <a:rPr lang="en-US" sz="2800" spc="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-	</a:t>
            </a:r>
            <a:r>
              <a:rPr lang="en-US" sz="2800" spc="-5" dirty="0">
                <a:latin typeface="Arial"/>
                <a:cs typeface="Arial"/>
              </a:rPr>
              <a:t>Oracle</a:t>
            </a:r>
            <a:endParaRPr lang="en-US"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lang="en-US" sz="2800" spc="-5" dirty="0">
                <a:solidFill>
                  <a:srgbClr val="FF0000"/>
                </a:solidFill>
                <a:latin typeface="Arial"/>
                <a:cs typeface="Arial"/>
              </a:rPr>
              <a:t>Steve Jobs 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&amp; </a:t>
            </a:r>
            <a:r>
              <a:rPr lang="en-US" sz="2800" spc="-5" dirty="0">
                <a:solidFill>
                  <a:srgbClr val="FF0000"/>
                </a:solidFill>
                <a:latin typeface="Arial"/>
                <a:cs typeface="Arial"/>
              </a:rPr>
              <a:t>Steve Wozniak </a:t>
            </a:r>
            <a:r>
              <a:rPr lang="en-US" sz="2800" dirty="0">
                <a:latin typeface="Arial"/>
                <a:cs typeface="Arial"/>
              </a:rPr>
              <a:t>- </a:t>
            </a:r>
            <a:r>
              <a:rPr lang="en-US" sz="2800" spc="-5" dirty="0">
                <a:latin typeface="Arial"/>
                <a:cs typeface="Arial"/>
              </a:rPr>
              <a:t>Apple</a:t>
            </a:r>
            <a:r>
              <a:rPr lang="en-US" sz="2800" spc="15" dirty="0">
                <a:latin typeface="Arial"/>
                <a:cs typeface="Arial"/>
              </a:rPr>
              <a:t> </a:t>
            </a:r>
            <a:r>
              <a:rPr lang="en-US" sz="2800" spc="-5" dirty="0">
                <a:latin typeface="Arial"/>
                <a:cs typeface="Arial"/>
              </a:rPr>
              <a:t>Computer</a:t>
            </a:r>
            <a:endParaRPr lang="en-US"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lang="en-US" sz="2800" spc="-5" dirty="0">
                <a:solidFill>
                  <a:srgbClr val="FF0000"/>
                </a:solidFill>
                <a:latin typeface="Arial"/>
                <a:cs typeface="Arial"/>
              </a:rPr>
              <a:t>Michael Dell </a:t>
            </a:r>
            <a:r>
              <a:rPr lang="en-US" sz="2800" dirty="0">
                <a:latin typeface="Arial"/>
                <a:cs typeface="Arial"/>
              </a:rPr>
              <a:t>- </a:t>
            </a:r>
            <a:r>
              <a:rPr lang="en-US" sz="2800" spc="-5" dirty="0">
                <a:latin typeface="Arial"/>
                <a:cs typeface="Arial"/>
              </a:rPr>
              <a:t>Dell</a:t>
            </a:r>
            <a:r>
              <a:rPr lang="en-US" sz="2800" spc="10" dirty="0">
                <a:latin typeface="Arial"/>
                <a:cs typeface="Arial"/>
              </a:rPr>
              <a:t> </a:t>
            </a:r>
            <a:r>
              <a:rPr lang="en-US" sz="2800" spc="-5" dirty="0">
                <a:latin typeface="Arial"/>
                <a:cs typeface="Arial"/>
              </a:rPr>
              <a:t>Computer</a:t>
            </a:r>
            <a:endParaRPr lang="en-US"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  <a:tab pos="3462020" algn="l"/>
              </a:tabLst>
            </a:pPr>
            <a:r>
              <a:rPr lang="en-US" sz="2800" spc="-5" dirty="0">
                <a:solidFill>
                  <a:srgbClr val="FF0000"/>
                </a:solidFill>
                <a:latin typeface="Arial"/>
                <a:cs typeface="Arial"/>
              </a:rPr>
              <a:t>Mark</a:t>
            </a:r>
            <a:r>
              <a:rPr lang="en-US" sz="28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FF0000"/>
                </a:solidFill>
                <a:latin typeface="Arial"/>
                <a:cs typeface="Arial"/>
              </a:rPr>
              <a:t>Zuckerberg</a:t>
            </a:r>
            <a:r>
              <a:rPr lang="en-US" sz="2800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-	</a:t>
            </a:r>
            <a:r>
              <a:rPr lang="en-US" sz="2800" spc="-10" dirty="0">
                <a:latin typeface="Arial"/>
                <a:cs typeface="Arial"/>
              </a:rPr>
              <a:t>Facebook</a:t>
            </a:r>
            <a:endParaRPr lang="en-US"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59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6F2F9F"/>
                </a:solidFill>
                <a:latin typeface="Arial"/>
                <a:cs typeface="Arial"/>
              </a:rPr>
              <a:t>Richard Branson </a:t>
            </a:r>
            <a:r>
              <a:rPr sz="2800" dirty="0">
                <a:latin typeface="Arial"/>
                <a:cs typeface="Arial"/>
              </a:rPr>
              <a:t>– </a:t>
            </a:r>
            <a:r>
              <a:rPr sz="2800" spc="-5" dirty="0">
                <a:latin typeface="Arial"/>
                <a:cs typeface="Arial"/>
              </a:rPr>
              <a:t>Virgin Group of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Comp.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59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6F2F9F"/>
                </a:solidFill>
                <a:latin typeface="Arial"/>
                <a:cs typeface="Arial"/>
              </a:rPr>
              <a:t>Phil Knight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Nike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59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  <a:tab pos="2332355" algn="l"/>
                <a:tab pos="2649220" algn="l"/>
              </a:tabLst>
            </a:pP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Akio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Morita	</a:t>
            </a:r>
            <a:r>
              <a:rPr sz="2800" dirty="0">
                <a:latin typeface="Arial"/>
                <a:cs typeface="Arial"/>
              </a:rPr>
              <a:t>-	</a:t>
            </a:r>
            <a:r>
              <a:rPr sz="2800" spc="-10" dirty="0">
                <a:latin typeface="Arial"/>
                <a:cs typeface="Arial"/>
              </a:rPr>
              <a:t>Sony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59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lang="en-US" sz="2800" spc="-5" dirty="0" smtClean="0">
                <a:solidFill>
                  <a:srgbClr val="6F2F9F"/>
                </a:solidFill>
                <a:latin typeface="Arial"/>
                <a:cs typeface="Arial"/>
              </a:rPr>
              <a:t>Elon Musk</a:t>
            </a:r>
            <a:r>
              <a:rPr sz="2800" spc="-5" dirty="0" smtClean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lang="en-US" sz="2800" spc="35" dirty="0" smtClean="0">
                <a:latin typeface="Arial"/>
                <a:cs typeface="Arial"/>
              </a:rPr>
              <a:t> Tesla Motor, SpaceX</a:t>
            </a:r>
            <a:r>
              <a:rPr lang="en-US" sz="2800" dirty="0"/>
              <a:t> 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59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Walt Disney </a:t>
            </a:r>
            <a:r>
              <a:rPr sz="2800" dirty="0">
                <a:latin typeface="Arial"/>
                <a:cs typeface="Arial"/>
              </a:rPr>
              <a:t>-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lang="en-US" sz="2800" dirty="0"/>
              <a:t>‎</a:t>
            </a:r>
            <a:r>
              <a:rPr lang="en-US" sz="2800" u="sng" dirty="0">
                <a:hlinkClick r:id="rId2"/>
              </a:rPr>
              <a:t>Walt Disney World</a:t>
            </a:r>
            <a:r>
              <a:rPr lang="en-US" sz="2800" dirty="0"/>
              <a:t> ·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760" y="284479"/>
            <a:ext cx="7620634" cy="5763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111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Times New Roman"/>
                <a:cs typeface="Times New Roman"/>
              </a:rPr>
              <a:t>What is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Entrepreneurship?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5450" dirty="0">
              <a:latin typeface="Times New Roman"/>
              <a:cs typeface="Times New Roman"/>
            </a:endParaRPr>
          </a:p>
          <a:p>
            <a:pPr marL="17780" marR="5080" indent="-5080">
              <a:lnSpc>
                <a:spcPct val="100000"/>
              </a:lnSpc>
              <a:tabLst>
                <a:tab pos="6318885" algn="l"/>
              </a:tabLst>
            </a:pPr>
            <a:r>
              <a:rPr sz="3600" spc="5" dirty="0">
                <a:solidFill>
                  <a:srgbClr val="BF0000"/>
                </a:solidFill>
                <a:latin typeface="Arial"/>
                <a:cs typeface="Arial"/>
              </a:rPr>
              <a:t>The </a:t>
            </a:r>
            <a:r>
              <a:rPr sz="3600" spc="-10" dirty="0">
                <a:solidFill>
                  <a:srgbClr val="BF0000"/>
                </a:solidFill>
                <a:latin typeface="Arial"/>
                <a:cs typeface="Arial"/>
              </a:rPr>
              <a:t>word </a:t>
            </a:r>
            <a:r>
              <a:rPr sz="3600" spc="-5" dirty="0">
                <a:solidFill>
                  <a:srgbClr val="BF0000"/>
                </a:solidFill>
                <a:latin typeface="Arial"/>
                <a:cs typeface="Arial"/>
              </a:rPr>
              <a:t>“entrepreneur” </a:t>
            </a:r>
            <a:r>
              <a:rPr sz="3600" dirty="0">
                <a:solidFill>
                  <a:srgbClr val="BF0000"/>
                </a:solidFill>
                <a:latin typeface="Arial"/>
                <a:cs typeface="Arial"/>
              </a:rPr>
              <a:t>derives </a:t>
            </a:r>
            <a:r>
              <a:rPr sz="3600" spc="-10" dirty="0">
                <a:solidFill>
                  <a:srgbClr val="BF0000"/>
                </a:solidFill>
                <a:latin typeface="Arial"/>
                <a:cs typeface="Arial"/>
              </a:rPr>
              <a:t>from  </a:t>
            </a:r>
            <a:r>
              <a:rPr sz="3600" spc="-5" dirty="0">
                <a:solidFill>
                  <a:srgbClr val="BF0000"/>
                </a:solidFill>
                <a:latin typeface="Arial"/>
                <a:cs typeface="Arial"/>
              </a:rPr>
              <a:t>the </a:t>
            </a:r>
            <a:r>
              <a:rPr sz="3600" spc="-5" dirty="0">
                <a:latin typeface="Arial"/>
                <a:cs typeface="Arial"/>
              </a:rPr>
              <a:t>French </a:t>
            </a:r>
            <a:r>
              <a:rPr sz="3600" spc="-5" dirty="0">
                <a:solidFill>
                  <a:srgbClr val="BF0000"/>
                </a:solidFill>
                <a:latin typeface="Arial"/>
                <a:cs typeface="Arial"/>
              </a:rPr>
              <a:t>words </a:t>
            </a:r>
            <a:r>
              <a:rPr sz="3600" i="1" spc="-5" dirty="0">
                <a:solidFill>
                  <a:srgbClr val="6F2F9F"/>
                </a:solidFill>
                <a:latin typeface="Arial"/>
                <a:cs typeface="Arial"/>
              </a:rPr>
              <a:t>entre</a:t>
            </a:r>
            <a:r>
              <a:rPr sz="3600" spc="-5" dirty="0">
                <a:solidFill>
                  <a:srgbClr val="6F2F9F"/>
                </a:solidFill>
                <a:latin typeface="Arial"/>
                <a:cs typeface="Arial"/>
              </a:rPr>
              <a:t>, meaning  between</a:t>
            </a:r>
            <a:r>
              <a:rPr sz="3600" spc="-5" dirty="0">
                <a:solidFill>
                  <a:srgbClr val="BF0000"/>
                </a:solidFill>
                <a:latin typeface="Arial"/>
                <a:cs typeface="Arial"/>
              </a:rPr>
              <a:t>,” and </a:t>
            </a:r>
            <a:r>
              <a:rPr sz="3600" i="1" spc="-5" dirty="0">
                <a:solidFill>
                  <a:srgbClr val="FF0000"/>
                </a:solidFill>
                <a:latin typeface="Arial"/>
                <a:cs typeface="Arial"/>
              </a:rPr>
              <a:t>prendre</a:t>
            </a: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, meaning “to  take</a:t>
            </a:r>
            <a:r>
              <a:rPr sz="3600" spc="-5" dirty="0">
                <a:solidFill>
                  <a:srgbClr val="6F2F9F"/>
                </a:solidFill>
                <a:latin typeface="Arial"/>
                <a:cs typeface="Arial"/>
              </a:rPr>
              <a:t>.” </a:t>
            </a:r>
            <a:r>
              <a:rPr sz="3600" spc="5" dirty="0">
                <a:solidFill>
                  <a:srgbClr val="BF0000"/>
                </a:solidFill>
                <a:latin typeface="Arial"/>
                <a:cs typeface="Arial"/>
              </a:rPr>
              <a:t>The </a:t>
            </a:r>
            <a:r>
              <a:rPr sz="3600" spc="-10" dirty="0">
                <a:solidFill>
                  <a:srgbClr val="BF0000"/>
                </a:solidFill>
                <a:latin typeface="Arial"/>
                <a:cs typeface="Arial"/>
              </a:rPr>
              <a:t>word</a:t>
            </a:r>
            <a:r>
              <a:rPr sz="3600" spc="1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spc="-5" dirty="0">
                <a:solidFill>
                  <a:srgbClr val="BF0000"/>
                </a:solidFill>
                <a:latin typeface="Arial"/>
                <a:cs typeface="Arial"/>
              </a:rPr>
              <a:t>was originally	used  </a:t>
            </a:r>
            <a:r>
              <a:rPr sz="3600" spc="-10" dirty="0">
                <a:solidFill>
                  <a:srgbClr val="BF0000"/>
                </a:solidFill>
                <a:latin typeface="Arial"/>
                <a:cs typeface="Arial"/>
              </a:rPr>
              <a:t>to </a:t>
            </a:r>
            <a:r>
              <a:rPr sz="3600" spc="-5" dirty="0">
                <a:solidFill>
                  <a:srgbClr val="BF0000"/>
                </a:solidFill>
                <a:latin typeface="Arial"/>
                <a:cs typeface="Arial"/>
              </a:rPr>
              <a:t>describe </a:t>
            </a:r>
            <a:r>
              <a:rPr sz="3600" spc="-5" dirty="0">
                <a:solidFill>
                  <a:srgbClr val="00AF4F"/>
                </a:solidFill>
                <a:latin typeface="Arial"/>
                <a:cs typeface="Arial"/>
              </a:rPr>
              <a:t>people who “take on </a:t>
            </a:r>
            <a:r>
              <a:rPr sz="3600" spc="-10" dirty="0">
                <a:solidFill>
                  <a:srgbClr val="00AF4F"/>
                </a:solidFill>
                <a:latin typeface="Arial"/>
                <a:cs typeface="Arial"/>
              </a:rPr>
              <a:t>the  </a:t>
            </a:r>
            <a:r>
              <a:rPr sz="3600" spc="-5" dirty="0">
                <a:solidFill>
                  <a:srgbClr val="00AF4F"/>
                </a:solidFill>
                <a:latin typeface="Arial"/>
                <a:cs typeface="Arial"/>
              </a:rPr>
              <a:t>risk” </a:t>
            </a:r>
            <a:r>
              <a:rPr sz="3600" spc="-10" dirty="0">
                <a:solidFill>
                  <a:srgbClr val="00AF4F"/>
                </a:solidFill>
                <a:latin typeface="Arial"/>
                <a:cs typeface="Arial"/>
              </a:rPr>
              <a:t>between </a:t>
            </a:r>
            <a:r>
              <a:rPr sz="3600" spc="-5" dirty="0">
                <a:solidFill>
                  <a:srgbClr val="00AF4F"/>
                </a:solidFill>
                <a:latin typeface="Arial"/>
                <a:cs typeface="Arial"/>
              </a:rPr>
              <a:t>buyers and sellers </a:t>
            </a:r>
            <a:r>
              <a:rPr sz="3600" spc="-5" dirty="0">
                <a:solidFill>
                  <a:srgbClr val="BF0000"/>
                </a:solidFill>
                <a:latin typeface="Arial"/>
                <a:cs typeface="Arial"/>
              </a:rPr>
              <a:t>or  </a:t>
            </a:r>
            <a:r>
              <a:rPr sz="3600" spc="-10" dirty="0">
                <a:solidFill>
                  <a:srgbClr val="006FBF"/>
                </a:solidFill>
                <a:latin typeface="Arial"/>
                <a:cs typeface="Arial"/>
              </a:rPr>
              <a:t>who </a:t>
            </a:r>
            <a:r>
              <a:rPr sz="3600" spc="-5" dirty="0">
                <a:solidFill>
                  <a:srgbClr val="006FBF"/>
                </a:solidFill>
                <a:latin typeface="Arial"/>
                <a:cs typeface="Arial"/>
              </a:rPr>
              <a:t>“undertake” </a:t>
            </a:r>
            <a:r>
              <a:rPr sz="3600" dirty="0">
                <a:solidFill>
                  <a:srgbClr val="006FBF"/>
                </a:solidFill>
                <a:latin typeface="Arial"/>
                <a:cs typeface="Arial"/>
              </a:rPr>
              <a:t>a </a:t>
            </a:r>
            <a:r>
              <a:rPr sz="3600" spc="-10" dirty="0">
                <a:solidFill>
                  <a:srgbClr val="006FBF"/>
                </a:solidFill>
                <a:latin typeface="Arial"/>
                <a:cs typeface="Arial"/>
              </a:rPr>
              <a:t>task </a:t>
            </a:r>
            <a:r>
              <a:rPr sz="3600" dirty="0">
                <a:solidFill>
                  <a:srgbClr val="006FBF"/>
                </a:solidFill>
                <a:latin typeface="Arial"/>
                <a:cs typeface="Arial"/>
              </a:rPr>
              <a:t>such as  </a:t>
            </a:r>
            <a:r>
              <a:rPr sz="3600" spc="-5" dirty="0">
                <a:solidFill>
                  <a:srgbClr val="006FBF"/>
                </a:solidFill>
                <a:latin typeface="Arial"/>
                <a:cs typeface="Arial"/>
              </a:rPr>
              <a:t>starting </a:t>
            </a:r>
            <a:r>
              <a:rPr sz="3600" dirty="0">
                <a:solidFill>
                  <a:srgbClr val="006FBF"/>
                </a:solidFill>
                <a:latin typeface="Arial"/>
                <a:cs typeface="Arial"/>
              </a:rPr>
              <a:t>a </a:t>
            </a:r>
            <a:r>
              <a:rPr sz="3600" spc="-5" dirty="0">
                <a:solidFill>
                  <a:srgbClr val="006FBF"/>
                </a:solidFill>
                <a:latin typeface="Arial"/>
                <a:cs typeface="Arial"/>
              </a:rPr>
              <a:t>new</a:t>
            </a:r>
            <a:r>
              <a:rPr sz="3600" spc="-4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6FBF"/>
                </a:solidFill>
                <a:latin typeface="Arial"/>
                <a:cs typeface="Arial"/>
              </a:rPr>
              <a:t>venture</a:t>
            </a:r>
            <a:r>
              <a:rPr sz="3600" dirty="0">
                <a:solidFill>
                  <a:srgbClr val="BF0000"/>
                </a:solidFill>
                <a:latin typeface="Arial"/>
                <a:cs typeface="Arial"/>
              </a:rPr>
              <a:t>.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2170" y="436879"/>
            <a:ext cx="4893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 is</a:t>
            </a:r>
            <a:r>
              <a:rPr spc="-65" dirty="0"/>
              <a:t> </a:t>
            </a:r>
            <a:r>
              <a:rPr spc="-5" dirty="0"/>
              <a:t>Entrepreneurship?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7908"/>
            <a:ext cx="8117205" cy="46323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Academic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Definition (Stevenson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&amp;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Jarillo)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ts val="2590"/>
              </a:lnSpc>
              <a:spcBef>
                <a:spcPts val="64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Entrepreneurship </a:t>
            </a:r>
            <a:r>
              <a:rPr sz="2400" dirty="0">
                <a:latin typeface="Times New Roman"/>
                <a:cs typeface="Times New Roman"/>
              </a:rPr>
              <a:t>is the </a:t>
            </a:r>
            <a:r>
              <a:rPr sz="2400" spc="-5" dirty="0">
                <a:latin typeface="Times New Roman"/>
                <a:cs typeface="Times New Roman"/>
              </a:rPr>
              <a:t>process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individuals </a:t>
            </a:r>
            <a:r>
              <a:rPr sz="2400" spc="-5" dirty="0">
                <a:latin typeface="Times New Roman"/>
                <a:cs typeface="Times New Roman"/>
              </a:rPr>
              <a:t>pursue  </a:t>
            </a:r>
            <a:r>
              <a:rPr sz="2400" dirty="0">
                <a:latin typeface="Times New Roman"/>
                <a:cs typeface="Times New Roman"/>
              </a:rPr>
              <a:t>opportunities </a:t>
            </a:r>
            <a:r>
              <a:rPr sz="2400" spc="-5" dirty="0">
                <a:latin typeface="Times New Roman"/>
                <a:cs typeface="Times New Roman"/>
              </a:rPr>
              <a:t>without </a:t>
            </a:r>
            <a:r>
              <a:rPr sz="2400" dirty="0">
                <a:latin typeface="Times New Roman"/>
                <a:cs typeface="Times New Roman"/>
              </a:rPr>
              <a:t>regard to </a:t>
            </a:r>
            <a:r>
              <a:rPr sz="2400" spc="-5" dirty="0">
                <a:latin typeface="Times New Roman"/>
                <a:cs typeface="Times New Roman"/>
              </a:rPr>
              <a:t>resources </a:t>
            </a:r>
            <a:r>
              <a:rPr sz="2400" dirty="0">
                <a:latin typeface="Times New Roman"/>
                <a:cs typeface="Times New Roman"/>
              </a:rPr>
              <a:t>they currently  control.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Venture Capitalist (Fred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Wilson)</a:t>
            </a:r>
            <a:endParaRPr sz="2800">
              <a:latin typeface="Times New Roman"/>
              <a:cs typeface="Times New Roman"/>
            </a:endParaRPr>
          </a:p>
          <a:p>
            <a:pPr marL="755650" marR="1125220" lvl="1" indent="-285750">
              <a:lnSpc>
                <a:spcPts val="2590"/>
              </a:lnSpc>
              <a:spcBef>
                <a:spcPts val="64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Entrepreneurship </a:t>
            </a:r>
            <a:r>
              <a:rPr sz="2400" dirty="0">
                <a:latin typeface="Times New Roman"/>
                <a:cs typeface="Times New Roman"/>
              </a:rPr>
              <a:t>is the art of turning an idea into a  </a:t>
            </a:r>
            <a:r>
              <a:rPr sz="2400" spc="-5" dirty="0">
                <a:latin typeface="Times New Roman"/>
                <a:cs typeface="Times New Roman"/>
              </a:rPr>
              <a:t>business.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Explanation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of What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Entrepreneurs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Do</a:t>
            </a:r>
            <a:endParaRPr sz="2800">
              <a:latin typeface="Times New Roman"/>
              <a:cs typeface="Times New Roman"/>
            </a:endParaRPr>
          </a:p>
          <a:p>
            <a:pPr marL="755650" marR="6985" lvl="1" indent="-285750">
              <a:lnSpc>
                <a:spcPts val="2590"/>
              </a:lnSpc>
              <a:spcBef>
                <a:spcPts val="64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Entrepreneurs assemble </a:t>
            </a:r>
            <a:r>
              <a:rPr sz="2400" dirty="0">
                <a:latin typeface="Times New Roman"/>
                <a:cs typeface="Times New Roman"/>
              </a:rPr>
              <a:t>and then integrate all the </a:t>
            </a:r>
            <a:r>
              <a:rPr sz="2400" spc="-5" dirty="0">
                <a:latin typeface="Times New Roman"/>
                <a:cs typeface="Times New Roman"/>
              </a:rPr>
              <a:t>resources  needed </a:t>
            </a:r>
            <a:r>
              <a:rPr sz="2400" dirty="0">
                <a:latin typeface="Times New Roman"/>
                <a:cs typeface="Times New Roman"/>
              </a:rPr>
              <a:t>–the </a:t>
            </a:r>
            <a:r>
              <a:rPr sz="2400" spc="-5" dirty="0">
                <a:latin typeface="Times New Roman"/>
                <a:cs typeface="Times New Roman"/>
              </a:rPr>
              <a:t>money, </a:t>
            </a:r>
            <a:r>
              <a:rPr sz="2400" dirty="0">
                <a:latin typeface="Times New Roman"/>
                <a:cs typeface="Times New Roman"/>
              </a:rPr>
              <a:t>the people, the </a:t>
            </a:r>
            <a:r>
              <a:rPr sz="2400" spc="-5" dirty="0">
                <a:latin typeface="Times New Roman"/>
                <a:cs typeface="Times New Roman"/>
              </a:rPr>
              <a:t>business model, </a:t>
            </a:r>
            <a:r>
              <a:rPr sz="2400" dirty="0">
                <a:latin typeface="Times New Roman"/>
                <a:cs typeface="Times New Roman"/>
              </a:rPr>
              <a:t>the  strategy—needed to </a:t>
            </a:r>
            <a:r>
              <a:rPr sz="2400" spc="-5" dirty="0">
                <a:latin typeface="Times New Roman"/>
                <a:cs typeface="Times New Roman"/>
              </a:rPr>
              <a:t>transform </a:t>
            </a:r>
            <a:r>
              <a:rPr sz="2400" dirty="0">
                <a:latin typeface="Times New Roman"/>
                <a:cs typeface="Times New Roman"/>
              </a:rPr>
              <a:t>an invention or an idea into a  viable</a:t>
            </a:r>
            <a:r>
              <a:rPr sz="2400" spc="-5" dirty="0">
                <a:latin typeface="Times New Roman"/>
                <a:cs typeface="Times New Roman"/>
              </a:rPr>
              <a:t> business.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9" y="2412728"/>
            <a:ext cx="8117205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spc="-5" dirty="0" smtClean="0">
                <a:solidFill>
                  <a:srgbClr val="0000FF"/>
                </a:solidFill>
              </a:rPr>
              <a:t>Difference between Business entrepreneurs and Social entrepreneurs?</a:t>
            </a:r>
            <a:endParaRPr sz="4000" spc="-5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021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9" y="436879"/>
            <a:ext cx="811720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rgbClr val="0000FF"/>
                </a:solidFill>
              </a:rPr>
              <a:t>Difference between Business entrepreneurs and Social entrepreneurs</a:t>
            </a:r>
            <a:endParaRPr spc="-5" dirty="0">
              <a:solidFill>
                <a:srgbClr val="0000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39" y="2133600"/>
            <a:ext cx="8117205" cy="3506087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algn="just"/>
            <a:r>
              <a:rPr lang="en-US" sz="3200" b="1" spc="-5" dirty="0">
                <a:solidFill>
                  <a:srgbClr val="0000FF"/>
                </a:solidFill>
              </a:rPr>
              <a:t>Business </a:t>
            </a:r>
            <a:r>
              <a:rPr lang="en-US" sz="3200" b="1" spc="-5" dirty="0" smtClean="0">
                <a:solidFill>
                  <a:srgbClr val="0000FF"/>
                </a:solidFill>
              </a:rPr>
              <a:t>entrepreneurs: </a:t>
            </a:r>
            <a:r>
              <a:rPr lang="en-US" sz="3200" dirty="0" smtClean="0"/>
              <a:t>are </a:t>
            </a:r>
            <a:r>
              <a:rPr lang="en-US" sz="3200" dirty="0"/>
              <a:t>driven by the profit motive. They seek growth and profits </a:t>
            </a:r>
            <a:r>
              <a:rPr lang="en-US" sz="3200" dirty="0" smtClean="0"/>
              <a:t>within the </a:t>
            </a:r>
            <a:r>
              <a:rPr lang="en-US" sz="3200" dirty="0"/>
              <a:t>business world. They are constant innovators and always trying to capture larger market </a:t>
            </a:r>
            <a:r>
              <a:rPr lang="en-US" sz="3200" dirty="0" smtClean="0"/>
              <a:t>shares from </a:t>
            </a:r>
            <a:r>
              <a:rPr lang="en-US" sz="3200" dirty="0"/>
              <a:t>a competitive marketplace. They are pioneering individualists who create one venture </a:t>
            </a:r>
            <a:r>
              <a:rPr lang="en-US" sz="3200" dirty="0" smtClean="0"/>
              <a:t>after another </a:t>
            </a:r>
            <a:r>
              <a:rPr lang="en-US" sz="3200" dirty="0"/>
              <a:t>and one innovation after another.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0414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9" y="436879"/>
            <a:ext cx="811720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rgbClr val="0000FF"/>
                </a:solidFill>
              </a:rPr>
              <a:t>Difference between Business entrepreneurs and Social entrepreneurs</a:t>
            </a:r>
            <a:endParaRPr spc="-5" dirty="0">
              <a:solidFill>
                <a:srgbClr val="0000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241" y="1828800"/>
            <a:ext cx="8610600" cy="393697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Social entrepreneurs </a:t>
            </a:r>
            <a:r>
              <a:rPr lang="en-US" sz="2800" dirty="0"/>
              <a:t>have many of the same </a:t>
            </a:r>
            <a:r>
              <a:rPr lang="en-US" sz="2800" dirty="0" smtClean="0"/>
              <a:t>personality characteristics </a:t>
            </a:r>
            <a:r>
              <a:rPr lang="en-US" sz="2800" dirty="0"/>
              <a:t>as </a:t>
            </a:r>
            <a:r>
              <a:rPr lang="en-US" sz="2800" dirty="0" smtClean="0"/>
              <a:t>business entrepreneurs</a:t>
            </a:r>
            <a:r>
              <a:rPr lang="en-US" sz="2800" dirty="0"/>
              <a:t>, but they are driven by a mission and seek to find innovative ways to solve </a:t>
            </a:r>
            <a:r>
              <a:rPr lang="en-US" sz="2800" dirty="0" smtClean="0"/>
              <a:t>problems that </a:t>
            </a:r>
            <a:r>
              <a:rPr lang="en-US" sz="2800" dirty="0"/>
              <a:t>are not being or cannot be addressed by either the market or the public </a:t>
            </a:r>
            <a:r>
              <a:rPr lang="en-US" sz="2800" dirty="0" smtClean="0"/>
              <a:t>sector. </a:t>
            </a:r>
          </a:p>
          <a:p>
            <a:pPr algn="just"/>
            <a:r>
              <a:rPr lang="en-US" sz="2800" dirty="0" smtClean="0"/>
              <a:t>Both </a:t>
            </a:r>
            <a:r>
              <a:rPr lang="en-US" sz="2800" dirty="0"/>
              <a:t>business and social entrepreneurs seek innovation and growth. They thrive in both small </a:t>
            </a:r>
            <a:r>
              <a:rPr lang="en-US" sz="2800" dirty="0" smtClean="0"/>
              <a:t>enterprises and </a:t>
            </a:r>
            <a:r>
              <a:rPr lang="en-US" sz="2800" dirty="0"/>
              <a:t>large </a:t>
            </a:r>
            <a:r>
              <a:rPr lang="en-US" sz="2800" dirty="0" smtClean="0"/>
              <a:t>organizations. </a:t>
            </a:r>
            <a:r>
              <a:rPr lang="en-US" sz="2800" dirty="0"/>
              <a:t>They have a mind-set that separates them from the rest of the population.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17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514600"/>
            <a:ext cx="811720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rgbClr val="0000FF"/>
                </a:solidFill>
              </a:rPr>
              <a:t>Difference between Professionals and Entrepreneurs?</a:t>
            </a:r>
            <a:endParaRPr spc="-5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843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162559"/>
            <a:ext cx="9169400" cy="68993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Corporate</a:t>
            </a:r>
            <a:r>
              <a:rPr spc="-35" dirty="0"/>
              <a:t> </a:t>
            </a:r>
            <a:r>
              <a:rPr spc="-5" dirty="0" smtClean="0"/>
              <a:t>Entrepreneurship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4319"/>
            <a:ext cx="8051165" cy="29629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Corporate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Entrepreneurship</a:t>
            </a:r>
            <a:endParaRPr sz="2800">
              <a:latin typeface="Times New Roman"/>
              <a:cs typeface="Times New Roman"/>
            </a:endParaRPr>
          </a:p>
          <a:p>
            <a:pPr marL="755650" marR="58547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Is the conceptualization of entrepreneurship at the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firm  level.</a:t>
            </a:r>
            <a:endParaRPr sz="2400">
              <a:latin typeface="Times New Roman"/>
              <a:cs typeface="Times New Roman"/>
            </a:endParaRPr>
          </a:p>
          <a:p>
            <a:pPr marL="755650" marR="54991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All </a:t>
            </a:r>
            <a:r>
              <a:rPr sz="2400" spc="-10" dirty="0">
                <a:latin typeface="Times New Roman"/>
                <a:cs typeface="Times New Roman"/>
              </a:rPr>
              <a:t>firms </a:t>
            </a:r>
            <a:r>
              <a:rPr sz="2400" dirty="0">
                <a:latin typeface="Times New Roman"/>
                <a:cs typeface="Times New Roman"/>
              </a:rPr>
              <a:t>fall along a conceptual continuum that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ranges 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highly conservative to highly entrepreneurial.</a:t>
            </a:r>
            <a:endParaRPr sz="24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The position of a firm on this continuum is </a:t>
            </a:r>
            <a:r>
              <a:rPr sz="2400" spc="-5" dirty="0">
                <a:latin typeface="Times New Roman"/>
                <a:cs typeface="Times New Roman"/>
              </a:rPr>
              <a:t>referred </a:t>
            </a:r>
            <a:r>
              <a:rPr sz="2400" dirty="0">
                <a:latin typeface="Times New Roman"/>
                <a:cs typeface="Times New Roman"/>
              </a:rPr>
              <a:t>to as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  entrepreneurial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intensity.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162559"/>
            <a:ext cx="9169400" cy="997709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Corporate</a:t>
            </a:r>
            <a:r>
              <a:rPr spc="-35" dirty="0"/>
              <a:t> </a:t>
            </a:r>
            <a:r>
              <a:rPr spc="-5" dirty="0"/>
              <a:t>Entrepreneurship</a:t>
            </a:r>
          </a:p>
          <a:p>
            <a:pPr algn="ctr">
              <a:lnSpc>
                <a:spcPct val="100000"/>
              </a:lnSpc>
            </a:pPr>
            <a:endParaRPr sz="2000" dirty="0"/>
          </a:p>
        </p:txBody>
      </p:sp>
      <p:sp>
        <p:nvSpPr>
          <p:cNvPr id="3" name="object 3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19600" y="2057400"/>
            <a:ext cx="0" cy="3962400"/>
          </a:xfrm>
          <a:custGeom>
            <a:avLst/>
            <a:gdLst/>
            <a:ahLst/>
            <a:cxnLst/>
            <a:rect l="l" t="t" r="r" b="b"/>
            <a:pathLst>
              <a:path h="3962400">
                <a:moveTo>
                  <a:pt x="0" y="0"/>
                </a:moveTo>
                <a:lnTo>
                  <a:pt x="0" y="39624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75360" y="1558290"/>
            <a:ext cx="67945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9704" algn="l"/>
              </a:tabLst>
            </a:pPr>
            <a:r>
              <a:rPr sz="2800" spc="-5" dirty="0">
                <a:latin typeface="Times New Roman"/>
                <a:cs typeface="Times New Roman"/>
              </a:rPr>
              <a:t>Entrepreneurial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Firms	Conservative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Firms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400" y="2057400"/>
            <a:ext cx="7848600" cy="0"/>
          </a:xfrm>
          <a:custGeom>
            <a:avLst/>
            <a:gdLst/>
            <a:ahLst/>
            <a:cxnLst/>
            <a:rect l="l" t="t" r="r" b="b"/>
            <a:pathLst>
              <a:path w="7848600">
                <a:moveTo>
                  <a:pt x="0" y="0"/>
                </a:moveTo>
                <a:lnTo>
                  <a:pt x="784860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7069" y="2205990"/>
            <a:ext cx="1604010" cy="169418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1600"/>
              </a:spcBef>
              <a:buChar char="•"/>
              <a:tabLst>
                <a:tab pos="193040" algn="l"/>
              </a:tabLst>
            </a:pPr>
            <a:r>
              <a:rPr sz="2400" dirty="0">
                <a:latin typeface="Times New Roman"/>
                <a:cs typeface="Times New Roman"/>
              </a:rPr>
              <a:t>Proactive</a:t>
            </a:r>
            <a:endParaRPr sz="2400">
              <a:latin typeface="Times New Roman"/>
              <a:cs typeface="Times New Roman"/>
            </a:endParaRPr>
          </a:p>
          <a:p>
            <a:pPr marL="193040" indent="-180340">
              <a:lnSpc>
                <a:spcPct val="100000"/>
              </a:lnSpc>
              <a:spcBef>
                <a:spcPts val="1500"/>
              </a:spcBef>
              <a:buChar char="•"/>
              <a:tabLst>
                <a:tab pos="193040" algn="l"/>
              </a:tabLst>
            </a:pPr>
            <a:r>
              <a:rPr sz="2400" dirty="0">
                <a:latin typeface="Times New Roman"/>
                <a:cs typeface="Times New Roman"/>
              </a:rPr>
              <a:t>Innovative</a:t>
            </a:r>
            <a:endParaRPr sz="2400">
              <a:latin typeface="Times New Roman"/>
              <a:cs typeface="Times New Roman"/>
            </a:endParaRPr>
          </a:p>
          <a:p>
            <a:pPr marL="193040" indent="-180340">
              <a:lnSpc>
                <a:spcPct val="100000"/>
              </a:lnSpc>
              <a:spcBef>
                <a:spcPts val="1500"/>
              </a:spcBef>
              <a:buChar char="•"/>
              <a:tabLst>
                <a:tab pos="193040" algn="l"/>
              </a:tabLst>
            </a:pPr>
            <a:r>
              <a:rPr sz="2400" spc="-5" dirty="0">
                <a:latin typeface="Times New Roman"/>
                <a:cs typeface="Times New Roman"/>
              </a:rPr>
              <a:t>Risk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0600" y="2099309"/>
            <a:ext cx="3585210" cy="225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marR="5080" indent="-194310">
              <a:lnSpc>
                <a:spcPct val="152100"/>
              </a:lnSpc>
              <a:spcBef>
                <a:spcPts val="100"/>
              </a:spcBef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Take a </a:t>
            </a:r>
            <a:r>
              <a:rPr sz="2400" spc="-5" dirty="0">
                <a:latin typeface="Times New Roman"/>
                <a:cs typeface="Times New Roman"/>
              </a:rPr>
              <a:t>more </a:t>
            </a:r>
            <a:r>
              <a:rPr sz="2400" dirty="0">
                <a:latin typeface="Times New Roman"/>
                <a:cs typeface="Times New Roman"/>
              </a:rPr>
              <a:t>“wait and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see”  </a:t>
            </a:r>
            <a:r>
              <a:rPr sz="2400" dirty="0">
                <a:latin typeface="Times New Roman"/>
                <a:cs typeface="Times New Roman"/>
              </a:rPr>
              <a:t>posture</a:t>
            </a:r>
            <a:endParaRPr sz="2400">
              <a:latin typeface="Times New Roman"/>
              <a:cs typeface="Times New Roman"/>
            </a:endParaRPr>
          </a:p>
          <a:p>
            <a:pPr marL="194310" indent="-194310">
              <a:lnSpc>
                <a:spcPct val="100000"/>
              </a:lnSpc>
              <a:spcBef>
                <a:spcPts val="1500"/>
              </a:spcBef>
              <a:buChar char="•"/>
              <a:tabLst>
                <a:tab pos="194310" algn="l"/>
              </a:tabLst>
            </a:pPr>
            <a:r>
              <a:rPr sz="2400" spc="-5" dirty="0">
                <a:latin typeface="Times New Roman"/>
                <a:cs typeface="Times New Roman"/>
              </a:rPr>
              <a:t>Less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innovative</a:t>
            </a:r>
            <a:endParaRPr sz="2400">
              <a:latin typeface="Times New Roman"/>
              <a:cs typeface="Times New Roman"/>
            </a:endParaRPr>
          </a:p>
          <a:p>
            <a:pPr marL="194310" indent="-194310">
              <a:lnSpc>
                <a:spcPct val="100000"/>
              </a:lnSpc>
              <a:spcBef>
                <a:spcPts val="1500"/>
              </a:spcBef>
              <a:buChar char="•"/>
              <a:tabLst>
                <a:tab pos="194310" algn="l"/>
              </a:tabLst>
            </a:pPr>
            <a:r>
              <a:rPr sz="2400" spc="-5" dirty="0">
                <a:latin typeface="Times New Roman"/>
                <a:cs typeface="Times New Roman"/>
              </a:rPr>
              <a:t>Risk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adverse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96520"/>
            <a:ext cx="9169400" cy="112268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Corporate</a:t>
            </a:r>
            <a:r>
              <a:rPr spc="-35" dirty="0"/>
              <a:t> </a:t>
            </a:r>
            <a:r>
              <a:rPr spc="-5" dirty="0"/>
              <a:t>Entrepreneurship</a:t>
            </a:r>
          </a:p>
          <a:p>
            <a:pPr algn="ctr">
              <a:lnSpc>
                <a:spcPct val="100000"/>
              </a:lnSpc>
            </a:pPr>
            <a:r>
              <a:rPr sz="2000" dirty="0"/>
              <a:t>2 of</a:t>
            </a:r>
            <a:r>
              <a:rPr sz="2000" spc="5" dirty="0"/>
              <a:t> </a:t>
            </a:r>
            <a:r>
              <a:rPr sz="2000" dirty="0"/>
              <a:t>2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1-</a:t>
            </a: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pic>
        <p:nvPicPr>
          <p:cNvPr id="1026" name="Picture 2" descr="uncaptio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762000"/>
            <a:ext cx="9144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368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96520"/>
            <a:ext cx="9169400" cy="68993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Corporate</a:t>
            </a:r>
            <a:r>
              <a:rPr spc="-35" dirty="0"/>
              <a:t> </a:t>
            </a:r>
            <a:r>
              <a:rPr spc="-5" dirty="0" smtClean="0"/>
              <a:t>Entrepreneurship</a:t>
            </a:r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1-</a:t>
            </a: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0"/>
            <a:ext cx="9144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30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4020" y="284479"/>
            <a:ext cx="57715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Why </a:t>
            </a:r>
            <a:r>
              <a:rPr spc="-10" dirty="0"/>
              <a:t>Become </a:t>
            </a:r>
            <a:r>
              <a:rPr spc="-5" dirty="0"/>
              <a:t>an</a:t>
            </a:r>
            <a:r>
              <a:rPr dirty="0"/>
              <a:t> </a:t>
            </a:r>
            <a:r>
              <a:rPr spc="-5" dirty="0"/>
              <a:t>Entrepreneur?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1789" y="1405890"/>
            <a:ext cx="5667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090" marR="5080" indent="-45339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 three </a:t>
            </a:r>
            <a:r>
              <a:rPr sz="2400" spc="-5" dirty="0">
                <a:latin typeface="Times New Roman"/>
                <a:cs typeface="Times New Roman"/>
              </a:rPr>
              <a:t>primary </a:t>
            </a:r>
            <a:r>
              <a:rPr sz="2400" dirty="0">
                <a:latin typeface="Times New Roman"/>
                <a:cs typeface="Times New Roman"/>
              </a:rPr>
              <a:t>reasons that people </a:t>
            </a:r>
            <a:r>
              <a:rPr sz="2400" spc="-5" dirty="0">
                <a:latin typeface="Times New Roman"/>
                <a:cs typeface="Times New Roman"/>
              </a:rPr>
              <a:t>become  </a:t>
            </a:r>
            <a:r>
              <a:rPr sz="2400" dirty="0">
                <a:latin typeface="Times New Roman"/>
                <a:cs typeface="Times New Roman"/>
              </a:rPr>
              <a:t>entrepreneurs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start their </a:t>
            </a:r>
            <a:r>
              <a:rPr sz="2400" spc="-5" dirty="0">
                <a:latin typeface="Times New Roman"/>
                <a:cs typeface="Times New Roman"/>
              </a:rPr>
              <a:t>own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firms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6800" y="2514600"/>
            <a:ext cx="3581400" cy="762000"/>
          </a:xfrm>
          <a:prstGeom prst="rect">
            <a:avLst/>
          </a:prstGeom>
          <a:solidFill>
            <a:srgbClr val="FFFFCC"/>
          </a:solidFill>
          <a:ln w="9344">
            <a:solidFill>
              <a:srgbClr val="000000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560"/>
              </a:spcBef>
            </a:pPr>
            <a:r>
              <a:rPr sz="2400" spc="-5" dirty="0">
                <a:latin typeface="Times New Roman"/>
                <a:cs typeface="Times New Roman"/>
              </a:rPr>
              <a:t>Desire </a:t>
            </a:r>
            <a:r>
              <a:rPr sz="2400" dirty="0">
                <a:latin typeface="Times New Roman"/>
                <a:cs typeface="Times New Roman"/>
              </a:rPr>
              <a:t>to be their </a:t>
            </a:r>
            <a:r>
              <a:rPr sz="2400" spc="-5" dirty="0">
                <a:latin typeface="Times New Roman"/>
                <a:cs typeface="Times New Roman"/>
              </a:rPr>
              <a:t>own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boss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6800" y="4724400"/>
            <a:ext cx="3581400" cy="762000"/>
          </a:xfrm>
          <a:prstGeom prst="rect">
            <a:avLst/>
          </a:prstGeom>
          <a:solidFill>
            <a:srgbClr val="FFFFCC"/>
          </a:solidFill>
          <a:ln w="9344">
            <a:solidFill>
              <a:srgbClr val="000000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560"/>
              </a:spcBef>
            </a:pPr>
            <a:r>
              <a:rPr sz="2400" spc="-5" dirty="0">
                <a:latin typeface="Times New Roman"/>
                <a:cs typeface="Times New Roman"/>
              </a:rPr>
              <a:t>Financial rewards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6800" y="3581400"/>
            <a:ext cx="3581400" cy="762000"/>
          </a:xfrm>
          <a:prstGeom prst="rect">
            <a:avLst/>
          </a:prstGeom>
          <a:solidFill>
            <a:srgbClr val="FFFFCC"/>
          </a:solidFill>
          <a:ln w="9344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176020" marR="466725" indent="-704850">
              <a:lnSpc>
                <a:spcPct val="100000"/>
              </a:lnSpc>
              <a:spcBef>
                <a:spcPts val="120"/>
              </a:spcBef>
            </a:pPr>
            <a:r>
              <a:rPr sz="2400" spc="-5" dirty="0">
                <a:latin typeface="Times New Roman"/>
                <a:cs typeface="Times New Roman"/>
              </a:rPr>
              <a:t>Desire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pursue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  </a:t>
            </a:r>
            <a:r>
              <a:rPr sz="2400" spc="-5" dirty="0">
                <a:latin typeface="Times New Roman"/>
                <a:cs typeface="Times New Roman"/>
              </a:rPr>
              <a:t>own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ideas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8600" y="2360929"/>
            <a:ext cx="4306570" cy="31991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2930" y="132079"/>
            <a:ext cx="797369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2401" y="1371600"/>
            <a:ext cx="6019800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n-US" sz="2800" dirty="0"/>
              <a:t>Steve Jobs is perhaps America’s best-known entrepreneur. He cofounded Apple Inc. in 1976, and has since built the company into a premier entrepreneurial firm. Apple’s </a:t>
            </a:r>
            <a:r>
              <a:rPr lang="en-US" sz="2800" dirty="0" err="1"/>
              <a:t>lastest</a:t>
            </a:r>
            <a:r>
              <a:rPr lang="en-US" sz="2800" dirty="0"/>
              <a:t> innovations include the widely popular iPhone, iPad, iPod, and Apple’s App Store and its iTunes music store.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85948"/>
            <a:ext cx="70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4460">
              <a:lnSpc>
                <a:spcPct val="100000"/>
              </a:lnSpc>
              <a:spcBef>
                <a:spcPts val="1560"/>
              </a:spcBef>
            </a:pPr>
            <a:r>
              <a:rPr lang="en-US" sz="3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Desire </a:t>
            </a:r>
            <a:r>
              <a:rPr lang="en-US" sz="3600" b="1" dirty="0">
                <a:solidFill>
                  <a:srgbClr val="0000FF"/>
                </a:solidFill>
                <a:latin typeface="Times New Roman"/>
                <a:cs typeface="Times New Roman"/>
              </a:rPr>
              <a:t>to be their </a:t>
            </a:r>
            <a:r>
              <a:rPr lang="en-US" sz="3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own</a:t>
            </a:r>
            <a:r>
              <a:rPr lang="en-US" sz="36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3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boss</a:t>
            </a:r>
            <a:endParaRPr lang="en-US" sz="3600" b="1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pic>
        <p:nvPicPr>
          <p:cNvPr id="9" name="image39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9035" y="1213502"/>
            <a:ext cx="2894965" cy="32550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2930" y="132079"/>
            <a:ext cx="797369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Times New Roman"/>
                <a:cs typeface="Times New Roman"/>
              </a:rPr>
              <a:t>Characteristics </a:t>
            </a:r>
            <a:r>
              <a:rPr sz="3600" dirty="0">
                <a:latin typeface="Times New Roman"/>
                <a:cs typeface="Times New Roman"/>
              </a:rPr>
              <a:t>of </a:t>
            </a:r>
            <a:r>
              <a:rPr sz="3600" spc="-5" dirty="0">
                <a:latin typeface="Times New Roman"/>
                <a:cs typeface="Times New Roman"/>
              </a:rPr>
              <a:t>Successful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Entrepreneurs</a:t>
            </a:r>
            <a:endParaRPr sz="3600" dirty="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17800" y="1314450"/>
            <a:ext cx="3550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Four Primary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Characteristics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905000"/>
            <a:ext cx="5944870" cy="4287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819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930" y="86359"/>
            <a:ext cx="7973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Characteristics </a:t>
            </a:r>
            <a:r>
              <a:rPr dirty="0"/>
              <a:t>of </a:t>
            </a:r>
            <a:r>
              <a:rPr spc="-5" dirty="0"/>
              <a:t>Successful</a:t>
            </a:r>
            <a:r>
              <a:rPr spc="5" dirty="0"/>
              <a:t> </a:t>
            </a:r>
            <a:r>
              <a:rPr spc="-5" dirty="0"/>
              <a:t>Entrepreneurs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239519"/>
            <a:ext cx="4340859" cy="4431983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0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Passion for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Business</a:t>
            </a:r>
            <a:endParaRPr lang="en-US"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 passion typically </a:t>
            </a:r>
            <a:r>
              <a:rPr sz="2400" spc="-10" dirty="0">
                <a:latin typeface="Times New Roman"/>
                <a:cs typeface="Times New Roman"/>
              </a:rPr>
              <a:t>stems </a:t>
            </a:r>
            <a:r>
              <a:rPr sz="2400" dirty="0">
                <a:latin typeface="Times New Roman"/>
                <a:cs typeface="Times New Roman"/>
              </a:rPr>
              <a:t>from the entrepreneur’s </a:t>
            </a:r>
            <a:r>
              <a:rPr sz="2400" spc="-5" dirty="0">
                <a:latin typeface="Times New Roman"/>
                <a:cs typeface="Times New Roman"/>
              </a:rPr>
              <a:t>belief that the business  will positively influence people’s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lives.</a:t>
            </a: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b="1" dirty="0">
                <a:solidFill>
                  <a:srgbClr val="006FBF"/>
                </a:solidFill>
                <a:latin typeface="Times New Roman"/>
                <a:cs typeface="Times New Roman"/>
              </a:rPr>
              <a:t>Do what </a:t>
            </a:r>
            <a:r>
              <a:rPr sz="2400" b="1" spc="5" dirty="0">
                <a:solidFill>
                  <a:srgbClr val="006FBF"/>
                </a:solidFill>
                <a:latin typeface="Times New Roman"/>
                <a:cs typeface="Times New Roman"/>
              </a:rPr>
              <a:t>you’ve </a:t>
            </a:r>
            <a:r>
              <a:rPr sz="2400" b="1" dirty="0">
                <a:solidFill>
                  <a:srgbClr val="006FBF"/>
                </a:solidFill>
                <a:latin typeface="Times New Roman"/>
                <a:cs typeface="Times New Roman"/>
              </a:rPr>
              <a:t>passionate about. </a:t>
            </a:r>
            <a:r>
              <a:rPr sz="2400" b="1" spc="-5" dirty="0">
                <a:solidFill>
                  <a:srgbClr val="006FBF"/>
                </a:solidFill>
                <a:latin typeface="Times New Roman"/>
                <a:cs typeface="Times New Roman"/>
              </a:rPr>
              <a:t>In </a:t>
            </a:r>
            <a:r>
              <a:rPr sz="2400" b="1" dirty="0">
                <a:solidFill>
                  <a:srgbClr val="006FBF"/>
                </a:solidFill>
                <a:latin typeface="Times New Roman"/>
                <a:cs typeface="Times New Roman"/>
              </a:rPr>
              <a:t>the startup </a:t>
            </a:r>
            <a:r>
              <a:rPr sz="2400" b="1" spc="-5" dirty="0">
                <a:solidFill>
                  <a:srgbClr val="006FBF"/>
                </a:solidFill>
                <a:latin typeface="Times New Roman"/>
                <a:cs typeface="Times New Roman"/>
              </a:rPr>
              <a:t>world, if </a:t>
            </a:r>
            <a:r>
              <a:rPr sz="2400" b="1" spc="5" dirty="0">
                <a:solidFill>
                  <a:srgbClr val="006FBF"/>
                </a:solidFill>
                <a:latin typeface="Times New Roman"/>
                <a:cs typeface="Times New Roman"/>
              </a:rPr>
              <a:t>you’re </a:t>
            </a:r>
            <a:r>
              <a:rPr sz="2400" b="1" dirty="0">
                <a:solidFill>
                  <a:srgbClr val="006FBF"/>
                </a:solidFill>
                <a:latin typeface="Times New Roman"/>
                <a:cs typeface="Times New Roman"/>
              </a:rPr>
              <a:t>bored,  </a:t>
            </a:r>
            <a:r>
              <a:rPr sz="2400" b="1" spc="10" dirty="0">
                <a:solidFill>
                  <a:srgbClr val="006FBF"/>
                </a:solidFill>
                <a:latin typeface="Times New Roman"/>
                <a:cs typeface="Times New Roman"/>
              </a:rPr>
              <a:t>you </a:t>
            </a:r>
            <a:r>
              <a:rPr sz="2400" b="1" dirty="0">
                <a:solidFill>
                  <a:srgbClr val="006FBF"/>
                </a:solidFill>
                <a:latin typeface="Times New Roman"/>
                <a:cs typeface="Times New Roman"/>
              </a:rPr>
              <a:t>might as </a:t>
            </a:r>
            <a:r>
              <a:rPr sz="2400" b="1" spc="-5" dirty="0">
                <a:solidFill>
                  <a:srgbClr val="006FBF"/>
                </a:solidFill>
                <a:latin typeface="Times New Roman"/>
                <a:cs typeface="Times New Roman"/>
              </a:rPr>
              <a:t>well </a:t>
            </a:r>
            <a:r>
              <a:rPr sz="2400" b="1" dirty="0">
                <a:solidFill>
                  <a:srgbClr val="006FBF"/>
                </a:solidFill>
                <a:latin typeface="Times New Roman"/>
                <a:cs typeface="Times New Roman"/>
              </a:rPr>
              <a:t>be</a:t>
            </a:r>
            <a:r>
              <a:rPr sz="2400" b="1" spc="10" dirty="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6FBF"/>
                </a:solidFill>
                <a:latin typeface="Times New Roman"/>
                <a:cs typeface="Times New Roman"/>
              </a:rPr>
              <a:t>dead</a:t>
            </a:r>
            <a:r>
              <a:rPr sz="2400" spc="5" dirty="0">
                <a:latin typeface="Times New Roman"/>
                <a:cs typeface="Times New Roman"/>
              </a:rPr>
              <a:t>”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	</a:t>
            </a:r>
            <a:endParaRPr lang="en-US" sz="2400" dirty="0">
              <a:latin typeface="Times New Roman"/>
              <a:cs typeface="Times New Roman"/>
            </a:endParaRPr>
          </a:p>
          <a:p>
            <a:pPr marL="755650" marR="168275" indent="-285750">
              <a:lnSpc>
                <a:spcPct val="100000"/>
              </a:lnSpc>
              <a:tabLst>
                <a:tab pos="3945890" algn="l"/>
              </a:tabLst>
            </a:pPr>
            <a:r>
              <a:rPr sz="2400" spc="-5" dirty="0">
                <a:latin typeface="Times New Roman"/>
                <a:cs typeface="Times New Roman"/>
              </a:rPr>
              <a:t>Chris </a:t>
            </a:r>
            <a:r>
              <a:rPr sz="2400" dirty="0">
                <a:latin typeface="Times New Roman"/>
                <a:cs typeface="Times New Roman"/>
              </a:rPr>
              <a:t>Shaw, </a:t>
            </a:r>
            <a:r>
              <a:rPr sz="2400" spc="-5" dirty="0">
                <a:latin typeface="Times New Roman"/>
                <a:cs typeface="Times New Roman"/>
              </a:rPr>
              <a:t>ProtechMy</a:t>
            </a:r>
            <a:r>
              <a:rPr sz="2400" dirty="0">
                <a:latin typeface="Times New Roman"/>
                <a:cs typeface="Times New Roman"/>
              </a:rPr>
              <a:t> Photos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255558"/>
            <a:ext cx="4383974" cy="4415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930" y="162559"/>
            <a:ext cx="7973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Characteristics </a:t>
            </a:r>
            <a:r>
              <a:rPr dirty="0"/>
              <a:t>of </a:t>
            </a:r>
            <a:r>
              <a:rPr spc="-5" dirty="0"/>
              <a:t>Successful</a:t>
            </a:r>
            <a:r>
              <a:rPr spc="5" dirty="0"/>
              <a:t> </a:t>
            </a:r>
            <a:r>
              <a:rPr spc="-5" dirty="0"/>
              <a:t>Entrepreneurs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40293"/>
            <a:ext cx="8051800" cy="412035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Product/Customer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Focus</a:t>
            </a:r>
            <a:endParaRPr sz="2800" dirty="0">
              <a:latin typeface="Times New Roman"/>
              <a:cs typeface="Times New Roman"/>
            </a:endParaRPr>
          </a:p>
          <a:p>
            <a:pPr marL="812800" marR="356870" lvl="1" indent="-342900" algn="just">
              <a:lnSpc>
                <a:spcPct val="998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An entrepreneur’s </a:t>
            </a:r>
            <a:r>
              <a:rPr sz="2400" dirty="0">
                <a:latin typeface="Times New Roman"/>
                <a:cs typeface="Times New Roman"/>
              </a:rPr>
              <a:t>keen focus on </a:t>
            </a:r>
            <a:r>
              <a:rPr sz="2400" spc="-5" dirty="0">
                <a:latin typeface="Times New Roman"/>
                <a:cs typeface="Times New Roman"/>
              </a:rPr>
              <a:t>products and customers  typically stems from the fact that most entrepreneurs are, at  heart, craftspeople.</a:t>
            </a:r>
            <a:endParaRPr sz="2400" dirty="0">
              <a:latin typeface="Times New Roman"/>
              <a:cs typeface="Times New Roman"/>
            </a:endParaRPr>
          </a:p>
          <a:p>
            <a:pPr marL="457200" indent="-457200">
              <a:lnSpc>
                <a:spcPct val="100000"/>
              </a:lnSpc>
              <a:spcBef>
                <a:spcPts val="30"/>
              </a:spcBef>
              <a:buFont typeface="Wingdings" panose="05000000000000000000" pitchFamily="2" charset="2"/>
              <a:buChar char="Ø"/>
            </a:pPr>
            <a:endParaRPr sz="3300" dirty="0">
              <a:latin typeface="Times New Roman"/>
              <a:cs typeface="Times New Roman"/>
            </a:endParaRPr>
          </a:p>
          <a:p>
            <a:pPr marL="812800" marR="201930" indent="-342900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3221355" algn="l"/>
              </a:tabLst>
            </a:pP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computer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is the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most remarkable tool we’ve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ever built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….. but  the most important thing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to get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them in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 hands as 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many  </a:t>
            </a: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people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24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possible.</a:t>
            </a:r>
            <a:r>
              <a:rPr sz="2400" spc="-5" dirty="0">
                <a:latin typeface="Times New Roman"/>
                <a:cs typeface="Times New Roman"/>
              </a:rPr>
              <a:t>”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	Steven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800" dirty="0">
              <a:latin typeface="Times New Roman"/>
              <a:cs typeface="Times New Roman"/>
            </a:endParaRPr>
          </a:p>
          <a:p>
            <a:pPr marL="927100" indent="-457200">
              <a:lnSpc>
                <a:spcPct val="100000"/>
              </a:lnSpc>
              <a:buSzPct val="120000"/>
              <a:buFont typeface="Wingdings" panose="05000000000000000000" pitchFamily="2" charset="2"/>
              <a:buChar char="Ø"/>
              <a:tabLst>
                <a:tab pos="926465" algn="l"/>
                <a:tab pos="927100" algn="l"/>
              </a:tabLst>
            </a:pPr>
            <a:r>
              <a:rPr sz="2400" dirty="0">
                <a:latin typeface="Times New Roman"/>
                <a:cs typeface="Times New Roman"/>
              </a:rPr>
              <a:t>good products </a:t>
            </a:r>
            <a:r>
              <a:rPr sz="2400" spc="-5" dirty="0">
                <a:latin typeface="Times New Roman"/>
                <a:cs typeface="Times New Roman"/>
              </a:rPr>
              <a:t>with the capability to satisfy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customers.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930" y="86359"/>
            <a:ext cx="7973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Characteristics </a:t>
            </a:r>
            <a:r>
              <a:rPr dirty="0"/>
              <a:t>of </a:t>
            </a:r>
            <a:r>
              <a:rPr spc="-5" dirty="0"/>
              <a:t>Successful</a:t>
            </a:r>
            <a:r>
              <a:rPr spc="5" dirty="0"/>
              <a:t> </a:t>
            </a:r>
            <a:r>
              <a:rPr spc="-5" dirty="0"/>
              <a:t>Entrepreneurs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28420"/>
            <a:ext cx="7934325" cy="33137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Tenacity/Determined Despite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Failure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</a:pPr>
            <a:endParaRPr sz="4000" dirty="0">
              <a:latin typeface="Times New Roman"/>
              <a:cs typeface="Times New Roman"/>
            </a:endParaRPr>
          </a:p>
          <a:p>
            <a:pPr marL="812800" marR="5080" lvl="1" indent="-3429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Because </a:t>
            </a:r>
            <a:r>
              <a:rPr sz="2400" dirty="0">
                <a:latin typeface="Times New Roman"/>
                <a:cs typeface="Times New Roman"/>
              </a:rPr>
              <a:t>entrepreneurs are typically trying </a:t>
            </a:r>
            <a:r>
              <a:rPr sz="2400" spc="-5" dirty="0">
                <a:latin typeface="Times New Roman"/>
                <a:cs typeface="Times New Roman"/>
              </a:rPr>
              <a:t>something new, 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failure </a:t>
            </a:r>
            <a:r>
              <a:rPr sz="2400" dirty="0">
                <a:latin typeface="Times New Roman"/>
                <a:cs typeface="Times New Roman"/>
              </a:rPr>
              <a:t>rate </a:t>
            </a:r>
            <a:r>
              <a:rPr sz="2400" spc="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naturally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high.</a:t>
            </a:r>
            <a:endParaRPr lang="en-US" sz="2400" dirty="0">
              <a:latin typeface="Times New Roman"/>
              <a:cs typeface="Times New Roman"/>
            </a:endParaRPr>
          </a:p>
          <a:p>
            <a:pPr marL="812800" marR="5080" lvl="1" indent="-3429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endParaRPr sz="2400" dirty="0">
              <a:latin typeface="Times New Roman"/>
              <a:cs typeface="Times New Roman"/>
            </a:endParaRPr>
          </a:p>
          <a:p>
            <a:pPr marL="800100" lvl="1" indent="-342900">
              <a:lnSpc>
                <a:spcPct val="100000"/>
              </a:lnSpc>
              <a:spcBef>
                <a:spcPts val="55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The process of developing a new business is somewhat similar to what a scientist experiences in the laboratory. </a:t>
            </a:r>
          </a:p>
          <a:p>
            <a:pPr marL="800100" lvl="1" indent="-342900">
              <a:lnSpc>
                <a:spcPct val="100000"/>
              </a:lnSpc>
              <a:spcBef>
                <a:spcPts val="55"/>
              </a:spcBef>
              <a:buFont typeface="Wingdings" panose="05000000000000000000" pitchFamily="2" charset="2"/>
              <a:buChar char="Ø"/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930" y="86359"/>
            <a:ext cx="7973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Characteristics </a:t>
            </a:r>
            <a:r>
              <a:rPr dirty="0"/>
              <a:t>of </a:t>
            </a:r>
            <a:r>
              <a:rPr spc="-5" dirty="0"/>
              <a:t>Successful</a:t>
            </a:r>
            <a:r>
              <a:rPr spc="5" dirty="0"/>
              <a:t> </a:t>
            </a:r>
            <a:r>
              <a:rPr spc="-5" dirty="0"/>
              <a:t>Entrepreneurs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41001"/>
            <a:ext cx="8298815" cy="541750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Execution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Intelligence</a:t>
            </a:r>
          </a:p>
          <a:p>
            <a:pPr marL="812800" marR="314325" lvl="1" indent="-342900">
              <a:lnSpc>
                <a:spcPct val="100000"/>
              </a:lnSpc>
              <a:spcBef>
                <a:spcPts val="590"/>
              </a:spcBef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The ability to </a:t>
            </a:r>
            <a:r>
              <a:rPr sz="2400" spc="-5" dirty="0">
                <a:latin typeface="Times New Roman"/>
                <a:cs typeface="Times New Roman"/>
              </a:rPr>
              <a:t>fashion </a:t>
            </a:r>
            <a:r>
              <a:rPr sz="2400" dirty="0">
                <a:latin typeface="Times New Roman"/>
                <a:cs typeface="Times New Roman"/>
              </a:rPr>
              <a:t>a solid business idea into a viable  </a:t>
            </a:r>
            <a:r>
              <a:rPr sz="2400" spc="-5" dirty="0">
                <a:latin typeface="Times New Roman"/>
                <a:cs typeface="Times New Roman"/>
              </a:rPr>
              <a:t>business </a:t>
            </a:r>
            <a:r>
              <a:rPr sz="2400" dirty="0">
                <a:latin typeface="Times New Roman"/>
                <a:cs typeface="Times New Roman"/>
              </a:rPr>
              <a:t>is a key characteristic of </a:t>
            </a:r>
            <a:r>
              <a:rPr sz="2400" spc="-5" dirty="0">
                <a:latin typeface="Times New Roman"/>
                <a:cs typeface="Times New Roman"/>
              </a:rPr>
              <a:t>successful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entrepreneurs.</a:t>
            </a:r>
            <a:endParaRPr sz="2400" dirty="0">
              <a:latin typeface="Times New Roman"/>
              <a:cs typeface="Times New Roman"/>
            </a:endParaRPr>
          </a:p>
          <a:p>
            <a:pPr marL="812800" marR="466725" lvl="1" indent="-342900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2000" dirty="0">
                <a:solidFill>
                  <a:srgbClr val="00AF4F"/>
                </a:solidFill>
                <a:latin typeface="Times New Roman"/>
                <a:cs typeface="Times New Roman"/>
              </a:rPr>
              <a:t>In </a:t>
            </a:r>
            <a:r>
              <a:rPr sz="2000" spc="-10" dirty="0">
                <a:solidFill>
                  <a:srgbClr val="00AF4F"/>
                </a:solidFill>
                <a:latin typeface="Times New Roman"/>
                <a:cs typeface="Times New Roman"/>
              </a:rPr>
              <a:t>many </a:t>
            </a:r>
            <a:r>
              <a:rPr sz="2000" spc="-5" dirty="0">
                <a:solidFill>
                  <a:srgbClr val="00AF4F"/>
                </a:solidFill>
                <a:latin typeface="Times New Roman"/>
                <a:cs typeface="Times New Roman"/>
              </a:rPr>
              <a:t>cases, Execution Intelligence </a:t>
            </a:r>
            <a:r>
              <a:rPr sz="2000" dirty="0">
                <a:solidFill>
                  <a:srgbClr val="00AF4F"/>
                </a:solidFill>
                <a:latin typeface="Times New Roman"/>
                <a:cs typeface="Times New Roman"/>
              </a:rPr>
              <a:t>is </a:t>
            </a:r>
            <a:r>
              <a:rPr sz="2000" spc="-5" dirty="0">
                <a:solidFill>
                  <a:srgbClr val="00AF4F"/>
                </a:solidFill>
                <a:latin typeface="Times New Roman"/>
                <a:cs typeface="Times New Roman"/>
              </a:rPr>
              <a:t>the factor that det</a:t>
            </a:r>
            <a:r>
              <a:rPr lang="en-US" sz="2000" spc="-5" dirty="0">
                <a:solidFill>
                  <a:srgbClr val="00AF4F"/>
                </a:solidFill>
                <a:latin typeface="Times New Roman"/>
                <a:cs typeface="Times New Roman"/>
              </a:rPr>
              <a:t>ermines</a:t>
            </a:r>
            <a:r>
              <a:rPr sz="2000" spc="-5" dirty="0">
                <a:solidFill>
                  <a:srgbClr val="00AF4F"/>
                </a:solidFill>
                <a:latin typeface="Times New Roman"/>
                <a:cs typeface="Times New Roman"/>
              </a:rPr>
              <a:t>. whether </a:t>
            </a:r>
            <a:r>
              <a:rPr sz="2000" dirty="0">
                <a:solidFill>
                  <a:srgbClr val="00AF4F"/>
                </a:solidFill>
                <a:latin typeface="Times New Roman"/>
                <a:cs typeface="Times New Roman"/>
              </a:rPr>
              <a:t>a  </a:t>
            </a:r>
            <a:r>
              <a:rPr sz="2000" spc="-5" dirty="0">
                <a:solidFill>
                  <a:srgbClr val="00AF4F"/>
                </a:solidFill>
                <a:latin typeface="Times New Roman"/>
                <a:cs typeface="Times New Roman"/>
              </a:rPr>
              <a:t>start-up is successful </a:t>
            </a:r>
            <a:r>
              <a:rPr sz="2000" dirty="0">
                <a:solidFill>
                  <a:srgbClr val="00AF4F"/>
                </a:solidFill>
                <a:latin typeface="Times New Roman"/>
                <a:cs typeface="Times New Roman"/>
              </a:rPr>
              <a:t>or</a:t>
            </a:r>
            <a:r>
              <a:rPr sz="2000" spc="30" dirty="0">
                <a:solidFill>
                  <a:srgbClr val="00AF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AF4F"/>
                </a:solidFill>
                <a:latin typeface="Times New Roman"/>
                <a:cs typeface="Times New Roman"/>
              </a:rPr>
              <a:t>fails.</a:t>
            </a:r>
            <a:endParaRPr sz="2000" dirty="0">
              <a:latin typeface="Times New Roman"/>
              <a:cs typeface="Times New Roman"/>
            </a:endParaRPr>
          </a:p>
          <a:p>
            <a:pPr marL="812800" marR="5080" lvl="1" indent="-342900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ability to </a:t>
            </a:r>
            <a:r>
              <a:rPr sz="2000" dirty="0">
                <a:latin typeface="Times New Roman"/>
                <a:cs typeface="Times New Roman"/>
              </a:rPr>
              <a:t>exec</a:t>
            </a:r>
            <a:r>
              <a:rPr lang="en-US" sz="2000" dirty="0">
                <a:latin typeface="Times New Roman"/>
                <a:cs typeface="Times New Roman"/>
              </a:rPr>
              <a:t>ute</a:t>
            </a:r>
            <a:r>
              <a:rPr sz="2000" dirty="0">
                <a:latin typeface="Times New Roman"/>
                <a:cs typeface="Times New Roman"/>
              </a:rPr>
              <a:t> a </a:t>
            </a:r>
            <a:r>
              <a:rPr sz="2000" spc="-5" dirty="0">
                <a:latin typeface="Times New Roman"/>
                <a:cs typeface="Times New Roman"/>
              </a:rPr>
              <a:t>business </a:t>
            </a:r>
            <a:r>
              <a:rPr sz="2000" dirty="0">
                <a:latin typeface="Times New Roman"/>
                <a:cs typeface="Times New Roman"/>
              </a:rPr>
              <a:t>idea </a:t>
            </a:r>
            <a:r>
              <a:rPr sz="2000" spc="-5" dirty="0">
                <a:latin typeface="Times New Roman"/>
                <a:cs typeface="Times New Roman"/>
              </a:rPr>
              <a:t>means </a:t>
            </a:r>
            <a:r>
              <a:rPr sz="2000" dirty="0">
                <a:latin typeface="Times New Roman"/>
                <a:cs typeface="Times New Roman"/>
              </a:rPr>
              <a:t>developing a </a:t>
            </a:r>
            <a:r>
              <a:rPr sz="2000" spc="-5" dirty="0">
                <a:latin typeface="Times New Roman"/>
                <a:cs typeface="Times New Roman"/>
              </a:rPr>
              <a:t>business model,  putting tog</a:t>
            </a:r>
            <a:r>
              <a:rPr lang="en-US" sz="2000" spc="-5" dirty="0">
                <a:latin typeface="Times New Roman"/>
                <a:cs typeface="Times New Roman"/>
              </a:rPr>
              <a:t>ether</a:t>
            </a:r>
            <a:r>
              <a:rPr sz="2000" spc="-5" dirty="0">
                <a:latin typeface="Times New Roman"/>
                <a:cs typeface="Times New Roman"/>
              </a:rPr>
              <a:t>’ </a:t>
            </a:r>
            <a:r>
              <a:rPr sz="2000" dirty="0">
                <a:latin typeface="Times New Roman"/>
                <a:cs typeface="Times New Roman"/>
              </a:rPr>
              <a:t>a new venture </a:t>
            </a:r>
            <a:r>
              <a:rPr sz="2000" spc="-10" dirty="0">
                <a:latin typeface="Times New Roman"/>
                <a:cs typeface="Times New Roman"/>
              </a:rPr>
              <a:t>team, </a:t>
            </a:r>
            <a:r>
              <a:rPr sz="2000" spc="-5" dirty="0">
                <a:latin typeface="Times New Roman"/>
                <a:cs typeface="Times New Roman"/>
              </a:rPr>
              <a:t>raising money, establishing partnerships,  managing </a:t>
            </a:r>
            <a:r>
              <a:rPr sz="2000" dirty="0">
                <a:latin typeface="Times New Roman"/>
                <a:cs typeface="Times New Roman"/>
              </a:rPr>
              <a:t>finances, </a:t>
            </a:r>
            <a:r>
              <a:rPr sz="2000" spc="-5" dirty="0">
                <a:latin typeface="Times New Roman"/>
                <a:cs typeface="Times New Roman"/>
              </a:rPr>
              <a:t>leading </a:t>
            </a:r>
            <a:r>
              <a:rPr sz="2000" dirty="0">
                <a:latin typeface="Times New Roman"/>
                <a:cs typeface="Times New Roman"/>
              </a:rPr>
              <a:t>&amp; </a:t>
            </a:r>
            <a:r>
              <a:rPr sz="2000" spc="-5" dirty="0">
                <a:latin typeface="Times New Roman"/>
                <a:cs typeface="Times New Roman"/>
              </a:rPr>
              <a:t>motivating employees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etc….</a:t>
            </a:r>
            <a:endParaRPr sz="20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Times New Roman"/>
              <a:cs typeface="Times New Roman"/>
            </a:endParaRPr>
          </a:p>
          <a:p>
            <a:pPr marL="812800" indent="-342900">
              <a:lnSpc>
                <a:spcPct val="100000"/>
              </a:lnSpc>
              <a:spcBef>
                <a:spcPts val="1450"/>
              </a:spcBef>
              <a:buFont typeface="Wingdings" panose="05000000000000000000" pitchFamily="2" charset="2"/>
              <a:buChar char="Ø"/>
            </a:pPr>
            <a:r>
              <a:rPr sz="2400" spc="-5" dirty="0">
                <a:latin typeface="Times New Roman"/>
                <a:cs typeface="Times New Roman"/>
              </a:rPr>
              <a:t>“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open a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business is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very 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easy,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keep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it open is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very</a:t>
            </a:r>
            <a:r>
              <a:rPr sz="2000" b="1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difficult.</a:t>
            </a:r>
            <a:r>
              <a:rPr sz="2000" dirty="0">
                <a:latin typeface="Times New Roman"/>
                <a:cs typeface="Times New Roman"/>
              </a:rPr>
              <a:t>”</a:t>
            </a:r>
          </a:p>
          <a:p>
            <a:pPr marL="342900" marR="55880" indent="-342900" algn="r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212725" algn="l"/>
              </a:tabLst>
            </a:pPr>
            <a:r>
              <a:rPr sz="2000" dirty="0">
                <a:latin typeface="Times New Roman"/>
                <a:cs typeface="Times New Roman"/>
              </a:rPr>
              <a:t>-	</a:t>
            </a:r>
            <a:r>
              <a:rPr sz="2000" spc="-5" dirty="0">
                <a:latin typeface="Times New Roman"/>
                <a:cs typeface="Times New Roman"/>
              </a:rPr>
              <a:t>Chinese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saying</a:t>
            </a:r>
            <a:endParaRPr sz="2000" dirty="0">
              <a:latin typeface="Times New Roman"/>
              <a:cs typeface="Times New Roman"/>
            </a:endParaRPr>
          </a:p>
          <a:p>
            <a:pPr marL="457200" indent="-457200">
              <a:lnSpc>
                <a:spcPct val="100000"/>
              </a:lnSpc>
              <a:spcBef>
                <a:spcPts val="10"/>
              </a:spcBef>
              <a:buFont typeface="Wingdings" panose="05000000000000000000" pitchFamily="2" charset="2"/>
              <a:buChar char="Ø"/>
            </a:pPr>
            <a:endParaRPr sz="2950" dirty="0">
              <a:latin typeface="Times New Roman"/>
              <a:cs typeface="Times New Roman"/>
            </a:endParaRPr>
          </a:p>
          <a:p>
            <a:pPr marL="812800" indent="-3429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5354955" algn="l"/>
                <a:tab pos="5567680" algn="l"/>
                <a:tab pos="6824980" algn="l"/>
              </a:tabLst>
            </a:pPr>
            <a:r>
              <a:rPr sz="2000" spc="-5" dirty="0">
                <a:latin typeface="Times New Roman"/>
                <a:cs typeface="Times New Roman"/>
              </a:rPr>
              <a:t>“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Ideas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are 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easy.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It’s execution that</a:t>
            </a:r>
            <a:r>
              <a:rPr sz="20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‘s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hard.</a:t>
            </a:r>
            <a:r>
              <a:rPr sz="2000" spc="10" dirty="0">
                <a:latin typeface="Times New Roman"/>
                <a:cs typeface="Times New Roman"/>
              </a:rPr>
              <a:t>”</a:t>
            </a:r>
            <a:r>
              <a:rPr sz="2000" spc="10">
                <a:latin typeface="Times New Roman"/>
                <a:cs typeface="Times New Roman"/>
              </a:rPr>
              <a:t>	</a:t>
            </a:r>
            <a:r>
              <a:rPr sz="2000" spc="-5" smtClean="0">
                <a:latin typeface="Times New Roman"/>
                <a:cs typeface="Times New Roman"/>
              </a:rPr>
              <a:t>Jeff</a:t>
            </a:r>
            <a:r>
              <a:rPr sz="2000" spc="10" smtClean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Bezos,	Amazon.com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8550" y="284479"/>
            <a:ext cx="6939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Common </a:t>
            </a:r>
            <a:r>
              <a:rPr dirty="0"/>
              <a:t>Myths </a:t>
            </a:r>
            <a:r>
              <a:rPr spc="-5" dirty="0"/>
              <a:t>About</a:t>
            </a:r>
            <a:r>
              <a:rPr spc="-45" dirty="0"/>
              <a:t> </a:t>
            </a:r>
            <a:r>
              <a:rPr spc="-5" dirty="0"/>
              <a:t>Entrepreneurs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695981"/>
            <a:ext cx="8532178" cy="5666936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00"/>
              </a:spcBef>
              <a:buChar char="•"/>
              <a:tabLst>
                <a:tab pos="354965" algn="l"/>
                <a:tab pos="355600" algn="l"/>
              </a:tabLst>
            </a:pPr>
            <a:endParaRPr lang="en-US" sz="2800" b="1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Myth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800" dirty="0">
                <a:latin typeface="Times New Roman"/>
                <a:cs typeface="Times New Roman"/>
              </a:rPr>
              <a:t>: </a:t>
            </a:r>
            <a:r>
              <a:rPr sz="28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Entrepreneurs Are Born Not</a:t>
            </a:r>
            <a:r>
              <a:rPr sz="28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Made</a:t>
            </a:r>
            <a:endParaRPr sz="2800" b="1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755650" marR="160655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5015" algn="l"/>
                <a:tab pos="755650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927100" marR="160655" lvl="1" indent="-457200">
              <a:lnSpc>
                <a:spcPct val="100000"/>
              </a:lnSpc>
              <a:spcBef>
                <a:spcPts val="590"/>
              </a:spcBef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This </a:t>
            </a:r>
            <a:r>
              <a:rPr sz="2800" spc="-5" dirty="0">
                <a:latin typeface="Times New Roman"/>
                <a:cs typeface="Times New Roman"/>
              </a:rPr>
              <a:t>myth </a:t>
            </a:r>
            <a:r>
              <a:rPr sz="2800" spc="5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based </a:t>
            </a:r>
            <a:r>
              <a:rPr sz="2800" dirty="0">
                <a:latin typeface="Times New Roman"/>
                <a:cs typeface="Times New Roman"/>
              </a:rPr>
              <a:t>on the </a:t>
            </a:r>
            <a:r>
              <a:rPr sz="2800" spc="-5" dirty="0">
                <a:latin typeface="Times New Roman"/>
                <a:cs typeface="Times New Roman"/>
              </a:rPr>
              <a:t>mistaken </a:t>
            </a:r>
            <a:r>
              <a:rPr sz="2800" dirty="0">
                <a:latin typeface="Times New Roman"/>
                <a:cs typeface="Times New Roman"/>
              </a:rPr>
              <a:t>belief that </a:t>
            </a:r>
            <a:r>
              <a:rPr sz="2800" spc="-5" dirty="0">
                <a:latin typeface="Times New Roman"/>
                <a:cs typeface="Times New Roman"/>
              </a:rPr>
              <a:t>some </a:t>
            </a:r>
            <a:r>
              <a:rPr sz="2800" dirty="0">
                <a:latin typeface="Times New Roman"/>
                <a:cs typeface="Times New Roman"/>
              </a:rPr>
              <a:t>people  are genetically </a:t>
            </a:r>
            <a:r>
              <a:rPr sz="2800" spc="-5" dirty="0">
                <a:latin typeface="Times New Roman"/>
                <a:cs typeface="Times New Roman"/>
              </a:rPr>
              <a:t>predisposed </a:t>
            </a:r>
            <a:r>
              <a:rPr sz="2800" dirty="0">
                <a:latin typeface="Times New Roman"/>
                <a:cs typeface="Times New Roman"/>
              </a:rPr>
              <a:t>to be entrepreneurs.</a:t>
            </a:r>
          </a:p>
          <a:p>
            <a:pPr marL="927100" marR="5080" lvl="1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consensus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many </a:t>
            </a:r>
            <a:r>
              <a:rPr sz="2800" spc="-5" dirty="0">
                <a:latin typeface="Times New Roman"/>
                <a:cs typeface="Times New Roman"/>
              </a:rPr>
              <a:t>studies </a:t>
            </a:r>
            <a:r>
              <a:rPr sz="2800" dirty="0">
                <a:latin typeface="Times New Roman"/>
                <a:cs typeface="Times New Roman"/>
              </a:rPr>
              <a:t>is that no one is “born” </a:t>
            </a:r>
            <a:r>
              <a:rPr sz="2800" spc="5" dirty="0">
                <a:latin typeface="Times New Roman"/>
                <a:cs typeface="Times New Roman"/>
              </a:rPr>
              <a:t>to </a:t>
            </a:r>
            <a:r>
              <a:rPr sz="2800" dirty="0">
                <a:latin typeface="Times New Roman"/>
                <a:cs typeface="Times New Roman"/>
              </a:rPr>
              <a:t>be  </a:t>
            </a:r>
            <a:r>
              <a:rPr sz="2800" spc="-5" dirty="0">
                <a:latin typeface="Times New Roman"/>
                <a:cs typeface="Times New Roman"/>
              </a:rPr>
              <a:t>an </a:t>
            </a:r>
            <a:r>
              <a:rPr sz="2800" dirty="0">
                <a:latin typeface="Times New Roman"/>
                <a:cs typeface="Times New Roman"/>
              </a:rPr>
              <a:t>entrepreneur; everyone has the potential to </a:t>
            </a:r>
            <a:r>
              <a:rPr sz="2800" spc="-5" dirty="0">
                <a:latin typeface="Times New Roman"/>
                <a:cs typeface="Times New Roman"/>
              </a:rPr>
              <a:t>become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one.</a:t>
            </a:r>
          </a:p>
          <a:p>
            <a:pPr marL="927100" marR="146685" lvl="1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Whether someone </a:t>
            </a:r>
            <a:r>
              <a:rPr sz="2800" dirty="0">
                <a:latin typeface="Times New Roman"/>
                <a:cs typeface="Times New Roman"/>
              </a:rPr>
              <a:t>does </a:t>
            </a:r>
            <a:r>
              <a:rPr sz="2800" spc="-5" dirty="0">
                <a:latin typeface="Times New Roman"/>
                <a:cs typeface="Times New Roman"/>
              </a:rPr>
              <a:t>or doesn’t become </a:t>
            </a:r>
            <a:r>
              <a:rPr sz="2800" dirty="0">
                <a:latin typeface="Times New Roman"/>
                <a:cs typeface="Times New Roman"/>
              </a:rPr>
              <a:t>an entrepreneur,  is a </a:t>
            </a:r>
            <a:r>
              <a:rPr sz="2800" spc="-5" dirty="0">
                <a:latin typeface="Times New Roman"/>
                <a:cs typeface="Times New Roman"/>
              </a:rPr>
              <a:t>function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environment, </a:t>
            </a:r>
            <a:r>
              <a:rPr sz="2800" dirty="0">
                <a:latin typeface="Times New Roman"/>
                <a:cs typeface="Times New Roman"/>
              </a:rPr>
              <a:t>life experiences, and  </a:t>
            </a:r>
            <a:r>
              <a:rPr sz="2800" spc="-5" dirty="0">
                <a:latin typeface="Times New Roman"/>
                <a:cs typeface="Times New Roman"/>
              </a:rPr>
              <a:t>personal choices.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8550" y="284479"/>
            <a:ext cx="693991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Common </a:t>
            </a:r>
            <a:r>
              <a:rPr dirty="0"/>
              <a:t>Myths </a:t>
            </a:r>
            <a:r>
              <a:rPr spc="-5" dirty="0"/>
              <a:t>About</a:t>
            </a:r>
            <a:r>
              <a:rPr spc="-45" dirty="0"/>
              <a:t> </a:t>
            </a:r>
            <a:r>
              <a:rPr spc="-5" dirty="0"/>
              <a:t>Entrepreneurs</a:t>
            </a:r>
            <a:r>
              <a:rPr lang="en-US" spc="-5" dirty="0"/>
              <a:t/>
            </a:r>
            <a:br>
              <a:rPr lang="en-US" spc="-5" dirty="0"/>
            </a:br>
            <a:r>
              <a:rPr lang="en-US" spc="-5" dirty="0"/>
              <a:t/>
            </a:r>
            <a:br>
              <a:rPr lang="en-US" spc="-5" dirty="0"/>
            </a:br>
            <a:r>
              <a:rPr lang="en-US" b="1" spc="-5" dirty="0" err="1">
                <a:solidFill>
                  <a:srgbClr val="0000FF"/>
                </a:solidFill>
              </a:rPr>
              <a:t>Entrepreneurs</a:t>
            </a:r>
            <a:r>
              <a:rPr lang="en-US" b="1" spc="-5" dirty="0">
                <a:solidFill>
                  <a:srgbClr val="0000FF"/>
                </a:solidFill>
              </a:rPr>
              <a:t> Are Born Not</a:t>
            </a:r>
            <a:r>
              <a:rPr lang="en-US" b="1" spc="-25" dirty="0">
                <a:solidFill>
                  <a:srgbClr val="0000FF"/>
                </a:solidFill>
              </a:rPr>
              <a:t> </a:t>
            </a:r>
            <a:r>
              <a:rPr lang="en-US" b="1" spc="-10" dirty="0">
                <a:solidFill>
                  <a:srgbClr val="0000FF"/>
                </a:solidFill>
              </a:rPr>
              <a:t>Made</a:t>
            </a:r>
            <a:r>
              <a:rPr lang="en-US" b="1" dirty="0">
                <a:solidFill>
                  <a:srgbClr val="0000FF"/>
                </a:solidFill>
              </a:rPr>
              <a:t/>
            </a:r>
            <a:br>
              <a:rPr lang="en-US" b="1" dirty="0">
                <a:solidFill>
                  <a:srgbClr val="0000FF"/>
                </a:solidFill>
              </a:rPr>
            </a:b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Content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" y="1869281"/>
            <a:ext cx="8991600" cy="445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38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8550" y="284479"/>
            <a:ext cx="6939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Common </a:t>
            </a:r>
            <a:r>
              <a:rPr dirty="0"/>
              <a:t>Myths </a:t>
            </a:r>
            <a:r>
              <a:rPr spc="-5" dirty="0"/>
              <a:t>About</a:t>
            </a:r>
            <a:r>
              <a:rPr spc="-45" dirty="0"/>
              <a:t> </a:t>
            </a:r>
            <a:r>
              <a:rPr spc="-5" dirty="0"/>
              <a:t>Entrepreneurs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1830" y="833120"/>
            <a:ext cx="7483475" cy="113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172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384300" marR="5080" indent="-1371600">
              <a:lnSpc>
                <a:spcPct val="100000"/>
              </a:lnSpc>
              <a:spcBef>
                <a:spcPts val="1510"/>
              </a:spcBef>
            </a:pPr>
            <a:r>
              <a:rPr sz="2000" dirty="0">
                <a:latin typeface="Times New Roman"/>
                <a:cs typeface="Times New Roman"/>
              </a:rPr>
              <a:t>Although no one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“born”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be an entrepreneur, there are </a:t>
            </a:r>
            <a:r>
              <a:rPr sz="2000" spc="-10" dirty="0">
                <a:latin typeface="Times New Roman"/>
                <a:cs typeface="Times New Roman"/>
              </a:rPr>
              <a:t>common </a:t>
            </a:r>
            <a:r>
              <a:rPr sz="2000" spc="-5" dirty="0">
                <a:latin typeface="Times New Roman"/>
                <a:cs typeface="Times New Roman"/>
              </a:rPr>
              <a:t>traits  and characteristics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successful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entrepreneurs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1000" y="2133600"/>
            <a:ext cx="3505200" cy="4114800"/>
          </a:xfrm>
          <a:prstGeom prst="rect">
            <a:avLst/>
          </a:prstGeom>
          <a:solidFill>
            <a:srgbClr val="FFFFCC"/>
          </a:solidFill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242570" indent="-152400">
              <a:lnSpc>
                <a:spcPct val="100000"/>
              </a:lnSpc>
              <a:spcBef>
                <a:spcPts val="370"/>
              </a:spcBef>
              <a:buChar char="•"/>
              <a:tabLst>
                <a:tab pos="242570" algn="l"/>
              </a:tabLst>
            </a:pPr>
            <a:r>
              <a:rPr sz="2000" spc="-5" dirty="0">
                <a:latin typeface="Times New Roman"/>
                <a:cs typeface="Times New Roman"/>
              </a:rPr>
              <a:t>Achievement </a:t>
            </a:r>
            <a:r>
              <a:rPr sz="2000" spc="-10" dirty="0">
                <a:latin typeface="Times New Roman"/>
                <a:cs typeface="Times New Roman"/>
              </a:rPr>
              <a:t>motivated</a:t>
            </a:r>
            <a:endParaRPr sz="2000">
              <a:latin typeface="Times New Roman"/>
              <a:cs typeface="Times New Roman"/>
            </a:endParaRPr>
          </a:p>
          <a:p>
            <a:pPr marL="24257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242570" algn="l"/>
              </a:tabLst>
            </a:pPr>
            <a:r>
              <a:rPr sz="2000" spc="-5" dirty="0">
                <a:latin typeface="Times New Roman"/>
                <a:cs typeface="Times New Roman"/>
              </a:rPr>
              <a:t>Alert to</a:t>
            </a:r>
            <a:r>
              <a:rPr sz="2000" dirty="0">
                <a:latin typeface="Times New Roman"/>
                <a:cs typeface="Times New Roman"/>
              </a:rPr>
              <a:t> opportunities</a:t>
            </a:r>
            <a:endParaRPr sz="2000">
              <a:latin typeface="Times New Roman"/>
              <a:cs typeface="Times New Roman"/>
            </a:endParaRPr>
          </a:p>
          <a:p>
            <a:pPr marL="24257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242570" algn="l"/>
              </a:tabLst>
            </a:pPr>
            <a:r>
              <a:rPr sz="2000" spc="-5" dirty="0">
                <a:latin typeface="Times New Roman"/>
                <a:cs typeface="Times New Roman"/>
              </a:rPr>
              <a:t>Creative</a:t>
            </a:r>
            <a:endParaRPr sz="2000">
              <a:latin typeface="Times New Roman"/>
              <a:cs typeface="Times New Roman"/>
            </a:endParaRPr>
          </a:p>
          <a:p>
            <a:pPr marL="24257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242570" algn="l"/>
              </a:tabLst>
            </a:pPr>
            <a:r>
              <a:rPr sz="2000" spc="-5" dirty="0">
                <a:latin typeface="Times New Roman"/>
                <a:cs typeface="Times New Roman"/>
              </a:rPr>
              <a:t>Decisive</a:t>
            </a:r>
            <a:endParaRPr sz="2000">
              <a:latin typeface="Times New Roman"/>
              <a:cs typeface="Times New Roman"/>
            </a:endParaRPr>
          </a:p>
          <a:p>
            <a:pPr marL="242570" indent="-152400">
              <a:lnSpc>
                <a:spcPct val="100000"/>
              </a:lnSpc>
              <a:spcBef>
                <a:spcPts val="1240"/>
              </a:spcBef>
              <a:buChar char="•"/>
              <a:tabLst>
                <a:tab pos="242570" algn="l"/>
              </a:tabLst>
            </a:pPr>
            <a:r>
              <a:rPr sz="2000" spc="-5" dirty="0">
                <a:latin typeface="Times New Roman"/>
                <a:cs typeface="Times New Roman"/>
              </a:rPr>
              <a:t>Energetic</a:t>
            </a:r>
            <a:endParaRPr sz="2000">
              <a:latin typeface="Times New Roman"/>
              <a:cs typeface="Times New Roman"/>
            </a:endParaRPr>
          </a:p>
          <a:p>
            <a:pPr marL="24257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242570" algn="l"/>
              </a:tabLst>
            </a:pPr>
            <a:r>
              <a:rPr sz="2000" dirty="0">
                <a:latin typeface="Times New Roman"/>
                <a:cs typeface="Times New Roman"/>
              </a:rPr>
              <a:t>Has a strong </a:t>
            </a:r>
            <a:r>
              <a:rPr sz="2000" spc="5" dirty="0">
                <a:latin typeface="Times New Roman"/>
                <a:cs typeface="Times New Roman"/>
              </a:rPr>
              <a:t>work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ethic</a:t>
            </a:r>
            <a:endParaRPr sz="2000">
              <a:latin typeface="Times New Roman"/>
              <a:cs typeface="Times New Roman"/>
            </a:endParaRPr>
          </a:p>
          <a:p>
            <a:pPr marL="24257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242570" algn="l"/>
              </a:tabLst>
            </a:pPr>
            <a:r>
              <a:rPr sz="2000" dirty="0">
                <a:latin typeface="Times New Roman"/>
                <a:cs typeface="Times New Roman"/>
              </a:rPr>
              <a:t>Is a </a:t>
            </a:r>
            <a:r>
              <a:rPr sz="2000" spc="-5" dirty="0">
                <a:latin typeface="Times New Roman"/>
                <a:cs typeface="Times New Roman"/>
              </a:rPr>
              <a:t>moderate risk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taker</a:t>
            </a:r>
            <a:endParaRPr sz="2000">
              <a:latin typeface="Times New Roman"/>
              <a:cs typeface="Times New Roman"/>
            </a:endParaRPr>
          </a:p>
          <a:p>
            <a:pPr marL="24257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242570" algn="l"/>
              </a:tabLst>
            </a:pPr>
            <a:r>
              <a:rPr sz="2000" dirty="0">
                <a:latin typeface="Times New Roman"/>
                <a:cs typeface="Times New Roman"/>
              </a:rPr>
              <a:t>Is 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networker</a:t>
            </a:r>
            <a:endParaRPr sz="2000">
              <a:latin typeface="Times New Roman"/>
              <a:cs typeface="Times New Roman"/>
            </a:endParaRPr>
          </a:p>
          <a:p>
            <a:pPr marL="24257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242570" algn="l"/>
              </a:tabLst>
            </a:pPr>
            <a:r>
              <a:rPr sz="2000" dirty="0">
                <a:latin typeface="Times New Roman"/>
                <a:cs typeface="Times New Roman"/>
              </a:rPr>
              <a:t>Lengthy </a:t>
            </a:r>
            <a:r>
              <a:rPr sz="2000" spc="-5" dirty="0">
                <a:latin typeface="Times New Roman"/>
                <a:cs typeface="Times New Roman"/>
              </a:rPr>
              <a:t>attention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span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9600" y="2133600"/>
            <a:ext cx="3505200" cy="4114800"/>
          </a:xfrm>
          <a:prstGeom prst="rect">
            <a:avLst/>
          </a:prstGeom>
          <a:solidFill>
            <a:srgbClr val="FFFFCC"/>
          </a:solidFill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17500" indent="-152400">
              <a:lnSpc>
                <a:spcPct val="100000"/>
              </a:lnSpc>
              <a:spcBef>
                <a:spcPts val="370"/>
              </a:spcBef>
              <a:buChar char="•"/>
              <a:tabLst>
                <a:tab pos="317500" algn="l"/>
              </a:tabLst>
            </a:pPr>
            <a:r>
              <a:rPr sz="2000" spc="-5" dirty="0">
                <a:latin typeface="Times New Roman"/>
                <a:cs typeface="Times New Roman"/>
              </a:rPr>
              <a:t>Optimistic disposition</a:t>
            </a:r>
            <a:endParaRPr sz="2000">
              <a:latin typeface="Times New Roman"/>
              <a:cs typeface="Times New Roman"/>
            </a:endParaRPr>
          </a:p>
          <a:p>
            <a:pPr marL="31750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317500" algn="l"/>
              </a:tabLst>
            </a:pPr>
            <a:r>
              <a:rPr sz="2000" dirty="0">
                <a:latin typeface="Times New Roman"/>
                <a:cs typeface="Times New Roman"/>
              </a:rPr>
              <a:t>Persuasive</a:t>
            </a:r>
            <a:endParaRPr sz="2000">
              <a:latin typeface="Times New Roman"/>
              <a:cs typeface="Times New Roman"/>
            </a:endParaRPr>
          </a:p>
          <a:p>
            <a:pPr marL="31750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317500" algn="l"/>
              </a:tabLst>
            </a:pPr>
            <a:r>
              <a:rPr sz="2000" spc="-5" dirty="0">
                <a:latin typeface="Times New Roman"/>
                <a:cs typeface="Times New Roman"/>
              </a:rPr>
              <a:t>Promoter</a:t>
            </a:r>
            <a:endParaRPr sz="2000">
              <a:latin typeface="Times New Roman"/>
              <a:cs typeface="Times New Roman"/>
            </a:endParaRPr>
          </a:p>
          <a:p>
            <a:pPr marL="31750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317500" algn="l"/>
              </a:tabLst>
            </a:pPr>
            <a:r>
              <a:rPr sz="2000" spc="-5" dirty="0">
                <a:latin typeface="Times New Roman"/>
                <a:cs typeface="Times New Roman"/>
              </a:rPr>
              <a:t>Resource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assembler/leverager</a:t>
            </a:r>
            <a:endParaRPr sz="2000">
              <a:latin typeface="Times New Roman"/>
              <a:cs typeface="Times New Roman"/>
            </a:endParaRPr>
          </a:p>
          <a:p>
            <a:pPr marL="317500" indent="-152400">
              <a:lnSpc>
                <a:spcPct val="100000"/>
              </a:lnSpc>
              <a:spcBef>
                <a:spcPts val="1240"/>
              </a:spcBef>
              <a:buChar char="•"/>
              <a:tabLst>
                <a:tab pos="317500" algn="l"/>
              </a:tabLst>
            </a:pPr>
            <a:r>
              <a:rPr sz="2000" dirty="0">
                <a:latin typeface="Times New Roman"/>
                <a:cs typeface="Times New Roman"/>
              </a:rPr>
              <a:t>Self-confident</a:t>
            </a:r>
            <a:endParaRPr sz="2000">
              <a:latin typeface="Times New Roman"/>
              <a:cs typeface="Times New Roman"/>
            </a:endParaRPr>
          </a:p>
          <a:p>
            <a:pPr marL="31750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317500" algn="l"/>
              </a:tabLst>
            </a:pPr>
            <a:r>
              <a:rPr sz="2000" spc="-5" dirty="0">
                <a:latin typeface="Times New Roman"/>
                <a:cs typeface="Times New Roman"/>
              </a:rPr>
              <a:t>Self-starter</a:t>
            </a:r>
            <a:endParaRPr sz="2000">
              <a:latin typeface="Times New Roman"/>
              <a:cs typeface="Times New Roman"/>
            </a:endParaRPr>
          </a:p>
          <a:p>
            <a:pPr marL="31750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317500" algn="l"/>
              </a:tabLst>
            </a:pPr>
            <a:r>
              <a:rPr sz="2000" dirty="0">
                <a:latin typeface="Times New Roman"/>
                <a:cs typeface="Times New Roman"/>
              </a:rPr>
              <a:t>Tenacious</a:t>
            </a:r>
            <a:endParaRPr sz="2000">
              <a:latin typeface="Times New Roman"/>
              <a:cs typeface="Times New Roman"/>
            </a:endParaRPr>
          </a:p>
          <a:p>
            <a:pPr marL="31750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317500" algn="l"/>
              </a:tabLst>
            </a:pPr>
            <a:r>
              <a:rPr sz="2000" dirty="0">
                <a:latin typeface="Times New Roman"/>
                <a:cs typeface="Times New Roman"/>
              </a:rPr>
              <a:t>Tolerant 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ambiguity</a:t>
            </a:r>
            <a:endParaRPr sz="2000">
              <a:latin typeface="Times New Roman"/>
              <a:cs typeface="Times New Roman"/>
            </a:endParaRPr>
          </a:p>
          <a:p>
            <a:pPr marL="317500" indent="-152400">
              <a:lnSpc>
                <a:spcPct val="100000"/>
              </a:lnSpc>
              <a:spcBef>
                <a:spcPts val="1250"/>
              </a:spcBef>
              <a:buChar char="•"/>
              <a:tabLst>
                <a:tab pos="317500" algn="l"/>
              </a:tabLst>
            </a:pPr>
            <a:r>
              <a:rPr sz="2000" spc="-5" dirty="0">
                <a:latin typeface="Times New Roman"/>
                <a:cs typeface="Times New Roman"/>
              </a:rPr>
              <a:t>Visionary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162559"/>
            <a:ext cx="9169400" cy="997709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Common </a:t>
            </a:r>
            <a:r>
              <a:rPr dirty="0"/>
              <a:t>Myths </a:t>
            </a:r>
            <a:r>
              <a:rPr spc="-5" dirty="0"/>
              <a:t>About</a:t>
            </a:r>
            <a:r>
              <a:rPr spc="-45" dirty="0"/>
              <a:t> </a:t>
            </a:r>
            <a:r>
              <a:rPr spc="-5" dirty="0"/>
              <a:t>Entrepreneurs</a:t>
            </a:r>
          </a:p>
          <a:p>
            <a:pPr algn="ctr">
              <a:lnSpc>
                <a:spcPct val="100000"/>
              </a:lnSpc>
            </a:pP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190500" y="1066800"/>
            <a:ext cx="8724900" cy="5765681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Myth 2: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Entrepreneurs Are</a:t>
            </a:r>
            <a:r>
              <a:rPr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Gamblers</a:t>
            </a:r>
            <a:endParaRPr sz="28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3200" spc="-5" dirty="0">
                <a:latin typeface="Times New Roman"/>
                <a:cs typeface="Times New Roman"/>
              </a:rPr>
              <a:t>Most </a:t>
            </a:r>
            <a:r>
              <a:rPr sz="3200" dirty="0">
                <a:latin typeface="Times New Roman"/>
                <a:cs typeface="Times New Roman"/>
              </a:rPr>
              <a:t>entrepreneurs are </a:t>
            </a:r>
            <a:r>
              <a:rPr sz="3200" spc="-5" dirty="0">
                <a:latin typeface="Times New Roman"/>
                <a:cs typeface="Times New Roman"/>
              </a:rPr>
              <a:t>moderate risk </a:t>
            </a:r>
            <a:r>
              <a:rPr sz="3200" dirty="0">
                <a:latin typeface="Times New Roman"/>
                <a:cs typeface="Times New Roman"/>
              </a:rPr>
              <a:t>takers.</a:t>
            </a:r>
          </a:p>
          <a:p>
            <a:pPr marL="927100" marR="311150" lvl="1" indent="-4572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3200" dirty="0">
                <a:latin typeface="Times New Roman"/>
                <a:cs typeface="Times New Roman"/>
              </a:rPr>
              <a:t>The idea that entrepreneurs are </a:t>
            </a:r>
            <a:r>
              <a:rPr sz="3200" spc="-5" dirty="0">
                <a:latin typeface="Times New Roman"/>
                <a:cs typeface="Times New Roman"/>
              </a:rPr>
              <a:t>gamblers </a:t>
            </a:r>
            <a:r>
              <a:rPr sz="3200" dirty="0">
                <a:latin typeface="Times New Roman"/>
                <a:cs typeface="Times New Roman"/>
              </a:rPr>
              <a:t>originates </a:t>
            </a:r>
            <a:r>
              <a:rPr sz="3200" spc="-5" dirty="0">
                <a:latin typeface="Times New Roman"/>
                <a:cs typeface="Times New Roman"/>
              </a:rPr>
              <a:t>from  two sources:</a:t>
            </a:r>
            <a:endParaRPr lang="en-US" sz="3200" dirty="0">
              <a:latin typeface="Times New Roman"/>
              <a:cs typeface="Times New Roman"/>
            </a:endParaRPr>
          </a:p>
          <a:p>
            <a:pPr marL="927100" marR="311150" lvl="1" indent="-4572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3200" dirty="0">
                <a:latin typeface="Times New Roman"/>
                <a:cs typeface="Times New Roman"/>
              </a:rPr>
              <a:t>Entrepreneurs </a:t>
            </a:r>
            <a:r>
              <a:rPr sz="3200" spc="-5" dirty="0">
                <a:latin typeface="Times New Roman"/>
                <a:cs typeface="Times New Roman"/>
              </a:rPr>
              <a:t>typically </a:t>
            </a:r>
            <a:r>
              <a:rPr sz="3200" dirty="0">
                <a:latin typeface="Times New Roman"/>
                <a:cs typeface="Times New Roman"/>
              </a:rPr>
              <a:t>have jobs </a:t>
            </a:r>
            <a:r>
              <a:rPr sz="3200" spc="-5" dirty="0">
                <a:latin typeface="Times New Roman"/>
                <a:cs typeface="Times New Roman"/>
              </a:rPr>
              <a:t>that </a:t>
            </a:r>
            <a:r>
              <a:rPr sz="3200" dirty="0">
                <a:latin typeface="Times New Roman"/>
                <a:cs typeface="Times New Roman"/>
              </a:rPr>
              <a:t>are </a:t>
            </a:r>
            <a:r>
              <a:rPr sz="3200" spc="-5" dirty="0">
                <a:latin typeface="Times New Roman"/>
                <a:cs typeface="Times New Roman"/>
              </a:rPr>
              <a:t>less structured, and so  they face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more uncertain set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5" dirty="0">
                <a:latin typeface="Times New Roman"/>
                <a:cs typeface="Times New Roman"/>
              </a:rPr>
              <a:t>possibilities than </a:t>
            </a:r>
            <a:r>
              <a:rPr sz="3200" dirty="0">
                <a:latin typeface="Times New Roman"/>
                <a:cs typeface="Times New Roman"/>
              </a:rPr>
              <a:t>people </a:t>
            </a:r>
            <a:r>
              <a:rPr sz="3200" spc="-5" dirty="0">
                <a:latin typeface="Times New Roman"/>
                <a:cs typeface="Times New Roman"/>
              </a:rPr>
              <a:t>in  traditional </a:t>
            </a:r>
            <a:r>
              <a:rPr sz="3200" dirty="0">
                <a:latin typeface="Times New Roman"/>
                <a:cs typeface="Times New Roman"/>
              </a:rPr>
              <a:t>jobs.</a:t>
            </a:r>
            <a:endParaRPr lang="en-US" sz="3200" dirty="0">
              <a:latin typeface="Times New Roman"/>
              <a:cs typeface="Times New Roman"/>
            </a:endParaRPr>
          </a:p>
          <a:p>
            <a:pPr marL="927100" marR="311150" lvl="1" indent="-4572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755015" algn="l"/>
                <a:tab pos="755650" algn="l"/>
              </a:tabLst>
            </a:pPr>
            <a:r>
              <a:rPr sz="3200" spc="-5" dirty="0">
                <a:latin typeface="Times New Roman"/>
                <a:cs typeface="Times New Roman"/>
              </a:rPr>
              <a:t>Many </a:t>
            </a:r>
            <a:r>
              <a:rPr sz="3200" dirty="0">
                <a:latin typeface="Times New Roman"/>
                <a:cs typeface="Times New Roman"/>
              </a:rPr>
              <a:t>entrepreneurs have a strong </a:t>
            </a:r>
            <a:r>
              <a:rPr sz="3200" spc="-5" dirty="0">
                <a:latin typeface="Times New Roman"/>
                <a:cs typeface="Times New Roman"/>
              </a:rPr>
              <a:t>need </a:t>
            </a:r>
            <a:r>
              <a:rPr sz="3200" spc="-10" dirty="0">
                <a:latin typeface="Times New Roman"/>
                <a:cs typeface="Times New Roman"/>
              </a:rPr>
              <a:t>to </a:t>
            </a:r>
            <a:r>
              <a:rPr sz="3200" spc="-5" dirty="0">
                <a:latin typeface="Times New Roman"/>
                <a:cs typeface="Times New Roman"/>
              </a:rPr>
              <a:t>achieve </a:t>
            </a:r>
            <a:r>
              <a:rPr sz="3200" dirty="0">
                <a:latin typeface="Times New Roman"/>
                <a:cs typeface="Times New Roman"/>
              </a:rPr>
              <a:t>and </a:t>
            </a:r>
            <a:r>
              <a:rPr sz="3200" spc="-5" dirty="0">
                <a:latin typeface="Times New Roman"/>
                <a:cs typeface="Times New Roman"/>
              </a:rPr>
              <a:t>set  challenging goals, </a:t>
            </a:r>
            <a:r>
              <a:rPr sz="3200" dirty="0">
                <a:latin typeface="Times New Roman"/>
                <a:cs typeface="Times New Roman"/>
              </a:rPr>
              <a:t>a behavior </a:t>
            </a:r>
            <a:r>
              <a:rPr sz="3200" spc="-5" dirty="0">
                <a:latin typeface="Times New Roman"/>
                <a:cs typeface="Times New Roman"/>
              </a:rPr>
              <a:t>that is </a:t>
            </a:r>
            <a:r>
              <a:rPr sz="3200" dirty="0">
                <a:latin typeface="Times New Roman"/>
                <a:cs typeface="Times New Roman"/>
              </a:rPr>
              <a:t>often </a:t>
            </a:r>
            <a:r>
              <a:rPr sz="3200" spc="-5" dirty="0">
                <a:latin typeface="Times New Roman"/>
                <a:cs typeface="Times New Roman"/>
              </a:rPr>
              <a:t>equated with risk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taking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162559"/>
            <a:ext cx="9169400" cy="68993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Common </a:t>
            </a:r>
            <a:r>
              <a:rPr dirty="0"/>
              <a:t>Myths </a:t>
            </a:r>
            <a:r>
              <a:rPr spc="-5" dirty="0"/>
              <a:t>About</a:t>
            </a:r>
            <a:r>
              <a:rPr spc="-45" dirty="0"/>
              <a:t> </a:t>
            </a:r>
            <a:r>
              <a:rPr spc="-5" dirty="0" smtClean="0"/>
              <a:t>Entrepreneurs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4319"/>
            <a:ext cx="7997190" cy="53347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Myth 2: </a:t>
            </a:r>
            <a:r>
              <a:rPr sz="28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Entrepreneurs Are</a:t>
            </a:r>
            <a:r>
              <a:rPr sz="28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Gambler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1-</a:t>
            </a: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4" y="2077798"/>
            <a:ext cx="8952865" cy="444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280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162559"/>
            <a:ext cx="9169400" cy="68993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Common </a:t>
            </a:r>
            <a:r>
              <a:rPr dirty="0"/>
              <a:t>Myths </a:t>
            </a:r>
            <a:r>
              <a:rPr spc="-5" dirty="0"/>
              <a:t>About</a:t>
            </a:r>
            <a:r>
              <a:rPr spc="-45" dirty="0"/>
              <a:t> </a:t>
            </a:r>
            <a:r>
              <a:rPr spc="-5" dirty="0" smtClean="0"/>
              <a:t>Entrepreneurs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33220"/>
            <a:ext cx="7991475" cy="286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6449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Myth 3: </a:t>
            </a:r>
            <a:r>
              <a:rPr sz="2800" spc="-5" dirty="0">
                <a:latin typeface="Times New Roman"/>
                <a:cs typeface="Times New Roman"/>
              </a:rPr>
              <a:t>Entrepreneurs Are Motivated Primarily </a:t>
            </a:r>
            <a:r>
              <a:rPr sz="2800" dirty="0">
                <a:latin typeface="Times New Roman"/>
                <a:cs typeface="Times New Roman"/>
              </a:rPr>
              <a:t>by  Money.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While </a:t>
            </a:r>
            <a:r>
              <a:rPr sz="2400" dirty="0">
                <a:latin typeface="Times New Roman"/>
                <a:cs typeface="Times New Roman"/>
              </a:rPr>
              <a:t>it is naïve </a:t>
            </a:r>
            <a:r>
              <a:rPr sz="2400" spc="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think that entrepreneurs don’t </a:t>
            </a:r>
            <a:r>
              <a:rPr sz="2400" spc="-5" dirty="0">
                <a:latin typeface="Times New Roman"/>
                <a:cs typeface="Times New Roman"/>
              </a:rPr>
              <a:t>seek  financial rewards, </a:t>
            </a:r>
            <a:r>
              <a:rPr sz="2400" spc="-10" dirty="0">
                <a:latin typeface="Times New Roman"/>
                <a:cs typeface="Times New Roman"/>
              </a:rPr>
              <a:t>money </a:t>
            </a:r>
            <a:r>
              <a:rPr sz="2400" dirty="0">
                <a:latin typeface="Times New Roman"/>
                <a:cs typeface="Times New Roman"/>
              </a:rPr>
              <a:t>is rarely the </a:t>
            </a:r>
            <a:r>
              <a:rPr sz="2400" spc="-5" dirty="0">
                <a:latin typeface="Times New Roman"/>
                <a:cs typeface="Times New Roman"/>
              </a:rPr>
              <a:t>reason </a:t>
            </a:r>
            <a:r>
              <a:rPr sz="2400" dirty="0">
                <a:latin typeface="Times New Roman"/>
                <a:cs typeface="Times New Roman"/>
              </a:rPr>
              <a:t>entrepreneurs  start new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firms.</a:t>
            </a:r>
            <a:endParaRPr sz="2400">
              <a:latin typeface="Times New Roman"/>
              <a:cs typeface="Times New Roman"/>
            </a:endParaRPr>
          </a:p>
          <a:p>
            <a:pPr marL="755650" marR="83185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fact, </a:t>
            </a:r>
            <a:r>
              <a:rPr sz="2400" spc="-10" dirty="0">
                <a:latin typeface="Times New Roman"/>
                <a:cs typeface="Times New Roman"/>
              </a:rPr>
              <a:t>some </a:t>
            </a:r>
            <a:r>
              <a:rPr sz="2400" dirty="0">
                <a:latin typeface="Times New Roman"/>
                <a:cs typeface="Times New Roman"/>
              </a:rPr>
              <a:t>entrepreneurs </a:t>
            </a:r>
            <a:r>
              <a:rPr sz="2400" spc="-5" dirty="0">
                <a:latin typeface="Times New Roman"/>
                <a:cs typeface="Times New Roman"/>
              </a:rPr>
              <a:t>warn </a:t>
            </a:r>
            <a:r>
              <a:rPr sz="2400" dirty="0">
                <a:latin typeface="Times New Roman"/>
                <a:cs typeface="Times New Roman"/>
              </a:rPr>
              <a:t>that the pursuit of </a:t>
            </a:r>
            <a:r>
              <a:rPr sz="2400" spc="-5" dirty="0">
                <a:latin typeface="Times New Roman"/>
                <a:cs typeface="Times New Roman"/>
              </a:rPr>
              <a:t>money 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distracting.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162559"/>
            <a:ext cx="9169400" cy="68993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Common </a:t>
            </a:r>
            <a:r>
              <a:rPr dirty="0"/>
              <a:t>Myths </a:t>
            </a:r>
            <a:r>
              <a:rPr spc="-5" dirty="0"/>
              <a:t>About</a:t>
            </a:r>
            <a:r>
              <a:rPr spc="-45" dirty="0"/>
              <a:t> </a:t>
            </a:r>
            <a:r>
              <a:rPr spc="-5" dirty="0"/>
              <a:t>Entrepreneurs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" y="1347439"/>
            <a:ext cx="9067799" cy="506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4394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Myth 4: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Entrepreneurs 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Should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Be Young and  Energetic.</a:t>
            </a:r>
            <a:endParaRPr sz="36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755650" marR="408305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most </a:t>
            </a:r>
            <a:r>
              <a:rPr sz="2800" dirty="0">
                <a:latin typeface="Times New Roman"/>
                <a:cs typeface="Times New Roman"/>
              </a:rPr>
              <a:t>active </a:t>
            </a:r>
            <a:r>
              <a:rPr sz="2800" spc="-5" dirty="0">
                <a:latin typeface="Times New Roman"/>
                <a:cs typeface="Times New Roman"/>
              </a:rPr>
              <a:t>age for business ownership </a:t>
            </a:r>
            <a:r>
              <a:rPr sz="2800" spc="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35 to 45  years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old.</a:t>
            </a:r>
          </a:p>
          <a:p>
            <a:pPr marL="755650" marR="22479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While </a:t>
            </a:r>
            <a:r>
              <a:rPr sz="2800" dirty="0">
                <a:latin typeface="Times New Roman"/>
                <a:cs typeface="Times New Roman"/>
              </a:rPr>
              <a:t>it is </a:t>
            </a:r>
            <a:r>
              <a:rPr sz="2800" spc="-5" dirty="0">
                <a:latin typeface="Times New Roman"/>
                <a:cs typeface="Times New Roman"/>
              </a:rPr>
              <a:t>important </a:t>
            </a:r>
            <a:r>
              <a:rPr sz="2800" spc="5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be </a:t>
            </a:r>
            <a:r>
              <a:rPr sz="2800" dirty="0">
                <a:latin typeface="Times New Roman"/>
                <a:cs typeface="Times New Roman"/>
              </a:rPr>
              <a:t>energetic, </a:t>
            </a:r>
            <a:r>
              <a:rPr sz="2800" spc="-5" dirty="0">
                <a:latin typeface="Times New Roman"/>
                <a:cs typeface="Times New Roman"/>
              </a:rPr>
              <a:t>investors often </a:t>
            </a:r>
            <a:r>
              <a:rPr sz="2800" dirty="0">
                <a:latin typeface="Times New Roman"/>
                <a:cs typeface="Times New Roman"/>
              </a:rPr>
              <a:t>cite  the strength of the entrepreneur as their </a:t>
            </a:r>
            <a:r>
              <a:rPr sz="2800" spc="-10" dirty="0">
                <a:latin typeface="Times New Roman"/>
                <a:cs typeface="Times New Roman"/>
              </a:rPr>
              <a:t>most </a:t>
            </a:r>
            <a:r>
              <a:rPr sz="2800" spc="-5" dirty="0">
                <a:latin typeface="Times New Roman"/>
                <a:cs typeface="Times New Roman"/>
              </a:rPr>
              <a:t>important  </a:t>
            </a:r>
            <a:r>
              <a:rPr sz="2800" dirty="0">
                <a:latin typeface="Times New Roman"/>
                <a:cs typeface="Times New Roman"/>
              </a:rPr>
              <a:t>criteria </a:t>
            </a:r>
            <a:r>
              <a:rPr sz="2800" spc="5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making investment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decisions.</a:t>
            </a:r>
            <a:endParaRPr lang="en-US" sz="2800" dirty="0">
              <a:latin typeface="Times New Roman"/>
              <a:cs typeface="Times New Roman"/>
            </a:endParaRPr>
          </a:p>
          <a:p>
            <a:pPr marL="755650" marR="22479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What </a:t>
            </a:r>
            <a:r>
              <a:rPr sz="2400" spc="-5" dirty="0">
                <a:latin typeface="Times New Roman"/>
                <a:cs typeface="Times New Roman"/>
              </a:rPr>
              <a:t>makes </a:t>
            </a:r>
            <a:r>
              <a:rPr sz="2400" dirty="0">
                <a:latin typeface="Times New Roman"/>
                <a:cs typeface="Times New Roman"/>
              </a:rPr>
              <a:t>an entrepreneur “strong” </a:t>
            </a:r>
            <a:r>
              <a:rPr sz="2400" spc="-5" dirty="0">
                <a:latin typeface="Times New Roman"/>
                <a:cs typeface="Times New Roman"/>
              </a:rPr>
              <a:t>in the </a:t>
            </a:r>
            <a:r>
              <a:rPr sz="2400" dirty="0">
                <a:latin typeface="Times New Roman"/>
                <a:cs typeface="Times New Roman"/>
              </a:rPr>
              <a:t>eyes of an investor </a:t>
            </a:r>
            <a:r>
              <a:rPr sz="2400" spc="-5" dirty="0">
                <a:latin typeface="Times New Roman"/>
                <a:cs typeface="Times New Roman"/>
              </a:rPr>
              <a:t>is  </a:t>
            </a:r>
            <a:r>
              <a:rPr sz="2400" dirty="0">
                <a:latin typeface="Times New Roman"/>
                <a:cs typeface="Times New Roman"/>
              </a:rPr>
              <a:t>experience, </a:t>
            </a:r>
            <a:r>
              <a:rPr sz="2400" spc="-10" dirty="0">
                <a:latin typeface="Times New Roman"/>
                <a:cs typeface="Times New Roman"/>
              </a:rPr>
              <a:t>maturity,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solid reputation, </a:t>
            </a:r>
            <a:r>
              <a:rPr sz="2400" dirty="0">
                <a:latin typeface="Times New Roman"/>
                <a:cs typeface="Times New Roman"/>
              </a:rPr>
              <a:t>and a </a:t>
            </a:r>
            <a:r>
              <a:rPr sz="2400" spc="-5" dirty="0">
                <a:latin typeface="Times New Roman"/>
                <a:cs typeface="Times New Roman"/>
              </a:rPr>
              <a:t>track </a:t>
            </a:r>
            <a:r>
              <a:rPr sz="2400" dirty="0">
                <a:latin typeface="Times New Roman"/>
                <a:cs typeface="Times New Roman"/>
              </a:rPr>
              <a:t>record of  </a:t>
            </a:r>
            <a:r>
              <a:rPr sz="2400" spc="-5" dirty="0">
                <a:latin typeface="Times New Roman"/>
                <a:cs typeface="Times New Roman"/>
              </a:rPr>
              <a:t>success.</a:t>
            </a:r>
            <a:endParaRPr lang="en-US" sz="2400" dirty="0">
              <a:latin typeface="Times New Roman"/>
              <a:cs typeface="Times New Roman"/>
            </a:endParaRPr>
          </a:p>
          <a:p>
            <a:pPr marL="755650" marR="22479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These criteria </a:t>
            </a:r>
            <a:r>
              <a:rPr sz="2400" dirty="0">
                <a:latin typeface="Times New Roman"/>
                <a:cs typeface="Times New Roman"/>
              </a:rPr>
              <a:t>favor older </a:t>
            </a:r>
            <a:r>
              <a:rPr sz="2400" spc="-5" dirty="0">
                <a:latin typeface="Times New Roman"/>
                <a:cs typeface="Times New Roman"/>
              </a:rPr>
              <a:t>rather than </a:t>
            </a:r>
            <a:r>
              <a:rPr sz="2400" dirty="0">
                <a:latin typeface="Times New Roman"/>
                <a:cs typeface="Times New Roman"/>
              </a:rPr>
              <a:t>younger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entrepreneurs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288086"/>
            <a:ext cx="9169400" cy="68993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Common </a:t>
            </a:r>
            <a:r>
              <a:rPr dirty="0"/>
              <a:t>Myths </a:t>
            </a:r>
            <a:r>
              <a:rPr spc="-5" dirty="0"/>
              <a:t>About</a:t>
            </a:r>
            <a:r>
              <a:rPr spc="-45" dirty="0"/>
              <a:t> </a:t>
            </a:r>
            <a:r>
              <a:rPr spc="-5" dirty="0"/>
              <a:t>Entrepreneurs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8230" y="1206500"/>
            <a:ext cx="75438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4394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355600" algn="l"/>
              </a:tabLst>
            </a:pPr>
            <a:r>
              <a:rPr sz="3600" dirty="0">
                <a:solidFill>
                  <a:srgbClr val="0000FF"/>
                </a:solidFill>
                <a:latin typeface="Times New Roman"/>
                <a:cs typeface="Times New Roman"/>
              </a:rPr>
              <a:t>Myth 4: </a:t>
            </a:r>
            <a:r>
              <a:rPr sz="3600" spc="-5" dirty="0">
                <a:solidFill>
                  <a:srgbClr val="0000FF"/>
                </a:solidFill>
                <a:latin typeface="Times New Roman"/>
                <a:cs typeface="Times New Roman"/>
              </a:rPr>
              <a:t>Entrepreneurs </a:t>
            </a:r>
            <a:r>
              <a:rPr sz="3600" dirty="0">
                <a:solidFill>
                  <a:srgbClr val="0000FF"/>
                </a:solidFill>
                <a:latin typeface="Times New Roman"/>
                <a:cs typeface="Times New Roman"/>
              </a:rPr>
              <a:t>Should </a:t>
            </a:r>
            <a:r>
              <a:rPr sz="3600" spc="-5" dirty="0">
                <a:solidFill>
                  <a:srgbClr val="0000FF"/>
                </a:solidFill>
                <a:latin typeface="Times New Roman"/>
                <a:cs typeface="Times New Roman"/>
              </a:rPr>
              <a:t>Be Young and  Energetic.</a:t>
            </a:r>
            <a:endParaRPr sz="3600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1-</a:t>
            </a: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7320"/>
            <a:ext cx="9156700" cy="45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54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88086"/>
            <a:ext cx="8928100" cy="68993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just"/>
            <a:r>
              <a:rPr lang="en-US" dirty="0" smtClean="0">
                <a:solidFill>
                  <a:srgbClr val="0000FF"/>
                </a:solidFill>
              </a:rPr>
              <a:t>Myth </a:t>
            </a:r>
            <a:r>
              <a:rPr lang="en-US" dirty="0">
                <a:solidFill>
                  <a:srgbClr val="0000FF"/>
                </a:solidFill>
              </a:rPr>
              <a:t>5: Entrepreneurs love the Spotlight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206500"/>
            <a:ext cx="8382000" cy="518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n-US" sz="2800" dirty="0" smtClean="0"/>
              <a:t>Indeed</a:t>
            </a:r>
            <a:r>
              <a:rPr lang="en-US" sz="2800" dirty="0"/>
              <a:t>, some entrepreneurs are flamboyant; however, the vast majority </a:t>
            </a:r>
            <a:r>
              <a:rPr lang="en-US" sz="2800" dirty="0" smtClean="0"/>
              <a:t>of them </a:t>
            </a:r>
            <a:r>
              <a:rPr lang="en-US" sz="2800" dirty="0"/>
              <a:t>do not attract public attention. In fact, many entrepreneurs, </a:t>
            </a:r>
            <a:r>
              <a:rPr lang="en-US" sz="2800" dirty="0" smtClean="0"/>
              <a:t>because they </a:t>
            </a:r>
            <a:r>
              <a:rPr lang="en-US" sz="2800" dirty="0"/>
              <a:t>are working on proprietary products or services, avoid public notice</a:t>
            </a:r>
            <a:r>
              <a:rPr lang="en-US" sz="2800" dirty="0" smtClean="0"/>
              <a:t>.</a:t>
            </a:r>
          </a:p>
          <a:p>
            <a:pPr algn="just"/>
            <a:r>
              <a:rPr lang="en-US" sz="2800" dirty="0" smtClean="0"/>
              <a:t>Consider </a:t>
            </a:r>
            <a:r>
              <a:rPr lang="en-US" sz="2800" dirty="0"/>
              <a:t>that entrepreneurs are the source of the launch of many of the </a:t>
            </a:r>
            <a:r>
              <a:rPr lang="en-US" sz="2800" dirty="0" smtClean="0"/>
              <a:t>5,000 companies </a:t>
            </a:r>
            <a:r>
              <a:rPr lang="en-US" sz="2800" dirty="0"/>
              <a:t>listed on the NASDAQ, and many of these entrepreneurs are </a:t>
            </a:r>
            <a:r>
              <a:rPr lang="en-US" sz="2800" dirty="0" smtClean="0"/>
              <a:t>still actively </a:t>
            </a:r>
            <a:r>
              <a:rPr lang="en-US" sz="2800" dirty="0"/>
              <a:t>involved with their firms. But how many of these entrepreneurs </a:t>
            </a:r>
            <a:r>
              <a:rPr lang="en-US" sz="2800" dirty="0" smtClean="0"/>
              <a:t>can yon </a:t>
            </a:r>
            <a:r>
              <a:rPr lang="en-US" sz="2800" dirty="0"/>
              <a:t>name? Perhaps three or four? Most of us could come up with Jeff </a:t>
            </a:r>
            <a:r>
              <a:rPr lang="en-US" sz="2800" dirty="0" smtClean="0"/>
              <a:t>Bezos of </a:t>
            </a:r>
            <a:r>
              <a:rPr lang="en-US" sz="2800" dirty="0"/>
              <a:t>Amazon.com, Mark Zuckerberg of Facebook, and maybe Larry Page </a:t>
            </a:r>
            <a:r>
              <a:rPr lang="en-US" sz="2800" dirty="0" smtClean="0"/>
              <a:t>and Sergey </a:t>
            </a:r>
            <a:r>
              <a:rPr lang="en-US" sz="2800" dirty="0" err="1"/>
              <a:t>Brin</a:t>
            </a:r>
            <a:r>
              <a:rPr lang="en-US" sz="2800" dirty="0"/>
              <a:t> of Google or Larry Ellison of Oracle.</a:t>
            </a:r>
            <a:endParaRPr sz="2800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2539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6479" y="436879"/>
            <a:ext cx="4503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Types </a:t>
            </a:r>
            <a:r>
              <a:rPr dirty="0"/>
              <a:t>of </a:t>
            </a:r>
            <a:r>
              <a:rPr spc="-10" dirty="0"/>
              <a:t>Start-Up</a:t>
            </a:r>
            <a:r>
              <a:rPr spc="-90" dirty="0"/>
              <a:t> </a:t>
            </a:r>
            <a:r>
              <a:rPr spc="-10" dirty="0"/>
              <a:t>Firms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6054" y="1600200"/>
            <a:ext cx="8764270" cy="4314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7859" y="360679"/>
            <a:ext cx="7747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Changing Demographics </a:t>
            </a:r>
            <a:r>
              <a:rPr dirty="0"/>
              <a:t>of</a:t>
            </a:r>
            <a:r>
              <a:rPr spc="-55" dirty="0"/>
              <a:t> </a:t>
            </a:r>
            <a:r>
              <a:rPr spc="-5" dirty="0" smtClean="0"/>
              <a:t>Entrepreneurs</a:t>
            </a:r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0" y="14478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8600" y="2057400"/>
            <a:ext cx="4255770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25670" y="2015490"/>
            <a:ext cx="407479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Women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Entrepreneurs</a:t>
            </a:r>
            <a:endParaRPr sz="2800">
              <a:latin typeface="Times New Roman"/>
              <a:cs typeface="Times New Roman"/>
            </a:endParaRPr>
          </a:p>
          <a:p>
            <a:pPr marL="165100" marR="5080" indent="-152400">
              <a:lnSpc>
                <a:spcPct val="100000"/>
              </a:lnSpc>
              <a:spcBef>
                <a:spcPts val="2040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There </a:t>
            </a:r>
            <a:r>
              <a:rPr sz="2400" spc="-5" dirty="0">
                <a:latin typeface="Times New Roman"/>
                <a:cs typeface="Times New Roman"/>
              </a:rPr>
              <a:t>were </a:t>
            </a:r>
            <a:r>
              <a:rPr sz="2400" dirty="0">
                <a:latin typeface="Times New Roman"/>
                <a:cs typeface="Times New Roman"/>
              </a:rPr>
              <a:t>6.2 </a:t>
            </a:r>
            <a:r>
              <a:rPr sz="2400" spc="-5" dirty="0">
                <a:latin typeface="Times New Roman"/>
                <a:cs typeface="Times New Roman"/>
              </a:rPr>
              <a:t>million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women-  owned businesses </a:t>
            </a:r>
            <a:r>
              <a:rPr sz="2400" spc="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2002 (the  </a:t>
            </a:r>
            <a:r>
              <a:rPr sz="2400" spc="-10" dirty="0">
                <a:latin typeface="Times New Roman"/>
                <a:cs typeface="Times New Roman"/>
              </a:rPr>
              <a:t>most </a:t>
            </a:r>
            <a:r>
              <a:rPr sz="2400" dirty="0">
                <a:latin typeface="Times New Roman"/>
                <a:cs typeface="Times New Roman"/>
              </a:rPr>
              <a:t>recent statistics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available)</a:t>
            </a:r>
            <a:endParaRPr sz="2400">
              <a:latin typeface="Times New Roman"/>
              <a:cs typeface="Times New Roman"/>
            </a:endParaRPr>
          </a:p>
          <a:p>
            <a:pPr marL="165100" marR="87630" indent="-152400">
              <a:lnSpc>
                <a:spcPct val="100000"/>
              </a:lnSpc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This </a:t>
            </a:r>
            <a:r>
              <a:rPr sz="2400" spc="-5" dirty="0">
                <a:latin typeface="Times New Roman"/>
                <a:cs typeface="Times New Roman"/>
              </a:rPr>
              <a:t>number was </a:t>
            </a:r>
            <a:r>
              <a:rPr sz="2400" dirty="0">
                <a:latin typeface="Times New Roman"/>
                <a:cs typeface="Times New Roman"/>
              </a:rPr>
              <a:t>up 20%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 </a:t>
            </a:r>
            <a:r>
              <a:rPr sz="2400" spc="-5" dirty="0">
                <a:latin typeface="Times New Roman"/>
                <a:cs typeface="Times New Roman"/>
              </a:rPr>
              <a:t>1997.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1-</a:t>
            </a: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7859" y="284479"/>
            <a:ext cx="7747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Changing Demographics </a:t>
            </a:r>
            <a:r>
              <a:rPr dirty="0"/>
              <a:t>of</a:t>
            </a:r>
            <a:r>
              <a:rPr spc="-55" dirty="0"/>
              <a:t> </a:t>
            </a:r>
            <a:r>
              <a:rPr spc="-5" dirty="0" smtClean="0"/>
              <a:t>Entrepreneurs</a:t>
            </a:r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0" y="14478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8469" y="2091690"/>
            <a:ext cx="4030979" cy="225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Minority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Entrepreneurs</a:t>
            </a:r>
            <a:endParaRPr sz="2800">
              <a:latin typeface="Times New Roman"/>
              <a:cs typeface="Times New Roman"/>
            </a:endParaRPr>
          </a:p>
          <a:p>
            <a:pPr marL="165100" marR="5080" indent="-152400">
              <a:lnSpc>
                <a:spcPct val="100000"/>
              </a:lnSpc>
              <a:spcBef>
                <a:spcPts val="2640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Minorities </a:t>
            </a:r>
            <a:r>
              <a:rPr sz="2400" spc="-5" dirty="0">
                <a:latin typeface="Times New Roman"/>
                <a:cs typeface="Times New Roman"/>
              </a:rPr>
              <a:t>owned </a:t>
            </a:r>
            <a:r>
              <a:rPr sz="2400" dirty="0">
                <a:latin typeface="Times New Roman"/>
                <a:cs typeface="Times New Roman"/>
              </a:rPr>
              <a:t>roughly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18%  of </a:t>
            </a:r>
            <a:r>
              <a:rPr sz="2400" spc="-5" dirty="0">
                <a:latin typeface="Times New Roman"/>
                <a:cs typeface="Times New Roman"/>
              </a:rPr>
              <a:t>U.S. businesses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2002.</a:t>
            </a:r>
            <a:endParaRPr sz="2400">
              <a:latin typeface="Times New Roman"/>
              <a:cs typeface="Times New Roman"/>
            </a:endParaRPr>
          </a:p>
          <a:p>
            <a:pPr marL="165100" marR="43815" indent="-152400">
              <a:lnSpc>
                <a:spcPct val="100000"/>
              </a:lnSpc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This </a:t>
            </a:r>
            <a:r>
              <a:rPr sz="2400" spc="-5" dirty="0">
                <a:latin typeface="Times New Roman"/>
                <a:cs typeface="Times New Roman"/>
              </a:rPr>
              <a:t>number was </a:t>
            </a:r>
            <a:r>
              <a:rPr sz="2400" dirty="0">
                <a:latin typeface="Times New Roman"/>
                <a:cs typeface="Times New Roman"/>
              </a:rPr>
              <a:t>up 10%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  </a:t>
            </a:r>
            <a:r>
              <a:rPr sz="2400" dirty="0">
                <a:latin typeface="Times New Roman"/>
                <a:cs typeface="Times New Roman"/>
              </a:rPr>
              <a:t>1997.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1870" y="2091690"/>
            <a:ext cx="4187825" cy="2981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Senior Entrepreneurs</a:t>
            </a:r>
            <a:endParaRPr sz="2800">
              <a:latin typeface="Times New Roman"/>
              <a:cs typeface="Times New Roman"/>
            </a:endParaRPr>
          </a:p>
          <a:p>
            <a:pPr marL="165100" marR="5080" indent="-152400">
              <a:lnSpc>
                <a:spcPct val="100000"/>
              </a:lnSpc>
              <a:spcBef>
                <a:spcPts val="2640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Although </a:t>
            </a:r>
            <a:r>
              <a:rPr sz="2400" spc="-5" dirty="0">
                <a:latin typeface="Times New Roman"/>
                <a:cs typeface="Times New Roman"/>
              </a:rPr>
              <a:t>statistics </a:t>
            </a:r>
            <a:r>
              <a:rPr sz="2400" dirty="0">
                <a:latin typeface="Times New Roman"/>
                <a:cs typeface="Times New Roman"/>
              </a:rPr>
              <a:t>are not kept  on </a:t>
            </a:r>
            <a:r>
              <a:rPr sz="2400" spc="-5" dirty="0">
                <a:latin typeface="Times New Roman"/>
                <a:cs typeface="Times New Roman"/>
              </a:rPr>
              <a:t>senior </a:t>
            </a:r>
            <a:r>
              <a:rPr sz="2400" dirty="0">
                <a:latin typeface="Times New Roman"/>
                <a:cs typeface="Times New Roman"/>
              </a:rPr>
              <a:t>entrepreneurs, there is  </a:t>
            </a:r>
            <a:r>
              <a:rPr sz="2400" spc="-5" dirty="0">
                <a:latin typeface="Times New Roman"/>
                <a:cs typeface="Times New Roman"/>
              </a:rPr>
              <a:t>strong evidence </a:t>
            </a:r>
            <a:r>
              <a:rPr sz="2400" dirty="0">
                <a:latin typeface="Times New Roman"/>
                <a:cs typeface="Times New Roman"/>
              </a:rPr>
              <a:t>that the </a:t>
            </a:r>
            <a:r>
              <a:rPr sz="2400" spc="-5" dirty="0">
                <a:latin typeface="Times New Roman"/>
                <a:cs typeface="Times New Roman"/>
              </a:rPr>
              <a:t>number  </a:t>
            </a:r>
            <a:r>
              <a:rPr sz="2400" dirty="0">
                <a:latin typeface="Times New Roman"/>
                <a:cs typeface="Times New Roman"/>
              </a:rPr>
              <a:t>of older people choosing  entrepreneurial careers is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rapidly  </a:t>
            </a:r>
            <a:r>
              <a:rPr sz="2400" spc="-5" dirty="0">
                <a:latin typeface="Times New Roman"/>
                <a:cs typeface="Times New Roman"/>
              </a:rPr>
              <a:t>increasing.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Changing Demographics </a:t>
            </a:r>
            <a:r>
              <a:rPr dirty="0"/>
              <a:t>of</a:t>
            </a:r>
            <a:r>
              <a:rPr spc="-55" dirty="0"/>
              <a:t> </a:t>
            </a:r>
            <a:r>
              <a:rPr spc="-5" dirty="0"/>
              <a:t>Entrepreneurs</a:t>
            </a:r>
          </a:p>
          <a:p>
            <a:pPr algn="ctr">
              <a:lnSpc>
                <a:spcPct val="100000"/>
              </a:lnSpc>
            </a:pPr>
            <a:r>
              <a:rPr sz="2000" dirty="0"/>
              <a:t>3 of</a:t>
            </a:r>
            <a:r>
              <a:rPr sz="2000" spc="10" dirty="0"/>
              <a:t> </a:t>
            </a:r>
            <a:r>
              <a:rPr sz="2000" dirty="0"/>
              <a:t>3</a:t>
            </a:r>
            <a:endParaRPr sz="2000"/>
          </a:p>
        </p:txBody>
      </p:sp>
      <p:sp>
        <p:nvSpPr>
          <p:cNvPr id="3" name="object 3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2133600"/>
            <a:ext cx="8229600" cy="3886200"/>
          </a:xfrm>
          <a:custGeom>
            <a:avLst/>
            <a:gdLst/>
            <a:ahLst/>
            <a:cxnLst/>
            <a:rect l="l" t="t" r="r" b="b"/>
            <a:pathLst>
              <a:path w="8229600" h="3886200">
                <a:moveTo>
                  <a:pt x="8229600" y="0"/>
                </a:moveTo>
                <a:lnTo>
                  <a:pt x="0" y="0"/>
                </a:lnTo>
                <a:lnTo>
                  <a:pt x="0" y="3886200"/>
                </a:lnTo>
                <a:lnTo>
                  <a:pt x="8229600" y="3886200"/>
                </a:lnTo>
                <a:lnTo>
                  <a:pt x="82296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2133600"/>
            <a:ext cx="8229600" cy="3886200"/>
          </a:xfrm>
          <a:custGeom>
            <a:avLst/>
            <a:gdLst/>
            <a:ahLst/>
            <a:cxnLst/>
            <a:rect l="l" t="t" r="r" b="b"/>
            <a:pathLst>
              <a:path w="8229600" h="3886200">
                <a:moveTo>
                  <a:pt x="4114800" y="3886200"/>
                </a:moveTo>
                <a:lnTo>
                  <a:pt x="0" y="3886200"/>
                </a:lnTo>
                <a:lnTo>
                  <a:pt x="0" y="0"/>
                </a:lnTo>
                <a:lnTo>
                  <a:pt x="8229600" y="0"/>
                </a:lnTo>
                <a:lnTo>
                  <a:pt x="8229600" y="3886200"/>
                </a:lnTo>
                <a:lnTo>
                  <a:pt x="4114800" y="388620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0869" y="1482090"/>
            <a:ext cx="7715250" cy="329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649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Young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Entrepreneurs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00">
              <a:latin typeface="Times New Roman"/>
              <a:cs typeface="Times New Roman"/>
            </a:endParaRPr>
          </a:p>
          <a:p>
            <a:pPr marL="165100" marR="502284" indent="-152400">
              <a:lnSpc>
                <a:spcPct val="111100"/>
              </a:lnSpc>
              <a:buFont typeface="Arial"/>
              <a:buChar char="•"/>
              <a:tabLst>
                <a:tab pos="195580" algn="l"/>
              </a:tabLst>
            </a:pPr>
            <a:r>
              <a:rPr sz="2400" dirty="0">
                <a:latin typeface="Times New Roman"/>
                <a:cs typeface="Times New Roman"/>
              </a:rPr>
              <a:t>Interest </a:t>
            </a:r>
            <a:r>
              <a:rPr sz="2400" spc="-5" dirty="0">
                <a:latin typeface="Times New Roman"/>
                <a:cs typeface="Times New Roman"/>
              </a:rPr>
              <a:t>among </a:t>
            </a:r>
            <a:r>
              <a:rPr sz="2400" dirty="0">
                <a:latin typeface="Times New Roman"/>
                <a:cs typeface="Times New Roman"/>
              </a:rPr>
              <a:t>young people in entrepreneurial careers is  </a:t>
            </a:r>
            <a:r>
              <a:rPr sz="2400" spc="-5" dirty="0">
                <a:latin typeface="Times New Roman"/>
                <a:cs typeface="Times New Roman"/>
              </a:rPr>
              <a:t>growing.</a:t>
            </a:r>
            <a:endParaRPr sz="2400">
              <a:latin typeface="Times New Roman"/>
              <a:cs typeface="Times New Roman"/>
            </a:endParaRPr>
          </a:p>
          <a:p>
            <a:pPr marL="165100" marR="5080" indent="-152400">
              <a:lnSpc>
                <a:spcPct val="111100"/>
              </a:lnSpc>
              <a:buFont typeface="Arial"/>
              <a:buChar char="•"/>
              <a:tabLst>
                <a:tab pos="195580" algn="l"/>
              </a:tabLst>
            </a:pPr>
            <a:r>
              <a:rPr sz="2400" dirty="0">
                <a:latin typeface="Times New Roman"/>
                <a:cs typeface="Times New Roman"/>
              </a:rPr>
              <a:t>According to a </a:t>
            </a:r>
            <a:r>
              <a:rPr sz="2400" spc="-5" dirty="0">
                <a:latin typeface="Times New Roman"/>
                <a:cs typeface="Times New Roman"/>
              </a:rPr>
              <a:t>Gallop </a:t>
            </a:r>
            <a:r>
              <a:rPr sz="2400" dirty="0">
                <a:latin typeface="Times New Roman"/>
                <a:cs typeface="Times New Roman"/>
              </a:rPr>
              <a:t>study, 7 out of 10 high school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students  </a:t>
            </a:r>
            <a:r>
              <a:rPr sz="2400" spc="-5" dirty="0">
                <a:latin typeface="Times New Roman"/>
                <a:cs typeface="Times New Roman"/>
              </a:rPr>
              <a:t>want </a:t>
            </a:r>
            <a:r>
              <a:rPr sz="2400" dirty="0">
                <a:latin typeface="Times New Roman"/>
                <a:cs typeface="Times New Roman"/>
              </a:rPr>
              <a:t>to start their </a:t>
            </a:r>
            <a:r>
              <a:rPr sz="2400" spc="-5" dirty="0">
                <a:latin typeface="Times New Roman"/>
                <a:cs typeface="Times New Roman"/>
              </a:rPr>
              <a:t>own business.</a:t>
            </a:r>
            <a:endParaRPr sz="2400">
              <a:latin typeface="Times New Roman"/>
              <a:cs typeface="Times New Roman"/>
            </a:endParaRPr>
          </a:p>
          <a:p>
            <a:pPr marL="165100" marR="171450" indent="-152400">
              <a:lnSpc>
                <a:spcPts val="3200"/>
              </a:lnSpc>
              <a:spcBef>
                <a:spcPts val="150"/>
              </a:spcBef>
              <a:buFont typeface="Arial"/>
              <a:buChar char="•"/>
              <a:tabLst>
                <a:tab pos="195580" algn="l"/>
              </a:tabLst>
            </a:pPr>
            <a:r>
              <a:rPr sz="2400" spc="-5" dirty="0">
                <a:latin typeface="Times New Roman"/>
                <a:cs typeface="Times New Roman"/>
              </a:rPr>
              <a:t>Over </a:t>
            </a:r>
            <a:r>
              <a:rPr sz="2400" dirty="0">
                <a:latin typeface="Times New Roman"/>
                <a:cs typeface="Times New Roman"/>
              </a:rPr>
              <a:t>2,000 two-year and four-year </a:t>
            </a:r>
            <a:r>
              <a:rPr sz="2400" spc="-5" dirty="0">
                <a:latin typeface="Times New Roman"/>
                <a:cs typeface="Times New Roman"/>
              </a:rPr>
              <a:t>colleges </a:t>
            </a:r>
            <a:r>
              <a:rPr sz="2400" dirty="0">
                <a:latin typeface="Times New Roman"/>
                <a:cs typeface="Times New Roman"/>
              </a:rPr>
              <a:t>and universities  </a:t>
            </a:r>
            <a:r>
              <a:rPr sz="2400" spc="-5" dirty="0">
                <a:latin typeface="Times New Roman"/>
                <a:cs typeface="Times New Roman"/>
              </a:rPr>
              <a:t>offer </a:t>
            </a:r>
            <a:r>
              <a:rPr sz="2400" dirty="0">
                <a:latin typeface="Times New Roman"/>
                <a:cs typeface="Times New Roman"/>
              </a:rPr>
              <a:t>entrepreneurship </a:t>
            </a:r>
            <a:r>
              <a:rPr sz="2400" spc="-5" dirty="0">
                <a:latin typeface="Times New Roman"/>
                <a:cs typeface="Times New Roman"/>
              </a:rPr>
              <a:t>courses.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9919" y="436879"/>
            <a:ext cx="7881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Economic Impact </a:t>
            </a:r>
            <a:r>
              <a:rPr dirty="0"/>
              <a:t>of </a:t>
            </a:r>
            <a:r>
              <a:rPr spc="-5" dirty="0"/>
              <a:t>Entrepreneurial</a:t>
            </a:r>
            <a:r>
              <a:rPr spc="-75" dirty="0"/>
              <a:t> </a:t>
            </a:r>
            <a:r>
              <a:rPr spc="-10" dirty="0"/>
              <a:t>Firms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8119"/>
            <a:ext cx="7830820" cy="421005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Innovation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Is the </a:t>
            </a:r>
            <a:r>
              <a:rPr sz="2400" spc="-5" dirty="0">
                <a:latin typeface="Times New Roman"/>
                <a:cs typeface="Times New Roman"/>
              </a:rPr>
              <a:t>process </a:t>
            </a:r>
            <a:r>
              <a:rPr sz="2400" dirty="0">
                <a:latin typeface="Times New Roman"/>
                <a:cs typeface="Times New Roman"/>
              </a:rPr>
              <a:t>of creating </a:t>
            </a:r>
            <a:r>
              <a:rPr sz="2400" spc="-5" dirty="0">
                <a:latin typeface="Times New Roman"/>
                <a:cs typeface="Times New Roman"/>
              </a:rPr>
              <a:t>something new, which </a:t>
            </a:r>
            <a:r>
              <a:rPr sz="2400" spc="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central  to the entrepreneurial</a:t>
            </a:r>
            <a:r>
              <a:rPr sz="2400" spc="-5" dirty="0">
                <a:latin typeface="Times New Roman"/>
                <a:cs typeface="Times New Roman"/>
              </a:rPr>
              <a:t> process.</a:t>
            </a:r>
            <a:endParaRPr sz="2400">
              <a:latin typeface="Times New Roman"/>
              <a:cs typeface="Times New Roman"/>
            </a:endParaRPr>
          </a:p>
          <a:p>
            <a:pPr marL="755650" marR="15875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10" dirty="0">
                <a:latin typeface="Times New Roman"/>
                <a:cs typeface="Times New Roman"/>
              </a:rPr>
              <a:t>Small firms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twice </a:t>
            </a:r>
            <a:r>
              <a:rPr sz="2400" dirty="0">
                <a:latin typeface="Times New Roman"/>
                <a:cs typeface="Times New Roman"/>
              </a:rPr>
              <a:t>as innovative </a:t>
            </a:r>
            <a:r>
              <a:rPr sz="2400" spc="-5" dirty="0">
                <a:latin typeface="Times New Roman"/>
                <a:cs typeface="Times New Roman"/>
              </a:rPr>
              <a:t>per employee as </a:t>
            </a:r>
            <a:r>
              <a:rPr sz="2400" dirty="0">
                <a:latin typeface="Times New Roman"/>
                <a:cs typeface="Times New Roman"/>
              </a:rPr>
              <a:t>large  </a:t>
            </a:r>
            <a:r>
              <a:rPr sz="2400" spc="-10" dirty="0">
                <a:latin typeface="Times New Roman"/>
                <a:cs typeface="Times New Roman"/>
              </a:rPr>
              <a:t>firms.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Job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Creation</a:t>
            </a:r>
            <a:endParaRPr sz="2800">
              <a:latin typeface="Times New Roman"/>
              <a:cs typeface="Times New Roman"/>
            </a:endParaRPr>
          </a:p>
          <a:p>
            <a:pPr marL="755650" marR="9271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In the past </a:t>
            </a:r>
            <a:r>
              <a:rPr sz="2400" spc="-5" dirty="0">
                <a:latin typeface="Times New Roman"/>
                <a:cs typeface="Times New Roman"/>
              </a:rPr>
              <a:t>two decades, economic </a:t>
            </a:r>
            <a:r>
              <a:rPr sz="2400" dirty="0">
                <a:latin typeface="Times New Roman"/>
                <a:cs typeface="Times New Roman"/>
              </a:rPr>
              <a:t>activity has </a:t>
            </a:r>
            <a:r>
              <a:rPr sz="2400" spc="-5" dirty="0">
                <a:latin typeface="Times New Roman"/>
                <a:cs typeface="Times New Roman"/>
              </a:rPr>
              <a:t>moved </a:t>
            </a:r>
            <a:r>
              <a:rPr sz="2400" dirty="0">
                <a:latin typeface="Times New Roman"/>
                <a:cs typeface="Times New Roman"/>
              </a:rPr>
              <a:t>in  the direction of </a:t>
            </a:r>
            <a:r>
              <a:rPr sz="2400" spc="-5" dirty="0">
                <a:latin typeface="Times New Roman"/>
                <a:cs typeface="Times New Roman"/>
              </a:rPr>
              <a:t>smaller </a:t>
            </a:r>
            <a:r>
              <a:rPr sz="2400" dirty="0">
                <a:latin typeface="Times New Roman"/>
                <a:cs typeface="Times New Roman"/>
              </a:rPr>
              <a:t>entrepreneurial </a:t>
            </a:r>
            <a:r>
              <a:rPr sz="2400" spc="-5" dirty="0">
                <a:latin typeface="Times New Roman"/>
                <a:cs typeface="Times New Roman"/>
              </a:rPr>
              <a:t>firms, which </a:t>
            </a:r>
            <a:r>
              <a:rPr sz="2400" spc="-10" dirty="0">
                <a:latin typeface="Times New Roman"/>
                <a:cs typeface="Times New Roman"/>
              </a:rPr>
              <a:t>may 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due </a:t>
            </a:r>
            <a:r>
              <a:rPr sz="2400" spc="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their </a:t>
            </a:r>
            <a:r>
              <a:rPr sz="2400" spc="-5" dirty="0">
                <a:latin typeface="Times New Roman"/>
                <a:cs typeface="Times New Roman"/>
              </a:rPr>
              <a:t>unique </a:t>
            </a:r>
            <a:r>
              <a:rPr sz="2400" dirty="0">
                <a:latin typeface="Times New Roman"/>
                <a:cs typeface="Times New Roman"/>
              </a:rPr>
              <a:t>ability to innovate and </a:t>
            </a:r>
            <a:r>
              <a:rPr sz="2400" spc="-5" dirty="0">
                <a:latin typeface="Times New Roman"/>
                <a:cs typeface="Times New Roman"/>
              </a:rPr>
              <a:t>focus </a:t>
            </a:r>
            <a:r>
              <a:rPr sz="2400" dirty="0">
                <a:latin typeface="Times New Roman"/>
                <a:cs typeface="Times New Roman"/>
              </a:rPr>
              <a:t>on  </a:t>
            </a:r>
            <a:r>
              <a:rPr sz="2400" spc="-5" dirty="0">
                <a:latin typeface="Times New Roman"/>
                <a:cs typeface="Times New Roman"/>
              </a:rPr>
              <a:t>specialized tasks.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19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162559"/>
            <a:ext cx="76307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3295" marR="5080" indent="-222123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Entrepreneurial Firms’ Impact </a:t>
            </a:r>
            <a:r>
              <a:rPr dirty="0"/>
              <a:t>on</a:t>
            </a:r>
            <a:r>
              <a:rPr spc="-85" dirty="0"/>
              <a:t> </a:t>
            </a:r>
            <a:r>
              <a:rPr spc="-5" dirty="0"/>
              <a:t>Society  </a:t>
            </a:r>
            <a:r>
              <a:rPr spc="-10" dirty="0"/>
              <a:t>and Larger</a:t>
            </a:r>
            <a:r>
              <a:rPr spc="-20" dirty="0"/>
              <a:t> </a:t>
            </a:r>
            <a:r>
              <a:rPr spc="-10" dirty="0"/>
              <a:t>Firms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4319"/>
            <a:ext cx="7987030" cy="421005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Impact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Society</a:t>
            </a:r>
            <a:endParaRPr sz="2800">
              <a:latin typeface="Times New Roman"/>
              <a:cs typeface="Times New Roman"/>
            </a:endParaRPr>
          </a:p>
          <a:p>
            <a:pPr marL="755650" marR="2730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innovations </a:t>
            </a:r>
            <a:r>
              <a:rPr sz="2400" dirty="0">
                <a:latin typeface="Times New Roman"/>
                <a:cs typeface="Times New Roman"/>
              </a:rPr>
              <a:t>of entrepreneurial </a:t>
            </a:r>
            <a:r>
              <a:rPr sz="2400" spc="-5" dirty="0">
                <a:latin typeface="Times New Roman"/>
                <a:cs typeface="Times New Roman"/>
              </a:rPr>
              <a:t>firms have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dramatic  impact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society.</a:t>
            </a:r>
            <a:endParaRPr sz="24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Think of all the new products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services that </a:t>
            </a:r>
            <a:r>
              <a:rPr sz="2400" spc="-10" dirty="0">
                <a:latin typeface="Times New Roman"/>
                <a:cs typeface="Times New Roman"/>
              </a:rPr>
              <a:t>make </a:t>
            </a:r>
            <a:r>
              <a:rPr sz="2400" dirty="0">
                <a:latin typeface="Times New Roman"/>
                <a:cs typeface="Times New Roman"/>
              </a:rPr>
              <a:t>our  lives </a:t>
            </a:r>
            <a:r>
              <a:rPr sz="2400" spc="-5" dirty="0">
                <a:latin typeface="Times New Roman"/>
                <a:cs typeface="Times New Roman"/>
              </a:rPr>
              <a:t>easier, </a:t>
            </a:r>
            <a:r>
              <a:rPr sz="2400" dirty="0">
                <a:latin typeface="Times New Roman"/>
                <a:cs typeface="Times New Roman"/>
              </a:rPr>
              <a:t>enhance our productivity at work, </a:t>
            </a:r>
            <a:r>
              <a:rPr sz="2400" spc="-5" dirty="0">
                <a:latin typeface="Times New Roman"/>
                <a:cs typeface="Times New Roman"/>
              </a:rPr>
              <a:t>improve </a:t>
            </a:r>
            <a:r>
              <a:rPr sz="2400" dirty="0">
                <a:latin typeface="Times New Roman"/>
                <a:cs typeface="Times New Roman"/>
              </a:rPr>
              <a:t>our  health, and entertain us </a:t>
            </a:r>
            <a:r>
              <a:rPr sz="2400" spc="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Impact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Larger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Firms</a:t>
            </a:r>
            <a:endParaRPr sz="2800">
              <a:latin typeface="Times New Roman"/>
              <a:cs typeface="Times New Roman"/>
            </a:endParaRPr>
          </a:p>
          <a:p>
            <a:pPr marL="755650" marR="60325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Many </a:t>
            </a:r>
            <a:r>
              <a:rPr sz="2400" dirty="0">
                <a:latin typeface="Times New Roman"/>
                <a:cs typeface="Times New Roman"/>
              </a:rPr>
              <a:t>entrepreneurial </a:t>
            </a:r>
            <a:r>
              <a:rPr sz="2400" spc="-5" dirty="0">
                <a:latin typeface="Times New Roman"/>
                <a:cs typeface="Times New Roman"/>
              </a:rPr>
              <a:t>firms have </a:t>
            </a:r>
            <a:r>
              <a:rPr sz="2400" dirty="0">
                <a:latin typeface="Times New Roman"/>
                <a:cs typeface="Times New Roman"/>
              </a:rPr>
              <a:t>built their entire </a:t>
            </a:r>
            <a:r>
              <a:rPr sz="2400" spc="-5" dirty="0">
                <a:latin typeface="Times New Roman"/>
                <a:cs typeface="Times New Roman"/>
              </a:rPr>
              <a:t>business  models </a:t>
            </a:r>
            <a:r>
              <a:rPr sz="2400" dirty="0">
                <a:latin typeface="Times New Roman"/>
                <a:cs typeface="Times New Roman"/>
              </a:rPr>
              <a:t>around producing products and </a:t>
            </a:r>
            <a:r>
              <a:rPr sz="2400" spc="-5" dirty="0">
                <a:latin typeface="Times New Roman"/>
                <a:cs typeface="Times New Roman"/>
              </a:rPr>
              <a:t>services </a:t>
            </a:r>
            <a:r>
              <a:rPr sz="2400" dirty="0">
                <a:latin typeface="Times New Roman"/>
                <a:cs typeface="Times New Roman"/>
              </a:rPr>
              <a:t>that help  larger </a:t>
            </a:r>
            <a:r>
              <a:rPr sz="2400" spc="-5" dirty="0">
                <a:latin typeface="Times New Roman"/>
                <a:cs typeface="Times New Roman"/>
              </a:rPr>
              <a:t>firms become more efficient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effective.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3716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9770" y="436879"/>
            <a:ext cx="51993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</a:t>
            </a:r>
            <a:r>
              <a:rPr spc="-5" dirty="0"/>
              <a:t>Entrepreneurial</a:t>
            </a:r>
            <a:r>
              <a:rPr spc="-80" dirty="0"/>
              <a:t> </a:t>
            </a:r>
            <a:r>
              <a:rPr spc="-5" dirty="0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3716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097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8600" y="1600200"/>
            <a:ext cx="8534400" cy="41415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774065" indent="-228600">
              <a:lnSpc>
                <a:spcPct val="150000"/>
              </a:lnSpc>
              <a:spcBef>
                <a:spcPts val="100"/>
              </a:spcBef>
            </a:pPr>
            <a:r>
              <a:rPr sz="2900" dirty="0">
                <a:latin typeface="Times New Roman"/>
                <a:cs typeface="Times New Roman"/>
              </a:rPr>
              <a:t>The Entrepreneurial </a:t>
            </a:r>
            <a:r>
              <a:rPr sz="2900" spc="-5" dirty="0">
                <a:latin typeface="Times New Roman"/>
                <a:cs typeface="Times New Roman"/>
              </a:rPr>
              <a:t>Process Consists </a:t>
            </a:r>
            <a:r>
              <a:rPr sz="2900" dirty="0">
                <a:latin typeface="Times New Roman"/>
                <a:cs typeface="Times New Roman"/>
              </a:rPr>
              <a:t>of </a:t>
            </a:r>
            <a:r>
              <a:rPr sz="2900" spc="-5" dirty="0">
                <a:solidFill>
                  <a:srgbClr val="0000FF"/>
                </a:solidFill>
                <a:latin typeface="Times New Roman"/>
                <a:cs typeface="Times New Roman"/>
              </a:rPr>
              <a:t>Four Steps  </a:t>
            </a:r>
            <a:r>
              <a:rPr sz="2900" spc="-5" dirty="0">
                <a:latin typeface="Times New Roman"/>
                <a:cs typeface="Times New Roman"/>
              </a:rPr>
              <a:t>Step </a:t>
            </a:r>
            <a:r>
              <a:rPr sz="2900" dirty="0">
                <a:latin typeface="Times New Roman"/>
                <a:cs typeface="Times New Roman"/>
              </a:rPr>
              <a:t>1: </a:t>
            </a:r>
            <a:r>
              <a:rPr sz="2900" spc="-5" dirty="0">
                <a:latin typeface="Times New Roman"/>
                <a:cs typeface="Times New Roman"/>
              </a:rPr>
              <a:t>Deciding </a:t>
            </a:r>
            <a:r>
              <a:rPr sz="2900" dirty="0">
                <a:latin typeface="Times New Roman"/>
                <a:cs typeface="Times New Roman"/>
              </a:rPr>
              <a:t>to </a:t>
            </a:r>
            <a:r>
              <a:rPr sz="2900" spc="-5" dirty="0">
                <a:latin typeface="Times New Roman"/>
                <a:cs typeface="Times New Roman"/>
              </a:rPr>
              <a:t>become </a:t>
            </a:r>
            <a:r>
              <a:rPr sz="2900" dirty="0">
                <a:latin typeface="Times New Roman"/>
                <a:cs typeface="Times New Roman"/>
              </a:rPr>
              <a:t>an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entrepreneur.</a:t>
            </a:r>
          </a:p>
          <a:p>
            <a:pPr marL="240665">
              <a:lnSpc>
                <a:spcPct val="150000"/>
              </a:lnSpc>
              <a:spcBef>
                <a:spcPts val="1490"/>
              </a:spcBef>
            </a:pPr>
            <a:r>
              <a:rPr sz="2900" spc="-5" dirty="0">
                <a:latin typeface="Times New Roman"/>
                <a:cs typeface="Times New Roman"/>
              </a:rPr>
              <a:t>Step </a:t>
            </a:r>
            <a:r>
              <a:rPr sz="2900" dirty="0">
                <a:latin typeface="Times New Roman"/>
                <a:cs typeface="Times New Roman"/>
              </a:rPr>
              <a:t>2: </a:t>
            </a:r>
            <a:r>
              <a:rPr sz="2900" spc="-5" dirty="0">
                <a:latin typeface="Times New Roman"/>
                <a:cs typeface="Times New Roman"/>
              </a:rPr>
              <a:t>Developing successful business</a:t>
            </a:r>
            <a:r>
              <a:rPr sz="2900" spc="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ideas.</a:t>
            </a:r>
          </a:p>
          <a:p>
            <a:pPr marL="240665" marR="5080" algn="just">
              <a:lnSpc>
                <a:spcPct val="150000"/>
              </a:lnSpc>
            </a:pPr>
            <a:r>
              <a:rPr sz="2900" spc="-5" dirty="0">
                <a:latin typeface="Times New Roman"/>
                <a:cs typeface="Times New Roman"/>
              </a:rPr>
              <a:t>Step </a:t>
            </a:r>
            <a:r>
              <a:rPr sz="2900" dirty="0">
                <a:latin typeface="Times New Roman"/>
                <a:cs typeface="Times New Roman"/>
              </a:rPr>
              <a:t>3: Moving </a:t>
            </a:r>
            <a:r>
              <a:rPr sz="2900" spc="-5" dirty="0">
                <a:latin typeface="Times New Roman"/>
                <a:cs typeface="Times New Roman"/>
              </a:rPr>
              <a:t>from </a:t>
            </a:r>
            <a:r>
              <a:rPr sz="2900" dirty="0">
                <a:latin typeface="Times New Roman"/>
                <a:cs typeface="Times New Roman"/>
              </a:rPr>
              <a:t>an idea to an entrepreneurial </a:t>
            </a:r>
            <a:r>
              <a:rPr sz="2900" spc="-5" dirty="0">
                <a:latin typeface="Times New Roman"/>
                <a:cs typeface="Times New Roman"/>
              </a:rPr>
              <a:t>firm.  Step </a:t>
            </a:r>
            <a:r>
              <a:rPr sz="2900" dirty="0">
                <a:latin typeface="Times New Roman"/>
                <a:cs typeface="Times New Roman"/>
              </a:rPr>
              <a:t>4: Managing </a:t>
            </a:r>
            <a:r>
              <a:rPr sz="2900" spc="-5" dirty="0">
                <a:latin typeface="Times New Roman"/>
                <a:cs typeface="Times New Roman"/>
              </a:rPr>
              <a:t>and </a:t>
            </a:r>
            <a:r>
              <a:rPr sz="2900" dirty="0">
                <a:latin typeface="Times New Roman"/>
                <a:cs typeface="Times New Roman"/>
              </a:rPr>
              <a:t>growing the entrepreneurial </a:t>
            </a:r>
            <a:r>
              <a:rPr sz="2900" spc="-5" dirty="0">
                <a:latin typeface="Times New Roman"/>
                <a:cs typeface="Times New Roman"/>
              </a:rPr>
              <a:t>firm.  Step </a:t>
            </a:r>
            <a:r>
              <a:rPr sz="2900" dirty="0">
                <a:latin typeface="Times New Roman"/>
                <a:cs typeface="Times New Roman"/>
              </a:rPr>
              <a:t>5: Exiting the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venture.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1465</TotalTime>
  <Words>1714</Words>
  <Application>Microsoft Office PowerPoint</Application>
  <PresentationFormat>On-screen Show (4:3)</PresentationFormat>
  <Paragraphs>198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Times New Roman</vt:lpstr>
      <vt:lpstr>Wingdings</vt:lpstr>
      <vt:lpstr>Office Theme</vt:lpstr>
      <vt:lpstr>Chapter 1</vt:lpstr>
      <vt:lpstr>Difference between Businessman and Entrepreneur  </vt:lpstr>
      <vt:lpstr>Chapter Objectives</vt:lpstr>
      <vt:lpstr>Chapter Objectives</vt:lpstr>
      <vt:lpstr>Introduction to Entrepreneurship</vt:lpstr>
      <vt:lpstr>Mega Entrepreneurs/Founders</vt:lpstr>
      <vt:lpstr>PowerPoint Presentation</vt:lpstr>
      <vt:lpstr>What is Entrepreneurship?</vt:lpstr>
      <vt:lpstr>Difference between Business entrepreneurs and Social entrepreneurs?</vt:lpstr>
      <vt:lpstr>Difference between Business entrepreneurs and Social entrepreneurs</vt:lpstr>
      <vt:lpstr>Difference between Business entrepreneurs and Social entrepreneurs</vt:lpstr>
      <vt:lpstr>Difference between Professionals and Entrepreneurs?</vt:lpstr>
      <vt:lpstr>Corporate Entrepreneurship</vt:lpstr>
      <vt:lpstr>Corporate Entrepreneurship </vt:lpstr>
      <vt:lpstr>Corporate Entrepreneurship 2 of 2</vt:lpstr>
      <vt:lpstr>Corporate Entrepreneurship</vt:lpstr>
      <vt:lpstr>Why Become an Entrepreneur?</vt:lpstr>
      <vt:lpstr>PowerPoint Presentation</vt:lpstr>
      <vt:lpstr>PowerPoint Presentation</vt:lpstr>
      <vt:lpstr>Characteristics of Successful Entrepreneurs</vt:lpstr>
      <vt:lpstr>Characteristics of Successful Entrepreneurs</vt:lpstr>
      <vt:lpstr>Characteristics of Successful Entrepreneurs</vt:lpstr>
      <vt:lpstr>Characteristics of Successful Entrepreneurs</vt:lpstr>
      <vt:lpstr>Common Myths About Entrepreneurs</vt:lpstr>
      <vt:lpstr>Common Myths About Entrepreneurs  Entrepreneurs Are Born Not Made </vt:lpstr>
      <vt:lpstr>Common Myths About Entrepreneurs</vt:lpstr>
      <vt:lpstr>Common Myths About Entrepreneurs </vt:lpstr>
      <vt:lpstr>Common Myths About Entrepreneurs</vt:lpstr>
      <vt:lpstr>Common Myths About Entrepreneurs</vt:lpstr>
      <vt:lpstr>Common Myths About Entrepreneurs</vt:lpstr>
      <vt:lpstr>Common Myths About Entrepreneurs</vt:lpstr>
      <vt:lpstr>Myth 5: Entrepreneurs love the Spotlight</vt:lpstr>
      <vt:lpstr>Types of Start-Up Firms</vt:lpstr>
      <vt:lpstr>Changing Demographics of Entrepreneurs</vt:lpstr>
      <vt:lpstr>Changing Demographics of Entrepreneurs</vt:lpstr>
      <vt:lpstr>Changing Demographics of Entrepreneurs 3 of 3</vt:lpstr>
      <vt:lpstr>Economic Impact of Entrepreneurial Firms</vt:lpstr>
      <vt:lpstr>Entrepreneurial Firms’ Impact on Society  and Larger Firms</vt:lpstr>
      <vt:lpstr>The Entrepreneurial Process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bbarringer</dc:creator>
  <cp:lastModifiedBy>Microsoft account</cp:lastModifiedBy>
  <cp:revision>71</cp:revision>
  <dcterms:created xsi:type="dcterms:W3CDTF">2019-06-09T11:04:39Z</dcterms:created>
  <dcterms:modified xsi:type="dcterms:W3CDTF">2024-02-20T13:01:13Z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2012-11-08T00:00:00Z</vt:filetime>
  </property>
  <property fmtid="{D5CDD505-2E9C-101B-9397-08002B2CF9AE}" pid="3" name="Creator">
    <vt:lpwstr>Impress</vt:lpwstr>
  </property>
  <property fmtid="{D5CDD505-2E9C-101B-9397-08002B2CF9AE}" pid="4" name="LastSaved">
    <vt:filetime>2019-06-09T00:00:00Z</vt:filetime>
  </property>
</Properties>
</file>