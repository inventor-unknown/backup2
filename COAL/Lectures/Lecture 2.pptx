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3" r:id="rId1"/>
  </p:sldMasterIdLst>
  <p:notesMasterIdLst>
    <p:notesMasterId r:id="rId16"/>
  </p:notesMasterIdLst>
  <p:handoutMasterIdLst>
    <p:handoutMasterId r:id="rId17"/>
  </p:handoutMasterIdLst>
  <p:sldIdLst>
    <p:sldId id="256" r:id="rId2"/>
    <p:sldId id="275" r:id="rId3"/>
    <p:sldId id="298" r:id="rId4"/>
    <p:sldId id="299" r:id="rId5"/>
    <p:sldId id="300" r:id="rId6"/>
    <p:sldId id="303" r:id="rId7"/>
    <p:sldId id="304" r:id="rId8"/>
    <p:sldId id="305" r:id="rId9"/>
    <p:sldId id="306" r:id="rId10"/>
    <p:sldId id="322" r:id="rId11"/>
    <p:sldId id="311" r:id="rId12"/>
    <p:sldId id="312" r:id="rId13"/>
    <p:sldId id="313" r:id="rId14"/>
    <p:sldId id="314" r:id="rId1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09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09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09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09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09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pitchFamily="-109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pitchFamily="-109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pitchFamily="-109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pitchFamily="-109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CC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2" autoAdjust="0"/>
    <p:restoredTop sz="86946" autoAdjust="0"/>
  </p:normalViewPr>
  <p:slideViewPr>
    <p:cSldViewPr>
      <p:cViewPr varScale="1">
        <p:scale>
          <a:sx n="76" d="100"/>
          <a:sy n="76" d="100"/>
        </p:scale>
        <p:origin x="182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</p:sldLst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14.xml"/><Relationship Id="rId3" Type="http://schemas.openxmlformats.org/officeDocument/2006/relationships/slide" Target="slides/slide4.xml"/><Relationship Id="rId7" Type="http://schemas.openxmlformats.org/officeDocument/2006/relationships/slide" Target="slides/slide13.xml"/><Relationship Id="rId2" Type="http://schemas.openxmlformats.org/officeDocument/2006/relationships/slide" Target="slides/slide3.xml"/><Relationship Id="rId1" Type="http://schemas.openxmlformats.org/officeDocument/2006/relationships/slide" Target="slides/slide1.xml"/><Relationship Id="rId6" Type="http://schemas.openxmlformats.org/officeDocument/2006/relationships/slide" Target="slides/slide7.xml"/><Relationship Id="rId5" Type="http://schemas.openxmlformats.org/officeDocument/2006/relationships/slide" Target="slides/slide6.xml"/><Relationship Id="rId4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086756-9340-CC4D-BCEF-1ECC83EF5966}" type="doc">
      <dgm:prSet loTypeId="urn:microsoft.com/office/officeart/2005/8/layout/default" loCatId="" qsTypeId="urn:microsoft.com/office/officeart/2005/8/quickstyle/simple4" qsCatId="simple" csTypeId="urn:microsoft.com/office/officeart/2005/8/colors/colorful4" csCatId="colorful"/>
      <dgm:spPr/>
      <dgm:t>
        <a:bodyPr/>
        <a:lstStyle/>
        <a:p>
          <a:endParaRPr lang="en-US"/>
        </a:p>
      </dgm:t>
    </dgm:pt>
    <dgm:pt modelId="{E7A776DE-3184-7C48-A44E-5E7EE8DE3657}">
      <dgm:prSet/>
      <dgm:spPr/>
      <dgm:t>
        <a:bodyPr/>
        <a:lstStyle/>
        <a:p>
          <a:pPr rtl="0"/>
          <a:r>
            <a:rPr lang="en-US" dirty="0">
              <a:solidFill>
                <a:schemeClr val="accent2"/>
              </a:solidFill>
            </a:rPr>
            <a:t>Similar or identical instruction set</a:t>
          </a:r>
        </a:p>
      </dgm:t>
    </dgm:pt>
    <dgm:pt modelId="{C903CEEE-1436-024B-89F9-9AB6AF873E4F}" type="parTrans" cxnId="{57620C15-6600-5245-8223-05AD5CA3B9B5}">
      <dgm:prSet/>
      <dgm:spPr/>
      <dgm:t>
        <a:bodyPr/>
        <a:lstStyle/>
        <a:p>
          <a:endParaRPr lang="en-US"/>
        </a:p>
      </dgm:t>
    </dgm:pt>
    <dgm:pt modelId="{9702BBB8-23B2-804D-AB11-BFBF4E18C6BE}" type="sibTrans" cxnId="{57620C15-6600-5245-8223-05AD5CA3B9B5}">
      <dgm:prSet/>
      <dgm:spPr/>
      <dgm:t>
        <a:bodyPr/>
        <a:lstStyle/>
        <a:p>
          <a:endParaRPr lang="en-US"/>
        </a:p>
      </dgm:t>
    </dgm:pt>
    <dgm:pt modelId="{4041758A-6176-8B48-9F0A-5FE9B64AB8AF}">
      <dgm:prSet/>
      <dgm:spPr/>
      <dgm:t>
        <a:bodyPr/>
        <a:lstStyle/>
        <a:p>
          <a:pPr rtl="0"/>
          <a:r>
            <a:rPr lang="en-US" dirty="0">
              <a:solidFill>
                <a:schemeClr val="accent2"/>
              </a:solidFill>
            </a:rPr>
            <a:t>Similar or identical operating system</a:t>
          </a:r>
        </a:p>
      </dgm:t>
    </dgm:pt>
    <dgm:pt modelId="{2583CDCE-EBBE-DB4F-917E-6964FFC17206}" type="parTrans" cxnId="{7126A58E-EC5F-8E43-9123-337C69CD8606}">
      <dgm:prSet/>
      <dgm:spPr/>
      <dgm:t>
        <a:bodyPr/>
        <a:lstStyle/>
        <a:p>
          <a:endParaRPr lang="en-US"/>
        </a:p>
      </dgm:t>
    </dgm:pt>
    <dgm:pt modelId="{9197F951-3974-BD4B-BA62-57B4B9695B88}" type="sibTrans" cxnId="{7126A58E-EC5F-8E43-9123-337C69CD8606}">
      <dgm:prSet/>
      <dgm:spPr/>
      <dgm:t>
        <a:bodyPr/>
        <a:lstStyle/>
        <a:p>
          <a:endParaRPr lang="en-US"/>
        </a:p>
      </dgm:t>
    </dgm:pt>
    <dgm:pt modelId="{17B10B5B-48A1-9046-A570-AAFE9F574D7C}">
      <dgm:prSet/>
      <dgm:spPr/>
      <dgm:t>
        <a:bodyPr/>
        <a:lstStyle/>
        <a:p>
          <a:pPr rtl="0"/>
          <a:r>
            <a:rPr lang="en-US">
              <a:solidFill>
                <a:schemeClr val="accent2"/>
              </a:solidFill>
            </a:rPr>
            <a:t>Increasing speed</a:t>
          </a:r>
        </a:p>
      </dgm:t>
    </dgm:pt>
    <dgm:pt modelId="{B9E952B7-4C8F-9C42-B730-0EABB51E0035}" type="parTrans" cxnId="{C256BE7F-901A-0C47-96D0-CB54D67B335A}">
      <dgm:prSet/>
      <dgm:spPr/>
      <dgm:t>
        <a:bodyPr/>
        <a:lstStyle/>
        <a:p>
          <a:endParaRPr lang="en-US"/>
        </a:p>
      </dgm:t>
    </dgm:pt>
    <dgm:pt modelId="{DC63F2D3-C912-8A47-9726-69E05EC71A54}" type="sibTrans" cxnId="{C256BE7F-901A-0C47-96D0-CB54D67B335A}">
      <dgm:prSet/>
      <dgm:spPr/>
      <dgm:t>
        <a:bodyPr/>
        <a:lstStyle/>
        <a:p>
          <a:endParaRPr lang="en-US"/>
        </a:p>
      </dgm:t>
    </dgm:pt>
    <dgm:pt modelId="{6F593652-15FE-B845-853F-D9FB1C33923D}">
      <dgm:prSet/>
      <dgm:spPr/>
      <dgm:t>
        <a:bodyPr/>
        <a:lstStyle/>
        <a:p>
          <a:pPr rtl="0"/>
          <a:r>
            <a:rPr lang="en-US" dirty="0">
              <a:solidFill>
                <a:schemeClr val="accent2"/>
              </a:solidFill>
            </a:rPr>
            <a:t>Increasing number of I/O ports</a:t>
          </a:r>
        </a:p>
      </dgm:t>
    </dgm:pt>
    <dgm:pt modelId="{86F831F1-2B58-E546-AE8B-84482F4E44A3}" type="parTrans" cxnId="{53B42228-9A36-5B49-9682-60C76A230E44}">
      <dgm:prSet/>
      <dgm:spPr/>
      <dgm:t>
        <a:bodyPr/>
        <a:lstStyle/>
        <a:p>
          <a:endParaRPr lang="en-US"/>
        </a:p>
      </dgm:t>
    </dgm:pt>
    <dgm:pt modelId="{13E47EFC-7E84-004E-AF57-BCEF66A00619}" type="sibTrans" cxnId="{53B42228-9A36-5B49-9682-60C76A230E44}">
      <dgm:prSet/>
      <dgm:spPr/>
      <dgm:t>
        <a:bodyPr/>
        <a:lstStyle/>
        <a:p>
          <a:endParaRPr lang="en-US"/>
        </a:p>
      </dgm:t>
    </dgm:pt>
    <dgm:pt modelId="{15096F3B-8F59-6A4B-A839-A3D5B9C0ACC0}">
      <dgm:prSet/>
      <dgm:spPr/>
      <dgm:t>
        <a:bodyPr/>
        <a:lstStyle/>
        <a:p>
          <a:pPr rtl="0"/>
          <a:r>
            <a:rPr lang="en-US" dirty="0">
              <a:solidFill>
                <a:schemeClr val="accent2"/>
              </a:solidFill>
            </a:rPr>
            <a:t>Increasing memory size</a:t>
          </a:r>
        </a:p>
      </dgm:t>
    </dgm:pt>
    <dgm:pt modelId="{C4DCA971-8828-EB4A-B319-DE29D631F50F}" type="parTrans" cxnId="{0EC19165-EE52-5541-903B-AB915A00FB0D}">
      <dgm:prSet/>
      <dgm:spPr/>
      <dgm:t>
        <a:bodyPr/>
        <a:lstStyle/>
        <a:p>
          <a:endParaRPr lang="en-US"/>
        </a:p>
      </dgm:t>
    </dgm:pt>
    <dgm:pt modelId="{E59FDC0B-A596-244A-9068-9B93468BC4DA}" type="sibTrans" cxnId="{0EC19165-EE52-5541-903B-AB915A00FB0D}">
      <dgm:prSet/>
      <dgm:spPr/>
      <dgm:t>
        <a:bodyPr/>
        <a:lstStyle/>
        <a:p>
          <a:endParaRPr lang="en-US"/>
        </a:p>
      </dgm:t>
    </dgm:pt>
    <dgm:pt modelId="{2B665855-247F-4445-BE01-D8DF9FD46608}">
      <dgm:prSet/>
      <dgm:spPr/>
      <dgm:t>
        <a:bodyPr/>
        <a:lstStyle/>
        <a:p>
          <a:pPr rtl="0"/>
          <a:r>
            <a:rPr lang="en-US" dirty="0">
              <a:solidFill>
                <a:schemeClr val="accent2"/>
              </a:solidFill>
            </a:rPr>
            <a:t>Increasing cost</a:t>
          </a:r>
        </a:p>
      </dgm:t>
    </dgm:pt>
    <dgm:pt modelId="{435C9407-07A4-4A44-B54F-9157EC0DB333}" type="parTrans" cxnId="{F60F7EB9-FFFA-8C40-AA79-94CD39CCB253}">
      <dgm:prSet/>
      <dgm:spPr/>
      <dgm:t>
        <a:bodyPr/>
        <a:lstStyle/>
        <a:p>
          <a:endParaRPr lang="en-US"/>
        </a:p>
      </dgm:t>
    </dgm:pt>
    <dgm:pt modelId="{986CDAEE-2E12-9548-B917-3B02E5EFFBCA}" type="sibTrans" cxnId="{F60F7EB9-FFFA-8C40-AA79-94CD39CCB253}">
      <dgm:prSet/>
      <dgm:spPr/>
      <dgm:t>
        <a:bodyPr/>
        <a:lstStyle/>
        <a:p>
          <a:endParaRPr lang="en-US"/>
        </a:p>
      </dgm:t>
    </dgm:pt>
    <dgm:pt modelId="{17A89A7A-C69F-0A43-ADC0-185768423672}" type="pres">
      <dgm:prSet presAssocID="{BD086756-9340-CC4D-BCEF-1ECC83EF5966}" presName="diagram" presStyleCnt="0">
        <dgm:presLayoutVars>
          <dgm:dir/>
          <dgm:resizeHandles val="exact"/>
        </dgm:presLayoutVars>
      </dgm:prSet>
      <dgm:spPr/>
    </dgm:pt>
    <dgm:pt modelId="{E4B3A8F4-DBAF-054A-87E9-CA4C80492978}" type="pres">
      <dgm:prSet presAssocID="{E7A776DE-3184-7C48-A44E-5E7EE8DE3657}" presName="node" presStyleLbl="node1" presStyleIdx="0" presStyleCnt="6">
        <dgm:presLayoutVars>
          <dgm:bulletEnabled val="1"/>
        </dgm:presLayoutVars>
      </dgm:prSet>
      <dgm:spPr/>
    </dgm:pt>
    <dgm:pt modelId="{71C193AC-2B15-334F-918C-BF5527E5C8C8}" type="pres">
      <dgm:prSet presAssocID="{9702BBB8-23B2-804D-AB11-BFBF4E18C6BE}" presName="sibTrans" presStyleCnt="0"/>
      <dgm:spPr/>
    </dgm:pt>
    <dgm:pt modelId="{FA582ED2-3C35-2B4C-AC47-158238A97EAA}" type="pres">
      <dgm:prSet presAssocID="{4041758A-6176-8B48-9F0A-5FE9B64AB8AF}" presName="node" presStyleLbl="node1" presStyleIdx="1" presStyleCnt="6">
        <dgm:presLayoutVars>
          <dgm:bulletEnabled val="1"/>
        </dgm:presLayoutVars>
      </dgm:prSet>
      <dgm:spPr/>
    </dgm:pt>
    <dgm:pt modelId="{E00B1368-6A1F-534B-86B8-20690B960D15}" type="pres">
      <dgm:prSet presAssocID="{9197F951-3974-BD4B-BA62-57B4B9695B88}" presName="sibTrans" presStyleCnt="0"/>
      <dgm:spPr/>
    </dgm:pt>
    <dgm:pt modelId="{BA977F84-EBC6-3949-BAD4-AEC214C55B5C}" type="pres">
      <dgm:prSet presAssocID="{17B10B5B-48A1-9046-A570-AAFE9F574D7C}" presName="node" presStyleLbl="node1" presStyleIdx="2" presStyleCnt="6">
        <dgm:presLayoutVars>
          <dgm:bulletEnabled val="1"/>
        </dgm:presLayoutVars>
      </dgm:prSet>
      <dgm:spPr/>
    </dgm:pt>
    <dgm:pt modelId="{38190330-610B-F04A-8928-24A9D6C44ACB}" type="pres">
      <dgm:prSet presAssocID="{DC63F2D3-C912-8A47-9726-69E05EC71A54}" presName="sibTrans" presStyleCnt="0"/>
      <dgm:spPr/>
    </dgm:pt>
    <dgm:pt modelId="{35EA873F-5D1B-7546-86AF-A04E826F38F3}" type="pres">
      <dgm:prSet presAssocID="{6F593652-15FE-B845-853F-D9FB1C33923D}" presName="node" presStyleLbl="node1" presStyleIdx="3" presStyleCnt="6">
        <dgm:presLayoutVars>
          <dgm:bulletEnabled val="1"/>
        </dgm:presLayoutVars>
      </dgm:prSet>
      <dgm:spPr/>
    </dgm:pt>
    <dgm:pt modelId="{42F792A4-B292-CF45-B42E-9DD6958E7FB4}" type="pres">
      <dgm:prSet presAssocID="{13E47EFC-7E84-004E-AF57-BCEF66A00619}" presName="sibTrans" presStyleCnt="0"/>
      <dgm:spPr/>
    </dgm:pt>
    <dgm:pt modelId="{F226B956-3E06-634C-B7F5-82D87DA21273}" type="pres">
      <dgm:prSet presAssocID="{15096F3B-8F59-6A4B-A839-A3D5B9C0ACC0}" presName="node" presStyleLbl="node1" presStyleIdx="4" presStyleCnt="6">
        <dgm:presLayoutVars>
          <dgm:bulletEnabled val="1"/>
        </dgm:presLayoutVars>
      </dgm:prSet>
      <dgm:spPr/>
    </dgm:pt>
    <dgm:pt modelId="{194B8C96-225B-AA43-9EC6-C3731FBADF03}" type="pres">
      <dgm:prSet presAssocID="{E59FDC0B-A596-244A-9068-9B93468BC4DA}" presName="sibTrans" presStyleCnt="0"/>
      <dgm:spPr/>
    </dgm:pt>
    <dgm:pt modelId="{01FD6AEA-3BB6-E743-B79F-A693BB80D0A8}" type="pres">
      <dgm:prSet presAssocID="{2B665855-247F-4445-BE01-D8DF9FD46608}" presName="node" presStyleLbl="node1" presStyleIdx="5" presStyleCnt="6">
        <dgm:presLayoutVars>
          <dgm:bulletEnabled val="1"/>
        </dgm:presLayoutVars>
      </dgm:prSet>
      <dgm:spPr/>
    </dgm:pt>
  </dgm:ptLst>
  <dgm:cxnLst>
    <dgm:cxn modelId="{C7646808-ECD6-784D-AB69-3E384127B29B}" type="presOf" srcId="{4041758A-6176-8B48-9F0A-5FE9B64AB8AF}" destId="{FA582ED2-3C35-2B4C-AC47-158238A97EAA}" srcOrd="0" destOrd="0" presId="urn:microsoft.com/office/officeart/2005/8/layout/default"/>
    <dgm:cxn modelId="{C02F3013-68FA-FD45-90E7-61B19E31FB23}" type="presOf" srcId="{17B10B5B-48A1-9046-A570-AAFE9F574D7C}" destId="{BA977F84-EBC6-3949-BAD4-AEC214C55B5C}" srcOrd="0" destOrd="0" presId="urn:microsoft.com/office/officeart/2005/8/layout/default"/>
    <dgm:cxn modelId="{57620C15-6600-5245-8223-05AD5CA3B9B5}" srcId="{BD086756-9340-CC4D-BCEF-1ECC83EF5966}" destId="{E7A776DE-3184-7C48-A44E-5E7EE8DE3657}" srcOrd="0" destOrd="0" parTransId="{C903CEEE-1436-024B-89F9-9AB6AF873E4F}" sibTransId="{9702BBB8-23B2-804D-AB11-BFBF4E18C6BE}"/>
    <dgm:cxn modelId="{53B42228-9A36-5B49-9682-60C76A230E44}" srcId="{BD086756-9340-CC4D-BCEF-1ECC83EF5966}" destId="{6F593652-15FE-B845-853F-D9FB1C33923D}" srcOrd="3" destOrd="0" parTransId="{86F831F1-2B58-E546-AE8B-84482F4E44A3}" sibTransId="{13E47EFC-7E84-004E-AF57-BCEF66A00619}"/>
    <dgm:cxn modelId="{5BC15D3A-6E4A-FD46-90B4-D06D3DABACA0}" type="presOf" srcId="{BD086756-9340-CC4D-BCEF-1ECC83EF5966}" destId="{17A89A7A-C69F-0A43-ADC0-185768423672}" srcOrd="0" destOrd="0" presId="urn:microsoft.com/office/officeart/2005/8/layout/default"/>
    <dgm:cxn modelId="{0EC19165-EE52-5541-903B-AB915A00FB0D}" srcId="{BD086756-9340-CC4D-BCEF-1ECC83EF5966}" destId="{15096F3B-8F59-6A4B-A839-A3D5B9C0ACC0}" srcOrd="4" destOrd="0" parTransId="{C4DCA971-8828-EB4A-B319-DE29D631F50F}" sibTransId="{E59FDC0B-A596-244A-9068-9B93468BC4DA}"/>
    <dgm:cxn modelId="{C256BE7F-901A-0C47-96D0-CB54D67B335A}" srcId="{BD086756-9340-CC4D-BCEF-1ECC83EF5966}" destId="{17B10B5B-48A1-9046-A570-AAFE9F574D7C}" srcOrd="2" destOrd="0" parTransId="{B9E952B7-4C8F-9C42-B730-0EABB51E0035}" sibTransId="{DC63F2D3-C912-8A47-9726-69E05EC71A54}"/>
    <dgm:cxn modelId="{86F9FC88-5702-274B-A6A2-25224B73E034}" type="presOf" srcId="{6F593652-15FE-B845-853F-D9FB1C33923D}" destId="{35EA873F-5D1B-7546-86AF-A04E826F38F3}" srcOrd="0" destOrd="0" presId="urn:microsoft.com/office/officeart/2005/8/layout/default"/>
    <dgm:cxn modelId="{7126A58E-EC5F-8E43-9123-337C69CD8606}" srcId="{BD086756-9340-CC4D-BCEF-1ECC83EF5966}" destId="{4041758A-6176-8B48-9F0A-5FE9B64AB8AF}" srcOrd="1" destOrd="0" parTransId="{2583CDCE-EBBE-DB4F-917E-6964FFC17206}" sibTransId="{9197F951-3974-BD4B-BA62-57B4B9695B88}"/>
    <dgm:cxn modelId="{85E6A099-0C75-2245-8E4A-DAD919DF5553}" type="presOf" srcId="{15096F3B-8F59-6A4B-A839-A3D5B9C0ACC0}" destId="{F226B956-3E06-634C-B7F5-82D87DA21273}" srcOrd="0" destOrd="0" presId="urn:microsoft.com/office/officeart/2005/8/layout/default"/>
    <dgm:cxn modelId="{C2C964A2-D7D6-F748-9061-B75AEEA7D8E2}" type="presOf" srcId="{E7A776DE-3184-7C48-A44E-5E7EE8DE3657}" destId="{E4B3A8F4-DBAF-054A-87E9-CA4C80492978}" srcOrd="0" destOrd="0" presId="urn:microsoft.com/office/officeart/2005/8/layout/default"/>
    <dgm:cxn modelId="{F60F7EB9-FFFA-8C40-AA79-94CD39CCB253}" srcId="{BD086756-9340-CC4D-BCEF-1ECC83EF5966}" destId="{2B665855-247F-4445-BE01-D8DF9FD46608}" srcOrd="5" destOrd="0" parTransId="{435C9407-07A4-4A44-B54F-9157EC0DB333}" sibTransId="{986CDAEE-2E12-9548-B917-3B02E5EFFBCA}"/>
    <dgm:cxn modelId="{1F01ABD1-520C-D24C-A266-13AFD4E41CCD}" type="presOf" srcId="{2B665855-247F-4445-BE01-D8DF9FD46608}" destId="{01FD6AEA-3BB6-E743-B79F-A693BB80D0A8}" srcOrd="0" destOrd="0" presId="urn:microsoft.com/office/officeart/2005/8/layout/default"/>
    <dgm:cxn modelId="{796C4E00-4DB1-4B4F-B7A4-006D8A0479D7}" type="presParOf" srcId="{17A89A7A-C69F-0A43-ADC0-185768423672}" destId="{E4B3A8F4-DBAF-054A-87E9-CA4C80492978}" srcOrd="0" destOrd="0" presId="urn:microsoft.com/office/officeart/2005/8/layout/default"/>
    <dgm:cxn modelId="{5EA9B78B-3640-F645-8F84-4A2119260985}" type="presParOf" srcId="{17A89A7A-C69F-0A43-ADC0-185768423672}" destId="{71C193AC-2B15-334F-918C-BF5527E5C8C8}" srcOrd="1" destOrd="0" presId="urn:microsoft.com/office/officeart/2005/8/layout/default"/>
    <dgm:cxn modelId="{29627DC0-50A4-BD4D-B9F1-52488A499767}" type="presParOf" srcId="{17A89A7A-C69F-0A43-ADC0-185768423672}" destId="{FA582ED2-3C35-2B4C-AC47-158238A97EAA}" srcOrd="2" destOrd="0" presId="urn:microsoft.com/office/officeart/2005/8/layout/default"/>
    <dgm:cxn modelId="{6FEBE786-92A7-684F-A8AA-5F69B93DB898}" type="presParOf" srcId="{17A89A7A-C69F-0A43-ADC0-185768423672}" destId="{E00B1368-6A1F-534B-86B8-20690B960D15}" srcOrd="3" destOrd="0" presId="urn:microsoft.com/office/officeart/2005/8/layout/default"/>
    <dgm:cxn modelId="{DA24E2A9-FCE9-4645-9734-8607E85DC001}" type="presParOf" srcId="{17A89A7A-C69F-0A43-ADC0-185768423672}" destId="{BA977F84-EBC6-3949-BAD4-AEC214C55B5C}" srcOrd="4" destOrd="0" presId="urn:microsoft.com/office/officeart/2005/8/layout/default"/>
    <dgm:cxn modelId="{6FF713A5-0BC8-CE4E-9278-27D439A2D9A6}" type="presParOf" srcId="{17A89A7A-C69F-0A43-ADC0-185768423672}" destId="{38190330-610B-F04A-8928-24A9D6C44ACB}" srcOrd="5" destOrd="0" presId="urn:microsoft.com/office/officeart/2005/8/layout/default"/>
    <dgm:cxn modelId="{8A0E4A4E-DC57-6A48-AE9A-887D753BFD24}" type="presParOf" srcId="{17A89A7A-C69F-0A43-ADC0-185768423672}" destId="{35EA873F-5D1B-7546-86AF-A04E826F38F3}" srcOrd="6" destOrd="0" presId="urn:microsoft.com/office/officeart/2005/8/layout/default"/>
    <dgm:cxn modelId="{9D0509CE-4B41-FD49-8A93-3E190B701026}" type="presParOf" srcId="{17A89A7A-C69F-0A43-ADC0-185768423672}" destId="{42F792A4-B292-CF45-B42E-9DD6958E7FB4}" srcOrd="7" destOrd="0" presId="urn:microsoft.com/office/officeart/2005/8/layout/default"/>
    <dgm:cxn modelId="{307FBAED-4AB8-D542-8070-CB45102524D7}" type="presParOf" srcId="{17A89A7A-C69F-0A43-ADC0-185768423672}" destId="{F226B956-3E06-634C-B7F5-82D87DA21273}" srcOrd="8" destOrd="0" presId="urn:microsoft.com/office/officeart/2005/8/layout/default"/>
    <dgm:cxn modelId="{ED539116-AA80-5C4D-AF67-F062376A364E}" type="presParOf" srcId="{17A89A7A-C69F-0A43-ADC0-185768423672}" destId="{194B8C96-225B-AA43-9EC6-C3731FBADF03}" srcOrd="9" destOrd="0" presId="urn:microsoft.com/office/officeart/2005/8/layout/default"/>
    <dgm:cxn modelId="{9CBE880F-D8F3-074C-8085-00CE851DA702}" type="presParOf" srcId="{17A89A7A-C69F-0A43-ADC0-185768423672}" destId="{01FD6AEA-3BB6-E743-B79F-A693BB80D0A8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514355C-BD07-304E-A9A7-5B5A8E330603}" type="doc">
      <dgm:prSet loTypeId="urn:microsoft.com/office/officeart/2005/8/layout/process4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271F505-C3FF-754B-908B-494AD0E2A605}">
      <dgm:prSet/>
      <dgm:spPr>
        <a:ln>
          <a:solidFill>
            <a:srgbClr val="8000FF"/>
          </a:solidFill>
        </a:ln>
      </dgm:spPr>
      <dgm:t>
        <a:bodyPr/>
        <a:lstStyle/>
        <a:p>
          <a:pPr rtl="0"/>
          <a:r>
            <a:rPr lang="en-US" dirty="0"/>
            <a:t>In 1970 Fairchild produced the first relatively capacious semiconductor memory</a:t>
          </a:r>
        </a:p>
      </dgm:t>
    </dgm:pt>
    <dgm:pt modelId="{F33400EB-03E8-D046-8134-1D7B1F0B279C}" type="parTrans" cxnId="{66D9707E-017F-0541-B9E4-82E8448EF0C1}">
      <dgm:prSet/>
      <dgm:spPr/>
      <dgm:t>
        <a:bodyPr/>
        <a:lstStyle/>
        <a:p>
          <a:endParaRPr lang="en-US"/>
        </a:p>
      </dgm:t>
    </dgm:pt>
    <dgm:pt modelId="{1705B43B-9B94-774F-8E8E-1DD57A15E1C3}" type="sibTrans" cxnId="{66D9707E-017F-0541-B9E4-82E8448EF0C1}">
      <dgm:prSet/>
      <dgm:spPr/>
      <dgm:t>
        <a:bodyPr/>
        <a:lstStyle/>
        <a:p>
          <a:endParaRPr lang="en-US"/>
        </a:p>
      </dgm:t>
    </dgm:pt>
    <dgm:pt modelId="{817284ED-408B-1142-8761-CBD62D7F989C}">
      <dgm:prSet/>
      <dgm:spPr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dirty="0"/>
            <a:t>Chip was about the size of a single core</a:t>
          </a:r>
        </a:p>
      </dgm:t>
    </dgm:pt>
    <dgm:pt modelId="{97CBEE3D-6F45-9140-8FB3-C772A9165A86}" type="parTrans" cxnId="{CAF8D241-9843-4643-908B-783DD0D62DB8}">
      <dgm:prSet/>
      <dgm:spPr/>
      <dgm:t>
        <a:bodyPr/>
        <a:lstStyle/>
        <a:p>
          <a:endParaRPr lang="en-US"/>
        </a:p>
      </dgm:t>
    </dgm:pt>
    <dgm:pt modelId="{02241F8F-F691-FD45-85D7-7763B76C4782}" type="sibTrans" cxnId="{CAF8D241-9843-4643-908B-783DD0D62DB8}">
      <dgm:prSet/>
      <dgm:spPr/>
      <dgm:t>
        <a:bodyPr/>
        <a:lstStyle/>
        <a:p>
          <a:endParaRPr lang="en-US"/>
        </a:p>
      </dgm:t>
    </dgm:pt>
    <dgm:pt modelId="{6834AEE2-8096-5B4C-9533-188046F45A57}">
      <dgm:prSet/>
      <dgm:spPr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dirty="0"/>
            <a:t>Could hold 256 bits of memory</a:t>
          </a:r>
        </a:p>
      </dgm:t>
    </dgm:pt>
    <dgm:pt modelId="{FD9327AE-87AA-6345-9BC0-4BDE8AE5AAD6}" type="parTrans" cxnId="{F58FF5D7-B6ED-F047-9A38-29337FD68537}">
      <dgm:prSet/>
      <dgm:spPr/>
      <dgm:t>
        <a:bodyPr/>
        <a:lstStyle/>
        <a:p>
          <a:endParaRPr lang="en-US"/>
        </a:p>
      </dgm:t>
    </dgm:pt>
    <dgm:pt modelId="{F8DE7C9B-37F6-4945-832C-8BA2E140444E}" type="sibTrans" cxnId="{F58FF5D7-B6ED-F047-9A38-29337FD68537}">
      <dgm:prSet/>
      <dgm:spPr/>
      <dgm:t>
        <a:bodyPr/>
        <a:lstStyle/>
        <a:p>
          <a:endParaRPr lang="en-US"/>
        </a:p>
      </dgm:t>
    </dgm:pt>
    <dgm:pt modelId="{B4C1D064-BA44-844B-A2F2-1467D57B3DC4}">
      <dgm:prSet/>
      <dgm:spPr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dirty="0"/>
            <a:t>Non-destructive</a:t>
          </a:r>
        </a:p>
      </dgm:t>
    </dgm:pt>
    <dgm:pt modelId="{7D7594D6-9390-6C4A-8F58-04ACCAB058EA}" type="parTrans" cxnId="{19545A82-0EF7-424A-B17C-075AB7479C76}">
      <dgm:prSet/>
      <dgm:spPr/>
      <dgm:t>
        <a:bodyPr/>
        <a:lstStyle/>
        <a:p>
          <a:endParaRPr lang="en-US"/>
        </a:p>
      </dgm:t>
    </dgm:pt>
    <dgm:pt modelId="{D4F10827-D5DD-8342-9C1A-E83DCE9D6F49}" type="sibTrans" cxnId="{19545A82-0EF7-424A-B17C-075AB7479C76}">
      <dgm:prSet/>
      <dgm:spPr/>
      <dgm:t>
        <a:bodyPr/>
        <a:lstStyle/>
        <a:p>
          <a:endParaRPr lang="en-US"/>
        </a:p>
      </dgm:t>
    </dgm:pt>
    <dgm:pt modelId="{2026C043-D031-5640-8E56-22C54ED33342}">
      <dgm:prSet/>
      <dgm:spPr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dirty="0"/>
            <a:t>Much faster than core </a:t>
          </a:r>
        </a:p>
      </dgm:t>
    </dgm:pt>
    <dgm:pt modelId="{DCEF23BA-964B-CA45-961E-2A94EC5CC5FE}" type="parTrans" cxnId="{348BF8BD-1A08-4645-A887-68EADAD8A464}">
      <dgm:prSet/>
      <dgm:spPr/>
      <dgm:t>
        <a:bodyPr/>
        <a:lstStyle/>
        <a:p>
          <a:endParaRPr lang="en-US"/>
        </a:p>
      </dgm:t>
    </dgm:pt>
    <dgm:pt modelId="{223A53D8-C58D-9F40-A10B-F52EB18B1370}" type="sibTrans" cxnId="{348BF8BD-1A08-4645-A887-68EADAD8A464}">
      <dgm:prSet/>
      <dgm:spPr/>
      <dgm:t>
        <a:bodyPr/>
        <a:lstStyle/>
        <a:p>
          <a:endParaRPr lang="en-US"/>
        </a:p>
      </dgm:t>
    </dgm:pt>
    <dgm:pt modelId="{8AF4DBE5-D1CE-DD4C-9CE4-60DD5602C7CA}">
      <dgm:prSet/>
      <dgm:spPr>
        <a:ln>
          <a:solidFill>
            <a:srgbClr val="8000FF"/>
          </a:solidFill>
        </a:ln>
      </dgm:spPr>
      <dgm:t>
        <a:bodyPr/>
        <a:lstStyle/>
        <a:p>
          <a:pPr rtl="0"/>
          <a:r>
            <a:rPr lang="en-US" dirty="0"/>
            <a:t>In 1974 the price per bit of semiconductor memory dropped below the price per bit of core memory</a:t>
          </a:r>
        </a:p>
      </dgm:t>
    </dgm:pt>
    <dgm:pt modelId="{1EF48EDA-8CF5-8D42-AB40-54229C718025}" type="parTrans" cxnId="{CD0CE997-B428-C74D-8F50-0415CF76E67F}">
      <dgm:prSet/>
      <dgm:spPr/>
      <dgm:t>
        <a:bodyPr/>
        <a:lstStyle/>
        <a:p>
          <a:endParaRPr lang="en-US"/>
        </a:p>
      </dgm:t>
    </dgm:pt>
    <dgm:pt modelId="{4BBEC0EF-1496-4149-8F4F-48A1110908BB}" type="sibTrans" cxnId="{CD0CE997-B428-C74D-8F50-0415CF76E67F}">
      <dgm:prSet/>
      <dgm:spPr/>
      <dgm:t>
        <a:bodyPr/>
        <a:lstStyle/>
        <a:p>
          <a:endParaRPr lang="en-US"/>
        </a:p>
      </dgm:t>
    </dgm:pt>
    <dgm:pt modelId="{CA3D650F-52D7-2F4F-96C0-F0B31CBB53DA}">
      <dgm:prSet/>
      <dgm:spPr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dirty="0"/>
            <a:t>There has been a continuing and rapid decline in memory cost accompanied by a corresponding increase in physical memory density</a:t>
          </a:r>
        </a:p>
      </dgm:t>
    </dgm:pt>
    <dgm:pt modelId="{A66D4ECC-D4F4-E946-A41F-706FD48B82C5}" type="parTrans" cxnId="{D7663D01-0AFF-1144-8F20-B3F30BD3A7F8}">
      <dgm:prSet/>
      <dgm:spPr/>
      <dgm:t>
        <a:bodyPr/>
        <a:lstStyle/>
        <a:p>
          <a:endParaRPr lang="en-US"/>
        </a:p>
      </dgm:t>
    </dgm:pt>
    <dgm:pt modelId="{1B254916-FADB-4243-BF0F-BD3D68E12D68}" type="sibTrans" cxnId="{D7663D01-0AFF-1144-8F20-B3F30BD3A7F8}">
      <dgm:prSet/>
      <dgm:spPr/>
      <dgm:t>
        <a:bodyPr/>
        <a:lstStyle/>
        <a:p>
          <a:endParaRPr lang="en-US"/>
        </a:p>
      </dgm:t>
    </dgm:pt>
    <dgm:pt modelId="{CD2163DA-4932-084C-9EAD-3AEB9F60245D}">
      <dgm:prSet/>
      <dgm:spPr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dirty="0"/>
            <a:t>Developments in memory and processor technologies changed the nature of computers in less than a decade</a:t>
          </a:r>
        </a:p>
      </dgm:t>
    </dgm:pt>
    <dgm:pt modelId="{4ABAB12B-92BE-E24A-B331-12256B8252D9}" type="parTrans" cxnId="{CEBEFBD1-92F3-9A4C-82DE-60717B78124D}">
      <dgm:prSet/>
      <dgm:spPr/>
      <dgm:t>
        <a:bodyPr/>
        <a:lstStyle/>
        <a:p>
          <a:endParaRPr lang="en-US"/>
        </a:p>
      </dgm:t>
    </dgm:pt>
    <dgm:pt modelId="{0ED0B7DD-BF44-F54A-ADEA-926BD221FD74}" type="sibTrans" cxnId="{CEBEFBD1-92F3-9A4C-82DE-60717B78124D}">
      <dgm:prSet/>
      <dgm:spPr/>
      <dgm:t>
        <a:bodyPr/>
        <a:lstStyle/>
        <a:p>
          <a:endParaRPr lang="en-US"/>
        </a:p>
      </dgm:t>
    </dgm:pt>
    <dgm:pt modelId="{0CEB27C1-112D-8A4D-9AAB-F203F016997D}">
      <dgm:prSet/>
      <dgm:spPr/>
      <dgm:t>
        <a:bodyPr/>
        <a:lstStyle/>
        <a:p>
          <a:pPr rtl="0"/>
          <a:r>
            <a:rPr lang="en-US" dirty="0"/>
            <a:t>Since 1970 semiconductor memory has been through 13 generations</a:t>
          </a:r>
        </a:p>
      </dgm:t>
    </dgm:pt>
    <dgm:pt modelId="{089018F7-2654-B44D-80A3-09F3B23CF57C}" type="parTrans" cxnId="{0C9345FE-0504-C44A-BEAF-362AFA843266}">
      <dgm:prSet/>
      <dgm:spPr/>
      <dgm:t>
        <a:bodyPr/>
        <a:lstStyle/>
        <a:p>
          <a:endParaRPr lang="en-US"/>
        </a:p>
      </dgm:t>
    </dgm:pt>
    <dgm:pt modelId="{F166E183-B1E8-2144-A388-061C53E5C04F}" type="sibTrans" cxnId="{0C9345FE-0504-C44A-BEAF-362AFA843266}">
      <dgm:prSet/>
      <dgm:spPr/>
      <dgm:t>
        <a:bodyPr/>
        <a:lstStyle/>
        <a:p>
          <a:endParaRPr lang="en-US"/>
        </a:p>
      </dgm:t>
    </dgm:pt>
    <dgm:pt modelId="{E8A023F3-5302-0940-982A-A811C9D7D2C0}">
      <dgm:prSet/>
      <dgm:spPr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dirty="0"/>
            <a:t>Each generation has provided four times the storage density of the previous generation, accompanied by declining cost per bit and declining access time</a:t>
          </a:r>
        </a:p>
      </dgm:t>
    </dgm:pt>
    <dgm:pt modelId="{37E86A4C-33CA-3D45-BEDE-E5894586DC0E}" type="parTrans" cxnId="{848E2822-7458-BB44-8C16-D5D9C94D4E28}">
      <dgm:prSet/>
      <dgm:spPr/>
      <dgm:t>
        <a:bodyPr/>
        <a:lstStyle/>
        <a:p>
          <a:endParaRPr lang="en-US"/>
        </a:p>
      </dgm:t>
    </dgm:pt>
    <dgm:pt modelId="{75547D02-604D-704B-B115-83A23CFDDC4C}" type="sibTrans" cxnId="{848E2822-7458-BB44-8C16-D5D9C94D4E28}">
      <dgm:prSet/>
      <dgm:spPr/>
      <dgm:t>
        <a:bodyPr/>
        <a:lstStyle/>
        <a:p>
          <a:endParaRPr lang="en-US"/>
        </a:p>
      </dgm:t>
    </dgm:pt>
    <dgm:pt modelId="{D1EEF0AD-4235-D345-BDD8-F8C93C2C99BD}" type="pres">
      <dgm:prSet presAssocID="{2514355C-BD07-304E-A9A7-5B5A8E330603}" presName="Name0" presStyleCnt="0">
        <dgm:presLayoutVars>
          <dgm:dir/>
          <dgm:animLvl val="lvl"/>
          <dgm:resizeHandles val="exact"/>
        </dgm:presLayoutVars>
      </dgm:prSet>
      <dgm:spPr/>
    </dgm:pt>
    <dgm:pt modelId="{FE53E372-5F58-DD4D-89B5-378225F114BB}" type="pres">
      <dgm:prSet presAssocID="{0CEB27C1-112D-8A4D-9AAB-F203F016997D}" presName="boxAndChildren" presStyleCnt="0"/>
      <dgm:spPr/>
    </dgm:pt>
    <dgm:pt modelId="{0E1245A6-73B6-5C4F-8A80-957256B987E1}" type="pres">
      <dgm:prSet presAssocID="{0CEB27C1-112D-8A4D-9AAB-F203F016997D}" presName="parentTextBox" presStyleLbl="node1" presStyleIdx="0" presStyleCnt="3"/>
      <dgm:spPr/>
    </dgm:pt>
    <dgm:pt modelId="{EE39DE1C-6487-F644-B0FB-514DFD9A6203}" type="pres">
      <dgm:prSet presAssocID="{0CEB27C1-112D-8A4D-9AAB-F203F016997D}" presName="entireBox" presStyleLbl="node1" presStyleIdx="0" presStyleCnt="3" custLinFactNeighborX="-6195" custLinFactNeighborY="37365"/>
      <dgm:spPr/>
    </dgm:pt>
    <dgm:pt modelId="{AE196E9D-BD4C-3D49-B2AA-5A7688576163}" type="pres">
      <dgm:prSet presAssocID="{0CEB27C1-112D-8A4D-9AAB-F203F016997D}" presName="descendantBox" presStyleCnt="0"/>
      <dgm:spPr/>
    </dgm:pt>
    <dgm:pt modelId="{3D32EC06-2A10-E044-BF0D-8C73C5E8D97F}" type="pres">
      <dgm:prSet presAssocID="{E8A023F3-5302-0940-982A-A811C9D7D2C0}" presName="childTextBox" presStyleLbl="fgAccFollowNode1" presStyleIdx="0" presStyleCnt="7">
        <dgm:presLayoutVars>
          <dgm:bulletEnabled val="1"/>
        </dgm:presLayoutVars>
      </dgm:prSet>
      <dgm:spPr/>
    </dgm:pt>
    <dgm:pt modelId="{DE513A28-A35E-B541-BACA-C225CCCD837B}" type="pres">
      <dgm:prSet presAssocID="{4BBEC0EF-1496-4149-8F4F-48A1110908BB}" presName="sp" presStyleCnt="0"/>
      <dgm:spPr/>
    </dgm:pt>
    <dgm:pt modelId="{EEA73AED-1344-B547-8C17-A9067E08D3C6}" type="pres">
      <dgm:prSet presAssocID="{8AF4DBE5-D1CE-DD4C-9CE4-60DD5602C7CA}" presName="arrowAndChildren" presStyleCnt="0"/>
      <dgm:spPr/>
    </dgm:pt>
    <dgm:pt modelId="{AE2C2B1E-BC40-EA4C-8659-D1805A6BB825}" type="pres">
      <dgm:prSet presAssocID="{8AF4DBE5-D1CE-DD4C-9CE4-60DD5602C7CA}" presName="parentTextArrow" presStyleLbl="node1" presStyleIdx="0" presStyleCnt="3"/>
      <dgm:spPr/>
    </dgm:pt>
    <dgm:pt modelId="{9295D34B-13D6-E143-8FAA-4C45DFED13EF}" type="pres">
      <dgm:prSet presAssocID="{8AF4DBE5-D1CE-DD4C-9CE4-60DD5602C7CA}" presName="arrow" presStyleLbl="node1" presStyleIdx="1" presStyleCnt="3"/>
      <dgm:spPr/>
    </dgm:pt>
    <dgm:pt modelId="{EA0878F1-9D00-A54F-B2FA-2BB32B76DC1D}" type="pres">
      <dgm:prSet presAssocID="{8AF4DBE5-D1CE-DD4C-9CE4-60DD5602C7CA}" presName="descendantArrow" presStyleCnt="0"/>
      <dgm:spPr/>
    </dgm:pt>
    <dgm:pt modelId="{02DEDF47-B60B-174C-B68D-9085A3F1AB6A}" type="pres">
      <dgm:prSet presAssocID="{CA3D650F-52D7-2F4F-96C0-F0B31CBB53DA}" presName="childTextArrow" presStyleLbl="fgAccFollowNode1" presStyleIdx="1" presStyleCnt="7">
        <dgm:presLayoutVars>
          <dgm:bulletEnabled val="1"/>
        </dgm:presLayoutVars>
      </dgm:prSet>
      <dgm:spPr/>
    </dgm:pt>
    <dgm:pt modelId="{80A90482-38CF-964E-898E-B14683C6E887}" type="pres">
      <dgm:prSet presAssocID="{CD2163DA-4932-084C-9EAD-3AEB9F60245D}" presName="childTextArrow" presStyleLbl="fgAccFollowNode1" presStyleIdx="2" presStyleCnt="7">
        <dgm:presLayoutVars>
          <dgm:bulletEnabled val="1"/>
        </dgm:presLayoutVars>
      </dgm:prSet>
      <dgm:spPr/>
    </dgm:pt>
    <dgm:pt modelId="{D7656CE7-2034-9345-ACFA-A9F62F1415B6}" type="pres">
      <dgm:prSet presAssocID="{1705B43B-9B94-774F-8E8E-1DD57A15E1C3}" presName="sp" presStyleCnt="0"/>
      <dgm:spPr/>
    </dgm:pt>
    <dgm:pt modelId="{BBB7B630-6B70-2E4C-B572-DD0C4C9D9195}" type="pres">
      <dgm:prSet presAssocID="{3271F505-C3FF-754B-908B-494AD0E2A605}" presName="arrowAndChildren" presStyleCnt="0"/>
      <dgm:spPr/>
    </dgm:pt>
    <dgm:pt modelId="{958D548E-1C83-3C4D-B46A-75C8FC0C38EB}" type="pres">
      <dgm:prSet presAssocID="{3271F505-C3FF-754B-908B-494AD0E2A605}" presName="parentTextArrow" presStyleLbl="node1" presStyleIdx="1" presStyleCnt="3"/>
      <dgm:spPr/>
    </dgm:pt>
    <dgm:pt modelId="{20D983A6-25B2-D34F-9721-9F543575F986}" type="pres">
      <dgm:prSet presAssocID="{3271F505-C3FF-754B-908B-494AD0E2A605}" presName="arrow" presStyleLbl="node1" presStyleIdx="2" presStyleCnt="3"/>
      <dgm:spPr/>
    </dgm:pt>
    <dgm:pt modelId="{A6B4D42C-F817-E344-972B-D267A6FD2D31}" type="pres">
      <dgm:prSet presAssocID="{3271F505-C3FF-754B-908B-494AD0E2A605}" presName="descendantArrow" presStyleCnt="0"/>
      <dgm:spPr/>
    </dgm:pt>
    <dgm:pt modelId="{BCDEB9CC-91F2-B04C-BF78-8C8FAC34A974}" type="pres">
      <dgm:prSet presAssocID="{817284ED-408B-1142-8761-CBD62D7F989C}" presName="childTextArrow" presStyleLbl="fgAccFollowNode1" presStyleIdx="3" presStyleCnt="7">
        <dgm:presLayoutVars>
          <dgm:bulletEnabled val="1"/>
        </dgm:presLayoutVars>
      </dgm:prSet>
      <dgm:spPr/>
    </dgm:pt>
    <dgm:pt modelId="{22D687DF-5A41-C04B-83B2-990819124270}" type="pres">
      <dgm:prSet presAssocID="{6834AEE2-8096-5B4C-9533-188046F45A57}" presName="childTextArrow" presStyleLbl="fgAccFollowNode1" presStyleIdx="4" presStyleCnt="7">
        <dgm:presLayoutVars>
          <dgm:bulletEnabled val="1"/>
        </dgm:presLayoutVars>
      </dgm:prSet>
      <dgm:spPr/>
    </dgm:pt>
    <dgm:pt modelId="{97A27664-9A96-1645-A7EC-5BE951D18748}" type="pres">
      <dgm:prSet presAssocID="{B4C1D064-BA44-844B-A2F2-1467D57B3DC4}" presName="childTextArrow" presStyleLbl="fgAccFollowNode1" presStyleIdx="5" presStyleCnt="7">
        <dgm:presLayoutVars>
          <dgm:bulletEnabled val="1"/>
        </dgm:presLayoutVars>
      </dgm:prSet>
      <dgm:spPr/>
    </dgm:pt>
    <dgm:pt modelId="{23FFA982-4016-B24A-AD76-E71171B95C2B}" type="pres">
      <dgm:prSet presAssocID="{2026C043-D031-5640-8E56-22C54ED33342}" presName="childTextArrow" presStyleLbl="fgAccFollowNode1" presStyleIdx="6" presStyleCnt="7">
        <dgm:presLayoutVars>
          <dgm:bulletEnabled val="1"/>
        </dgm:presLayoutVars>
      </dgm:prSet>
      <dgm:spPr/>
    </dgm:pt>
  </dgm:ptLst>
  <dgm:cxnLst>
    <dgm:cxn modelId="{D7663D01-0AFF-1144-8F20-B3F30BD3A7F8}" srcId="{8AF4DBE5-D1CE-DD4C-9CE4-60DD5602C7CA}" destId="{CA3D650F-52D7-2F4F-96C0-F0B31CBB53DA}" srcOrd="0" destOrd="0" parTransId="{A66D4ECC-D4F4-E946-A41F-706FD48B82C5}" sibTransId="{1B254916-FADB-4243-BF0F-BD3D68E12D68}"/>
    <dgm:cxn modelId="{3E4B5301-49E6-AB4C-BFB0-545ADC9FE9EB}" type="presOf" srcId="{2026C043-D031-5640-8E56-22C54ED33342}" destId="{23FFA982-4016-B24A-AD76-E71171B95C2B}" srcOrd="0" destOrd="0" presId="urn:microsoft.com/office/officeart/2005/8/layout/process4"/>
    <dgm:cxn modelId="{848E2822-7458-BB44-8C16-D5D9C94D4E28}" srcId="{0CEB27C1-112D-8A4D-9AAB-F203F016997D}" destId="{E8A023F3-5302-0940-982A-A811C9D7D2C0}" srcOrd="0" destOrd="0" parTransId="{37E86A4C-33CA-3D45-BEDE-E5894586DC0E}" sibTransId="{75547D02-604D-704B-B115-83A23CFDDC4C}"/>
    <dgm:cxn modelId="{C627AD28-05FB-DE4D-B82A-D8B319665A39}" type="presOf" srcId="{3271F505-C3FF-754B-908B-494AD0E2A605}" destId="{958D548E-1C83-3C4D-B46A-75C8FC0C38EB}" srcOrd="0" destOrd="0" presId="urn:microsoft.com/office/officeart/2005/8/layout/process4"/>
    <dgm:cxn modelId="{4808BA38-33B4-0845-840D-C778B8D38EB5}" type="presOf" srcId="{0CEB27C1-112D-8A4D-9AAB-F203F016997D}" destId="{EE39DE1C-6487-F644-B0FB-514DFD9A6203}" srcOrd="1" destOrd="0" presId="urn:microsoft.com/office/officeart/2005/8/layout/process4"/>
    <dgm:cxn modelId="{2352143B-76C9-F64D-8F44-735A6272C810}" type="presOf" srcId="{8AF4DBE5-D1CE-DD4C-9CE4-60DD5602C7CA}" destId="{9295D34B-13D6-E143-8FAA-4C45DFED13EF}" srcOrd="1" destOrd="0" presId="urn:microsoft.com/office/officeart/2005/8/layout/process4"/>
    <dgm:cxn modelId="{09034F3C-9930-E547-A77F-FBBE1A2D5706}" type="presOf" srcId="{B4C1D064-BA44-844B-A2F2-1467D57B3DC4}" destId="{97A27664-9A96-1645-A7EC-5BE951D18748}" srcOrd="0" destOrd="0" presId="urn:microsoft.com/office/officeart/2005/8/layout/process4"/>
    <dgm:cxn modelId="{CAF8D241-9843-4643-908B-783DD0D62DB8}" srcId="{3271F505-C3FF-754B-908B-494AD0E2A605}" destId="{817284ED-408B-1142-8761-CBD62D7F989C}" srcOrd="0" destOrd="0" parTransId="{97CBEE3D-6F45-9140-8FB3-C772A9165A86}" sibTransId="{02241F8F-F691-FD45-85D7-7763B76C4782}"/>
    <dgm:cxn modelId="{864BB76E-8210-3E4A-B13C-F4BCDBCE1A18}" type="presOf" srcId="{6834AEE2-8096-5B4C-9533-188046F45A57}" destId="{22D687DF-5A41-C04B-83B2-990819124270}" srcOrd="0" destOrd="0" presId="urn:microsoft.com/office/officeart/2005/8/layout/process4"/>
    <dgm:cxn modelId="{B49BF673-8752-D143-8C42-C5737104930F}" type="presOf" srcId="{3271F505-C3FF-754B-908B-494AD0E2A605}" destId="{20D983A6-25B2-D34F-9721-9F543575F986}" srcOrd="1" destOrd="0" presId="urn:microsoft.com/office/officeart/2005/8/layout/process4"/>
    <dgm:cxn modelId="{66D9707E-017F-0541-B9E4-82E8448EF0C1}" srcId="{2514355C-BD07-304E-A9A7-5B5A8E330603}" destId="{3271F505-C3FF-754B-908B-494AD0E2A605}" srcOrd="0" destOrd="0" parTransId="{F33400EB-03E8-D046-8134-1D7B1F0B279C}" sibTransId="{1705B43B-9B94-774F-8E8E-1DD57A15E1C3}"/>
    <dgm:cxn modelId="{19545A82-0EF7-424A-B17C-075AB7479C76}" srcId="{3271F505-C3FF-754B-908B-494AD0E2A605}" destId="{B4C1D064-BA44-844B-A2F2-1467D57B3DC4}" srcOrd="2" destOrd="0" parTransId="{7D7594D6-9390-6C4A-8F58-04ACCAB058EA}" sibTransId="{D4F10827-D5DD-8342-9C1A-E83DCE9D6F49}"/>
    <dgm:cxn modelId="{8D25BA89-0DCA-8343-A4BD-036B99DA4995}" type="presOf" srcId="{8AF4DBE5-D1CE-DD4C-9CE4-60DD5602C7CA}" destId="{AE2C2B1E-BC40-EA4C-8659-D1805A6BB825}" srcOrd="0" destOrd="0" presId="urn:microsoft.com/office/officeart/2005/8/layout/process4"/>
    <dgm:cxn modelId="{CD0CE997-B428-C74D-8F50-0415CF76E67F}" srcId="{2514355C-BD07-304E-A9A7-5B5A8E330603}" destId="{8AF4DBE5-D1CE-DD4C-9CE4-60DD5602C7CA}" srcOrd="1" destOrd="0" parTransId="{1EF48EDA-8CF5-8D42-AB40-54229C718025}" sibTransId="{4BBEC0EF-1496-4149-8F4F-48A1110908BB}"/>
    <dgm:cxn modelId="{0EB4759C-FBDE-9C46-8922-C164C8284C46}" type="presOf" srcId="{E8A023F3-5302-0940-982A-A811C9D7D2C0}" destId="{3D32EC06-2A10-E044-BF0D-8C73C5E8D97F}" srcOrd="0" destOrd="0" presId="urn:microsoft.com/office/officeart/2005/8/layout/process4"/>
    <dgm:cxn modelId="{D7CB30A4-BC6F-9148-A25F-A224A1D939F5}" type="presOf" srcId="{0CEB27C1-112D-8A4D-9AAB-F203F016997D}" destId="{0E1245A6-73B6-5C4F-8A80-957256B987E1}" srcOrd="0" destOrd="0" presId="urn:microsoft.com/office/officeart/2005/8/layout/process4"/>
    <dgm:cxn modelId="{A2D9F0A8-B155-E54E-A36F-4B2E7B69BC60}" type="presOf" srcId="{CD2163DA-4932-084C-9EAD-3AEB9F60245D}" destId="{80A90482-38CF-964E-898E-B14683C6E887}" srcOrd="0" destOrd="0" presId="urn:microsoft.com/office/officeart/2005/8/layout/process4"/>
    <dgm:cxn modelId="{FEB1A8BB-7539-AB40-BD6E-435D21108A9D}" type="presOf" srcId="{2514355C-BD07-304E-A9A7-5B5A8E330603}" destId="{D1EEF0AD-4235-D345-BDD8-F8C93C2C99BD}" srcOrd="0" destOrd="0" presId="urn:microsoft.com/office/officeart/2005/8/layout/process4"/>
    <dgm:cxn modelId="{348BF8BD-1A08-4645-A887-68EADAD8A464}" srcId="{3271F505-C3FF-754B-908B-494AD0E2A605}" destId="{2026C043-D031-5640-8E56-22C54ED33342}" srcOrd="3" destOrd="0" parTransId="{DCEF23BA-964B-CA45-961E-2A94EC5CC5FE}" sibTransId="{223A53D8-C58D-9F40-A10B-F52EB18B1370}"/>
    <dgm:cxn modelId="{CEBEFBD1-92F3-9A4C-82DE-60717B78124D}" srcId="{8AF4DBE5-D1CE-DD4C-9CE4-60DD5602C7CA}" destId="{CD2163DA-4932-084C-9EAD-3AEB9F60245D}" srcOrd="1" destOrd="0" parTransId="{4ABAB12B-92BE-E24A-B331-12256B8252D9}" sibTransId="{0ED0B7DD-BF44-F54A-ADEA-926BD221FD74}"/>
    <dgm:cxn modelId="{F58FF5D7-B6ED-F047-9A38-29337FD68537}" srcId="{3271F505-C3FF-754B-908B-494AD0E2A605}" destId="{6834AEE2-8096-5B4C-9533-188046F45A57}" srcOrd="1" destOrd="0" parTransId="{FD9327AE-87AA-6345-9BC0-4BDE8AE5AAD6}" sibTransId="{F8DE7C9B-37F6-4945-832C-8BA2E140444E}"/>
    <dgm:cxn modelId="{E09900DF-E63F-2840-AC2C-7AACADE9743C}" type="presOf" srcId="{CA3D650F-52D7-2F4F-96C0-F0B31CBB53DA}" destId="{02DEDF47-B60B-174C-B68D-9085A3F1AB6A}" srcOrd="0" destOrd="0" presId="urn:microsoft.com/office/officeart/2005/8/layout/process4"/>
    <dgm:cxn modelId="{A649FDFB-B22E-6B4B-A9DC-6289B7E4B97F}" type="presOf" srcId="{817284ED-408B-1142-8761-CBD62D7F989C}" destId="{BCDEB9CC-91F2-B04C-BF78-8C8FAC34A974}" srcOrd="0" destOrd="0" presId="urn:microsoft.com/office/officeart/2005/8/layout/process4"/>
    <dgm:cxn modelId="{0C9345FE-0504-C44A-BEAF-362AFA843266}" srcId="{2514355C-BD07-304E-A9A7-5B5A8E330603}" destId="{0CEB27C1-112D-8A4D-9AAB-F203F016997D}" srcOrd="2" destOrd="0" parTransId="{089018F7-2654-B44D-80A3-09F3B23CF57C}" sibTransId="{F166E183-B1E8-2144-A388-061C53E5C04F}"/>
    <dgm:cxn modelId="{1CF65D1B-BE69-1248-8970-BE12A438787E}" type="presParOf" srcId="{D1EEF0AD-4235-D345-BDD8-F8C93C2C99BD}" destId="{FE53E372-5F58-DD4D-89B5-378225F114BB}" srcOrd="0" destOrd="0" presId="urn:microsoft.com/office/officeart/2005/8/layout/process4"/>
    <dgm:cxn modelId="{7B451990-3CF2-474E-8C33-FFA354C575EA}" type="presParOf" srcId="{FE53E372-5F58-DD4D-89B5-378225F114BB}" destId="{0E1245A6-73B6-5C4F-8A80-957256B987E1}" srcOrd="0" destOrd="0" presId="urn:microsoft.com/office/officeart/2005/8/layout/process4"/>
    <dgm:cxn modelId="{595FAE69-7CAA-BE46-AB21-A42887C56D59}" type="presParOf" srcId="{FE53E372-5F58-DD4D-89B5-378225F114BB}" destId="{EE39DE1C-6487-F644-B0FB-514DFD9A6203}" srcOrd="1" destOrd="0" presId="urn:microsoft.com/office/officeart/2005/8/layout/process4"/>
    <dgm:cxn modelId="{3E0FBE30-3A17-FD41-8CF3-153660F5CBA1}" type="presParOf" srcId="{FE53E372-5F58-DD4D-89B5-378225F114BB}" destId="{AE196E9D-BD4C-3D49-B2AA-5A7688576163}" srcOrd="2" destOrd="0" presId="urn:microsoft.com/office/officeart/2005/8/layout/process4"/>
    <dgm:cxn modelId="{440DF450-142F-784E-B075-3C4007D4B4C4}" type="presParOf" srcId="{AE196E9D-BD4C-3D49-B2AA-5A7688576163}" destId="{3D32EC06-2A10-E044-BF0D-8C73C5E8D97F}" srcOrd="0" destOrd="0" presId="urn:microsoft.com/office/officeart/2005/8/layout/process4"/>
    <dgm:cxn modelId="{4E972CB8-DF8E-8B47-B8BF-786DD85E2E4F}" type="presParOf" srcId="{D1EEF0AD-4235-D345-BDD8-F8C93C2C99BD}" destId="{DE513A28-A35E-B541-BACA-C225CCCD837B}" srcOrd="1" destOrd="0" presId="urn:microsoft.com/office/officeart/2005/8/layout/process4"/>
    <dgm:cxn modelId="{4E3E6746-4892-FE4C-8D3B-E1AE708DF8B4}" type="presParOf" srcId="{D1EEF0AD-4235-D345-BDD8-F8C93C2C99BD}" destId="{EEA73AED-1344-B547-8C17-A9067E08D3C6}" srcOrd="2" destOrd="0" presId="urn:microsoft.com/office/officeart/2005/8/layout/process4"/>
    <dgm:cxn modelId="{9FB8F8BF-FCF7-8F42-936C-96C647868D7A}" type="presParOf" srcId="{EEA73AED-1344-B547-8C17-A9067E08D3C6}" destId="{AE2C2B1E-BC40-EA4C-8659-D1805A6BB825}" srcOrd="0" destOrd="0" presId="urn:microsoft.com/office/officeart/2005/8/layout/process4"/>
    <dgm:cxn modelId="{1CB7F2E7-42CD-B74E-A658-4BCC8B77B203}" type="presParOf" srcId="{EEA73AED-1344-B547-8C17-A9067E08D3C6}" destId="{9295D34B-13D6-E143-8FAA-4C45DFED13EF}" srcOrd="1" destOrd="0" presId="urn:microsoft.com/office/officeart/2005/8/layout/process4"/>
    <dgm:cxn modelId="{A428A10D-03CE-4144-8C8A-D7C096D11124}" type="presParOf" srcId="{EEA73AED-1344-B547-8C17-A9067E08D3C6}" destId="{EA0878F1-9D00-A54F-B2FA-2BB32B76DC1D}" srcOrd="2" destOrd="0" presId="urn:microsoft.com/office/officeart/2005/8/layout/process4"/>
    <dgm:cxn modelId="{62A0F11C-015F-EA43-AE34-73B83AFB7A13}" type="presParOf" srcId="{EA0878F1-9D00-A54F-B2FA-2BB32B76DC1D}" destId="{02DEDF47-B60B-174C-B68D-9085A3F1AB6A}" srcOrd="0" destOrd="0" presId="urn:microsoft.com/office/officeart/2005/8/layout/process4"/>
    <dgm:cxn modelId="{AD88CA6D-244D-E54E-B654-81A482FF6AF3}" type="presParOf" srcId="{EA0878F1-9D00-A54F-B2FA-2BB32B76DC1D}" destId="{80A90482-38CF-964E-898E-B14683C6E887}" srcOrd="1" destOrd="0" presId="urn:microsoft.com/office/officeart/2005/8/layout/process4"/>
    <dgm:cxn modelId="{FB71CA19-7926-4040-9E52-43556BAC3EAE}" type="presParOf" srcId="{D1EEF0AD-4235-D345-BDD8-F8C93C2C99BD}" destId="{D7656CE7-2034-9345-ACFA-A9F62F1415B6}" srcOrd="3" destOrd="0" presId="urn:microsoft.com/office/officeart/2005/8/layout/process4"/>
    <dgm:cxn modelId="{F1B39CD9-8510-5E4F-8CA9-722B35022EF4}" type="presParOf" srcId="{D1EEF0AD-4235-D345-BDD8-F8C93C2C99BD}" destId="{BBB7B630-6B70-2E4C-B572-DD0C4C9D9195}" srcOrd="4" destOrd="0" presId="urn:microsoft.com/office/officeart/2005/8/layout/process4"/>
    <dgm:cxn modelId="{F76DD594-94EF-354F-9C3D-3A1C1E8F5F71}" type="presParOf" srcId="{BBB7B630-6B70-2E4C-B572-DD0C4C9D9195}" destId="{958D548E-1C83-3C4D-B46A-75C8FC0C38EB}" srcOrd="0" destOrd="0" presId="urn:microsoft.com/office/officeart/2005/8/layout/process4"/>
    <dgm:cxn modelId="{1C1C17BC-B7D0-6D45-BC84-662594E6DB23}" type="presParOf" srcId="{BBB7B630-6B70-2E4C-B572-DD0C4C9D9195}" destId="{20D983A6-25B2-D34F-9721-9F543575F986}" srcOrd="1" destOrd="0" presId="urn:microsoft.com/office/officeart/2005/8/layout/process4"/>
    <dgm:cxn modelId="{751AB825-1BB8-5B44-803C-817D56549303}" type="presParOf" srcId="{BBB7B630-6B70-2E4C-B572-DD0C4C9D9195}" destId="{A6B4D42C-F817-E344-972B-D267A6FD2D31}" srcOrd="2" destOrd="0" presId="urn:microsoft.com/office/officeart/2005/8/layout/process4"/>
    <dgm:cxn modelId="{7F9C7C37-601F-914F-B433-27C1AEBDBB3D}" type="presParOf" srcId="{A6B4D42C-F817-E344-972B-D267A6FD2D31}" destId="{BCDEB9CC-91F2-B04C-BF78-8C8FAC34A974}" srcOrd="0" destOrd="0" presId="urn:microsoft.com/office/officeart/2005/8/layout/process4"/>
    <dgm:cxn modelId="{B56653E3-DF40-F146-AA13-7745C1635F94}" type="presParOf" srcId="{A6B4D42C-F817-E344-972B-D267A6FD2D31}" destId="{22D687DF-5A41-C04B-83B2-990819124270}" srcOrd="1" destOrd="0" presId="urn:microsoft.com/office/officeart/2005/8/layout/process4"/>
    <dgm:cxn modelId="{D2F54ED1-97B4-4D4B-B341-EE1646E6B59B}" type="presParOf" srcId="{A6B4D42C-F817-E344-972B-D267A6FD2D31}" destId="{97A27664-9A96-1645-A7EC-5BE951D18748}" srcOrd="2" destOrd="0" presId="urn:microsoft.com/office/officeart/2005/8/layout/process4"/>
    <dgm:cxn modelId="{97A62CB4-3571-C34C-BD69-3A2E67EB13EA}" type="presParOf" srcId="{A6B4D42C-F817-E344-972B-D267A6FD2D31}" destId="{23FFA982-4016-B24A-AD76-E71171B95C2B}" srcOrd="3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B3A8F4-DBAF-054A-87E9-CA4C80492978}">
      <dsp:nvSpPr>
        <dsp:cNvPr id="0" name=""/>
        <dsp:cNvSpPr/>
      </dsp:nvSpPr>
      <dsp:spPr>
        <a:xfrm>
          <a:off x="1097288" y="3076"/>
          <a:ext cx="2553207" cy="1531924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accent2"/>
              </a:solidFill>
            </a:rPr>
            <a:t>Similar or identical instruction set</a:t>
          </a:r>
        </a:p>
      </dsp:txBody>
      <dsp:txXfrm>
        <a:off x="1097288" y="3076"/>
        <a:ext cx="2553207" cy="1531924"/>
      </dsp:txXfrm>
    </dsp:sp>
    <dsp:sp modelId="{FA582ED2-3C35-2B4C-AC47-158238A97EAA}">
      <dsp:nvSpPr>
        <dsp:cNvPr id="0" name=""/>
        <dsp:cNvSpPr/>
      </dsp:nvSpPr>
      <dsp:spPr>
        <a:xfrm>
          <a:off x="3905816" y="3076"/>
          <a:ext cx="2553207" cy="1531924"/>
        </a:xfrm>
        <a:prstGeom prst="rect">
          <a:avLst/>
        </a:prstGeom>
        <a:gradFill rotWithShape="0">
          <a:gsLst>
            <a:gs pos="0">
              <a:schemeClr val="accent4">
                <a:hueOff val="-341748"/>
                <a:satOff val="14627"/>
                <a:lumOff val="863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4">
                <a:hueOff val="-341748"/>
                <a:satOff val="14627"/>
                <a:lumOff val="863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accent2"/>
              </a:solidFill>
            </a:rPr>
            <a:t>Similar or identical operating system</a:t>
          </a:r>
        </a:p>
      </dsp:txBody>
      <dsp:txXfrm>
        <a:off x="3905816" y="3076"/>
        <a:ext cx="2553207" cy="1531924"/>
      </dsp:txXfrm>
    </dsp:sp>
    <dsp:sp modelId="{BA977F84-EBC6-3949-BAD4-AEC214C55B5C}">
      <dsp:nvSpPr>
        <dsp:cNvPr id="0" name=""/>
        <dsp:cNvSpPr/>
      </dsp:nvSpPr>
      <dsp:spPr>
        <a:xfrm>
          <a:off x="1097288" y="1790321"/>
          <a:ext cx="2553207" cy="1531924"/>
        </a:xfrm>
        <a:prstGeom prst="rect">
          <a:avLst/>
        </a:prstGeom>
        <a:gradFill rotWithShape="0">
          <a:gsLst>
            <a:gs pos="0">
              <a:schemeClr val="accent4">
                <a:hueOff val="-683495"/>
                <a:satOff val="29253"/>
                <a:lumOff val="1725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4">
                <a:hueOff val="-683495"/>
                <a:satOff val="29253"/>
                <a:lumOff val="1725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solidFill>
                <a:schemeClr val="accent2"/>
              </a:solidFill>
            </a:rPr>
            <a:t>Increasing speed</a:t>
          </a:r>
        </a:p>
      </dsp:txBody>
      <dsp:txXfrm>
        <a:off x="1097288" y="1790321"/>
        <a:ext cx="2553207" cy="1531924"/>
      </dsp:txXfrm>
    </dsp:sp>
    <dsp:sp modelId="{35EA873F-5D1B-7546-86AF-A04E826F38F3}">
      <dsp:nvSpPr>
        <dsp:cNvPr id="0" name=""/>
        <dsp:cNvSpPr/>
      </dsp:nvSpPr>
      <dsp:spPr>
        <a:xfrm>
          <a:off x="3905816" y="1790321"/>
          <a:ext cx="2553207" cy="1531924"/>
        </a:xfrm>
        <a:prstGeom prst="rect">
          <a:avLst/>
        </a:prstGeom>
        <a:gradFill rotWithShape="0">
          <a:gsLst>
            <a:gs pos="0">
              <a:schemeClr val="accent4">
                <a:hueOff val="-1025243"/>
                <a:satOff val="43880"/>
                <a:lumOff val="2588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4">
                <a:hueOff val="-1025243"/>
                <a:satOff val="43880"/>
                <a:lumOff val="2588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accent2"/>
              </a:solidFill>
            </a:rPr>
            <a:t>Increasing number of I/O ports</a:t>
          </a:r>
        </a:p>
      </dsp:txBody>
      <dsp:txXfrm>
        <a:off x="3905816" y="1790321"/>
        <a:ext cx="2553207" cy="1531924"/>
      </dsp:txXfrm>
    </dsp:sp>
    <dsp:sp modelId="{F226B956-3E06-634C-B7F5-82D87DA21273}">
      <dsp:nvSpPr>
        <dsp:cNvPr id="0" name=""/>
        <dsp:cNvSpPr/>
      </dsp:nvSpPr>
      <dsp:spPr>
        <a:xfrm>
          <a:off x="1097288" y="3577566"/>
          <a:ext cx="2553207" cy="1531924"/>
        </a:xfrm>
        <a:prstGeom prst="rect">
          <a:avLst/>
        </a:prstGeom>
        <a:gradFill rotWithShape="0">
          <a:gsLst>
            <a:gs pos="0">
              <a:schemeClr val="accent4">
                <a:hueOff val="-1366990"/>
                <a:satOff val="58506"/>
                <a:lumOff val="345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4">
                <a:hueOff val="-1366990"/>
                <a:satOff val="58506"/>
                <a:lumOff val="345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accent2"/>
              </a:solidFill>
            </a:rPr>
            <a:t>Increasing memory size</a:t>
          </a:r>
        </a:p>
      </dsp:txBody>
      <dsp:txXfrm>
        <a:off x="1097288" y="3577566"/>
        <a:ext cx="2553207" cy="1531924"/>
      </dsp:txXfrm>
    </dsp:sp>
    <dsp:sp modelId="{01FD6AEA-3BB6-E743-B79F-A693BB80D0A8}">
      <dsp:nvSpPr>
        <dsp:cNvPr id="0" name=""/>
        <dsp:cNvSpPr/>
      </dsp:nvSpPr>
      <dsp:spPr>
        <a:xfrm>
          <a:off x="3905816" y="3577566"/>
          <a:ext cx="2553207" cy="1531924"/>
        </a:xfrm>
        <a:prstGeom prst="rect">
          <a:avLst/>
        </a:prstGeom>
        <a:gradFill rotWithShape="0">
          <a:gsLst>
            <a:gs pos="0">
              <a:schemeClr val="accent4">
                <a:hueOff val="-1708738"/>
                <a:satOff val="73133"/>
                <a:lumOff val="4313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4">
                <a:hueOff val="-1708738"/>
                <a:satOff val="73133"/>
                <a:lumOff val="4313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accent2"/>
              </a:solidFill>
            </a:rPr>
            <a:t>Increasing cost</a:t>
          </a:r>
        </a:p>
      </dsp:txBody>
      <dsp:txXfrm>
        <a:off x="3905816" y="3577566"/>
        <a:ext cx="2553207" cy="15319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39DE1C-6487-F644-B0FB-514DFD9A6203}">
      <dsp:nvSpPr>
        <dsp:cNvPr id="0" name=""/>
        <dsp:cNvSpPr/>
      </dsp:nvSpPr>
      <dsp:spPr>
        <a:xfrm>
          <a:off x="0" y="4073500"/>
          <a:ext cx="8610600" cy="133669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Since 1970 semiconductor memory has been through 13 generations</a:t>
          </a:r>
        </a:p>
      </dsp:txBody>
      <dsp:txXfrm>
        <a:off x="0" y="4073500"/>
        <a:ext cx="8610600" cy="721817"/>
      </dsp:txXfrm>
    </dsp:sp>
    <dsp:sp modelId="{3D32EC06-2A10-E044-BF0D-8C73C5E8D97F}">
      <dsp:nvSpPr>
        <dsp:cNvPr id="0" name=""/>
        <dsp:cNvSpPr/>
      </dsp:nvSpPr>
      <dsp:spPr>
        <a:xfrm>
          <a:off x="0" y="4767627"/>
          <a:ext cx="8610600" cy="61488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Each generation has provided four times the storage density of the previous generation, accompanied by declining cost per bit and declining access time</a:t>
          </a:r>
        </a:p>
      </dsp:txBody>
      <dsp:txXfrm>
        <a:off x="0" y="4767627"/>
        <a:ext cx="8610600" cy="614881"/>
      </dsp:txXfrm>
    </dsp:sp>
    <dsp:sp modelId="{9295D34B-13D6-E143-8FAA-4C45DFED13EF}">
      <dsp:nvSpPr>
        <dsp:cNvPr id="0" name=""/>
        <dsp:cNvSpPr/>
      </dsp:nvSpPr>
      <dsp:spPr>
        <a:xfrm rot="10800000">
          <a:off x="0" y="2036750"/>
          <a:ext cx="8610600" cy="2055844"/>
        </a:xfrm>
        <a:prstGeom prst="upArrowCallou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solidFill>
            <a:srgbClr val="8000FF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In 1974 the price per bit of semiconductor memory dropped below the price per bit of core memory</a:t>
          </a:r>
        </a:p>
      </dsp:txBody>
      <dsp:txXfrm rot="-10800000">
        <a:off x="0" y="2036750"/>
        <a:ext cx="8610600" cy="721601"/>
      </dsp:txXfrm>
    </dsp:sp>
    <dsp:sp modelId="{02DEDF47-B60B-174C-B68D-9085A3F1AB6A}">
      <dsp:nvSpPr>
        <dsp:cNvPr id="0" name=""/>
        <dsp:cNvSpPr/>
      </dsp:nvSpPr>
      <dsp:spPr>
        <a:xfrm>
          <a:off x="0" y="2758351"/>
          <a:ext cx="4305299" cy="61469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There has been a continuing and rapid decline in memory cost accompanied by a corresponding increase in physical memory density</a:t>
          </a:r>
        </a:p>
      </dsp:txBody>
      <dsp:txXfrm>
        <a:off x="0" y="2758351"/>
        <a:ext cx="4305299" cy="614697"/>
      </dsp:txXfrm>
    </dsp:sp>
    <dsp:sp modelId="{80A90482-38CF-964E-898E-B14683C6E887}">
      <dsp:nvSpPr>
        <dsp:cNvPr id="0" name=""/>
        <dsp:cNvSpPr/>
      </dsp:nvSpPr>
      <dsp:spPr>
        <a:xfrm>
          <a:off x="4305300" y="2758351"/>
          <a:ext cx="4305299" cy="61469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Developments in memory and processor technologies changed the nature of computers in less than a decade</a:t>
          </a:r>
        </a:p>
      </dsp:txBody>
      <dsp:txXfrm>
        <a:off x="4305300" y="2758351"/>
        <a:ext cx="4305299" cy="614697"/>
      </dsp:txXfrm>
    </dsp:sp>
    <dsp:sp modelId="{20D983A6-25B2-D34F-9721-9F543575F986}">
      <dsp:nvSpPr>
        <dsp:cNvPr id="0" name=""/>
        <dsp:cNvSpPr/>
      </dsp:nvSpPr>
      <dsp:spPr>
        <a:xfrm rot="10800000">
          <a:off x="0" y="956"/>
          <a:ext cx="8610600" cy="2055844"/>
        </a:xfrm>
        <a:prstGeom prst="upArrowCallou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solidFill>
            <a:srgbClr val="8000FF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In 1970 Fairchild produced the first relatively capacious semiconductor memory</a:t>
          </a:r>
        </a:p>
      </dsp:txBody>
      <dsp:txXfrm rot="-10800000">
        <a:off x="0" y="956"/>
        <a:ext cx="8610600" cy="721601"/>
      </dsp:txXfrm>
    </dsp:sp>
    <dsp:sp modelId="{BCDEB9CC-91F2-B04C-BF78-8C8FAC34A974}">
      <dsp:nvSpPr>
        <dsp:cNvPr id="0" name=""/>
        <dsp:cNvSpPr/>
      </dsp:nvSpPr>
      <dsp:spPr>
        <a:xfrm>
          <a:off x="0" y="722557"/>
          <a:ext cx="2152649" cy="61469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Chip was about the size of a single core</a:t>
          </a:r>
        </a:p>
      </dsp:txBody>
      <dsp:txXfrm>
        <a:off x="0" y="722557"/>
        <a:ext cx="2152649" cy="614697"/>
      </dsp:txXfrm>
    </dsp:sp>
    <dsp:sp modelId="{22D687DF-5A41-C04B-83B2-990819124270}">
      <dsp:nvSpPr>
        <dsp:cNvPr id="0" name=""/>
        <dsp:cNvSpPr/>
      </dsp:nvSpPr>
      <dsp:spPr>
        <a:xfrm>
          <a:off x="2152650" y="722557"/>
          <a:ext cx="2152649" cy="61469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Could hold 256 bits of memory</a:t>
          </a:r>
        </a:p>
      </dsp:txBody>
      <dsp:txXfrm>
        <a:off x="2152650" y="722557"/>
        <a:ext cx="2152649" cy="614697"/>
      </dsp:txXfrm>
    </dsp:sp>
    <dsp:sp modelId="{97A27664-9A96-1645-A7EC-5BE951D18748}">
      <dsp:nvSpPr>
        <dsp:cNvPr id="0" name=""/>
        <dsp:cNvSpPr/>
      </dsp:nvSpPr>
      <dsp:spPr>
        <a:xfrm>
          <a:off x="4305300" y="722557"/>
          <a:ext cx="2152649" cy="61469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Non-destructive</a:t>
          </a:r>
        </a:p>
      </dsp:txBody>
      <dsp:txXfrm>
        <a:off x="4305300" y="722557"/>
        <a:ext cx="2152649" cy="614697"/>
      </dsp:txXfrm>
    </dsp:sp>
    <dsp:sp modelId="{23FFA982-4016-B24A-AD76-E71171B95C2B}">
      <dsp:nvSpPr>
        <dsp:cNvPr id="0" name=""/>
        <dsp:cNvSpPr/>
      </dsp:nvSpPr>
      <dsp:spPr>
        <a:xfrm>
          <a:off x="6457949" y="722557"/>
          <a:ext cx="2152649" cy="61469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Much faster than core </a:t>
          </a:r>
        </a:p>
      </dsp:txBody>
      <dsp:txXfrm>
        <a:off x="6457949" y="722557"/>
        <a:ext cx="2152649" cy="6146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0000" tIns="46800" rIns="90000" bIns="4680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09" charset="0"/>
              </a:defRPr>
            </a:lvl1pPr>
          </a:lstStyle>
          <a:p>
            <a:endParaRPr lang="en-US" dirty="0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0000" tIns="46800" rIns="90000" bIns="4680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09" charset="0"/>
              </a:defRPr>
            </a:lvl1pPr>
          </a:lstStyle>
          <a:p>
            <a:endParaRPr lang="en-US" dirty="0"/>
          </a:p>
        </p:txBody>
      </p:sp>
      <p:sp>
        <p:nvSpPr>
          <p:cNvPr id="512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0000" tIns="46800" rIns="90000" bIns="4680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09" charset="0"/>
              </a:defRPr>
            </a:lvl1pPr>
          </a:lstStyle>
          <a:p>
            <a:r>
              <a:rPr lang="en-US" dirty="0"/>
              <a:t>© 2016 Pearson Education, Inc., Hoboken, NJ. All rights reserved.</a:t>
            </a:r>
          </a:p>
        </p:txBody>
      </p:sp>
      <p:sp>
        <p:nvSpPr>
          <p:cNvPr id="512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09" charset="0"/>
              </a:defRPr>
            </a:lvl1pPr>
          </a:lstStyle>
          <a:p>
            <a:fld id="{632BFCA1-7074-BE49-9C26-1E5CA6845EA1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46213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0000" tIns="46800" rIns="90000" bIns="4680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09" charset="0"/>
              </a:defRPr>
            </a:lvl1pPr>
          </a:lstStyle>
          <a:p>
            <a:endParaRPr lang="en-US" dirty="0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0000" tIns="46800" rIns="90000" bIns="4680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09" charset="0"/>
              </a:defRPr>
            </a:lvl1pPr>
          </a:lstStyle>
          <a:p>
            <a:endParaRPr lang="en-US" dirty="0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501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01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0000" tIns="46800" rIns="90000" bIns="4680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09" charset="0"/>
              </a:defRPr>
            </a:lvl1pPr>
          </a:lstStyle>
          <a:p>
            <a:r>
              <a:rPr lang="en-US" dirty="0"/>
              <a:t>© 2016 Pearson Education, Inc., Hoboken, NJ. All rights reserved.</a:t>
            </a:r>
          </a:p>
        </p:txBody>
      </p:sp>
      <p:sp>
        <p:nvSpPr>
          <p:cNvPr id="501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09" charset="0"/>
              </a:defRPr>
            </a:lvl1pPr>
          </a:lstStyle>
          <a:p>
            <a:fld id="{426AC9EA-110C-D44B-81A3-E5165EEE361B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103058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09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09" charset="0"/>
        <a:ea typeface="ＭＳ Ｐゴシック" pitchFamily="-109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09" charset="0"/>
        <a:ea typeface="ＭＳ Ｐゴシック" pitchFamily="-109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09" charset="0"/>
        <a:ea typeface="ＭＳ Ｐゴシック" pitchFamily="-109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09" charset="0"/>
        <a:ea typeface="ＭＳ Ｐゴシック" pitchFamily="-109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DC1486A-64A2-174A-9561-2035EFB54CD6}" type="slidenum">
              <a:rPr lang="en-US"/>
              <a:pPr/>
              <a:t>1</a:t>
            </a:fld>
            <a:endParaRPr lang="en-US" dirty="0"/>
          </a:p>
        </p:txBody>
      </p:sp>
      <p:sp>
        <p:nvSpPr>
          <p:cNvPr id="52226" name="Rectangle 2050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205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Times New Roman" pitchFamily="-110" charset="0"/>
              </a:rPr>
              <a:t>Lecture slides prepared for “Computer Organization</a:t>
            </a:r>
            <a:r>
              <a:rPr lang="en-US" baseline="0" dirty="0">
                <a:latin typeface="Times New Roman" pitchFamily="-110" charset="0"/>
              </a:rPr>
              <a:t> and Architecture</a:t>
            </a:r>
            <a:r>
              <a:rPr lang="en-US" dirty="0">
                <a:latin typeface="Times New Roman" pitchFamily="-110" charset="0"/>
              </a:rPr>
              <a:t>”, 10/e, by William Stallings, Chapter 1 “Introduction”.</a:t>
            </a:r>
            <a:endParaRPr lang="en-AU" dirty="0">
              <a:latin typeface="Times New Roman" pitchFamily="-110" charset="0"/>
            </a:endParaRPr>
          </a:p>
          <a:p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 In a class of computers called microcomputers, the relationship between architecture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and organization is very close. Changes in technology not only influence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organization but also result in the introduction of more powerful and more complex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architectures. Generally, there is less of a requirement for generation-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To-generation compatibility for these smaller machines. Thus, there is more interplay between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organizational and architectural design decisions. An intriguing example of this is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the reduced instruction set computer (RISC), which we examine in Chapter 15.</a:t>
            </a:r>
          </a:p>
          <a:p>
            <a:endParaRPr kumimoji="1" lang="en-US" sz="1200" b="0" i="0" u="none" strike="noStrike" kern="1200" baseline="0" dirty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This book examines both computer organization and computer architecture.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The emphasis is perhaps more on the side of organization. However, because a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computer organization must be designed to implement a particular architectural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specification, a thorough treatment of organization requires a detailed examination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of architecture as well.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AC9EA-110C-D44B-81A3-E5165EEE361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302DEA2-F8D7-C549-B179-963DC37A15CB}" type="slidenum">
              <a:rPr lang="en-US"/>
              <a:pPr/>
              <a:t>3</a:t>
            </a:fld>
            <a:endParaRPr lang="en-US" dirty="0"/>
          </a:p>
        </p:txBody>
      </p:sp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first major change in the electronic computer came with the replacement of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vacuum tube by the transistor. The transistor is smaller, cheaper, and dissipates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less heat than a vacuum tube but can be used in the same way as a vacuum tube to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construct computers. Unlike the vacuum tube, which requires wires, metal plates, a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glass capsule, and a vacuum, the transistor is a 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solid-state device, </a:t>
            </a:r>
            <a:r>
              <a:rPr kumimoji="1" lang="en-US" sz="1200" i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made from silicon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 The transistor was invented at Bell Labs in 1947 and by the 1950s had launched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an electronic revolution. It was not until the late 1950s, however, that fully transistorized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computers were commercially available. The use of the transistor defines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the second generation  of computers.</a:t>
            </a:r>
            <a:endParaRPr kumimoji="1"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DC87B7E-A7A7-0248-A667-EB469C7EC785}" type="slidenum">
              <a:rPr lang="en-US"/>
              <a:pPr/>
              <a:t>4</a:t>
            </a:fld>
            <a:endParaRPr lang="en-US" dirty="0"/>
          </a:p>
        </p:txBody>
      </p:sp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It has become widely accepted to classify computers into generations based on the fundamental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hardware technology employed (Table 1.2). Each new generation is characterized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by greater processing performance, larger memory capacity, and smaller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size than the previous one.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5EB77A8-3D3D-AD4D-A219-1AF8D83B047D}" type="slidenum">
              <a:rPr lang="en-US"/>
              <a:pPr/>
              <a:t>5</a:t>
            </a:fld>
            <a:endParaRPr lang="en-US" dirty="0"/>
          </a:p>
        </p:txBody>
      </p:sp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But there are other changes as well. The second generation saw the introduction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more complex arithmetic and logic units and control units, the use of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high-level programming languages, and the provision of 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system software </a:t>
            </a:r>
            <a:r>
              <a:rPr kumimoji="1" lang="en-US" sz="1200" i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with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computer. In broad terms, system software provided the ability to load programs,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move data to peripherals, and libraries to perform common computations, similar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what modern operating systems like Windows and Linux do.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302DEA2-F8D7-C549-B179-963DC37A15CB}" type="slidenum">
              <a:rPr lang="en-US"/>
              <a:pPr/>
              <a:t>6</a:t>
            </a:fld>
            <a:endParaRPr lang="en-US" dirty="0"/>
          </a:p>
        </p:txBody>
      </p:sp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single, self-contained transistor is called a 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discrete component. </a:t>
            </a:r>
            <a:r>
              <a:rPr kumimoji="1" lang="en-US" sz="1200" i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Throughout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1950s and early 1960s, electronic equipment was composed largely of discrete components—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transistors, resistors, capacitors, and so on. Discrete components were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manufactured separately, packaged in their own containers, and soldered or wired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together onto masonite-like circuit boards, which were then installed in computers,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oscilloscopes, and other electronic equipment. Whenever an electronic device called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for a transistor, a little tube of metal containing a pinhead-sized piece of silicon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had to be soldered to a circuit board. The entire manufacturing process, from transistor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circuit board, was expensive and cumbersome.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These facts of life were beginning to create problems in the computer industry.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Early second-generation computers contained about 10,000 transistors. This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figure grew to the hundreds of thousands, making the manufacture of newer, more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powerful machines increasingly difficult.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1958 came the achievement that revolutionized electronics and started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era of microelectronics: the invention of the integrated circuit. It is the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integrated</a:t>
            </a:r>
          </a:p>
          <a:p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circuit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that defines the third generation of computers. In this section, we provide a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brief introduction to the technology of integrated circuits. Then we look at perhaps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two most important members of the third generation, both of which were introduced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at the beginning of that era: the IBM System/360 and the DEC PDP-8.</a:t>
            </a:r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B8B031C-88DC-764F-B5BB-6ABD6943D909}" type="slidenum">
              <a:rPr lang="en-US"/>
              <a:pPr/>
              <a:t>7</a:t>
            </a:fld>
            <a:endParaRPr lang="en-US" dirty="0"/>
          </a:p>
        </p:txBody>
      </p:sp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Microelectronics means, literally, “small electronics.” Since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beginnings of digital electronics and the computer industry, there has been a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persistent and consistent trend toward the reduction in size of digital electronic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circuits. Before examining the implications and benefits of this trend, we need to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say something about the nature of digital electronics. A more detailed discussion is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found in Chapter 11.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basic elements of a digital computer, as we know, must perform storage,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movement, processing, and control functions. Only two fundamental types of components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are required (Figure 1.10): gates and memory cells. A gate is a device that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implements a simple Boolean or logical function, such as IF 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AND B ARE TRUE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THEN 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 IS TRUE (AND gate). Such devices are called gates because they control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data flow in much the same way that canal gates control the flow of water.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memory cell is a device that can store one bit of data; that is, the device can be in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one of two stable states at any time. By interconnecting large numbers of these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fundamental devices, we can construct a computer.</a:t>
            </a:r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We can relate this to our four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basic functions as follows: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Data storage: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Provided by memory cells.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Data processing: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Provided by gates.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Data movement: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paths among components are used to move data from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memory to memory and from memory through gates to memory.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Control: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paths among components can carry control signals. For example,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gate will have one or two data inputs plus a control signal input that activates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gate. When the control signal is ON, the gate performs its function on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data inputs and produces a data output. Similarly, the memory cell will store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bit that is on its input lead when the WRITE control signal is ON and will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place the bit that is in the cell on its output lead when the READ control signal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ON.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Thus, a computer consists of gates, memory cells, and interconnections among these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elements. The gates and memory cells are, in turn, constructed of simple digital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electronic components.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integrated circuit exploits the fact that such components as transistors,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resistors, and conductors can be fabricated from a semiconductor such as silicon.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It is merely an extension of the solid-state art to fabricate an entire circuit in a tiny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piece of silicon rather than assemble discrete components made from separate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pieces of silicon into the same circuit. Many transistors can be produced at the same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time on a single wafer of silicon. Equally important, these transistors can be connected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with a process of metallization to form circuits.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EEBCE0-4A34-3647-9307-E59F6D6CD74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Figure 1.11 depicts the key concepts in an integrated circuit. A thin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wafer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silicon is divided into a matrix of small areas, each a few millimeters square.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identical circuit pattern is fabricated in each area, and the wafer is broken up into</a:t>
            </a:r>
          </a:p>
          <a:p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chips.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Each chip consists of many gates and/or memory cells plus a number of input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output attachment points. This chip is then packaged in housing that protects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it and provides pins for attachment to devices beyond the chip. A number of these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packages can then be interconnected on a printed circuit board to produce larger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more complex circuits.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EEBCE0-4A34-3647-9307-E59F6D6CD74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concept of a family of compatible computers was both novel and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extremely successful. A customer with modest requirements and a budget to match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could start with the relatively inexpensive Model 30. Later, if the customer’s needs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grew, it was possible to upgrade to a faster machine with more memory without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sacrificing the investment in already-developed software. The characteristics of a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family are as follows: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Similar or identical instruction set: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many cases, the exact same set of machine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instructions is supported on all members of the family. Thus, a program that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executes on one machine will also execute on any other. In some cases,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lower end of the family has an instruction set that is a subset of that of the top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end of the family. This means that programs can move up but not down.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Similar or identical operating system: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same basic operating system is</a:t>
            </a:r>
          </a:p>
          <a:p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available for all family members. In some cases, additional features are added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the higher-end members.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Increasing speed: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rate of instruction execution increases in going from</a:t>
            </a:r>
          </a:p>
          <a:p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lower to higher family members.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Increasing number of I /O ports: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number of I/O ports increases in going</a:t>
            </a:r>
          </a:p>
          <a:p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from lower to higher family members.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Increasing memory size: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size of main memory increases in going from</a:t>
            </a:r>
          </a:p>
          <a:p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lower to higher family members.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Increasing cost: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At a given point in time, the cost of a system increases in going</a:t>
            </a:r>
          </a:p>
          <a:p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from lower to higher family members.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How could such a family concept be implemented? Differences were achieved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based on three factors: basic speed, size, and degree of simultaneity [STEV64]. For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example, greater speed in the execution of a given instruction could be gained by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use of more complex circuitry in the ALU, allowing </a:t>
            </a:r>
            <a:r>
              <a:rPr kumimoji="1" lang="en-US" sz="1200" kern="1200" baseline="0" dirty="0" err="1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suboperations</a:t>
            </a:r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 to be carried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out in parallel. Another way of increasing speed was to increase the width of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data path between main memory and the CPU. On the Model 30, only 1 byte (8 bits)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could be fetched from main memory at a time, whereas 8 bytes could be fetched at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time on the Model 75.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System/360 not only dictated the future course of IBM but also had a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profound impact on the entire industry. Many of its features have become standard on 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other large computers.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AC9EA-110C-D44B-81A3-E5165EEE361B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6441302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E6CBC27-C47F-FE4C-AAB2-D4E8A3D6C6BF}" type="slidenum">
              <a:rPr lang="en-US"/>
              <a:pPr/>
              <a:t>11</a:t>
            </a:fld>
            <a:endParaRPr lang="en-US" dirty="0"/>
          </a:p>
        </p:txBody>
      </p:sp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In the same year that IBM shipped its first System/360, another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momentous first shipment occurred: PDP-8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from Digital Equipment Corporation(DEC). At a time when the average 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computer required an air-conditioned room, the PDP-8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(dubbed a minicomputer by the industry, after the miniskirt of the day)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was small enough that it could be placed on top of a lab bench or be built into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other equipment. It could not do everything the mainframe could, but at $16,000, it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was cheap enough for each lab technician to have one. In contrast, the System/360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series of mainframe computers introduced just a few months before cost hundreds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of thousands of dollars.</a:t>
            </a:r>
          </a:p>
          <a:p>
            <a:endParaRPr kumimoji="1" lang="en-US" sz="1200" b="0" i="0" u="none" strike="noStrike" kern="1200" baseline="0" dirty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The low cost and small size of the PDP-8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enabled another manufacturer to purchase a PDP-8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and integrate it into a total system for resale. These other manufacturers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came to be known as original equipment manufacturers (OEMs) , and the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OEM market became and remains a major segment of the computer marketplace.</a:t>
            </a:r>
          </a:p>
          <a:p>
            <a:endParaRPr kumimoji="1" lang="en-US" sz="1200" b="0" i="0" u="none" strike="noStrike" kern="1200" baseline="0" dirty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In contrast to the central-switched architecture (Figure 1.9) used by IBM on its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700/7000 and 360 systems, later models of the PDP-8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used a structure that became virtually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universal for microcomputers: the bus structure. This is illustrated in Figure 1.13.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The PDP-8 bus, called the Omnibus, consists of 96 separate signal paths, used to carry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control, address, and data signals. Because all system components share a common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set of signal paths, their use can be controlled by the CPU. This architecture is highly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 flexible, allowing modules to be plugged into the bus to create various configurations.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It is only in recent years that the bus structure has given way to a structure known as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Point-to-point interconnect, described in Chapter 3.</a:t>
            </a:r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Beyond the third generation there is less general agreement on defining generations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computers. Table 1.2 suggests that there have been a number of later generations,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based on advances in integrated circuit technology. With the introduction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large-scale integration (LSI), more than 1000 components can be placed on a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single integrated circuit chip. Very-large-scale integration (VLSI) achieved more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than 10,000 components per chip, while current ultra-large-scale integration (ULSI)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chips can contain more than one billion components.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 With the rapid pace of technology, the high rate of introduction of new products,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and the importance of software and communications as well as hardware, the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classification by generation becomes less clear and less meaningful. In this section,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we mention two of the most important of developments in later generations.</a:t>
            </a:r>
            <a:endParaRPr kumimoji="1"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EEBCE0-4A34-3647-9307-E59F6D6CD74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B775837-BA97-264F-BC10-02C45904A722}" type="slidenum">
              <a:rPr lang="en-US"/>
              <a:pPr/>
              <a:t>13</a:t>
            </a:fld>
            <a:endParaRPr lang="en-US" dirty="0"/>
          </a:p>
        </p:txBody>
      </p:sp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first application of integrated circuit technology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computers was construction of the processor (the control unit and the arithmetic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logic unit) out of integrated circuit chips. But it was also found that this same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technology could be used to construct memories.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the 1950s and 1960s, most computer memory was constructed from tiny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rings of ferromagnetic material, each about a sixteenth of an inch in diameter. These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rings were strung up on grids of fine wires suspended on small screens inside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computer. Magnetized one way, a ring (called a 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core) represented a one; magnetized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other way, it stood for a zero. Magnetic-core memory was rather fast; it took as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little as a millionth of a second to read a bit stored in memory. But it was expensive,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bulky, and used destructive readout: The simple act of reading a core erased the data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stored in it. It was therefore necessary to install circuits to restore the data as soon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as it had been extracted.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Then, in 1970, Fairchild produced the first relatively capacious semiconductor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memory. This chip, about the size of a single core, could hold 256 bits of memory. It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was nondestructive and much faster than core. It took only 70 billionths of a second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read a bit. However, the cost per bit was higher than for that of core.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1974, a seminal event occurred: The price per bit of semiconductor memory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dropped below the price per bit of core memory. Following this, there has been a continuing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rapid decline in memory cost accompanied by a corresponding increase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physical memory density. This has led the way to smaller, faster machines with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memory sizes of larger and more expensive machines from just a few years earlier.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Developments in memory technology, together with developments in processor technology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be discussed next, changed the nature of computers in less than a decade.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Although bulky, expensive computers remain a part of the landscape, the computer has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also been brought out to the “end user,” with office machines and personal computers.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Since 1970, semiconductor memory has been through 13 generations: 1K, 4K,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16K, 64K, 256K, 1M, 4M, 16M, 64M, 256M, 1G, 4G, and, as of this writing, 8 Gb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on a single chip (1K = 2</a:t>
            </a:r>
            <a:r>
              <a:rPr kumimoji="1" lang="en-US" sz="1200" kern="1200" baseline="3000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10</a:t>
            </a:r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, 1M = 2</a:t>
            </a:r>
            <a:r>
              <a:rPr kumimoji="1" lang="en-US" sz="1200" kern="1200" baseline="3000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20</a:t>
            </a:r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, 1G = 2</a:t>
            </a:r>
            <a:r>
              <a:rPr kumimoji="1" lang="en-US" sz="1200" kern="1200" baseline="3000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30</a:t>
            </a:r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). Each generation has provided four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times the storage density of the previous generation, accompanied by declining cost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per bit and declining access time. </a:t>
            </a:r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Densities are projected to reach 16 Gb by 2018 and 32 Gb by 2023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[ITRS14].</a:t>
            </a:r>
            <a:endParaRPr kumimoji="1"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5914A-FB8D-7040-B9F1-BC6F3DDB3AB8}" type="slidenum">
              <a:rPr lang="en-US"/>
              <a:pPr/>
              <a:t>14</a:t>
            </a:fld>
            <a:endParaRPr lang="en-US" dirty="0"/>
          </a:p>
        </p:txBody>
      </p:sp>
      <p:sp>
        <p:nvSpPr>
          <p:cNvPr id="79874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Just as the density of elements on memory chips has continued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rise, so has the density of elements on processor chips. As time went on, more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more elements were placed on each chip, so that fewer and fewer chips were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needed to construct a single computer processor.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breakthrough was achieved in 1971, when Intel developed its 4004.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4004 was the first chip to contain 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all of the components of a CPU on a single chip: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microprocessor was born.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4004 can add two 4-bit numbers and can multiply only by repeated addition.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By today’s standards, the 4004 is hopelessly primitive, but it marked the beginning of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continuing evolution of microprocessor capability and power.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This evolution can be seen most easily in the number of bits that the processor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deals with at a time. There is no clear-cut measure of this, but perhaps the best measure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the data bus width: the number of bits of data that can be brought into or sent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out of the processor at a time. Another measure is the number of bits in the accumulator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or in the set of general-purpose registers. Often, these measures coincide, but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not always. For example, a number of microprocessors were developed that operate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on 16-bit numbers in registers but can only read and write 8 bits at a time.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next major step in the evolution of the microprocessor was the introduction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1972 of the Intel 8008. This was the first 8-bit microprocessor and was almost twice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as complex as the 4004.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Neither of these steps was to have the impact of the next major event: the introduction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1974 of the Intel 8080. This was the first general-purpose microprocessor.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Whereas the 4004 and the 8008 had been designed for specific applications, the 8080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was designed to be the CPU of a general-purpose microcomputer. Like the 8008,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8080 is an 8-bit microprocessor. The 8080, however, is faster, has a richer instruction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set, and has a large addressing capability.</a:t>
            </a:r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00600" y="6425640"/>
            <a:ext cx="1232647" cy="365125"/>
          </a:xfrm>
        </p:spPr>
        <p:txBody>
          <a:bodyPr/>
          <a:lstStyle>
            <a:lvl1pPr algn="l">
              <a:defRPr/>
            </a:lvl1pPr>
          </a:lstStyle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11153" y="6425640"/>
            <a:ext cx="2617694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GB" dirty="0"/>
              <a:t>© 2016 Pearson Education, Inc., Hoboken, NJ. All rights reserved.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282575" y="228600"/>
            <a:ext cx="4235450" cy="4187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24388" y="237744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24388" y="228600"/>
            <a:ext cx="2057400" cy="203911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02438" y="2377440"/>
            <a:ext cx="2057400" cy="20391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134471"/>
            <a:ext cx="7556313" cy="995082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498518" y="1129553"/>
            <a:ext cx="7558960" cy="774700"/>
          </a:xfrm>
        </p:spPr>
        <p:txBody>
          <a:bodyPr vert="horz" lIns="91440" tIns="45720" rIns="91440" bIns="45720" rtlCol="0" anchor="t" anchorCtr="0">
            <a:noAutofit/>
          </a:bodyPr>
          <a:lstStyle>
            <a:lvl1pPr marL="0" indent="0">
              <a:buNone/>
              <a:defRPr kumimoji="0" sz="2400" b="0" i="0" u="none" strike="noStrike" kern="1200" cap="none" spc="0" normalizeH="0" baseline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00600" y="6425640"/>
            <a:ext cx="1232647" cy="365125"/>
          </a:xfrm>
        </p:spPr>
        <p:txBody>
          <a:bodyPr/>
          <a:lstStyle>
            <a:lvl1pPr algn="l">
              <a:defRPr/>
            </a:lvl1pPr>
          </a:lstStyle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11153" y="6425640"/>
            <a:ext cx="2617694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282575" y="228600"/>
            <a:ext cx="4235450" cy="4187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24388" y="237744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4624388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744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1779494"/>
            <a:ext cx="3086100" cy="2040905"/>
          </a:xfrm>
        </p:spPr>
        <p:txBody>
          <a:bodyPr lIns="45720" tIns="45720" rIns="45720" anchor="t">
            <a:noAutofit/>
          </a:bodyPr>
          <a:lstStyle>
            <a:lvl1pPr marL="0" indent="0" algn="ctr">
              <a:buNone/>
              <a:defRPr sz="46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58907" y="228600"/>
            <a:ext cx="820093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3124200"/>
            <a:ext cx="5638800" cy="1362075"/>
          </a:xfrm>
        </p:spPr>
        <p:txBody>
          <a:bodyPr anchor="b" anchorCtr="0">
            <a:normAutofit/>
          </a:bodyPr>
          <a:lstStyle>
            <a:lvl1pPr algn="l">
              <a:defRPr sz="32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4495800"/>
            <a:ext cx="5638800" cy="1500187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300"/>
              </a:spcBef>
              <a:buNone/>
              <a:defRPr sz="14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8906" y="6248774"/>
            <a:ext cx="1474694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6000" y="6248774"/>
            <a:ext cx="5638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6248774"/>
            <a:ext cx="554038" cy="365125"/>
          </a:xfrm>
        </p:spPr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03612" y="3110754"/>
            <a:ext cx="260909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40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750" y="228600"/>
            <a:ext cx="212725" cy="6345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9987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7541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99878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7541" y="2070847"/>
            <a:ext cx="3657600" cy="322729"/>
          </a:xfrm>
          <a:prstGeom prst="rect">
            <a:avLst/>
          </a:prstGeom>
          <a:solidFill>
            <a:schemeClr val="accent3"/>
          </a:solidFill>
        </p:spPr>
        <p:txBody>
          <a:bodyPr tIns="0" bIns="0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99878" y="2070847"/>
            <a:ext cx="3657600" cy="3227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7" y="1985963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13" name="Content Placeholder 2"/>
          <p:cNvSpPr>
            <a:spLocks noGrp="1"/>
          </p:cNvSpPr>
          <p:nvPr>
            <p:ph sz="half" idx="14"/>
          </p:nvPr>
        </p:nvSpPr>
        <p:spPr>
          <a:xfrm>
            <a:off x="498517" y="4164965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</p:spPr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2" name="Content Placeholder 2"/>
          <p:cNvSpPr>
            <a:spLocks noGrp="1"/>
          </p:cNvSpPr>
          <p:nvPr>
            <p:ph sz="half" idx="17"/>
          </p:nvPr>
        </p:nvSpPr>
        <p:spPr>
          <a:xfrm>
            <a:off x="502920" y="1985963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4" name="Content Placeholder 2"/>
          <p:cNvSpPr>
            <a:spLocks noGrp="1"/>
          </p:cNvSpPr>
          <p:nvPr>
            <p:ph sz="half" idx="18"/>
          </p:nvPr>
        </p:nvSpPr>
        <p:spPr>
          <a:xfrm>
            <a:off x="502920" y="4164965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5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6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5" y="228600"/>
            <a:ext cx="34512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5" y="2571750"/>
            <a:ext cx="3255264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8775" y="273050"/>
            <a:ext cx="4597399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3" y="3733800"/>
            <a:ext cx="325526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59305" y="6423585"/>
            <a:ext cx="3316941" cy="365125"/>
          </a:xfrm>
        </p:spPr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9404" y="3124200"/>
            <a:ext cx="3898272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6" y="228600"/>
            <a:ext cx="3460658" cy="63452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69404" y="3995737"/>
            <a:ext cx="3898272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91000" y="6423585"/>
            <a:ext cx="3005138" cy="365125"/>
          </a:xfrm>
        </p:spPr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90110" y="3370730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505" y="4424082"/>
            <a:ext cx="6191157" cy="83371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28600"/>
            <a:ext cx="6378389" cy="41879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6505" y="5257799"/>
            <a:ext cx="6191157" cy="885825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02438" y="2377440"/>
            <a:ext cx="2057400" cy="20391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7212" y="4632792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4" y="228600"/>
            <a:ext cx="6387167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6181611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6179566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212262" y="6235607"/>
            <a:ext cx="13483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1095" y="6235607"/>
            <a:ext cx="46481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494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6802438" y="4535424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5" y="228600"/>
            <a:ext cx="423545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4016633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401530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048000" y="6235607"/>
            <a:ext cx="13483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1095" y="6235607"/>
            <a:ext cx="25907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24388" y="4534726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4624388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4624388" y="2381663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5"/>
          </p:nvPr>
        </p:nvSpPr>
        <p:spPr>
          <a:xfrm>
            <a:off x="6803136" y="2381662"/>
            <a:ext cx="2057400" cy="418795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0" y="3124200"/>
            <a:ext cx="3108960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365248"/>
            <a:ext cx="4240119" cy="41879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0" y="3995737"/>
            <a:ext cx="3108960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91000" y="6423585"/>
            <a:ext cx="3005138" cy="365125"/>
          </a:xfrm>
        </p:spPr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0361" y="3370730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277905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15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2460625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95772" y="954742"/>
            <a:ext cx="681318" cy="5171422"/>
          </a:xfrm>
        </p:spPr>
        <p:txBody>
          <a:bodyPr vert="eaVert" anchor="t" anchorCtr="0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58756"/>
            <a:ext cx="6858000" cy="51848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 rot="16200000">
            <a:off x="8593111" y="561668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2">
            <a:alphaModFix amt="70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  <p:sldLayoutId id="2147483697" r:id="rId14"/>
    <p:sldLayoutId id="2147483698" r:id="rId15"/>
    <p:sldLayoutId id="2147483699" r:id="rId16"/>
    <p:sldLayoutId id="2147483700" r:id="rId17"/>
    <p:sldLayoutId id="2147483701" r:id="rId18"/>
    <p:sldLayoutId id="2147483702" r:id="rId19"/>
    <p:sldLayoutId id="2147483703" r:id="rId20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36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ts val="2000"/>
        </a:spcBef>
        <a:buClr>
          <a:schemeClr val="accent1"/>
        </a:buClr>
        <a:buSzPct val="75000"/>
        <a:buFont typeface="Wingdings" pitchFamily="2" charset="2"/>
        <a:buChar char="n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William Stallings </a:t>
            </a:r>
            <a:br>
              <a:rPr lang="en-GB" dirty="0"/>
            </a:br>
            <a:r>
              <a:rPr lang="en-GB" dirty="0"/>
              <a:t>Computer Organization </a:t>
            </a:r>
            <a:br>
              <a:rPr lang="en-GB" dirty="0"/>
            </a:br>
            <a:r>
              <a:rPr lang="en-GB" dirty="0"/>
              <a:t>and Architecture</a:t>
            </a:r>
            <a:br>
              <a:rPr lang="en-GB" dirty="0"/>
            </a:br>
            <a:r>
              <a:rPr lang="en-GB" dirty="0"/>
              <a:t>10</a:t>
            </a:r>
            <a:r>
              <a:rPr lang="en-GB" baseline="30000" dirty="0"/>
              <a:t>th</a:t>
            </a:r>
            <a:r>
              <a:rPr lang="en-GB" dirty="0"/>
              <a:t> Edition</a:t>
            </a:r>
          </a:p>
        </p:txBody>
      </p:sp>
      <p:pic>
        <p:nvPicPr>
          <p:cNvPr id="3" name="Picture 2" descr="Snapshot 2012-06-08 00-57-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990600"/>
            <a:ext cx="3649579" cy="2667000"/>
          </a:xfrm>
          <a:prstGeom prst="rect">
            <a:avLst/>
          </a:prstGeom>
          <a:effectLst>
            <a:outerShdw blurRad="50800" dist="38100" dir="2700000" algn="tl" rotWithShape="0">
              <a:schemeClr val="tx1">
                <a:alpha val="43000"/>
              </a:schemeClr>
            </a:outerShdw>
            <a:reflection stA="50000" endPos="75000" dist="12700" dir="5400000" sy="-100000" algn="bl" rotWithShape="0"/>
            <a:softEdge rad="88900"/>
          </a:effectLst>
        </p:spPr>
      </p:pic>
      <p:sp>
        <p:nvSpPr>
          <p:cNvPr id="4" name="TextBox 3"/>
          <p:cNvSpPr txBox="1"/>
          <p:nvPr/>
        </p:nvSpPr>
        <p:spPr>
          <a:xfrm>
            <a:off x="-1534472" y="1786024"/>
            <a:ext cx="1846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2016 Pearson Education, Inc., Hoboken, NJ. All rights reserved.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539552" y="4005064"/>
            <a:ext cx="6191157" cy="833718"/>
          </a:xfrm>
        </p:spPr>
        <p:txBody>
          <a:bodyPr>
            <a:noAutofit/>
          </a:bodyPr>
          <a:lstStyle/>
          <a:p>
            <a:r>
              <a:rPr lang="en-US" sz="5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Chapter 1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half" idx="2"/>
          </p:nvPr>
        </p:nvSpPr>
        <p:spPr>
          <a:xfrm>
            <a:off x="539552" y="4797152"/>
            <a:ext cx="7881919" cy="885825"/>
          </a:xfrm>
        </p:spPr>
        <p:txBody>
          <a:bodyPr>
            <a:noAutofit/>
          </a:bodyPr>
          <a:lstStyle/>
          <a:p>
            <a:r>
              <a:rPr lang="en-US" sz="4400" dirty="0"/>
              <a:t>Basic Concepts and Computer Evolution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371600"/>
            <a:ext cx="2286000" cy="1938992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History of Computers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2057400"/>
            <a:ext cx="7556313" cy="4419600"/>
          </a:xfrm>
        </p:spPr>
        <p:txBody>
          <a:bodyPr>
            <a:normAutofit/>
          </a:bodyPr>
          <a:lstStyle/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GB" sz="2000" dirty="0"/>
              <a:t>Smaller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GB" sz="2000" dirty="0"/>
              <a:t>Cheaper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GB" sz="2000" dirty="0"/>
              <a:t>Dissipates less heat than a vacuum tube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GB" sz="2000" dirty="0"/>
              <a:t>Is a </a:t>
            </a:r>
            <a:r>
              <a:rPr lang="en-GB" sz="2000" i="1" dirty="0"/>
              <a:t>solid state device </a:t>
            </a:r>
            <a:r>
              <a:rPr lang="en-GB" sz="2000" dirty="0"/>
              <a:t>made from silicon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GB" sz="2000" dirty="0"/>
              <a:t>Was invented at Bell Labs in 1947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GB" sz="2000" dirty="0"/>
              <a:t>It was not until the late 1950’s that fully transistorized computers were commercially available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endParaRPr lang="en-GB" sz="200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half" idx="4294967295"/>
          </p:nvPr>
        </p:nvSpPr>
        <p:spPr>
          <a:xfrm>
            <a:off x="990600" y="1066800"/>
            <a:ext cx="7143750" cy="774700"/>
          </a:xfrm>
        </p:spPr>
        <p:txBody>
          <a:bodyPr/>
          <a:lstStyle/>
          <a:p>
            <a:pPr>
              <a:spcBef>
                <a:spcPct val="0"/>
              </a:spcBef>
              <a:buNone/>
            </a:pPr>
            <a:r>
              <a:rPr lang="en-US" sz="36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Second Generation:  Transistors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2133600"/>
            <a:ext cx="3055671" cy="2276475"/>
          </a:xfrm>
          <a:prstGeom prst="rect">
            <a:avLst/>
          </a:prstGeom>
          <a:effectLst>
            <a:softEdge rad="228600"/>
          </a:effectLst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432738"/>
          </a:xfrm>
        </p:spPr>
        <p:txBody>
          <a:bodyPr/>
          <a:lstStyle/>
          <a:p>
            <a:pPr algn="ctr"/>
            <a: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Table 1.2</a:t>
            </a:r>
            <a:b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Generations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 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2852936"/>
            <a:ext cx="7909342" cy="3038244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  <p:transition spd="med">
    <p:pull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620688"/>
            <a:ext cx="7556313" cy="1116106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Second Generation Computers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1916832"/>
            <a:ext cx="7556313" cy="4536504"/>
          </a:xfrm>
        </p:spPr>
        <p:txBody>
          <a:bodyPr>
            <a:normAutofit/>
          </a:bodyPr>
          <a:lstStyle/>
          <a:p>
            <a:r>
              <a:rPr lang="en-US" sz="2800" dirty="0"/>
              <a:t>Introduced:</a:t>
            </a:r>
          </a:p>
          <a:p>
            <a:pPr lvl="1"/>
            <a:r>
              <a:rPr lang="en-US" sz="2400" dirty="0"/>
              <a:t>More complex arithmetic and logic units and control units</a:t>
            </a:r>
          </a:p>
          <a:p>
            <a:pPr lvl="1"/>
            <a:r>
              <a:rPr lang="en-US" sz="2400" dirty="0"/>
              <a:t>The use of high-level programming languages</a:t>
            </a:r>
          </a:p>
          <a:p>
            <a:pPr lvl="1"/>
            <a:r>
              <a:rPr lang="en-US" sz="2400" dirty="0"/>
              <a:t>Provision of </a:t>
            </a:r>
            <a:r>
              <a:rPr lang="en-US" sz="2400" i="1" dirty="0"/>
              <a:t>system software </a:t>
            </a:r>
            <a:r>
              <a:rPr lang="en-US" sz="2400" dirty="0"/>
              <a:t>which provided the ability to:</a:t>
            </a:r>
          </a:p>
          <a:p>
            <a:pPr lvl="2"/>
            <a:r>
              <a:rPr lang="en-US" sz="2200" dirty="0"/>
              <a:t>Load programs </a:t>
            </a:r>
          </a:p>
          <a:p>
            <a:pPr lvl="2"/>
            <a:r>
              <a:rPr lang="en-US" sz="2200" dirty="0"/>
              <a:t>Move data to peripherals  </a:t>
            </a:r>
          </a:p>
          <a:p>
            <a:pPr lvl="2"/>
            <a:r>
              <a:rPr lang="en-US" sz="2200" dirty="0"/>
              <a:t>Libraries perform common computations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6800" y="4453467"/>
            <a:ext cx="1846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84418">
            <a:off x="7441113" y="5115563"/>
            <a:ext cx="1630349" cy="1656646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half" idx="4294967295"/>
          </p:nvPr>
        </p:nvSpPr>
        <p:spPr>
          <a:xfrm>
            <a:off x="685800" y="1143000"/>
            <a:ext cx="7543800" cy="7747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en-US" sz="33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Third Generation:  Integrated Circuits</a:t>
            </a:r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381000"/>
            <a:ext cx="7556500" cy="1116012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History of Computers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838200" y="2667000"/>
            <a:ext cx="7556500" cy="4495800"/>
          </a:xfrm>
        </p:spPr>
        <p:txBody>
          <a:bodyPr>
            <a:normAutofit/>
          </a:bodyPr>
          <a:lstStyle/>
          <a:p>
            <a:r>
              <a:rPr lang="en-GB" dirty="0"/>
              <a:t>1958 – the invention of the integrated circuit </a:t>
            </a:r>
          </a:p>
          <a:p>
            <a:r>
              <a:rPr lang="en-GB" i="1" dirty="0"/>
              <a:t>Discrete component</a:t>
            </a:r>
          </a:p>
          <a:p>
            <a:pPr lvl="1"/>
            <a:r>
              <a:rPr lang="en-GB" dirty="0"/>
              <a:t>Single, self-contained transistor</a:t>
            </a:r>
          </a:p>
          <a:p>
            <a:pPr lvl="1"/>
            <a:r>
              <a:rPr lang="en-GB" dirty="0"/>
              <a:t>Manufactured separately, packaged in their own containers, and soldered or wired together onto masonite-like circuit boards</a:t>
            </a:r>
          </a:p>
          <a:p>
            <a:pPr lvl="1"/>
            <a:r>
              <a:rPr lang="en-GB" dirty="0"/>
              <a:t>Manufacturing process was expensive and cumbersome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GB" sz="2000" dirty="0"/>
              <a:t>The two most important members of the third generation were the IBM System/360 and the DEC PDP-8 </a:t>
            </a:r>
          </a:p>
          <a:p>
            <a:pPr lvl="1"/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2280" y="1916832"/>
            <a:ext cx="1524000" cy="1905464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10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43" b="31460"/>
          <a:stretch/>
        </p:blipFill>
        <p:spPr>
          <a:xfrm>
            <a:off x="-176569" y="1196752"/>
            <a:ext cx="9530195" cy="5290533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title"/>
          </p:nvPr>
        </p:nvSpPr>
        <p:spPr>
          <a:xfrm>
            <a:off x="990600" y="457200"/>
            <a:ext cx="7556313" cy="1116106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Integrated </a:t>
            </a:r>
            <a:b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Circuits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sz="half" idx="1"/>
          </p:nvPr>
        </p:nvSpPr>
        <p:spPr>
          <a:xfrm>
            <a:off x="4343400" y="381000"/>
            <a:ext cx="3657600" cy="2885123"/>
          </a:xfrm>
        </p:spPr>
        <p:txBody>
          <a:bodyPr>
            <a:normAutofit/>
          </a:bodyPr>
          <a:lstStyle/>
          <a:p>
            <a:r>
              <a:rPr lang="en-US" dirty="0"/>
              <a:t>A computer consists of gates, memory cells, and interconnections among these elements</a:t>
            </a:r>
          </a:p>
          <a:p>
            <a:r>
              <a:rPr lang="en-US" dirty="0"/>
              <a:t>The gates and memory cells are constructed of simple digital electronic components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half" idx="15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Data storage – provided by memory cells</a:t>
            </a:r>
          </a:p>
          <a:p>
            <a:r>
              <a:rPr lang="en-US" dirty="0"/>
              <a:t>Data processing – provided by gates</a:t>
            </a:r>
          </a:p>
          <a:p>
            <a:r>
              <a:rPr lang="en-US" dirty="0"/>
              <a:t>Data movement – the paths among components are used to move data from memory to memory and from memory through gates to memory</a:t>
            </a:r>
          </a:p>
          <a:p>
            <a:r>
              <a:rPr lang="en-US" dirty="0"/>
              <a:t>Control – the paths among components can carry control signals</a:t>
            </a:r>
          </a:p>
        </p:txBody>
      </p:sp>
      <p:sp>
        <p:nvSpPr>
          <p:cNvPr id="18" name="Content Placeholder 17"/>
          <p:cNvSpPr>
            <a:spLocks noGrp="1"/>
          </p:cNvSpPr>
          <p:nvPr>
            <p:ph sz="half" idx="16"/>
          </p:nvPr>
        </p:nvSpPr>
        <p:spPr>
          <a:xfrm>
            <a:off x="4410075" y="2895600"/>
            <a:ext cx="3657600" cy="324002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Exploits the fact that such components as transistors, resistors, and conductors can be fabricated from a semiconductor such as silicon</a:t>
            </a:r>
          </a:p>
          <a:p>
            <a:r>
              <a:rPr lang="en-US" dirty="0"/>
              <a:t>Many transistors can be produced at the same time on a single wafer of silicon</a:t>
            </a:r>
          </a:p>
          <a:p>
            <a:r>
              <a:rPr lang="en-US" dirty="0"/>
              <a:t>Transistors can be connected with a processor metallization to form circuits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11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09" b="13098"/>
          <a:stretch/>
        </p:blipFill>
        <p:spPr>
          <a:xfrm>
            <a:off x="251520" y="-373292"/>
            <a:ext cx="9605532" cy="7221309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  <p:transition spd="med">
    <p:cover dir="l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67544" y="260648"/>
            <a:ext cx="7556313" cy="1116106"/>
          </a:xfrm>
        </p:spPr>
        <p:txBody>
          <a:bodyPr/>
          <a:lstStyle/>
          <a:p>
            <a:r>
              <a:rPr lang="en-US" dirty="0"/>
              <a:t>Family Characteristics</a:t>
            </a:r>
          </a:p>
        </p:txBody>
      </p:sp>
      <p:graphicFrame>
        <p:nvGraphicFramePr>
          <p:cNvPr id="2" name="Content Placeholder 1"/>
          <p:cNvGraphicFramePr>
            <a:graphicFrameLocks noGrp="1"/>
          </p:cNvGraphicFramePr>
          <p:nvPr>
            <p:ph idx="1"/>
          </p:nvPr>
        </p:nvGraphicFramePr>
        <p:xfrm>
          <a:off x="498474" y="1121896"/>
          <a:ext cx="7556313" cy="51125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465214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13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471" b="24629"/>
          <a:stretch/>
        </p:blipFill>
        <p:spPr>
          <a:xfrm>
            <a:off x="-448288" y="1340767"/>
            <a:ext cx="10780928" cy="5287787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5"/>
          <p:cNvSpPr>
            <a:spLocks noGrp="1"/>
          </p:cNvSpPr>
          <p:nvPr>
            <p:ph type="body" sz="half" idx="2"/>
          </p:nvPr>
        </p:nvSpPr>
        <p:spPr>
          <a:xfrm>
            <a:off x="685800" y="1371600"/>
            <a:ext cx="3429000" cy="2296399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Later</a:t>
            </a:r>
          </a:p>
          <a:p>
            <a:pPr>
              <a:spcBef>
                <a:spcPts val="0"/>
              </a:spcBef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533400"/>
            <a:ext cx="1524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LSI</a:t>
            </a:r>
          </a:p>
          <a:p>
            <a:pPr algn="ctr"/>
            <a:r>
              <a:rPr lang="en-US" sz="2000" dirty="0">
                <a:latin typeface="+mj-lt"/>
              </a:rPr>
              <a:t>Large </a:t>
            </a:r>
          </a:p>
          <a:p>
            <a:pPr algn="ctr"/>
            <a:r>
              <a:rPr lang="en-US" sz="2000" dirty="0">
                <a:latin typeface="+mj-lt"/>
              </a:rPr>
              <a:t>Scale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667000"/>
            <a:ext cx="16764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VLSI</a:t>
            </a:r>
          </a:p>
          <a:p>
            <a:pPr algn="ctr"/>
            <a:r>
              <a:rPr lang="en-US" sz="2000" dirty="0">
                <a:latin typeface="+mj-lt"/>
              </a:rPr>
              <a:t>Very Large Scale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1800" y="4495800"/>
            <a:ext cx="2133600" cy="2133600"/>
          </a:xfrm>
          <a:prstGeom prst="rect">
            <a:avLst/>
          </a:prstGeom>
          <a:solidFill>
            <a:srgbClr val="660066">
              <a:alpha val="80000"/>
            </a:srgbClr>
          </a:solidFill>
        </p:spPr>
        <p:txBody>
          <a:bodyPr wrap="square" rtlCol="0">
            <a:noAutofit/>
          </a:bodyPr>
          <a:lstStyle/>
          <a:p>
            <a:pPr algn="ctr"/>
            <a:endParaRPr lang="en-US" dirty="0">
              <a:latin typeface="+mj-lt"/>
            </a:endParaRPr>
          </a:p>
          <a:p>
            <a:pPr algn="ctr"/>
            <a:r>
              <a:rPr lang="en-US" dirty="0">
                <a:latin typeface="+mj-lt"/>
              </a:rPr>
              <a:t>ULSI</a:t>
            </a:r>
          </a:p>
          <a:p>
            <a:pPr algn="ctr"/>
            <a:r>
              <a:rPr lang="en-US" sz="2000" dirty="0">
                <a:latin typeface="+mj-lt"/>
              </a:rPr>
              <a:t>Ultra Large</a:t>
            </a:r>
          </a:p>
          <a:p>
            <a:pPr algn="ctr"/>
            <a:r>
              <a:rPr lang="en-US" sz="2000" dirty="0">
                <a:latin typeface="+mj-lt"/>
              </a:rPr>
              <a:t> Scale </a:t>
            </a:r>
          </a:p>
          <a:p>
            <a:pPr algn="ctr"/>
            <a:r>
              <a:rPr lang="en-US" sz="2000" dirty="0">
                <a:latin typeface="+mj-lt"/>
              </a:rPr>
              <a:t>Integration</a:t>
            </a:r>
          </a:p>
          <a:p>
            <a:pPr algn="ctr"/>
            <a:endParaRPr lang="en-US" sz="2000" dirty="0"/>
          </a:p>
          <a:p>
            <a:pPr algn="ctr"/>
            <a:endParaRPr lang="en-US" sz="2000" dirty="0"/>
          </a:p>
        </p:txBody>
      </p:sp>
      <p:sp>
        <p:nvSpPr>
          <p:cNvPr id="29" name="Title 28"/>
          <p:cNvSpPr>
            <a:spLocks noGrp="1"/>
          </p:cNvSpPr>
          <p:nvPr>
            <p:ph type="ctrTitle"/>
          </p:nvPr>
        </p:nvSpPr>
        <p:spPr>
          <a:xfrm>
            <a:off x="1752600" y="5105400"/>
            <a:ext cx="40386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2B142D"/>
                </a:solidFill>
              </a:rPr>
              <a:t>Semiconductor Memory</a:t>
            </a:r>
            <a:br>
              <a:rPr lang="en-US" dirty="0">
                <a:solidFill>
                  <a:srgbClr val="2B142D"/>
                </a:solidFill>
              </a:rPr>
            </a:br>
            <a:r>
              <a:rPr lang="en-US" dirty="0">
                <a:solidFill>
                  <a:srgbClr val="2B142D"/>
                </a:solidFill>
              </a:rPr>
              <a:t>Microprocessors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096797">
            <a:off x="389684" y="4619341"/>
            <a:ext cx="1548749" cy="1104900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0" y="6493624"/>
            <a:ext cx="5652991" cy="365125"/>
          </a:xfrm>
        </p:spPr>
        <p:txBody>
          <a:bodyPr/>
          <a:lstStyle/>
          <a:p>
            <a:pPr algn="l"/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62000" y="115888"/>
            <a:ext cx="8382000" cy="812800"/>
          </a:xfrm>
        </p:spPr>
        <p:txBody>
          <a:bodyPr/>
          <a:lstStyle/>
          <a:p>
            <a:r>
              <a:rPr lang="en-GB" dirty="0">
                <a:solidFill>
                  <a:schemeClr val="accent3"/>
                </a:solidFill>
              </a:rPr>
              <a:t>Semiconductor Memory</a:t>
            </a:r>
          </a:p>
        </p:txBody>
      </p:sp>
      <p:graphicFrame>
        <p:nvGraphicFramePr>
          <p:cNvPr id="34" name="Content Placeholder 33"/>
          <p:cNvGraphicFramePr>
            <a:graphicFrameLocks noGrp="1"/>
          </p:cNvGraphicFramePr>
          <p:nvPr>
            <p:ph idx="4294967295"/>
          </p:nvPr>
        </p:nvGraphicFramePr>
        <p:xfrm>
          <a:off x="170095" y="939586"/>
          <a:ext cx="8610600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6" name="TextBox 65"/>
          <p:cNvSpPr txBox="1"/>
          <p:nvPr/>
        </p:nvSpPr>
        <p:spPr>
          <a:xfrm>
            <a:off x="6959600" y="795867"/>
            <a:ext cx="1846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84094"/>
            <a:ext cx="7368987" cy="1116106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Microprocessors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498474" y="1447800"/>
            <a:ext cx="7556313" cy="5181600"/>
          </a:xfrm>
        </p:spPr>
        <p:txBody>
          <a:bodyPr>
            <a:normAutofit lnSpcReduction="10000"/>
          </a:bodyPr>
          <a:lstStyle/>
          <a:p>
            <a:r>
              <a:rPr lang="en-GB" dirty="0"/>
              <a:t>The density of elements on processor chips continued to rise</a:t>
            </a:r>
          </a:p>
          <a:p>
            <a:pPr lvl="1"/>
            <a:r>
              <a:rPr lang="en-GB" dirty="0"/>
              <a:t>More and more elements were placed on each chip so that fewer and fewer chips were needed to construct a single computer processor</a:t>
            </a:r>
          </a:p>
          <a:p>
            <a:r>
              <a:rPr lang="en-GB" dirty="0"/>
              <a:t>1971 Intel developed 4004</a:t>
            </a:r>
          </a:p>
          <a:p>
            <a:pPr lvl="1"/>
            <a:r>
              <a:rPr lang="en-GB" dirty="0"/>
              <a:t>First chip to contain all of the components of a CPU on a single chip</a:t>
            </a:r>
          </a:p>
          <a:p>
            <a:pPr lvl="1"/>
            <a:r>
              <a:rPr lang="en-GB" dirty="0"/>
              <a:t>Birth of microprocessor</a:t>
            </a:r>
          </a:p>
          <a:p>
            <a:r>
              <a:rPr lang="en-GB" dirty="0"/>
              <a:t>1972 Intel developed 8008</a:t>
            </a:r>
          </a:p>
          <a:p>
            <a:pPr lvl="1"/>
            <a:r>
              <a:rPr lang="en-GB" dirty="0"/>
              <a:t>First 8-bit microprocessor</a:t>
            </a:r>
          </a:p>
          <a:p>
            <a:r>
              <a:rPr lang="en-GB" dirty="0"/>
              <a:t>1974 Intel developed 8080</a:t>
            </a:r>
          </a:p>
          <a:p>
            <a:pPr lvl="1"/>
            <a:r>
              <a:rPr lang="en-GB" dirty="0"/>
              <a:t>First general purpose microprocessor</a:t>
            </a:r>
          </a:p>
          <a:p>
            <a:pPr lvl="1"/>
            <a:r>
              <a:rPr lang="en-GB" dirty="0"/>
              <a:t>Faster, has a richer instruction set, has a large addressing capability</a:t>
            </a:r>
          </a:p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57724">
            <a:off x="6310058" y="3994177"/>
            <a:ext cx="2095500" cy="1651000"/>
          </a:xfrm>
          <a:prstGeom prst="rect">
            <a:avLst/>
          </a:prstGeom>
          <a:effectLst>
            <a:softEdge rad="177800"/>
          </a:effectLst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dvantage">
  <a:themeElements>
    <a:clrScheme name="Advantage">
      <a:dk1>
        <a:sysClr val="windowText" lastClr="000000"/>
      </a:dk1>
      <a:lt1>
        <a:sysClr val="window" lastClr="FFFFFF"/>
      </a:lt1>
      <a:dk2>
        <a:srgbClr val="2B142D"/>
      </a:dk2>
      <a:lt2>
        <a:srgbClr val="C3AFCC"/>
      </a:lt2>
      <a:accent1>
        <a:srgbClr val="663366"/>
      </a:accent1>
      <a:accent2>
        <a:srgbClr val="330F42"/>
      </a:accent2>
      <a:accent3>
        <a:srgbClr val="666699"/>
      </a:accent3>
      <a:accent4>
        <a:srgbClr val="999966"/>
      </a:accent4>
      <a:accent5>
        <a:srgbClr val="F7901E"/>
      </a:accent5>
      <a:accent6>
        <a:srgbClr val="A3A101"/>
      </a:accent6>
      <a:hlink>
        <a:srgbClr val="BC5FBC"/>
      </a:hlink>
      <a:folHlink>
        <a:srgbClr val="9775A7"/>
      </a:folHlink>
    </a:clrScheme>
    <a:fontScheme name="Advantage">
      <a:majorFont>
        <a:latin typeface="Rockwell"/>
        <a:ea typeface=""/>
        <a:cs typeface=""/>
        <a:font script="Jpan" typeface="ＭＳ ゴシック"/>
      </a:majorFont>
      <a:minorFont>
        <a:latin typeface="Rockwell"/>
        <a:ea typeface=""/>
        <a:cs typeface=""/>
        <a:font script="Jpan" typeface="ＭＳ ゴシック"/>
      </a:minorFont>
    </a:fontScheme>
    <a:fmtScheme name="Advantage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6000000" scaled="1"/>
        </a:gradFill>
        <a:gradFill rotWithShape="1">
          <a:gsLst>
            <a:gs pos="0">
              <a:schemeClr val="phClr"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63500" dist="25400" dir="5400000" rotWithShape="0">
              <a:srgbClr val="808080">
                <a:alpha val="7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twoPt" dir="tl">
              <a:rot lat="0" lon="0" rev="4500000"/>
            </a:lightRig>
          </a:scene3d>
          <a:sp3d>
            <a:bevelT w="635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1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Advantage.thmx</Template>
  <TotalTime>19381</TotalTime>
  <Words>4023</Words>
  <Application>Microsoft Office PowerPoint</Application>
  <PresentationFormat>On-screen Show (4:3)</PresentationFormat>
  <Paragraphs>381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Rockwell</vt:lpstr>
      <vt:lpstr>Times New Roman</vt:lpstr>
      <vt:lpstr>Wingdings</vt:lpstr>
      <vt:lpstr>Advantage</vt:lpstr>
      <vt:lpstr>William Stallings  Computer Organization  and Architecture 10th Edition</vt:lpstr>
      <vt:lpstr>Chapter 1</vt:lpstr>
      <vt:lpstr>History of Computers</vt:lpstr>
      <vt:lpstr>Table 1.2 Computer Generations</vt:lpstr>
      <vt:lpstr>Second Generation Computers</vt:lpstr>
      <vt:lpstr>History of Computers</vt:lpstr>
      <vt:lpstr>PowerPoint Presentation</vt:lpstr>
      <vt:lpstr>Integrated  Circuits</vt:lpstr>
      <vt:lpstr>PowerPoint Presentation</vt:lpstr>
      <vt:lpstr>Family Characteristics</vt:lpstr>
      <vt:lpstr>PowerPoint Presentation</vt:lpstr>
      <vt:lpstr>Semiconductor Memory Microprocessors</vt:lpstr>
      <vt:lpstr>Semiconductor Memory</vt:lpstr>
      <vt:lpstr>Microprocessors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Intrduction</dc:title>
  <dc:creator>Adrian J Pullin</dc:creator>
  <cp:lastModifiedBy>Dr. Ghulam Muhammad BUKC</cp:lastModifiedBy>
  <cp:revision>211</cp:revision>
  <dcterms:created xsi:type="dcterms:W3CDTF">2012-06-10T02:41:24Z</dcterms:created>
  <dcterms:modified xsi:type="dcterms:W3CDTF">2023-03-08T06:13:47Z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2</vt:i4>
  </property>
  <property fmtid="{D5CDD505-2E9C-101B-9397-08002B2CF9AE}" pid="6" name="ScreenUsage">
    <vt:i4>1</vt:i4>
  </property>
  <property fmtid="{D5CDD505-2E9C-101B-9397-08002B2CF9AE}" pid="7" name="MailAddress">
    <vt:lpwstr>a.j.pullin@newi.ac.uk</vt:lpwstr>
  </property>
  <property fmtid="{D5CDD505-2E9C-101B-9397-08002B2CF9AE}" pid="8" name="HomePage">
    <vt:lpwstr>http://www.newi.ac.uk/pullina/default.htm</vt:lpwstr>
  </property>
  <property fmtid="{D5CDD505-2E9C-101B-9397-08002B2CF9AE}" pid="9" name="Other">
    <vt:lpwstr/>
  </property>
  <property fmtid="{D5CDD505-2E9C-101B-9397-08002B2CF9AE}" pid="10" name="DownloadOriginal">
    <vt:bool>true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3</vt:i4>
  </property>
  <property fmtid="{D5CDD505-2E9C-101B-9397-08002B2CF9AE}" pid="21" name="OutputDir">
    <vt:lpwstr>H:\Data\Networks\Notes\HTML</vt:lpwstr>
  </property>
</Properties>
</file>