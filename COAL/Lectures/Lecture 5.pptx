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20"/>
  </p:notesMasterIdLst>
  <p:handoutMasterIdLst>
    <p:handoutMasterId r:id="rId21"/>
  </p:handoutMasterIdLst>
  <p:sldIdLst>
    <p:sldId id="330" r:id="rId2"/>
    <p:sldId id="331" r:id="rId3"/>
    <p:sldId id="298" r:id="rId4"/>
    <p:sldId id="325" r:id="rId5"/>
    <p:sldId id="299" r:id="rId6"/>
    <p:sldId id="306" r:id="rId7"/>
    <p:sldId id="307" r:id="rId8"/>
    <p:sldId id="301" r:id="rId9"/>
    <p:sldId id="303" r:id="rId10"/>
    <p:sldId id="304" r:id="rId11"/>
    <p:sldId id="263" r:id="rId12"/>
    <p:sldId id="311" r:id="rId13"/>
    <p:sldId id="265" r:id="rId14"/>
    <p:sldId id="269" r:id="rId15"/>
    <p:sldId id="270" r:id="rId16"/>
    <p:sldId id="271" r:id="rId17"/>
    <p:sldId id="305" r:id="rId18"/>
    <p:sldId id="278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21" autoAdjust="0"/>
    <p:restoredTop sz="87689" autoAdjust="0"/>
  </p:normalViewPr>
  <p:slideViewPr>
    <p:cSldViewPr>
      <p:cViewPr varScale="1">
        <p:scale>
          <a:sx n="77" d="100"/>
          <a:sy n="77" d="100"/>
        </p:scale>
        <p:origin x="14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3.xml"/><Relationship Id="rId2" Type="http://schemas.openxmlformats.org/officeDocument/2006/relationships/slide" Target="slides/slide11.xml"/><Relationship Id="rId1" Type="http://schemas.openxmlformats.org/officeDocument/2006/relationships/slide" Target="slides/slide1.xml"/><Relationship Id="rId6" Type="http://schemas.openxmlformats.org/officeDocument/2006/relationships/slide" Target="slides/slide16.xml"/><Relationship Id="rId5" Type="http://schemas.openxmlformats.org/officeDocument/2006/relationships/slide" Target="slides/slide15.xml"/><Relationship Id="rId4" Type="http://schemas.openxmlformats.org/officeDocument/2006/relationships/slide" Target="slides/slide14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Memory to processor</a:t>
          </a:r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memory</a:t>
          </a:r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processor</a:t>
          </a:r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Processor to I/O</a:t>
          </a:r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/>
            <a:t>I/O to or from memory</a:t>
          </a:r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</dgm:pt>
    <dgm:pt modelId="{8D70B0D6-0FC4-4B4B-B3A6-877C0FF37A51}" type="pres">
      <dgm:prSet presAssocID="{17553587-2D3D-FC4F-8137-B6F55B24A175}" presName="textNode" presStyleLbl="bgShp" presStyleIdx="0" presStyleCnt="5"/>
      <dgm:spPr/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</dgm:pt>
    <dgm:pt modelId="{7ABC80D2-827C-C244-8E22-58D79F96E4BC}" type="pres">
      <dgm:prSet presAssocID="{0C55DB15-68B7-6846-9986-2C88DD67F02C}" presName="textNode" presStyleLbl="bgShp" presStyleIdx="1" presStyleCnt="5"/>
      <dgm:spPr/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</dgm:pt>
    <dgm:pt modelId="{9FA69D95-BE40-EC4E-979A-EAF928AA7B0B}" type="pres">
      <dgm:prSet presAssocID="{64B1C973-0182-0343-888C-8B1FBF55A968}" presName="textNode" presStyleLbl="bgShp" presStyleIdx="2" presStyleCnt="5"/>
      <dgm:spPr/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</dgm:pt>
    <dgm:pt modelId="{4F4B6C10-CD58-DB43-A37F-24A6FD08ED0F}" type="pres">
      <dgm:prSet presAssocID="{D2A707C6-0E91-8144-BDBE-B55204826D27}" presName="textNode" presStyleLbl="bgShp" presStyleIdx="3" presStyleCnt="5"/>
      <dgm:spPr/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</dgm:pt>
    <dgm:pt modelId="{08CEF94A-E93E-574E-989A-04C40BF07E2B}" type="pres">
      <dgm:prSet presAssocID="{CF04471B-2672-AC42-B681-E03987162B5B}" presName="textNode" presStyleLbl="bgShp" presStyleIdx="4" presStyleCnt="5"/>
      <dgm:spPr/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636429-2738-F546-A916-80EEDF1E10FA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C3467-9E26-444A-9A55-589C58FED18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A communication pathway connecting two or more devices</a:t>
          </a:r>
        </a:p>
      </dgm:t>
    </dgm:pt>
    <dgm:pt modelId="{9A6D1CD1-0E23-9142-A2F9-0C44E776B3B9}" type="parTrans" cxnId="{4870A548-57CA-A440-9FB7-55EC1395DD57}">
      <dgm:prSet/>
      <dgm:spPr/>
      <dgm:t>
        <a:bodyPr/>
        <a:lstStyle/>
        <a:p>
          <a:endParaRPr lang="en-US"/>
        </a:p>
      </dgm:t>
    </dgm:pt>
    <dgm:pt modelId="{27D62082-75CC-184C-9FB7-60E6C8978923}" type="sibTrans" cxnId="{4870A548-57CA-A440-9FB7-55EC1395DD57}">
      <dgm:prSet/>
      <dgm:spPr/>
      <dgm:t>
        <a:bodyPr/>
        <a:lstStyle/>
        <a:p>
          <a:endParaRPr lang="en-US" dirty="0"/>
        </a:p>
      </dgm:t>
    </dgm:pt>
    <dgm:pt modelId="{8F003CF4-8A60-984A-9D02-B6B83050EFD0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/>
            <a:t>Key characteristic is that it is a shared transmission medium</a:t>
          </a:r>
        </a:p>
      </dgm:t>
    </dgm:pt>
    <dgm:pt modelId="{E5F39706-E472-1549-A1DE-3650F1A7EE56}" type="parTrans" cxnId="{FF41DF3B-8F02-5945-B921-3CCF47CC9A4F}">
      <dgm:prSet/>
      <dgm:spPr/>
      <dgm:t>
        <a:bodyPr/>
        <a:lstStyle/>
        <a:p>
          <a:endParaRPr lang="en-US"/>
        </a:p>
      </dgm:t>
    </dgm:pt>
    <dgm:pt modelId="{3657E415-3A19-C14A-A100-CDCD225A6C98}" type="sibTrans" cxnId="{FF41DF3B-8F02-5945-B921-3CCF47CC9A4F}">
      <dgm:prSet/>
      <dgm:spPr/>
      <dgm:t>
        <a:bodyPr/>
        <a:lstStyle/>
        <a:p>
          <a:endParaRPr lang="en-US"/>
        </a:p>
      </dgm:t>
    </dgm:pt>
    <dgm:pt modelId="{CB4A86C1-E3C9-3F4E-A3D7-ADA5832AF8F4}">
      <dgm:prSet/>
      <dgm:spPr/>
      <dgm:t>
        <a:bodyPr/>
        <a:lstStyle/>
        <a:p>
          <a:pPr rtl="0"/>
          <a:r>
            <a:rPr lang="en-US" dirty="0"/>
            <a:t>Signals transmitted by any one device are available for reception by all other devices attached to the bus</a:t>
          </a:r>
        </a:p>
      </dgm:t>
    </dgm:pt>
    <dgm:pt modelId="{B8D28C66-3AC0-A149-A08C-BA984C1BC79C}" type="parTrans" cxnId="{75CA6EDC-3FAF-5149-9018-8FED8A7BD37D}">
      <dgm:prSet/>
      <dgm:spPr/>
      <dgm:t>
        <a:bodyPr/>
        <a:lstStyle/>
        <a:p>
          <a:endParaRPr lang="en-US"/>
        </a:p>
      </dgm:t>
    </dgm:pt>
    <dgm:pt modelId="{953D51F2-F817-5E4D-8D86-196CB93CCC36}" type="sibTrans" cxnId="{75CA6EDC-3FAF-5149-9018-8FED8A7BD37D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E39FD04-B2A9-5A45-85CD-5495455BDD3B}">
      <dgm:prSet/>
      <dgm:spPr/>
      <dgm:t>
        <a:bodyPr/>
        <a:lstStyle/>
        <a:p>
          <a:pPr rtl="0"/>
          <a:r>
            <a:rPr lang="en-US" dirty="0"/>
            <a:t>If two devices transmit during the same time period their signals will overlap and become garbled</a:t>
          </a:r>
        </a:p>
      </dgm:t>
    </dgm:pt>
    <dgm:pt modelId="{BD4BE912-0DB4-7E40-A21B-E9232D61E886}" type="parTrans" cxnId="{2059DCFF-53E0-974E-A713-1C509D93A546}">
      <dgm:prSet/>
      <dgm:spPr/>
      <dgm:t>
        <a:bodyPr/>
        <a:lstStyle/>
        <a:p>
          <a:endParaRPr lang="en-US"/>
        </a:p>
      </dgm:t>
    </dgm:pt>
    <dgm:pt modelId="{8E79852C-9C95-DA4F-BA96-D2C0410A69D0}" type="sibTrans" cxnId="{2059DCFF-53E0-974E-A713-1C509D93A546}">
      <dgm:prSet/>
      <dgm:spPr/>
      <dgm:t>
        <a:bodyPr/>
        <a:lstStyle/>
        <a:p>
          <a:endParaRPr lang="en-US"/>
        </a:p>
      </dgm:t>
    </dgm:pt>
    <dgm:pt modelId="{853B68A4-E045-6C44-81AC-BD6D2EDD6120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Typically consists of multiple communication lines</a:t>
          </a:r>
        </a:p>
      </dgm:t>
    </dgm:pt>
    <dgm:pt modelId="{E4A0037A-F217-1844-B047-E9B0F378373C}" type="parTrans" cxnId="{15A5C6EC-52BB-DB46-B48C-669F4803E4F1}">
      <dgm:prSet/>
      <dgm:spPr/>
      <dgm:t>
        <a:bodyPr/>
        <a:lstStyle/>
        <a:p>
          <a:endParaRPr lang="en-US"/>
        </a:p>
      </dgm:t>
    </dgm:pt>
    <dgm:pt modelId="{C2D31CE6-9201-EC44-B718-1FF04AE572E4}" type="sibTrans" cxnId="{15A5C6EC-52BB-DB46-B48C-669F4803E4F1}">
      <dgm:prSet/>
      <dgm:spPr/>
      <dgm:t>
        <a:bodyPr/>
        <a:lstStyle/>
        <a:p>
          <a:endParaRPr lang="en-US" dirty="0"/>
        </a:p>
      </dgm:t>
    </dgm:pt>
    <dgm:pt modelId="{5E2D62BE-266A-0D45-B906-1B29BDF3479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Each line is capable of transmitting signals representing binary 1 and binary 0</a:t>
          </a:r>
        </a:p>
      </dgm:t>
    </dgm:pt>
    <dgm:pt modelId="{D610DF42-3128-7A46-9764-92CC058A4459}" type="parTrans" cxnId="{EF81B034-F645-CB4C-B13B-6979989D1400}">
      <dgm:prSet/>
      <dgm:spPr/>
      <dgm:t>
        <a:bodyPr/>
        <a:lstStyle/>
        <a:p>
          <a:endParaRPr lang="en-US"/>
        </a:p>
      </dgm:t>
    </dgm:pt>
    <dgm:pt modelId="{61584508-4468-A04C-B932-71D19C1A3A71}" type="sibTrans" cxnId="{EF81B034-F645-CB4C-B13B-6979989D1400}">
      <dgm:prSet/>
      <dgm:spPr/>
      <dgm:t>
        <a:bodyPr/>
        <a:lstStyle/>
        <a:p>
          <a:endParaRPr lang="en-US"/>
        </a:p>
      </dgm:t>
    </dgm:pt>
    <dgm:pt modelId="{1DD15041-7803-0446-9821-1DE8F32CE256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/>
            <a:t>Computer systems contain a number of different buses that provide pathways between components at various levels of the computer system hierarchy</a:t>
          </a:r>
        </a:p>
      </dgm:t>
    </dgm:pt>
    <dgm:pt modelId="{19707EF3-5F9A-B24F-A7F5-F811CD9FA81C}" type="parTrans" cxnId="{BD11BB93-7303-7D44-B65C-8B362008FC53}">
      <dgm:prSet/>
      <dgm:spPr/>
      <dgm:t>
        <a:bodyPr/>
        <a:lstStyle/>
        <a:p>
          <a:endParaRPr lang="en-US"/>
        </a:p>
      </dgm:t>
    </dgm:pt>
    <dgm:pt modelId="{893785DB-B566-C34C-9F83-50CFBE946D7E}" type="sibTrans" cxnId="{BD11BB93-7303-7D44-B65C-8B362008FC53}">
      <dgm:prSet/>
      <dgm:spPr/>
      <dgm:t>
        <a:bodyPr/>
        <a:lstStyle/>
        <a:p>
          <a:endParaRPr lang="en-US" dirty="0"/>
        </a:p>
      </dgm:t>
    </dgm:pt>
    <dgm:pt modelId="{7525A05C-DEEF-D049-B433-AEDEF823843A}">
      <dgm:prSet/>
      <dgm:spPr/>
      <dgm:t>
        <a:bodyPr/>
        <a:lstStyle/>
        <a:p>
          <a:pPr rtl="0"/>
          <a:r>
            <a:rPr lang="en-US" i="1" dirty="0"/>
            <a:t>System bus</a:t>
          </a:r>
          <a:endParaRPr lang="en-US" dirty="0"/>
        </a:p>
      </dgm:t>
    </dgm:pt>
    <dgm:pt modelId="{E735B630-CC49-9E48-8EED-DA8014D4EE6B}" type="parTrans" cxnId="{FD2E9F45-5DFA-CE49-BAD9-A76390B6C77C}">
      <dgm:prSet/>
      <dgm:spPr/>
      <dgm:t>
        <a:bodyPr/>
        <a:lstStyle/>
        <a:p>
          <a:endParaRPr lang="en-US"/>
        </a:p>
      </dgm:t>
    </dgm:pt>
    <dgm:pt modelId="{D77C5A79-43C5-E749-B5E4-BAA9AF38EDBC}" type="sibTrans" cxnId="{FD2E9F45-5DFA-CE49-BAD9-A76390B6C77C}">
      <dgm:prSet/>
      <dgm:spPr/>
      <dgm:t>
        <a:bodyPr/>
        <a:lstStyle/>
        <a:p>
          <a:endParaRPr lang="en-US" dirty="0"/>
        </a:p>
      </dgm:t>
    </dgm:pt>
    <dgm:pt modelId="{C55C8E9B-FD37-074C-BFF6-DD30EBBEBEA5}">
      <dgm:prSet/>
      <dgm:spPr/>
      <dgm:t>
        <a:bodyPr/>
        <a:lstStyle/>
        <a:p>
          <a:pPr rtl="0"/>
          <a:r>
            <a:rPr lang="en-US" dirty="0"/>
            <a:t>A bus that connects major computer components (processor, memory, I/O)</a:t>
          </a:r>
        </a:p>
      </dgm:t>
    </dgm:pt>
    <dgm:pt modelId="{F23FBEB8-51B6-D54D-A709-F8CF761EE4F2}" type="parTrans" cxnId="{3413FAC6-9E2A-6D4C-8592-9F31D272D137}">
      <dgm:prSet/>
      <dgm:spPr/>
      <dgm:t>
        <a:bodyPr/>
        <a:lstStyle/>
        <a:p>
          <a:endParaRPr lang="en-US"/>
        </a:p>
      </dgm:t>
    </dgm:pt>
    <dgm:pt modelId="{F1D0A3C7-FD5B-B843-88CC-469769BC25B8}" type="sibTrans" cxnId="{3413FAC6-9E2A-6D4C-8592-9F31D272D137}">
      <dgm:prSet/>
      <dgm:spPr/>
      <dgm:t>
        <a:bodyPr/>
        <a:lstStyle/>
        <a:p>
          <a:endParaRPr lang="en-US"/>
        </a:p>
      </dgm:t>
    </dgm:pt>
    <dgm:pt modelId="{FED9EA23-173A-404C-87C6-AC58E07F2389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GB" dirty="0"/>
            <a:t>The most common computer interconnection structures are based on the use of one or more system buses</a:t>
          </a:r>
        </a:p>
      </dgm:t>
    </dgm:pt>
    <dgm:pt modelId="{EF95EAB5-4B6A-7B46-9805-48F1555C5601}" type="parTrans" cxnId="{ED2CF9DF-E8F0-A14C-B970-12021D55A99B}">
      <dgm:prSet/>
      <dgm:spPr/>
      <dgm:t>
        <a:bodyPr/>
        <a:lstStyle/>
        <a:p>
          <a:endParaRPr lang="en-US"/>
        </a:p>
      </dgm:t>
    </dgm:pt>
    <dgm:pt modelId="{E1DD6C9C-D477-2440-99E1-8F42B7070D9F}" type="sibTrans" cxnId="{ED2CF9DF-E8F0-A14C-B970-12021D55A99B}">
      <dgm:prSet/>
      <dgm:spPr/>
      <dgm:t>
        <a:bodyPr/>
        <a:lstStyle/>
        <a:p>
          <a:endParaRPr lang="en-US"/>
        </a:p>
      </dgm:t>
    </dgm:pt>
    <dgm:pt modelId="{C1E8BCA6-215E-E746-AEBE-E22E0BFEF693}" type="pres">
      <dgm:prSet presAssocID="{1C636429-2738-F546-A916-80EEDF1E10FA}" presName="Name0" presStyleCnt="0">
        <dgm:presLayoutVars>
          <dgm:dir/>
          <dgm:resizeHandles val="exact"/>
        </dgm:presLayoutVars>
      </dgm:prSet>
      <dgm:spPr/>
    </dgm:pt>
    <dgm:pt modelId="{4198B288-5E33-5949-9D82-DB2307909588}" type="pres">
      <dgm:prSet presAssocID="{E09C3467-9E26-444A-9A55-589C58FED186}" presName="node" presStyleLbl="node1" presStyleIdx="0" presStyleCnt="6">
        <dgm:presLayoutVars>
          <dgm:bulletEnabled val="1"/>
        </dgm:presLayoutVars>
      </dgm:prSet>
      <dgm:spPr/>
    </dgm:pt>
    <dgm:pt modelId="{631121B5-F90D-4E46-B8FD-6CEC9D573020}" type="pres">
      <dgm:prSet presAssocID="{27D62082-75CC-184C-9FB7-60E6C8978923}" presName="sibTrans" presStyleLbl="sibTrans1D1" presStyleIdx="0" presStyleCnt="5"/>
      <dgm:spPr/>
    </dgm:pt>
    <dgm:pt modelId="{7F0E2F1E-C94E-DA40-B648-541F47EB3C53}" type="pres">
      <dgm:prSet presAssocID="{27D62082-75CC-184C-9FB7-60E6C8978923}" presName="connectorText" presStyleLbl="sibTrans1D1" presStyleIdx="0" presStyleCnt="5"/>
      <dgm:spPr/>
    </dgm:pt>
    <dgm:pt modelId="{5E43B7A7-1089-3A4F-B1C4-0B9B8381D3AD}" type="pres">
      <dgm:prSet presAssocID="{CB4A86C1-E3C9-3F4E-A3D7-ADA5832AF8F4}" presName="node" presStyleLbl="node1" presStyleIdx="1" presStyleCnt="6">
        <dgm:presLayoutVars>
          <dgm:bulletEnabled val="1"/>
        </dgm:presLayoutVars>
      </dgm:prSet>
      <dgm:spPr/>
    </dgm:pt>
    <dgm:pt modelId="{6E7EBF88-55F2-0E4E-90DA-D1819370D293}" type="pres">
      <dgm:prSet presAssocID="{953D51F2-F817-5E4D-8D86-196CB93CCC36}" presName="sibTrans" presStyleLbl="sibTrans1D1" presStyleIdx="1" presStyleCnt="5"/>
      <dgm:spPr/>
    </dgm:pt>
    <dgm:pt modelId="{9BF7BD5C-860D-934F-89CF-ACA271BC028C}" type="pres">
      <dgm:prSet presAssocID="{953D51F2-F817-5E4D-8D86-196CB93CCC36}" presName="connectorText" presStyleLbl="sibTrans1D1" presStyleIdx="1" presStyleCnt="5"/>
      <dgm:spPr/>
    </dgm:pt>
    <dgm:pt modelId="{9631B1BB-A22D-5A45-ABBF-FE947F511F80}" type="pres">
      <dgm:prSet presAssocID="{853B68A4-E045-6C44-81AC-BD6D2EDD6120}" presName="node" presStyleLbl="node1" presStyleIdx="2" presStyleCnt="6">
        <dgm:presLayoutVars>
          <dgm:bulletEnabled val="1"/>
        </dgm:presLayoutVars>
      </dgm:prSet>
      <dgm:spPr/>
    </dgm:pt>
    <dgm:pt modelId="{51079562-9429-E64A-9F8F-15ABD7DBF7FD}" type="pres">
      <dgm:prSet presAssocID="{C2D31CE6-9201-EC44-B718-1FF04AE572E4}" presName="sibTrans" presStyleLbl="sibTrans1D1" presStyleIdx="2" presStyleCnt="5"/>
      <dgm:spPr/>
    </dgm:pt>
    <dgm:pt modelId="{E7CBA334-3534-BB45-AC94-C45FF46DDE2D}" type="pres">
      <dgm:prSet presAssocID="{C2D31CE6-9201-EC44-B718-1FF04AE572E4}" presName="connectorText" presStyleLbl="sibTrans1D1" presStyleIdx="2" presStyleCnt="5"/>
      <dgm:spPr/>
    </dgm:pt>
    <dgm:pt modelId="{B109764F-60F3-E749-9AE5-95B69D3F63D9}" type="pres">
      <dgm:prSet presAssocID="{1DD15041-7803-0446-9821-1DE8F32CE256}" presName="node" presStyleLbl="node1" presStyleIdx="3" presStyleCnt="6">
        <dgm:presLayoutVars>
          <dgm:bulletEnabled val="1"/>
        </dgm:presLayoutVars>
      </dgm:prSet>
      <dgm:spPr/>
    </dgm:pt>
    <dgm:pt modelId="{C1D27491-8205-D643-90DC-71FD8A31FE32}" type="pres">
      <dgm:prSet presAssocID="{893785DB-B566-C34C-9F83-50CFBE946D7E}" presName="sibTrans" presStyleLbl="sibTrans1D1" presStyleIdx="3" presStyleCnt="5"/>
      <dgm:spPr/>
    </dgm:pt>
    <dgm:pt modelId="{0B0338DD-BBC5-D445-A1DF-1C17B2010AD2}" type="pres">
      <dgm:prSet presAssocID="{893785DB-B566-C34C-9F83-50CFBE946D7E}" presName="connectorText" presStyleLbl="sibTrans1D1" presStyleIdx="3" presStyleCnt="5"/>
      <dgm:spPr/>
    </dgm:pt>
    <dgm:pt modelId="{D48F7CAA-0278-8240-8FAA-FE067A5D04D9}" type="pres">
      <dgm:prSet presAssocID="{7525A05C-DEEF-D049-B433-AEDEF823843A}" presName="node" presStyleLbl="node1" presStyleIdx="4" presStyleCnt="6">
        <dgm:presLayoutVars>
          <dgm:bulletEnabled val="1"/>
        </dgm:presLayoutVars>
      </dgm:prSet>
      <dgm:spPr/>
    </dgm:pt>
    <dgm:pt modelId="{71B0C6C9-D4C6-D84F-8A1A-6C057EDBC2A7}" type="pres">
      <dgm:prSet presAssocID="{D77C5A79-43C5-E749-B5E4-BAA9AF38EDBC}" presName="sibTrans" presStyleLbl="sibTrans1D1" presStyleIdx="4" presStyleCnt="5"/>
      <dgm:spPr/>
    </dgm:pt>
    <dgm:pt modelId="{62EFFE04-00EA-D148-93F4-E1428BE2580F}" type="pres">
      <dgm:prSet presAssocID="{D77C5A79-43C5-E749-B5E4-BAA9AF38EDBC}" presName="connectorText" presStyleLbl="sibTrans1D1" presStyleIdx="4" presStyleCnt="5"/>
      <dgm:spPr/>
    </dgm:pt>
    <dgm:pt modelId="{4A9314AF-31E5-2F46-A15A-D4ED62769F9A}" type="pres">
      <dgm:prSet presAssocID="{FED9EA23-173A-404C-87C6-AC58E07F2389}" presName="node" presStyleLbl="node1" presStyleIdx="5" presStyleCnt="6">
        <dgm:presLayoutVars>
          <dgm:bulletEnabled val="1"/>
        </dgm:presLayoutVars>
      </dgm:prSet>
      <dgm:spPr/>
    </dgm:pt>
  </dgm:ptLst>
  <dgm:cxnLst>
    <dgm:cxn modelId="{07F1F00F-DBCB-FB42-88D6-E78440CC24B3}" type="presOf" srcId="{27D62082-75CC-184C-9FB7-60E6C8978923}" destId="{631121B5-F90D-4E46-B8FD-6CEC9D573020}" srcOrd="0" destOrd="0" presId="urn:microsoft.com/office/officeart/2005/8/layout/bProcess3"/>
    <dgm:cxn modelId="{0E556C1A-9695-4749-922E-E7E6ED13556D}" type="presOf" srcId="{D77C5A79-43C5-E749-B5E4-BAA9AF38EDBC}" destId="{62EFFE04-00EA-D148-93F4-E1428BE2580F}" srcOrd="1" destOrd="0" presId="urn:microsoft.com/office/officeart/2005/8/layout/bProcess3"/>
    <dgm:cxn modelId="{62B59A1C-A224-0540-9F76-154D2D900A80}" type="presOf" srcId="{953D51F2-F817-5E4D-8D86-196CB93CCC36}" destId="{9BF7BD5C-860D-934F-89CF-ACA271BC028C}" srcOrd="1" destOrd="0" presId="urn:microsoft.com/office/officeart/2005/8/layout/bProcess3"/>
    <dgm:cxn modelId="{2C88BC25-E45E-CD48-8864-BF3C727BFA21}" type="presOf" srcId="{C55C8E9B-FD37-074C-BFF6-DD30EBBEBEA5}" destId="{D48F7CAA-0278-8240-8FAA-FE067A5D04D9}" srcOrd="0" destOrd="1" presId="urn:microsoft.com/office/officeart/2005/8/layout/bProcess3"/>
    <dgm:cxn modelId="{F9F6F226-9270-5A4C-8BAE-0355E0C1FDE0}" type="presOf" srcId="{CB4A86C1-E3C9-3F4E-A3D7-ADA5832AF8F4}" destId="{5E43B7A7-1089-3A4F-B1C4-0B9B8381D3AD}" srcOrd="0" destOrd="0" presId="urn:microsoft.com/office/officeart/2005/8/layout/bProcess3"/>
    <dgm:cxn modelId="{11A4AF2D-5EE7-E34B-913D-88830DC4F30B}" type="presOf" srcId="{C2D31CE6-9201-EC44-B718-1FF04AE572E4}" destId="{E7CBA334-3534-BB45-AC94-C45FF46DDE2D}" srcOrd="1" destOrd="0" presId="urn:microsoft.com/office/officeart/2005/8/layout/bProcess3"/>
    <dgm:cxn modelId="{C3C83930-E0AD-944E-BED2-A1A5340AFE49}" type="presOf" srcId="{853B68A4-E045-6C44-81AC-BD6D2EDD6120}" destId="{9631B1BB-A22D-5A45-ABBF-FE947F511F80}" srcOrd="0" destOrd="0" presId="urn:microsoft.com/office/officeart/2005/8/layout/bProcess3"/>
    <dgm:cxn modelId="{AE604032-3B31-1347-88E1-AE7B30D2ABEB}" type="presOf" srcId="{E09C3467-9E26-444A-9A55-589C58FED186}" destId="{4198B288-5E33-5949-9D82-DB2307909588}" srcOrd="0" destOrd="0" presId="urn:microsoft.com/office/officeart/2005/8/layout/bProcess3"/>
    <dgm:cxn modelId="{EF81B034-F645-CB4C-B13B-6979989D1400}" srcId="{853B68A4-E045-6C44-81AC-BD6D2EDD6120}" destId="{5E2D62BE-266A-0D45-B906-1B29BDF34799}" srcOrd="0" destOrd="0" parTransId="{D610DF42-3128-7A46-9764-92CC058A4459}" sibTransId="{61584508-4468-A04C-B932-71D19C1A3A71}"/>
    <dgm:cxn modelId="{FF41DF3B-8F02-5945-B921-3CCF47CC9A4F}" srcId="{E09C3467-9E26-444A-9A55-589C58FED186}" destId="{8F003CF4-8A60-984A-9D02-B6B83050EFD0}" srcOrd="0" destOrd="0" parTransId="{E5F39706-E472-1549-A1DE-3650F1A7EE56}" sibTransId="{3657E415-3A19-C14A-A100-CDCD225A6C98}"/>
    <dgm:cxn modelId="{9D812C61-E5C4-984A-895C-8A81CDB77470}" type="presOf" srcId="{FED9EA23-173A-404C-87C6-AC58E07F2389}" destId="{4A9314AF-31E5-2F46-A15A-D4ED62769F9A}" srcOrd="0" destOrd="0" presId="urn:microsoft.com/office/officeart/2005/8/layout/bProcess3"/>
    <dgm:cxn modelId="{FD2E9F45-5DFA-CE49-BAD9-A76390B6C77C}" srcId="{1C636429-2738-F546-A916-80EEDF1E10FA}" destId="{7525A05C-DEEF-D049-B433-AEDEF823843A}" srcOrd="4" destOrd="0" parTransId="{E735B630-CC49-9E48-8EED-DA8014D4EE6B}" sibTransId="{D77C5A79-43C5-E749-B5E4-BAA9AF38EDBC}"/>
    <dgm:cxn modelId="{23627A47-FCAC-E646-822E-FCB10549E760}" type="presOf" srcId="{CE39FD04-B2A9-5A45-85CD-5495455BDD3B}" destId="{5E43B7A7-1089-3A4F-B1C4-0B9B8381D3AD}" srcOrd="0" destOrd="1" presId="urn:microsoft.com/office/officeart/2005/8/layout/bProcess3"/>
    <dgm:cxn modelId="{4870A548-57CA-A440-9FB7-55EC1395DD57}" srcId="{1C636429-2738-F546-A916-80EEDF1E10FA}" destId="{E09C3467-9E26-444A-9A55-589C58FED186}" srcOrd="0" destOrd="0" parTransId="{9A6D1CD1-0E23-9142-A2F9-0C44E776B3B9}" sibTransId="{27D62082-75CC-184C-9FB7-60E6C8978923}"/>
    <dgm:cxn modelId="{140C364B-10E1-4F47-9F59-C92498A2E08E}" type="presOf" srcId="{893785DB-B566-C34C-9F83-50CFBE946D7E}" destId="{0B0338DD-BBC5-D445-A1DF-1C17B2010AD2}" srcOrd="1" destOrd="0" presId="urn:microsoft.com/office/officeart/2005/8/layout/bProcess3"/>
    <dgm:cxn modelId="{9BABC76F-F228-284D-BCDC-76F12750D332}" type="presOf" srcId="{1C636429-2738-F546-A916-80EEDF1E10FA}" destId="{C1E8BCA6-215E-E746-AEBE-E22E0BFEF693}" srcOrd="0" destOrd="0" presId="urn:microsoft.com/office/officeart/2005/8/layout/bProcess3"/>
    <dgm:cxn modelId="{6F212F72-79A3-9A4C-856F-4BA488B4879A}" type="presOf" srcId="{5E2D62BE-266A-0D45-B906-1B29BDF34799}" destId="{9631B1BB-A22D-5A45-ABBF-FE947F511F80}" srcOrd="0" destOrd="1" presId="urn:microsoft.com/office/officeart/2005/8/layout/bProcess3"/>
    <dgm:cxn modelId="{9996DF7F-EDC8-704D-8256-7168583C0E34}" type="presOf" srcId="{953D51F2-F817-5E4D-8D86-196CB93CCC36}" destId="{6E7EBF88-55F2-0E4E-90DA-D1819370D293}" srcOrd="0" destOrd="0" presId="urn:microsoft.com/office/officeart/2005/8/layout/bProcess3"/>
    <dgm:cxn modelId="{9B77358C-DE90-9145-BF6C-1F3307857ADA}" type="presOf" srcId="{C2D31CE6-9201-EC44-B718-1FF04AE572E4}" destId="{51079562-9429-E64A-9F8F-15ABD7DBF7FD}" srcOrd="0" destOrd="0" presId="urn:microsoft.com/office/officeart/2005/8/layout/bProcess3"/>
    <dgm:cxn modelId="{E88D488E-7DB9-5E44-B439-9C141F045096}" type="presOf" srcId="{893785DB-B566-C34C-9F83-50CFBE946D7E}" destId="{C1D27491-8205-D643-90DC-71FD8A31FE32}" srcOrd="0" destOrd="0" presId="urn:microsoft.com/office/officeart/2005/8/layout/bProcess3"/>
    <dgm:cxn modelId="{BD11BB93-7303-7D44-B65C-8B362008FC53}" srcId="{1C636429-2738-F546-A916-80EEDF1E10FA}" destId="{1DD15041-7803-0446-9821-1DE8F32CE256}" srcOrd="3" destOrd="0" parTransId="{19707EF3-5F9A-B24F-A7F5-F811CD9FA81C}" sibTransId="{893785DB-B566-C34C-9F83-50CFBE946D7E}"/>
    <dgm:cxn modelId="{83C117A0-3500-3347-9E53-F195171DD773}" type="presOf" srcId="{D77C5A79-43C5-E749-B5E4-BAA9AF38EDBC}" destId="{71B0C6C9-D4C6-D84F-8A1A-6C057EDBC2A7}" srcOrd="0" destOrd="0" presId="urn:microsoft.com/office/officeart/2005/8/layout/bProcess3"/>
    <dgm:cxn modelId="{3413FAC6-9E2A-6D4C-8592-9F31D272D137}" srcId="{7525A05C-DEEF-D049-B433-AEDEF823843A}" destId="{C55C8E9B-FD37-074C-BFF6-DD30EBBEBEA5}" srcOrd="0" destOrd="0" parTransId="{F23FBEB8-51B6-D54D-A709-F8CF761EE4F2}" sibTransId="{F1D0A3C7-FD5B-B843-88CC-469769BC25B8}"/>
    <dgm:cxn modelId="{AE0A59C8-4CFB-F54E-8A20-2CDF8A0F2002}" type="presOf" srcId="{7525A05C-DEEF-D049-B433-AEDEF823843A}" destId="{D48F7CAA-0278-8240-8FAA-FE067A5D04D9}" srcOrd="0" destOrd="0" presId="urn:microsoft.com/office/officeart/2005/8/layout/bProcess3"/>
    <dgm:cxn modelId="{7C07FBD4-EAD3-4D4E-BF2D-18600565EA33}" type="presOf" srcId="{27D62082-75CC-184C-9FB7-60E6C8978923}" destId="{7F0E2F1E-C94E-DA40-B648-541F47EB3C53}" srcOrd="1" destOrd="0" presId="urn:microsoft.com/office/officeart/2005/8/layout/bProcess3"/>
    <dgm:cxn modelId="{75CA6EDC-3FAF-5149-9018-8FED8A7BD37D}" srcId="{1C636429-2738-F546-A916-80EEDF1E10FA}" destId="{CB4A86C1-E3C9-3F4E-A3D7-ADA5832AF8F4}" srcOrd="1" destOrd="0" parTransId="{B8D28C66-3AC0-A149-A08C-BA984C1BC79C}" sibTransId="{953D51F2-F817-5E4D-8D86-196CB93CCC36}"/>
    <dgm:cxn modelId="{ED2CF9DF-E8F0-A14C-B970-12021D55A99B}" srcId="{1C636429-2738-F546-A916-80EEDF1E10FA}" destId="{FED9EA23-173A-404C-87C6-AC58E07F2389}" srcOrd="5" destOrd="0" parTransId="{EF95EAB5-4B6A-7B46-9805-48F1555C5601}" sibTransId="{E1DD6C9C-D477-2440-99E1-8F42B7070D9F}"/>
    <dgm:cxn modelId="{147CEFEA-A202-5B40-A2D9-A3C9DCD1BD6E}" type="presOf" srcId="{8F003CF4-8A60-984A-9D02-B6B83050EFD0}" destId="{4198B288-5E33-5949-9D82-DB2307909588}" srcOrd="0" destOrd="1" presId="urn:microsoft.com/office/officeart/2005/8/layout/bProcess3"/>
    <dgm:cxn modelId="{15A5C6EC-52BB-DB46-B48C-669F4803E4F1}" srcId="{1C636429-2738-F546-A916-80EEDF1E10FA}" destId="{853B68A4-E045-6C44-81AC-BD6D2EDD6120}" srcOrd="2" destOrd="0" parTransId="{E4A0037A-F217-1844-B047-E9B0F378373C}" sibTransId="{C2D31CE6-9201-EC44-B718-1FF04AE572E4}"/>
    <dgm:cxn modelId="{F092D1F4-B90D-C549-9991-4175A5FECA83}" type="presOf" srcId="{1DD15041-7803-0446-9821-1DE8F32CE256}" destId="{B109764F-60F3-E749-9AE5-95B69D3F63D9}" srcOrd="0" destOrd="0" presId="urn:microsoft.com/office/officeart/2005/8/layout/bProcess3"/>
    <dgm:cxn modelId="{2059DCFF-53E0-974E-A713-1C509D93A546}" srcId="{CB4A86C1-E3C9-3F4E-A3D7-ADA5832AF8F4}" destId="{CE39FD04-B2A9-5A45-85CD-5495455BDD3B}" srcOrd="0" destOrd="0" parTransId="{BD4BE912-0DB4-7E40-A21B-E9232D61E886}" sibTransId="{8E79852C-9C95-DA4F-BA96-D2C0410A69D0}"/>
    <dgm:cxn modelId="{45C66AD1-7C7E-2541-BE5B-536F796538FA}" type="presParOf" srcId="{C1E8BCA6-215E-E746-AEBE-E22E0BFEF693}" destId="{4198B288-5E33-5949-9D82-DB2307909588}" srcOrd="0" destOrd="0" presId="urn:microsoft.com/office/officeart/2005/8/layout/bProcess3"/>
    <dgm:cxn modelId="{FEDC2418-FB59-E646-8426-C60326DC6763}" type="presParOf" srcId="{C1E8BCA6-215E-E746-AEBE-E22E0BFEF693}" destId="{631121B5-F90D-4E46-B8FD-6CEC9D573020}" srcOrd="1" destOrd="0" presId="urn:microsoft.com/office/officeart/2005/8/layout/bProcess3"/>
    <dgm:cxn modelId="{3BA37769-9FC1-2745-91EB-588463F88803}" type="presParOf" srcId="{631121B5-F90D-4E46-B8FD-6CEC9D573020}" destId="{7F0E2F1E-C94E-DA40-B648-541F47EB3C53}" srcOrd="0" destOrd="0" presId="urn:microsoft.com/office/officeart/2005/8/layout/bProcess3"/>
    <dgm:cxn modelId="{D339BECC-4C71-D942-98A7-26C365670F4B}" type="presParOf" srcId="{C1E8BCA6-215E-E746-AEBE-E22E0BFEF693}" destId="{5E43B7A7-1089-3A4F-B1C4-0B9B8381D3AD}" srcOrd="2" destOrd="0" presId="urn:microsoft.com/office/officeart/2005/8/layout/bProcess3"/>
    <dgm:cxn modelId="{A204AF74-CC8E-D74C-A16A-2C677BF367AA}" type="presParOf" srcId="{C1E8BCA6-215E-E746-AEBE-E22E0BFEF693}" destId="{6E7EBF88-55F2-0E4E-90DA-D1819370D293}" srcOrd="3" destOrd="0" presId="urn:microsoft.com/office/officeart/2005/8/layout/bProcess3"/>
    <dgm:cxn modelId="{25207581-28D5-DC48-8A7A-74E6A9FB6488}" type="presParOf" srcId="{6E7EBF88-55F2-0E4E-90DA-D1819370D293}" destId="{9BF7BD5C-860D-934F-89CF-ACA271BC028C}" srcOrd="0" destOrd="0" presId="urn:microsoft.com/office/officeart/2005/8/layout/bProcess3"/>
    <dgm:cxn modelId="{20665886-4032-774D-BF3E-5F750FEE49F0}" type="presParOf" srcId="{C1E8BCA6-215E-E746-AEBE-E22E0BFEF693}" destId="{9631B1BB-A22D-5A45-ABBF-FE947F511F80}" srcOrd="4" destOrd="0" presId="urn:microsoft.com/office/officeart/2005/8/layout/bProcess3"/>
    <dgm:cxn modelId="{83D42006-4953-DD4E-95DA-239742B2C749}" type="presParOf" srcId="{C1E8BCA6-215E-E746-AEBE-E22E0BFEF693}" destId="{51079562-9429-E64A-9F8F-15ABD7DBF7FD}" srcOrd="5" destOrd="0" presId="urn:microsoft.com/office/officeart/2005/8/layout/bProcess3"/>
    <dgm:cxn modelId="{EEE7CC3B-2654-884A-A37E-5298812A56AF}" type="presParOf" srcId="{51079562-9429-E64A-9F8F-15ABD7DBF7FD}" destId="{E7CBA334-3534-BB45-AC94-C45FF46DDE2D}" srcOrd="0" destOrd="0" presId="urn:microsoft.com/office/officeart/2005/8/layout/bProcess3"/>
    <dgm:cxn modelId="{62F2329E-DA06-6D4E-966E-EDAFC82ED476}" type="presParOf" srcId="{C1E8BCA6-215E-E746-AEBE-E22E0BFEF693}" destId="{B109764F-60F3-E749-9AE5-95B69D3F63D9}" srcOrd="6" destOrd="0" presId="urn:microsoft.com/office/officeart/2005/8/layout/bProcess3"/>
    <dgm:cxn modelId="{17B91066-E056-7F4D-B2AB-6DFC79AF8046}" type="presParOf" srcId="{C1E8BCA6-215E-E746-AEBE-E22E0BFEF693}" destId="{C1D27491-8205-D643-90DC-71FD8A31FE32}" srcOrd="7" destOrd="0" presId="urn:microsoft.com/office/officeart/2005/8/layout/bProcess3"/>
    <dgm:cxn modelId="{5ED82122-3124-DE48-BDED-CD37825BBAEA}" type="presParOf" srcId="{C1D27491-8205-D643-90DC-71FD8A31FE32}" destId="{0B0338DD-BBC5-D445-A1DF-1C17B2010AD2}" srcOrd="0" destOrd="0" presId="urn:microsoft.com/office/officeart/2005/8/layout/bProcess3"/>
    <dgm:cxn modelId="{2935AB04-ED26-164A-8EF7-D0E5C409EAF6}" type="presParOf" srcId="{C1E8BCA6-215E-E746-AEBE-E22E0BFEF693}" destId="{D48F7CAA-0278-8240-8FAA-FE067A5D04D9}" srcOrd="8" destOrd="0" presId="urn:microsoft.com/office/officeart/2005/8/layout/bProcess3"/>
    <dgm:cxn modelId="{2DB0C3C2-9400-2241-B1F6-5E4907A11C4D}" type="presParOf" srcId="{C1E8BCA6-215E-E746-AEBE-E22E0BFEF693}" destId="{71B0C6C9-D4C6-D84F-8A1A-6C057EDBC2A7}" srcOrd="9" destOrd="0" presId="urn:microsoft.com/office/officeart/2005/8/layout/bProcess3"/>
    <dgm:cxn modelId="{720AF23A-C09C-D446-8E4F-3CBCD4DFFFAB}" type="presParOf" srcId="{71B0C6C9-D4C6-D84F-8A1A-6C057EDBC2A7}" destId="{62EFFE04-00EA-D148-93F4-E1428BE2580F}" srcOrd="0" destOrd="0" presId="urn:microsoft.com/office/officeart/2005/8/layout/bProcess3"/>
    <dgm:cxn modelId="{ABE7D861-E79B-324E-9026-EF48DB72974A}" type="presParOf" srcId="{C1E8BCA6-215E-E746-AEBE-E22E0BFEF693}" destId="{4A9314AF-31E5-2F46-A15A-D4ED62769F9A}" srcOrd="10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95C8B2-9642-0449-93F7-3C51760F1A34}" type="doc">
      <dgm:prSet loTypeId="urn:microsoft.com/office/officeart/2005/8/layout/bProcess3" loCatId="process" qsTypeId="urn:microsoft.com/office/officeart/2005/8/quickstyle/simple4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6D0CE47-97A5-E24F-9275-7182B155D4CD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Principal reason for change was the electrical constraints encountered with increasing the frequency of wide synchronous buses</a:t>
          </a:r>
        </a:p>
      </dgm:t>
    </dgm:pt>
    <dgm:pt modelId="{EB207F82-D916-2740-A9B1-6723AA31F9D2}" type="parTrans" cxnId="{55EAE053-F070-A74B-96BD-D29900398303}">
      <dgm:prSet/>
      <dgm:spPr/>
      <dgm:t>
        <a:bodyPr/>
        <a:lstStyle/>
        <a:p>
          <a:endParaRPr lang="en-US"/>
        </a:p>
      </dgm:t>
    </dgm:pt>
    <dgm:pt modelId="{77F8759A-B7FA-5440-9D4A-AEC7CC3FF598}" type="sibTrans" cxnId="{55EAE053-F070-A74B-96BD-D29900398303}">
      <dgm:prSet/>
      <dgm:spPr/>
      <dgm:t>
        <a:bodyPr/>
        <a:lstStyle/>
        <a:p>
          <a:endParaRPr lang="en-US" dirty="0"/>
        </a:p>
      </dgm:t>
    </dgm:pt>
    <dgm:pt modelId="{43CD7155-CA35-A546-B59F-D879E8CE0CEA}">
      <dgm:prSet/>
      <dgm:spPr/>
      <dgm:t>
        <a:bodyPr/>
        <a:lstStyle/>
        <a:p>
          <a:pPr rtl="0"/>
          <a:r>
            <a:rPr lang="en-US" b="0" dirty="0">
              <a:solidFill>
                <a:schemeClr val="tx1"/>
              </a:solidFill>
              <a:effectLst/>
            </a:rPr>
            <a:t>At higher and higher data rates it becomes increasingly difficult to perform the synchronization and arbitration functions in a timely fashion</a:t>
          </a:r>
        </a:p>
      </dgm:t>
    </dgm:pt>
    <dgm:pt modelId="{B0850E44-DB3D-7042-8539-593427B1A81C}" type="parTrans" cxnId="{765D3A70-C70C-514B-8B25-A133F06666E2}">
      <dgm:prSet/>
      <dgm:spPr/>
      <dgm:t>
        <a:bodyPr/>
        <a:lstStyle/>
        <a:p>
          <a:endParaRPr lang="en-US"/>
        </a:p>
      </dgm:t>
    </dgm:pt>
    <dgm:pt modelId="{CDDAF040-0E7B-984B-9E87-869488C1B894}" type="sibTrans" cxnId="{765D3A70-C70C-514B-8B25-A133F06666E2}">
      <dgm:prSet/>
      <dgm:spPr/>
      <dgm:t>
        <a:bodyPr/>
        <a:lstStyle/>
        <a:p>
          <a:endParaRPr lang="en-US" dirty="0"/>
        </a:p>
      </dgm:t>
    </dgm:pt>
    <dgm:pt modelId="{1AAC6EEE-461B-3842-B0ED-A4593E9F817B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A conventional shared bus on the same chip magnified the difficulties of increasing bus data rate and reducing bus latency to keep up with the processors</a:t>
          </a:r>
        </a:p>
      </dgm:t>
    </dgm:pt>
    <dgm:pt modelId="{F5202892-F649-0144-887D-7AC32FA73BEF}" type="parTrans" cxnId="{8BC6AFC2-7B9C-5341-A791-A07442635419}">
      <dgm:prSet/>
      <dgm:spPr/>
      <dgm:t>
        <a:bodyPr/>
        <a:lstStyle/>
        <a:p>
          <a:endParaRPr lang="en-US"/>
        </a:p>
      </dgm:t>
    </dgm:pt>
    <dgm:pt modelId="{933BF280-5C8B-8946-83F6-817B5202C80D}" type="sibTrans" cxnId="{8BC6AFC2-7B9C-5341-A791-A07442635419}">
      <dgm:prSet/>
      <dgm:spPr/>
      <dgm:t>
        <a:bodyPr/>
        <a:lstStyle/>
        <a:p>
          <a:endParaRPr lang="en-US" dirty="0"/>
        </a:p>
      </dgm:t>
    </dgm:pt>
    <dgm:pt modelId="{7B5C7865-F134-744D-B38B-370CA10A1AC5}">
      <dgm:prSet/>
      <dgm:spPr/>
      <dgm:t>
        <a:bodyPr/>
        <a:lstStyle/>
        <a:p>
          <a:pPr rtl="0"/>
          <a:r>
            <a:rPr lang="en-US" dirty="0">
              <a:solidFill>
                <a:schemeClr val="tx1"/>
              </a:solidFill>
              <a:effectLst/>
            </a:rPr>
            <a:t>Has lower latency, higher data rate, and better scalability</a:t>
          </a:r>
        </a:p>
      </dgm:t>
    </dgm:pt>
    <dgm:pt modelId="{9A8ABE53-5AAF-7B49-AAF4-E838FDE1E54A}" type="parTrans" cxnId="{C860E854-92C1-4C4A-A17B-6F95D63D6EEB}">
      <dgm:prSet/>
      <dgm:spPr/>
      <dgm:t>
        <a:bodyPr/>
        <a:lstStyle/>
        <a:p>
          <a:endParaRPr lang="en-US"/>
        </a:p>
      </dgm:t>
    </dgm:pt>
    <dgm:pt modelId="{7AE049DE-2BAF-C846-9A4A-9961465A48A9}" type="sibTrans" cxnId="{C860E854-92C1-4C4A-A17B-6F95D63D6EEB}">
      <dgm:prSet/>
      <dgm:spPr/>
      <dgm:t>
        <a:bodyPr/>
        <a:lstStyle/>
        <a:p>
          <a:endParaRPr lang="en-US"/>
        </a:p>
      </dgm:t>
    </dgm:pt>
    <dgm:pt modelId="{28739320-CC9B-1940-B126-6E14B9E0E2D9}" type="pres">
      <dgm:prSet presAssocID="{2495C8B2-9642-0449-93F7-3C51760F1A34}" presName="Name0" presStyleCnt="0">
        <dgm:presLayoutVars>
          <dgm:dir/>
          <dgm:resizeHandles val="exact"/>
        </dgm:presLayoutVars>
      </dgm:prSet>
      <dgm:spPr/>
    </dgm:pt>
    <dgm:pt modelId="{FB6AD10D-0170-A941-8C38-590D121EC16D}" type="pres">
      <dgm:prSet presAssocID="{06D0CE47-97A5-E24F-9275-7182B155D4CD}" presName="node" presStyleLbl="node1" presStyleIdx="0" presStyleCnt="4">
        <dgm:presLayoutVars>
          <dgm:bulletEnabled val="1"/>
        </dgm:presLayoutVars>
      </dgm:prSet>
      <dgm:spPr/>
    </dgm:pt>
    <dgm:pt modelId="{C7584B08-0A1F-BA49-88AC-29D02014566B}" type="pres">
      <dgm:prSet presAssocID="{77F8759A-B7FA-5440-9D4A-AEC7CC3FF598}" presName="sibTrans" presStyleLbl="sibTrans1D1" presStyleIdx="0" presStyleCnt="3"/>
      <dgm:spPr/>
    </dgm:pt>
    <dgm:pt modelId="{9358B347-AADE-6F4E-BA2C-D53B138F8F09}" type="pres">
      <dgm:prSet presAssocID="{77F8759A-B7FA-5440-9D4A-AEC7CC3FF598}" presName="connectorText" presStyleLbl="sibTrans1D1" presStyleIdx="0" presStyleCnt="3"/>
      <dgm:spPr/>
    </dgm:pt>
    <dgm:pt modelId="{C5C28F71-B6F1-6140-ABE4-F2F8EFEA2A60}" type="pres">
      <dgm:prSet presAssocID="{43CD7155-CA35-A546-B59F-D879E8CE0CEA}" presName="node" presStyleLbl="node1" presStyleIdx="1" presStyleCnt="4">
        <dgm:presLayoutVars>
          <dgm:bulletEnabled val="1"/>
        </dgm:presLayoutVars>
      </dgm:prSet>
      <dgm:spPr/>
    </dgm:pt>
    <dgm:pt modelId="{7C6C8CC4-8DDC-DB4A-A864-BBAD91FF52D0}" type="pres">
      <dgm:prSet presAssocID="{CDDAF040-0E7B-984B-9E87-869488C1B894}" presName="sibTrans" presStyleLbl="sibTrans1D1" presStyleIdx="1" presStyleCnt="3"/>
      <dgm:spPr/>
    </dgm:pt>
    <dgm:pt modelId="{B3398396-CF36-4049-A997-2CC644C2C964}" type="pres">
      <dgm:prSet presAssocID="{CDDAF040-0E7B-984B-9E87-869488C1B894}" presName="connectorText" presStyleLbl="sibTrans1D1" presStyleIdx="1" presStyleCnt="3"/>
      <dgm:spPr/>
    </dgm:pt>
    <dgm:pt modelId="{21465F50-952A-4B49-80A1-8A7E476A9ABC}" type="pres">
      <dgm:prSet presAssocID="{1AAC6EEE-461B-3842-B0ED-A4593E9F817B}" presName="node" presStyleLbl="node1" presStyleIdx="2" presStyleCnt="4">
        <dgm:presLayoutVars>
          <dgm:bulletEnabled val="1"/>
        </dgm:presLayoutVars>
      </dgm:prSet>
      <dgm:spPr/>
    </dgm:pt>
    <dgm:pt modelId="{CF1B19A3-10CB-BC46-BEE6-87DE4C2D918F}" type="pres">
      <dgm:prSet presAssocID="{933BF280-5C8B-8946-83F6-817B5202C80D}" presName="sibTrans" presStyleLbl="sibTrans1D1" presStyleIdx="2" presStyleCnt="3"/>
      <dgm:spPr/>
    </dgm:pt>
    <dgm:pt modelId="{FF20F125-3D9B-FD44-9BBD-6B12C47252B4}" type="pres">
      <dgm:prSet presAssocID="{933BF280-5C8B-8946-83F6-817B5202C80D}" presName="connectorText" presStyleLbl="sibTrans1D1" presStyleIdx="2" presStyleCnt="3"/>
      <dgm:spPr/>
    </dgm:pt>
    <dgm:pt modelId="{3448E9C8-F176-0341-AC42-1CEFBB051AEF}" type="pres">
      <dgm:prSet presAssocID="{7B5C7865-F134-744D-B38B-370CA10A1AC5}" presName="node" presStyleLbl="node1" presStyleIdx="3" presStyleCnt="4">
        <dgm:presLayoutVars>
          <dgm:bulletEnabled val="1"/>
        </dgm:presLayoutVars>
      </dgm:prSet>
      <dgm:spPr/>
    </dgm:pt>
  </dgm:ptLst>
  <dgm:cxnLst>
    <dgm:cxn modelId="{E9549512-72C6-3748-BA62-EB0E51FB9339}" type="presOf" srcId="{43CD7155-CA35-A546-B59F-D879E8CE0CEA}" destId="{C5C28F71-B6F1-6140-ABE4-F2F8EFEA2A60}" srcOrd="0" destOrd="0" presId="urn:microsoft.com/office/officeart/2005/8/layout/bProcess3"/>
    <dgm:cxn modelId="{E3D09C21-7C03-244E-8E42-8DCCEDAFCB73}" type="presOf" srcId="{2495C8B2-9642-0449-93F7-3C51760F1A34}" destId="{28739320-CC9B-1940-B126-6E14B9E0E2D9}" srcOrd="0" destOrd="0" presId="urn:microsoft.com/office/officeart/2005/8/layout/bProcess3"/>
    <dgm:cxn modelId="{7338FC63-0C7A-1C42-AE91-0777F34ED8C5}" type="presOf" srcId="{CDDAF040-0E7B-984B-9E87-869488C1B894}" destId="{7C6C8CC4-8DDC-DB4A-A864-BBAD91FF52D0}" srcOrd="0" destOrd="0" presId="urn:microsoft.com/office/officeart/2005/8/layout/bProcess3"/>
    <dgm:cxn modelId="{ECF24F6A-A43F-F649-808B-8F9173359E10}" type="presOf" srcId="{933BF280-5C8B-8946-83F6-817B5202C80D}" destId="{FF20F125-3D9B-FD44-9BBD-6B12C47252B4}" srcOrd="1" destOrd="0" presId="urn:microsoft.com/office/officeart/2005/8/layout/bProcess3"/>
    <dgm:cxn modelId="{9458954F-5364-AF42-ABDB-5199DF3161CB}" type="presOf" srcId="{7B5C7865-F134-744D-B38B-370CA10A1AC5}" destId="{3448E9C8-F176-0341-AC42-1CEFBB051AEF}" srcOrd="0" destOrd="0" presId="urn:microsoft.com/office/officeart/2005/8/layout/bProcess3"/>
    <dgm:cxn modelId="{765D3A70-C70C-514B-8B25-A133F06666E2}" srcId="{2495C8B2-9642-0449-93F7-3C51760F1A34}" destId="{43CD7155-CA35-A546-B59F-D879E8CE0CEA}" srcOrd="1" destOrd="0" parTransId="{B0850E44-DB3D-7042-8539-593427B1A81C}" sibTransId="{CDDAF040-0E7B-984B-9E87-869488C1B894}"/>
    <dgm:cxn modelId="{55EAE053-F070-A74B-96BD-D29900398303}" srcId="{2495C8B2-9642-0449-93F7-3C51760F1A34}" destId="{06D0CE47-97A5-E24F-9275-7182B155D4CD}" srcOrd="0" destOrd="0" parTransId="{EB207F82-D916-2740-A9B1-6723AA31F9D2}" sibTransId="{77F8759A-B7FA-5440-9D4A-AEC7CC3FF598}"/>
    <dgm:cxn modelId="{C860E854-92C1-4C4A-A17B-6F95D63D6EEB}" srcId="{2495C8B2-9642-0449-93F7-3C51760F1A34}" destId="{7B5C7865-F134-744D-B38B-370CA10A1AC5}" srcOrd="3" destOrd="0" parTransId="{9A8ABE53-5AAF-7B49-AAF4-E838FDE1E54A}" sibTransId="{7AE049DE-2BAF-C846-9A4A-9961465A48A9}"/>
    <dgm:cxn modelId="{C8632283-988B-A246-A92A-72B594A3D257}" type="presOf" srcId="{CDDAF040-0E7B-984B-9E87-869488C1B894}" destId="{B3398396-CF36-4049-A997-2CC644C2C964}" srcOrd="1" destOrd="0" presId="urn:microsoft.com/office/officeart/2005/8/layout/bProcess3"/>
    <dgm:cxn modelId="{59312584-B37E-9541-8693-6BC02B22D025}" type="presOf" srcId="{1AAC6EEE-461B-3842-B0ED-A4593E9F817B}" destId="{21465F50-952A-4B49-80A1-8A7E476A9ABC}" srcOrd="0" destOrd="0" presId="urn:microsoft.com/office/officeart/2005/8/layout/bProcess3"/>
    <dgm:cxn modelId="{8FA95391-58C3-F54E-9758-14E0340229A1}" type="presOf" srcId="{77F8759A-B7FA-5440-9D4A-AEC7CC3FF598}" destId="{9358B347-AADE-6F4E-BA2C-D53B138F8F09}" srcOrd="1" destOrd="0" presId="urn:microsoft.com/office/officeart/2005/8/layout/bProcess3"/>
    <dgm:cxn modelId="{8BC6AFC2-7B9C-5341-A791-A07442635419}" srcId="{2495C8B2-9642-0449-93F7-3C51760F1A34}" destId="{1AAC6EEE-461B-3842-B0ED-A4593E9F817B}" srcOrd="2" destOrd="0" parTransId="{F5202892-F649-0144-887D-7AC32FA73BEF}" sibTransId="{933BF280-5C8B-8946-83F6-817B5202C80D}"/>
    <dgm:cxn modelId="{A3F802C7-05DD-7D45-90BA-C5130D09741A}" type="presOf" srcId="{933BF280-5C8B-8946-83F6-817B5202C80D}" destId="{CF1B19A3-10CB-BC46-BEE6-87DE4C2D918F}" srcOrd="0" destOrd="0" presId="urn:microsoft.com/office/officeart/2005/8/layout/bProcess3"/>
    <dgm:cxn modelId="{2ED9D9CE-331D-104C-9EC8-1758966DECB2}" type="presOf" srcId="{77F8759A-B7FA-5440-9D4A-AEC7CC3FF598}" destId="{C7584B08-0A1F-BA49-88AC-29D02014566B}" srcOrd="0" destOrd="0" presId="urn:microsoft.com/office/officeart/2005/8/layout/bProcess3"/>
    <dgm:cxn modelId="{9495C5F0-933F-8E43-909F-361499935C83}" type="presOf" srcId="{06D0CE47-97A5-E24F-9275-7182B155D4CD}" destId="{FB6AD10D-0170-A941-8C38-590D121EC16D}" srcOrd="0" destOrd="0" presId="urn:microsoft.com/office/officeart/2005/8/layout/bProcess3"/>
    <dgm:cxn modelId="{21B0EDCD-1C2D-504D-907E-26327BAE45E5}" type="presParOf" srcId="{28739320-CC9B-1940-B126-6E14B9E0E2D9}" destId="{FB6AD10D-0170-A941-8C38-590D121EC16D}" srcOrd="0" destOrd="0" presId="urn:microsoft.com/office/officeart/2005/8/layout/bProcess3"/>
    <dgm:cxn modelId="{F9C0C3AF-B32E-5F44-8929-CBBC68B1B936}" type="presParOf" srcId="{28739320-CC9B-1940-B126-6E14B9E0E2D9}" destId="{C7584B08-0A1F-BA49-88AC-29D02014566B}" srcOrd="1" destOrd="0" presId="urn:microsoft.com/office/officeart/2005/8/layout/bProcess3"/>
    <dgm:cxn modelId="{C56917E2-100E-934A-AD83-EE470D8DC82A}" type="presParOf" srcId="{C7584B08-0A1F-BA49-88AC-29D02014566B}" destId="{9358B347-AADE-6F4E-BA2C-D53B138F8F09}" srcOrd="0" destOrd="0" presId="urn:microsoft.com/office/officeart/2005/8/layout/bProcess3"/>
    <dgm:cxn modelId="{A42601D1-3327-C249-B028-E87FCA642DD2}" type="presParOf" srcId="{28739320-CC9B-1940-B126-6E14B9E0E2D9}" destId="{C5C28F71-B6F1-6140-ABE4-F2F8EFEA2A60}" srcOrd="2" destOrd="0" presId="urn:microsoft.com/office/officeart/2005/8/layout/bProcess3"/>
    <dgm:cxn modelId="{D802B615-8883-D341-BAA5-959A348DF83F}" type="presParOf" srcId="{28739320-CC9B-1940-B126-6E14B9E0E2D9}" destId="{7C6C8CC4-8DDC-DB4A-A864-BBAD91FF52D0}" srcOrd="3" destOrd="0" presId="urn:microsoft.com/office/officeart/2005/8/layout/bProcess3"/>
    <dgm:cxn modelId="{C52AF1AA-7899-7446-81E5-240CCDC925B6}" type="presParOf" srcId="{7C6C8CC4-8DDC-DB4A-A864-BBAD91FF52D0}" destId="{B3398396-CF36-4049-A997-2CC644C2C964}" srcOrd="0" destOrd="0" presId="urn:microsoft.com/office/officeart/2005/8/layout/bProcess3"/>
    <dgm:cxn modelId="{C6882C9B-C439-7246-9624-2CD59A9C8F7E}" type="presParOf" srcId="{28739320-CC9B-1940-B126-6E14B9E0E2D9}" destId="{21465F50-952A-4B49-80A1-8A7E476A9ABC}" srcOrd="4" destOrd="0" presId="urn:microsoft.com/office/officeart/2005/8/layout/bProcess3"/>
    <dgm:cxn modelId="{CC71DB90-ACB1-E74C-B299-DA5F4C9B24AF}" type="presParOf" srcId="{28739320-CC9B-1940-B126-6E14B9E0E2D9}" destId="{CF1B19A3-10CB-BC46-BEE6-87DE4C2D918F}" srcOrd="5" destOrd="0" presId="urn:microsoft.com/office/officeart/2005/8/layout/bProcess3"/>
    <dgm:cxn modelId="{E3D24B5B-F6B2-834C-85A4-E207DCC57ABD}" type="presParOf" srcId="{CF1B19A3-10CB-BC46-BEE6-87DE4C2D918F}" destId="{FF20F125-3D9B-FD44-9BBD-6B12C47252B4}" srcOrd="0" destOrd="0" presId="urn:microsoft.com/office/officeart/2005/8/layout/bProcess3"/>
    <dgm:cxn modelId="{56378566-8BE8-9044-B3D8-C81DBBAB9C0C}" type="presParOf" srcId="{28739320-CC9B-1940-B126-6E14B9E0E2D9}" destId="{3448E9C8-F176-0341-AC42-1CEFBB051AEF}" srcOrd="6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542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Memory to processor</a:t>
          </a:r>
        </a:p>
      </dsp:txBody>
      <dsp:txXfrm>
        <a:off x="4542" y="0"/>
        <a:ext cx="1594172" cy="1554480"/>
      </dsp:txXfrm>
    </dsp:sp>
    <dsp:sp modelId="{7A289841-0DFA-DC40-B41C-1ABB1BB9507C}">
      <dsp:nvSpPr>
        <dsp:cNvPr id="0" name=""/>
        <dsp:cNvSpPr/>
      </dsp:nvSpPr>
      <dsp:spPr>
        <a:xfrm>
          <a:off x="163960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</a:p>
      </dsp:txBody>
      <dsp:txXfrm>
        <a:off x="201313" y="1591833"/>
        <a:ext cx="1200631" cy="3293334"/>
      </dsp:txXfrm>
    </dsp:sp>
    <dsp:sp modelId="{B2BA994D-30F9-6C41-A55D-ED7B7441E20B}">
      <dsp:nvSpPr>
        <dsp:cNvPr id="0" name=""/>
        <dsp:cNvSpPr/>
      </dsp:nvSpPr>
      <dsp:spPr>
        <a:xfrm>
          <a:off x="1718278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memory</a:t>
          </a:r>
        </a:p>
      </dsp:txBody>
      <dsp:txXfrm>
        <a:off x="1718278" y="0"/>
        <a:ext cx="1594172" cy="1554480"/>
      </dsp:txXfrm>
    </dsp:sp>
    <dsp:sp modelId="{FFF01117-2D73-4C4A-8AA2-26B5E57EA22A}">
      <dsp:nvSpPr>
        <dsp:cNvPr id="0" name=""/>
        <dsp:cNvSpPr/>
      </dsp:nvSpPr>
      <dsp:spPr>
        <a:xfrm>
          <a:off x="1877695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</a:p>
      </dsp:txBody>
      <dsp:txXfrm>
        <a:off x="1915048" y="1591833"/>
        <a:ext cx="1200631" cy="3293334"/>
      </dsp:txXfrm>
    </dsp:sp>
    <dsp:sp modelId="{723A76A5-AF66-704D-89E4-E12C687128C3}">
      <dsp:nvSpPr>
        <dsp:cNvPr id="0" name=""/>
        <dsp:cNvSpPr/>
      </dsp:nvSpPr>
      <dsp:spPr>
        <a:xfrm>
          <a:off x="3432013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processor</a:t>
          </a:r>
        </a:p>
      </dsp:txBody>
      <dsp:txXfrm>
        <a:off x="3432013" y="0"/>
        <a:ext cx="1594172" cy="1554480"/>
      </dsp:txXfrm>
    </dsp:sp>
    <dsp:sp modelId="{F3794D44-2421-604F-9FD1-6C436C8561DE}">
      <dsp:nvSpPr>
        <dsp:cNvPr id="0" name=""/>
        <dsp:cNvSpPr/>
      </dsp:nvSpPr>
      <dsp:spPr>
        <a:xfrm>
          <a:off x="359143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</a:p>
      </dsp:txBody>
      <dsp:txXfrm>
        <a:off x="3628784" y="1591833"/>
        <a:ext cx="1200631" cy="3293334"/>
      </dsp:txXfrm>
    </dsp:sp>
    <dsp:sp modelId="{9E9C8D55-3148-6340-864D-ABBC62D922A9}">
      <dsp:nvSpPr>
        <dsp:cNvPr id="0" name=""/>
        <dsp:cNvSpPr/>
      </dsp:nvSpPr>
      <dsp:spPr>
        <a:xfrm>
          <a:off x="5145749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Processor to I/O</a:t>
          </a:r>
        </a:p>
      </dsp:txBody>
      <dsp:txXfrm>
        <a:off x="5145749" y="0"/>
        <a:ext cx="1594172" cy="1554480"/>
      </dsp:txXfrm>
    </dsp:sp>
    <dsp:sp modelId="{548D6EDE-B8B3-C746-B02A-81D3EAD378CC}">
      <dsp:nvSpPr>
        <dsp:cNvPr id="0" name=""/>
        <dsp:cNvSpPr/>
      </dsp:nvSpPr>
      <dsp:spPr>
        <a:xfrm>
          <a:off x="5305166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</a:p>
      </dsp:txBody>
      <dsp:txXfrm>
        <a:off x="5342519" y="1591833"/>
        <a:ext cx="1200631" cy="3293334"/>
      </dsp:txXfrm>
    </dsp:sp>
    <dsp:sp modelId="{D2904A41-28E5-B841-BDD0-D02AAA21D5D0}">
      <dsp:nvSpPr>
        <dsp:cNvPr id="0" name=""/>
        <dsp:cNvSpPr/>
      </dsp:nvSpPr>
      <dsp:spPr>
        <a:xfrm>
          <a:off x="6859484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I/O to or from memory</a:t>
          </a:r>
        </a:p>
      </dsp:txBody>
      <dsp:txXfrm>
        <a:off x="6859484" y="0"/>
        <a:ext cx="1594172" cy="1554480"/>
      </dsp:txXfrm>
    </dsp:sp>
    <dsp:sp modelId="{CB75F928-42A8-694A-BAC0-2BC29682B0C3}">
      <dsp:nvSpPr>
        <dsp:cNvPr id="0" name=""/>
        <dsp:cNvSpPr/>
      </dsp:nvSpPr>
      <dsp:spPr>
        <a:xfrm>
          <a:off x="701890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sz="1500" b="1" kern="1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056254" y="1591833"/>
        <a:ext cx="1200631" cy="32933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121B5-F90D-4E46-B8FD-6CEC9D573020}">
      <dsp:nvSpPr>
        <dsp:cNvPr id="0" name=""/>
        <dsp:cNvSpPr/>
      </dsp:nvSpPr>
      <dsp:spPr>
        <a:xfrm>
          <a:off x="3566672" y="785318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827861"/>
        <a:ext cx="31772" cy="6354"/>
      </dsp:txXfrm>
    </dsp:sp>
    <dsp:sp modelId="{4198B288-5E33-5949-9D82-DB2307909588}">
      <dsp:nvSpPr>
        <dsp:cNvPr id="0" name=""/>
        <dsp:cNvSpPr/>
      </dsp:nvSpPr>
      <dsp:spPr>
        <a:xfrm>
          <a:off x="805627" y="2184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 communication pathway connecting two or more devices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Key characteristic is that it is a shared transmission medium</a:t>
          </a:r>
        </a:p>
      </dsp:txBody>
      <dsp:txXfrm>
        <a:off x="805627" y="2184"/>
        <a:ext cx="2762845" cy="1657707"/>
      </dsp:txXfrm>
    </dsp:sp>
    <dsp:sp modelId="{6E7EBF88-55F2-0E4E-90DA-D1819370D293}">
      <dsp:nvSpPr>
        <dsp:cNvPr id="0" name=""/>
        <dsp:cNvSpPr/>
      </dsp:nvSpPr>
      <dsp:spPr>
        <a:xfrm>
          <a:off x="2187050" y="1658091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1957341"/>
        <a:ext cx="172860" cy="6354"/>
      </dsp:txXfrm>
    </dsp:sp>
    <dsp:sp modelId="{5E43B7A7-1089-3A4F-B1C4-0B9B8381D3AD}">
      <dsp:nvSpPr>
        <dsp:cNvPr id="0" name=""/>
        <dsp:cNvSpPr/>
      </dsp:nvSpPr>
      <dsp:spPr>
        <a:xfrm>
          <a:off x="4203927" y="2184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Signals transmitted by any one device are available for reception by all other devices attached to the bus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If two devices transmit during the same time period their signals will overlap and become garbled</a:t>
          </a:r>
        </a:p>
      </dsp:txBody>
      <dsp:txXfrm>
        <a:off x="4203927" y="2184"/>
        <a:ext cx="2762845" cy="1657707"/>
      </dsp:txXfrm>
    </dsp:sp>
    <dsp:sp modelId="{51079562-9429-E64A-9F8F-15ABD7DBF7FD}">
      <dsp:nvSpPr>
        <dsp:cNvPr id="0" name=""/>
        <dsp:cNvSpPr/>
      </dsp:nvSpPr>
      <dsp:spPr>
        <a:xfrm>
          <a:off x="3566672" y="3078480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3121022"/>
        <a:ext cx="31772" cy="6354"/>
      </dsp:txXfrm>
    </dsp:sp>
    <dsp:sp modelId="{9631B1BB-A22D-5A45-ABBF-FE947F511F80}">
      <dsp:nvSpPr>
        <dsp:cNvPr id="0" name=""/>
        <dsp:cNvSpPr/>
      </dsp:nvSpPr>
      <dsp:spPr>
        <a:xfrm>
          <a:off x="8056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Typically consists of multiple communication lines</a:t>
          </a: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Each line is capable of transmitting signals representing binary 1 and binary 0</a:t>
          </a:r>
        </a:p>
      </dsp:txBody>
      <dsp:txXfrm>
        <a:off x="805627" y="2295346"/>
        <a:ext cx="2762845" cy="1657707"/>
      </dsp:txXfrm>
    </dsp:sp>
    <dsp:sp modelId="{C1D27491-8205-D643-90DC-71FD8A31FE32}">
      <dsp:nvSpPr>
        <dsp:cNvPr id="0" name=""/>
        <dsp:cNvSpPr/>
      </dsp:nvSpPr>
      <dsp:spPr>
        <a:xfrm>
          <a:off x="2187050" y="3951253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99769" y="4250503"/>
        <a:ext cx="172860" cy="6354"/>
      </dsp:txXfrm>
    </dsp:sp>
    <dsp:sp modelId="{B109764F-60F3-E749-9AE5-95B69D3F63D9}">
      <dsp:nvSpPr>
        <dsp:cNvPr id="0" name=""/>
        <dsp:cNvSpPr/>
      </dsp:nvSpPr>
      <dsp:spPr>
        <a:xfrm>
          <a:off x="42039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Computer systems contain a number of different buses that provide pathways between components at various levels of the computer system hierarchy</a:t>
          </a:r>
        </a:p>
      </dsp:txBody>
      <dsp:txXfrm>
        <a:off x="4203927" y="2295346"/>
        <a:ext cx="2762845" cy="1657707"/>
      </dsp:txXfrm>
    </dsp:sp>
    <dsp:sp modelId="{71B0C6C9-D4C6-D84F-8A1A-6C057EDBC2A7}">
      <dsp:nvSpPr>
        <dsp:cNvPr id="0" name=""/>
        <dsp:cNvSpPr/>
      </dsp:nvSpPr>
      <dsp:spPr>
        <a:xfrm>
          <a:off x="3566672" y="5371641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853213" y="5414184"/>
        <a:ext cx="31772" cy="6354"/>
      </dsp:txXfrm>
    </dsp:sp>
    <dsp:sp modelId="{D48F7CAA-0278-8240-8FAA-FE067A5D04D9}">
      <dsp:nvSpPr>
        <dsp:cNvPr id="0" name=""/>
        <dsp:cNvSpPr/>
      </dsp:nvSpPr>
      <dsp:spPr>
        <a:xfrm>
          <a:off x="805627" y="4588508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i="1" kern="1200" dirty="0"/>
            <a:t>System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 bus that connects major computer components (processor, memory, I/O)</a:t>
          </a:r>
        </a:p>
      </dsp:txBody>
      <dsp:txXfrm>
        <a:off x="805627" y="4588508"/>
        <a:ext cx="2762845" cy="1657707"/>
      </dsp:txXfrm>
    </dsp:sp>
    <dsp:sp modelId="{4A9314AF-31E5-2F46-A15A-D4ED62769F9A}">
      <dsp:nvSpPr>
        <dsp:cNvPr id="0" name=""/>
        <dsp:cNvSpPr/>
      </dsp:nvSpPr>
      <dsp:spPr>
        <a:xfrm>
          <a:off x="4203927" y="4588508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The most common computer interconnection structures are based on the use of one or more system buses</a:t>
          </a:r>
        </a:p>
      </dsp:txBody>
      <dsp:txXfrm>
        <a:off x="4203927" y="4588508"/>
        <a:ext cx="2762845" cy="16577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84B08-0A1F-BA49-88AC-29D02014566B}">
      <dsp:nvSpPr>
        <dsp:cNvPr id="0" name=""/>
        <dsp:cNvSpPr/>
      </dsp:nvSpPr>
      <dsp:spPr>
        <a:xfrm>
          <a:off x="3366254" y="936366"/>
          <a:ext cx="7221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2122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08497" y="978322"/>
        <a:ext cx="37636" cy="7527"/>
      </dsp:txXfrm>
    </dsp:sp>
    <dsp:sp modelId="{FB6AD10D-0170-A941-8C38-590D121EC16D}">
      <dsp:nvSpPr>
        <dsp:cNvPr id="0" name=""/>
        <dsp:cNvSpPr/>
      </dsp:nvSpPr>
      <dsp:spPr>
        <a:xfrm>
          <a:off x="95347" y="274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Principal reason for change was the electrical constraints encountered with increasing the frequency of wide synchronous buses</a:t>
          </a:r>
        </a:p>
      </dsp:txBody>
      <dsp:txXfrm>
        <a:off x="95347" y="274"/>
        <a:ext cx="3272707" cy="1963624"/>
      </dsp:txXfrm>
    </dsp:sp>
    <dsp:sp modelId="{7C6C8CC4-8DDC-DB4A-A864-BBAD91FF52D0}">
      <dsp:nvSpPr>
        <dsp:cNvPr id="0" name=""/>
        <dsp:cNvSpPr/>
      </dsp:nvSpPr>
      <dsp:spPr>
        <a:xfrm>
          <a:off x="1731700" y="1962098"/>
          <a:ext cx="4025430" cy="722122"/>
        </a:xfrm>
        <a:custGeom>
          <a:avLst/>
          <a:gdLst/>
          <a:ahLst/>
          <a:cxnLst/>
          <a:rect l="0" t="0" r="0" b="0"/>
          <a:pathLst>
            <a:path>
              <a:moveTo>
                <a:pt x="4025430" y="0"/>
              </a:moveTo>
              <a:lnTo>
                <a:pt x="4025430" y="378161"/>
              </a:lnTo>
              <a:lnTo>
                <a:pt x="0" y="378161"/>
              </a:lnTo>
              <a:lnTo>
                <a:pt x="0" y="722122"/>
              </a:lnTo>
            </a:path>
          </a:pathLst>
        </a:custGeom>
        <a:noFill/>
        <a:ln w="12700" cap="flat" cmpd="sng" algn="ctr">
          <a:solidFill>
            <a:schemeClr val="accent4">
              <a:hueOff val="-854369"/>
              <a:satOff val="36567"/>
              <a:lumOff val="215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642035" y="2319396"/>
        <a:ext cx="204760" cy="7527"/>
      </dsp:txXfrm>
    </dsp:sp>
    <dsp:sp modelId="{C5C28F71-B6F1-6140-ABE4-F2F8EFEA2A60}">
      <dsp:nvSpPr>
        <dsp:cNvPr id="0" name=""/>
        <dsp:cNvSpPr/>
      </dsp:nvSpPr>
      <dsp:spPr>
        <a:xfrm>
          <a:off x="4120777" y="274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569579"/>
                <a:satOff val="24378"/>
                <a:lumOff val="1438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569579"/>
                <a:satOff val="24378"/>
                <a:lumOff val="1438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chemeClr val="tx1"/>
              </a:solidFill>
              <a:effectLst/>
            </a:rPr>
            <a:t>At higher and higher data rates it becomes increasingly difficult to perform the synchronization and arbitration functions in a timely fashion</a:t>
          </a:r>
        </a:p>
      </dsp:txBody>
      <dsp:txXfrm>
        <a:off x="4120777" y="274"/>
        <a:ext cx="3272707" cy="1963624"/>
      </dsp:txXfrm>
    </dsp:sp>
    <dsp:sp modelId="{CF1B19A3-10CB-BC46-BEE6-87DE4C2D918F}">
      <dsp:nvSpPr>
        <dsp:cNvPr id="0" name=""/>
        <dsp:cNvSpPr/>
      </dsp:nvSpPr>
      <dsp:spPr>
        <a:xfrm>
          <a:off x="3366254" y="3652713"/>
          <a:ext cx="7221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722122" y="45720"/>
              </a:lnTo>
            </a:path>
          </a:pathLst>
        </a:custGeom>
        <a:noFill/>
        <a:ln w="12700" cap="flat" cmpd="sng" algn="ctr">
          <a:solidFill>
            <a:schemeClr val="accent4">
              <a:hueOff val="-1708738"/>
              <a:satOff val="73133"/>
              <a:lumOff val="431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08497" y="3694669"/>
        <a:ext cx="37636" cy="7527"/>
      </dsp:txXfrm>
    </dsp:sp>
    <dsp:sp modelId="{21465F50-952A-4B49-80A1-8A7E476A9ABC}">
      <dsp:nvSpPr>
        <dsp:cNvPr id="0" name=""/>
        <dsp:cNvSpPr/>
      </dsp:nvSpPr>
      <dsp:spPr>
        <a:xfrm>
          <a:off x="95347" y="2716621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1139159"/>
                <a:satOff val="48755"/>
                <a:lumOff val="2875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139159"/>
                <a:satOff val="48755"/>
                <a:lumOff val="2875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A conventional shared bus on the same chip magnified the difficulties of increasing bus data rate and reducing bus latency to keep up with the processors</a:t>
          </a:r>
        </a:p>
      </dsp:txBody>
      <dsp:txXfrm>
        <a:off x="95347" y="2716621"/>
        <a:ext cx="3272707" cy="1963624"/>
      </dsp:txXfrm>
    </dsp:sp>
    <dsp:sp modelId="{3448E9C8-F176-0341-AC42-1CEFBB051AEF}">
      <dsp:nvSpPr>
        <dsp:cNvPr id="0" name=""/>
        <dsp:cNvSpPr/>
      </dsp:nvSpPr>
      <dsp:spPr>
        <a:xfrm>
          <a:off x="4120777" y="2716621"/>
          <a:ext cx="3272707" cy="1963624"/>
        </a:xfrm>
        <a:prstGeom prst="rect">
          <a:avLst/>
        </a:prstGeom>
        <a:gradFill rotWithShape="0">
          <a:gsLst>
            <a:gs pos="0">
              <a:schemeClr val="accent4">
                <a:hueOff val="-1708738"/>
                <a:satOff val="73133"/>
                <a:lumOff val="4313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4">
                <a:hueOff val="-1708738"/>
                <a:satOff val="73133"/>
                <a:lumOff val="4313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1"/>
              </a:solidFill>
              <a:effectLst/>
            </a:rPr>
            <a:t>Has lower latency, higher data rate, and better scalability</a:t>
          </a:r>
        </a:p>
      </dsp:txBody>
      <dsp:txXfrm>
        <a:off x="4120777" y="2716621"/>
        <a:ext cx="3272707" cy="19636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961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8473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3 “A Top</a:t>
            </a:r>
            <a:r>
              <a:rPr lang="en-US" baseline="0" dirty="0">
                <a:latin typeface="Times New Roman" pitchFamily="-110" charset="0"/>
              </a:rPr>
              <a:t> Level View of Computer Function and Interconnection</a:t>
            </a:r>
            <a:r>
              <a:rPr lang="en-US" dirty="0">
                <a:latin typeface="Times New Roman" pitchFamily="-110" charset="0"/>
              </a:rPr>
              <a:t>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top level, a computer consists of CPU (central processing unit), memory,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components, with one or more modules of each type. These components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interconnected in some fashion to achieve the basic function of the computer, which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to execute programs. Thus, at a top level, we can characterize a computer system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describing (1) the external behavior of each component, that is, the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that it exchanges with other components and (2)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and the controls required to manage the use of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top-level view of structure and function is important because of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explanatory power in understanding the nature of a computer. Equally important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use to understand the increasingly complex issues of performance evaluation.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grasp of the top-level structure and function offers insight into system bottlenecks,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alternate pathways, the magnitude of system failures if a component fails, and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ease of adding performance enhancements. In many cases, requirements for greater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power and fail-safe capabilities are being met by changing the design rather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merely increasing the speed and reliability of individual components.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chapter focuses on the basic structures used for computer component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interconnection. As background, the chapter begins with a brief examination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basic components and their interface requirements. Then a functional overview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provided. We are then prepared to examine the use of buses to interconnect system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6D7E0-58B7-F64B-B355-38566347351C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cycle for a particular instruction may involve more than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reference to memory. Also, instead of memory references, an instruction may specify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operation. With these additional considerations in mind, Figure 3.6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detailed look at the basic instruction cycle of Figure 3.3. The figure is in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 of a state diagram.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any given instruction cycle, some states may be null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others may be visited more than once. The states can be described as follows: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address calculation (iac):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 the address of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be executed. Usually, this involves adding a fixed number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the previous instruction. For example, if each instruction is 16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long and memory is organized into 16-bit words, then add 1 to the previous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If, instead, memory is organized as individually addressable 8-bit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bytes, then add 2 to the previous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fetch (if):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instruction from its memory location into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operation decoding (iod):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Analyze instruction to determine type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operation to be performed and operand(s) to be used.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address calculation (oac):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the operation involves reference to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in memory or available via I/O, then determine the address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fetch (of):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the operand from memory or read it in from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operation (do):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the operation indicated in the instruction.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store (os):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the result into memory or out to I/O.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States in the upper part of Figure 3.6 involve an exchange between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and either memory or an I/O module. States in the lower part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involve only internal processor operations. The oac state appears twice,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an instruction may involve a read, a write, or both. However, the action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that state is fundamentally the same in both cases, and so only a single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identifier is needed.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note that the diagram allows for multiple operands and multiple results,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some instructions on some machines require this. For example, the PDP-11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 A,B results in the following sequence of states: iac, if, iod, oac, of,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oac, of, do, oac, os.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on some machines, a single instruction can specify an operation to be performed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vector (one-dimensional array) of numbers or a string (one-dimensional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array) of characters. As Figure 3.6 indicates, this would involve repetitive operand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and/or store operations.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Virtually all computers provide a mechanism by which other modules (I/O, memory)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normal processing of the processor. Table 3.1 lists the most common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classes of interrupts. The specific nature of these interrupts is examined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later in this book, especially in Chapters 7 and 14. However, we need to introduce the concept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to understand more clearly the nature of the instruction cycle and the implications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interrupts on the interconnection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F463A-006A-0B49-9C41-3375E75D6147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provided primarily as a way to improve processing efficiency.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most external devices are much slower than the processor. Suppose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the processor is transferring data to a printer using the instruction cycle scheme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Figure 3.3. After each write operation, the processor must pause and remain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idle until the printer catches up. The length of this pause may be on the order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hundreds or even thousands of instruction cycles that do not involve memory.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this is a very wasteful use of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3.7a illustrates this state of affairs. The user program performs a series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WRITE calls interleaved with processing. Code segments 1, 2, and 3 refer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sequences of instructions that do not involve I/O. The WRITE calls are to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that is a system utility and that will perform the actual I/O operation.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consists of three sections: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4 in the figure, to prepare for the actual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operation. This may include copying the data to be output into a special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and preparing the parameters for a device command.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actual I/O command. Without the use of interrupts, once this command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issued, the program must wait for the I/O device to perform the requested function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(or periodically poll the device). The program might wait by simply repeatedly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performing a test operation to determine if the I/O operation is done.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5 in the figure, to complete the operation.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may include setting a flag indicating the success or failure of the operation.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I/O operation may take a relatively long time to complete,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is hung up waiting for the operation to complete; hence, the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stopped at the point of the WRITE call for some considerable period of time.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interrupts, the processor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engaged in executing other instructions while an I/O operation is in progress.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the flow of control in Figure 3.7b. As before, the user program reaches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 at which it makes a system call in the form of a WRITE call. The I/O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is invoked in this case consists only of the preparation code and the actual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command. After these few instructions have been executed, control returns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program. Meanwhile, the external device is busy accepting data from computer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and printing it. This I/O operation is conducted concurrently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of instructions in the user program.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external device becomes ready to be serviced—that is, when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ready to accept more data from the processor—the I/O module for that external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sends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 to the processor. The processor responds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suspending operation of the current program, branching off to a program to service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particular I/O device, known as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resuming the original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after the device is serviced. The points at which such interrupts occur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indicated by an asterisk in Figure 3.7b.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Let us try to clarify what is happening in Figure 3.7. We have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contains two WRITE commands. There is a segment of code at the beginning,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then one WRITE command, then a second segment of code, then a second WRITE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command, then a third and final segment of code. The WRITE command invokes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provided by the OS. Similarly, the I/O program consists of a segment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code, followed by an I/O command, followed by another segment of code. The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invokes a hardware I/O operation.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the point of view of the user program, an interrupt is just that: an interruption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normal sequence of execution. When the interrupt processing is completed,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resumes (Figure 3.8). Thus, the user program does not have to contain any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special code to accommodate interrupts; the processor and the operating system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suspending the user program and then resuming it at the same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accommodate interrupts,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added to the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as shown in Figure 3.9. In the interrupt cycle, the processor checks to see if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any interrupts have occurred, indicated by the presence of an interrupt signal. If no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pending, the processor proceeds to the fetch cycle and fetches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instruction of the current program. If an interrupt is pending,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does the following: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suspends execution of the current program being executed and saves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context. This means saving the address of the next instruction to be executed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(current contents of the program counter) and any other data relevant to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processor’s current activity.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sets the program counter to the starting address of an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now proceeds to the fetch cycle and fetches the first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interrupt handler program, which will service the interrupt.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handler program is generally part of the operating system. Typically, this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nature of the interrupt and performs whatever actions are needed.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example we have been using, the handler determines which I/O module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generated the interrupt and may branch to a program that will write more data out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that I/O module. When the interrupt handler routine is completed, the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resume execution of the user program at the point of interruption.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clear that there is some overhead involved in this process. Extra instructions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executed (in the interrupt handler) to determine the nature of the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to decide on the appropriate action. Nevertheless, because of the relatively large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amount of time that would be wasted by simply waiting on an I/O operation,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can be employed much more efficiently with the use of interrupts.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9FD7A-68AE-2246-9696-D286D4DC51B8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3.12 shows a revised instruction cycle state diagram that includes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processing.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94A4-3155-A841-ACC2-3971B4768073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approaches can be taken to dealing with multiple interrupts. The first is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 interrupts while an interrupt is being processed.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disabled interrupt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means that the processor can and will ignore that interrupt request signal. If an interrupt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during this time, it generally remains pending and will be checked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after the processor has enabled interrupts. Thus, when a user program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executing and an interrupt occurs, interrupts are disabled immediately. After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 completes, interrupts are enabled before resuming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program, and the processor checks to see if additional interrupts have occurred.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approach is nice and simple, as interrupts are handled in strict sequential order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 3.13a).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drawback to the preceding approach is that it does not take into account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 priority or time-critical needs. For example, when input arrives from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line, it may need to be absorbed rapidly to make room for more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input. If the first batch of input has not been processed before the second batch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arrives, data may be lost.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second approach is to define priorities for interrupts and to allow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of higher priority to cause a lower-priority interrupt handler to be itself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interrupted (Figure 3.13b).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CAAD5B-E719-A746-9D42-C6CCFDA14778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example of this second approach, consider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with three I/O devices: a printer, a disk, and a communications line,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increasing priorities of 2, 4, and 5, respectively. Figure 3.14 illustrates a possible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sequence. A user program begins at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0. At t = 10,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printer interrupt occurs; user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is placed on the system stack and execution continues at the printer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service routine (ISR).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While this routine is still executing, at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15,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interrupt occurs. Because the communications line has higher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priority than the printer, the interrupt is honored. The printer ISR is interrupted,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state is pushed onto the stack, and execution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continues at the communications ISR. While this routine is executing, a disk interrupt 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20). Because this 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is of lower priority, it is simply held, and the communications ISR runs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completion.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communications ISR is complete 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25), the previous processor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is restored, which is the execution of the printer ISR. However, before even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 instruction in that routine can be executed, the processor honors the higher priority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disk interrupt and control transfers to the disk ISR. Only when that routine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complete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35) is the printer ISR resumed. When that routine completes (t = 40),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finally returns to the user program.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0F0E0C-5D68-9949-ACBC-82A0D7108A1B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computer consists of a set of components or modules of three basic types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(processor, memory, I/O) that communicate with each other. In effect, a computer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network of basic modules. Thus, there must be paths for connecting the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collection of paths connecting the various modules is called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</a:t>
            </a:r>
          </a:p>
          <a:p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of this structure will depend on the exchanges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made among modules.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3.15 suggests the types of exchanges that are needed by indicating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major forms of input and output for each module type: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memory module will consist of </a:t>
            </a:r>
            <a:r>
              <a:rPr kumimoji="1" lang="en-US" sz="1200" b="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words of equal length.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word is assigned a unique numerical address (0,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- 1). A word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can be read from or written into the memory. The nature of the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indicated by read and write control signals. The location for the operation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specified by an address.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module: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an internal (to the computer system) point of view,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functionally similar to memory. There are two operations, read and write.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Further, an I/O module may control more than one external device. We can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 to each of the interfaces to an external device as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give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unique address (e.g., 0, 1, …,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- 1)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In addition, there are external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paths for the input and output of data with an external device. Finally,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may be able to send interrupt signals to the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in instructions and data, writes out data after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processing, and uses control signals to control the overall operation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system. It also receives interrupt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D44FE-DACA-4D42-8C03-AE892A80BD0A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preceding list defines the data to be exchanged.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must support the following types of transfers: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an instruction or a unit of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writes a unit of data to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processor: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data from an I/O device via an I/O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sends data to the I/O device.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or from 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two cases, an I/O module is allowed to exchange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directly with memory, without going through the processor, using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memory access.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the years, a number of interconnection structures have been tried.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far the most common are (1) the bus and various multiple-bus structures, and (2)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 with packetized data transfer. We devote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remainder of this chapter for a discussion of these structures.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16D75-E218-A14B-B9E2-6CD651DC94F8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was the dominant means of computer system component interconnection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decades. For general-purpose computers, it has gradually given way to various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structures, which now dominate computer system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design. However, bus structures are still commonly used for embedded systems, particularly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microcontrollers. In this section, we give a brief overview of bus structure.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Appendix C provides more detail.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bus is a communication pathway connecting two or more devices. A key characteristic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bus is that it is a shared transmission medium. Multiple devices 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bus, and a signal transmitted by any one device is available for reception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other devices attached to the bus. If two devices transmit during the same time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period, their signals will overlap and become garbled. Thus, only one device at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can successfully transmit.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bus consists of multiple communication pathways, or lines.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capable of transmitting signals representing binary 1 and binary 0. Over time,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sequence of binary digits can be transmitted across a single line. Taken together,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several lines of a bus can be used to transmit binary digits simultaneously (in parallel).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an 8-bit unit of data can be transmitted over eight bus lines.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 systems contain a number of different buses that provide pathways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components at various levels of the computer system hierarchy. A bus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major computer components (processor, memory, I/O) is called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most common computer interconnection structures are based on the use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system buses.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889A1-02AE-F14F-8173-99F7AB073639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consists, typically, of from about fifty to hundreds of separate lines.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 a path for moving data among system modules.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lines, collectively, are called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 may consist of 32, 64, 128,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 more separate lines, the number of lines being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width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Because each line can carry only 1 bit at a time, the number of lines determines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many bits can be transferred at a time. The width of the data bus is a key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factor in determining overall system performance. For example, if the data bus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32 bits wide and each instruction is 64 bits long, then the processor must access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module twice during each instruction cycle.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DFCFA-2CFA-7C4C-BE9D-1BCBF27AFAA1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designate the source or destination of the data 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bus. For example, if the processor wishes to read a word (8, 16, or 32 bits)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from memory, it puts the address of the desired word on the address lines.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the width of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bus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maximum possible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capacity of the system. Furthermore, the address lines are generally also used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I/O ports. Typically, the higher-order bits are used to select a particular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on the bus, and the lower-order bits select a memory location or I/O port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within the module. For example, on an 8-bit address bus, address 01111111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below might reference locations in a memory module (module 0) with 128 words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memory, and address 10000000 and above refer to devices attached to an I/O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(module 1).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lines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control the access to and the use of the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lines. Because the data and address lines are shared by all components,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must be a means of controlling their use. Control signals transmit both command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timing information among system modules. Timing signals indicate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validity of data and address information. Command signals specify operations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performed. Typical control lines include:</a:t>
            </a:r>
            <a:endParaRPr kumimoji="1" lang="en-GB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write: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written into the addressed location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read: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location to be placed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write: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output to the addressed I/O port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read: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I/O port to be placed on the 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 ACK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indicates that data have been accepted from or placed on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request: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module needs to gain control of the 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grant: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requesting module has been granted control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an interrupt is pending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ACK: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acknowledges that the pending interrupt has been recognized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to synchronize operations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Reset: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initializes all modules</a:t>
            </a:r>
          </a:p>
          <a:p>
            <a:endParaRPr kumimoji="1" lang="en-US" sz="1200" b="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b="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F8F30-029E-7644-B43D-D6FE542EBDA3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line is assigned a particular meaning or function. Although there are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different bus designs, on any bus the lines can be classified into three functional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groups (Figure 3.16): data, address, and control lines. In addition, there may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power distribution lines that supply power to the attached modules.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operation of the bus is as follows. If one module wishes to send data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another, it must do two things: (1) obtain the use of the bus, and (2) transfer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via the bus. If one module wishes to request data from another module, it must (1)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obtain the use of the bus, and (2) transfer a request to the other module over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appropriate control and address lines. It must then wait for that second module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send the data.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shared bus architecture was the standard approach to interconnection between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and other components (memory, I/O, and so on) for decades. But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contemporary systems increasingly rely on point-to-point interconnection rather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shared buses.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principal reason driving the change from bus to point-to-point interconnect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the electrical constraints encountered with increasing the frequency of wide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buses. At higher and higher data rates, it becomes increasingly difficult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perform the synchronization and arbitration functions in a timely fashion. Further,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advent of multi-core chips, with multiple processors and significant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single chip, it was found that the use of a conventional shared bus on the same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magnified the difficulties of increasing bus data rate and reducing bus latency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keep up interconnect has lower latency, higher data rate, and better scalability.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221088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9552" y="5157192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/>
              <a:t>A Top-Level View of Computer </a:t>
            </a:r>
          </a:p>
          <a:p>
            <a:r>
              <a:rPr lang="en-US" sz="3200" dirty="0"/>
              <a:t>Function and Interconnection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54" b="24242"/>
          <a:stretch/>
        </p:blipFill>
        <p:spPr>
          <a:xfrm>
            <a:off x="-108520" y="-99392"/>
            <a:ext cx="9721080" cy="6756046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412776"/>
            <a:ext cx="8928992" cy="33111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86916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n-lt"/>
              </a:rPr>
              <a:t>Table 3.1 </a:t>
            </a:r>
          </a:p>
          <a:p>
            <a:pPr algn="ctr"/>
            <a:r>
              <a:rPr lang="en-US" dirty="0">
                <a:latin typeface="+mn-lt"/>
              </a:rPr>
              <a:t>    </a:t>
            </a:r>
          </a:p>
          <a:p>
            <a:pPr algn="ctr"/>
            <a:r>
              <a:rPr lang="en-US" dirty="0">
                <a:latin typeface="+mn-lt"/>
              </a:rPr>
              <a:t>Classes of Interrupts</a:t>
            </a:r>
          </a:p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7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94" t="5893" r="5425" b="8922"/>
          <a:stretch/>
        </p:blipFill>
        <p:spPr>
          <a:xfrm>
            <a:off x="323528" y="332656"/>
            <a:ext cx="8425440" cy="623285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8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4" b="27104"/>
          <a:stretch/>
        </p:blipFill>
        <p:spPr>
          <a:xfrm>
            <a:off x="-108520" y="-99392"/>
            <a:ext cx="9496384" cy="674470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9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303" b="26263"/>
          <a:stretch/>
        </p:blipFill>
        <p:spPr>
          <a:xfrm>
            <a:off x="-396552" y="836712"/>
            <a:ext cx="9736153" cy="547260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" t="14478" r="4905" b="16667"/>
          <a:stretch/>
        </p:blipFill>
        <p:spPr>
          <a:xfrm>
            <a:off x="4508" y="692696"/>
            <a:ext cx="9143999" cy="5342709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split orient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TextBox 6"/>
          <p:cNvSpPr txBox="1"/>
          <p:nvPr/>
        </p:nvSpPr>
        <p:spPr>
          <a:xfrm>
            <a:off x="260946" y="4487924"/>
            <a:ext cx="348654" cy="541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093" y="-166883"/>
            <a:ext cx="5338195" cy="6908251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pull dir="r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1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39" b="21212"/>
          <a:stretch/>
        </p:blipFill>
        <p:spPr>
          <a:xfrm>
            <a:off x="143000" y="-171400"/>
            <a:ext cx="9001000" cy="678507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719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484784"/>
            <a:ext cx="7556313" cy="4876800"/>
          </a:xfrm>
        </p:spPr>
        <p:txBody>
          <a:bodyPr>
            <a:normAutofit/>
          </a:bodyPr>
          <a:lstStyle/>
          <a:p>
            <a:r>
              <a:rPr lang="en-GB" dirty="0"/>
              <a:t>I/O module can exchange data directly with the processor</a:t>
            </a:r>
          </a:p>
          <a:p>
            <a:r>
              <a:rPr lang="en-GB" dirty="0"/>
              <a:t>Processor can read data from or write data to an I/O module</a:t>
            </a:r>
          </a:p>
          <a:p>
            <a:pPr lvl="1"/>
            <a:r>
              <a:rPr lang="en-GB" dirty="0"/>
              <a:t>Processor identifies a specific device that is controlled by a particular I/O module</a:t>
            </a:r>
          </a:p>
          <a:p>
            <a:pPr lvl="1"/>
            <a:r>
              <a:rPr lang="en-GB" dirty="0"/>
              <a:t>I/O instructions rather than memory referencing instructions</a:t>
            </a:r>
          </a:p>
          <a:p>
            <a:r>
              <a:rPr lang="en-GB" dirty="0"/>
              <a:t>In some cases it is desirable to allow I/O exchanges to occur directly with memory</a:t>
            </a:r>
          </a:p>
          <a:p>
            <a:pPr lvl="1"/>
            <a:r>
              <a:rPr lang="en-GB" dirty="0"/>
              <a:t>The processor grants to an I/O module the authority to read from or write to memory so that the I/O memory transfer can occur without tying up the processor</a:t>
            </a:r>
          </a:p>
          <a:p>
            <a:pPr lvl="1"/>
            <a:r>
              <a:rPr lang="en-GB" dirty="0"/>
              <a:t>The I/O module issues read or write commands to memory relieving the processor of responsibility for the exchange</a:t>
            </a:r>
          </a:p>
          <a:p>
            <a:pPr lvl="1"/>
            <a:r>
              <a:rPr lang="en-GB" dirty="0"/>
              <a:t>This operation is known as direct memory access (DMA)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TextBox 16"/>
          <p:cNvSpPr txBox="1"/>
          <p:nvPr/>
        </p:nvSpPr>
        <p:spPr>
          <a:xfrm>
            <a:off x="990600" y="228600"/>
            <a:ext cx="228600" cy="66293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5486400" y="0"/>
            <a:ext cx="228600" cy="685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 descr="f1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07" t="7239" r="18758" b="5892"/>
          <a:stretch/>
        </p:blipFill>
        <p:spPr>
          <a:xfrm>
            <a:off x="2411760" y="0"/>
            <a:ext cx="3625052" cy="638405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ssolv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sz="2400" dirty="0"/>
              <a:t>The interconnection structure must support the following types of transfers:</a:t>
            </a:r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88266055"/>
              </p:ext>
            </p:extLst>
          </p:nvPr>
        </p:nvGraphicFramePr>
        <p:xfrm>
          <a:off x="393095" y="1202267"/>
          <a:ext cx="8458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553351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391400" y="685800"/>
            <a:ext cx="1752600" cy="6172200"/>
          </a:xfrm>
        </p:spPr>
        <p:txBody>
          <a:bodyPr vert="wordArtVert"/>
          <a:lstStyle/>
          <a:p>
            <a:pPr algn="ctr"/>
            <a:r>
              <a:rPr lang="en-GB" spc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</a:t>
            </a: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63006308"/>
              </p:ext>
            </p:extLst>
          </p:nvPr>
        </p:nvGraphicFramePr>
        <p:xfrm>
          <a:off x="-247952" y="199571"/>
          <a:ext cx="77724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87824" y="4221088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9872" y="1916832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565446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810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219200"/>
            <a:ext cx="7556500" cy="5029200"/>
          </a:xfrm>
        </p:spPr>
        <p:txBody>
          <a:bodyPr>
            <a:normAutofit/>
          </a:bodyPr>
          <a:lstStyle/>
          <a:p>
            <a:r>
              <a:rPr lang="en-GB" dirty="0"/>
              <a:t>Data lines that provide a path for moving data among system modules</a:t>
            </a:r>
          </a:p>
          <a:p>
            <a:r>
              <a:rPr lang="en-GB" dirty="0"/>
              <a:t>May consist of 32, 64, 128, or more separate lines</a:t>
            </a:r>
          </a:p>
          <a:p>
            <a:r>
              <a:rPr lang="en-GB" dirty="0"/>
              <a:t>The number of lines is referred to as the </a:t>
            </a:r>
            <a:r>
              <a:rPr lang="en-GB" i="1" dirty="0"/>
              <a:t>width</a:t>
            </a:r>
            <a:r>
              <a:rPr lang="en-GB" dirty="0"/>
              <a:t> of the data bus</a:t>
            </a:r>
          </a:p>
          <a:p>
            <a:r>
              <a:rPr lang="en-GB" dirty="0"/>
              <a:t>The number of lines determines how many bits can be transferred at a time</a:t>
            </a:r>
          </a:p>
          <a:p>
            <a:r>
              <a:rPr lang="en-GB" dirty="0"/>
              <a:t>The width of the data bus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is a key factor in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determining overall </a:t>
            </a:r>
          </a:p>
          <a:p>
            <a:pPr>
              <a:spcBef>
                <a:spcPts val="0"/>
              </a:spcBef>
              <a:buNone/>
            </a:pPr>
            <a:r>
              <a:rPr lang="en-GB" dirty="0"/>
              <a:t>    system performance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0"/>
            <a:ext cx="5079799" cy="28321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7556313" cy="658906"/>
          </a:xfrm>
        </p:spPr>
        <p:txBody>
          <a:bodyPr/>
          <a:lstStyle/>
          <a:p>
            <a:r>
              <a:rPr lang="en-GB" dirty="0"/>
              <a:t>   Address Bus	      Control Bus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67544" y="1988840"/>
            <a:ext cx="3657600" cy="4724401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Used to designate the source or destination of the data on the data bus</a:t>
            </a:r>
          </a:p>
          <a:p>
            <a:pPr lvl="1"/>
            <a:r>
              <a:rPr lang="en-GB" dirty="0"/>
              <a:t>If the processor wishes to read a word of data from memory it puts the address of the desired word on the address lines</a:t>
            </a:r>
          </a:p>
          <a:p>
            <a:r>
              <a:rPr lang="en-GB" dirty="0"/>
              <a:t>Width determines the maximum possible memory capacity of the system</a:t>
            </a:r>
          </a:p>
          <a:p>
            <a:r>
              <a:rPr lang="en-GB" dirty="0"/>
              <a:t>Also used to address I/O ports</a:t>
            </a:r>
          </a:p>
          <a:p>
            <a:pPr lvl="1"/>
            <a:r>
              <a:rPr lang="en-GB" dirty="0"/>
              <a:t>The higher order bits are used to select a particular module on the bus and the lower order bits select a memory location or I/O port within the module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99878" y="2133600"/>
            <a:ext cx="3657600" cy="441959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Used to control the access and the use of the data and address lines</a:t>
            </a:r>
          </a:p>
          <a:p>
            <a:r>
              <a:rPr lang="en-US" dirty="0"/>
              <a:t>Because the data and address lines are shared by all components there must be a means of controlling their use</a:t>
            </a:r>
          </a:p>
          <a:p>
            <a:r>
              <a:rPr lang="en-US" dirty="0"/>
              <a:t>Control signals transmit both command and timing information among system modules</a:t>
            </a:r>
          </a:p>
          <a:p>
            <a:r>
              <a:rPr lang="en-US" dirty="0"/>
              <a:t>Timing signals indicate the validity of data and address information</a:t>
            </a:r>
          </a:p>
          <a:p>
            <a:r>
              <a:rPr lang="en-US" dirty="0"/>
              <a:t>Command signals specify operations to be performed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67544" y="836712"/>
            <a:ext cx="3657600" cy="869577"/>
          </a:xfrm>
        </p:spPr>
        <p:txBody>
          <a:bodyPr/>
          <a:lstStyle/>
          <a:p>
            <a:r>
              <a:rPr lang="en-US" dirty="0"/>
              <a:t>       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27984" y="980728"/>
            <a:ext cx="3657600" cy="869576"/>
          </a:xfrm>
        </p:spPr>
        <p:txBody>
          <a:bodyPr/>
          <a:lstStyle/>
          <a:p>
            <a:r>
              <a:rPr lang="en-US" dirty="0"/>
              <a:t>         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biLevel thresh="75000"/>
          </a:blip>
          <a:stretch>
            <a:fillRect/>
          </a:stretch>
        </p:blipFill>
        <p:spPr>
          <a:xfrm>
            <a:off x="-108520" y="836712"/>
            <a:ext cx="2072923" cy="1155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176" y="1124744"/>
            <a:ext cx="2072923" cy="11557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179512" y="6492875"/>
            <a:ext cx="6122894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16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" t="16162" r="3474" b="28282"/>
          <a:stretch/>
        </p:blipFill>
        <p:spPr>
          <a:xfrm>
            <a:off x="6106" y="1844824"/>
            <a:ext cx="9175174" cy="4182054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Point-to-Point Interconnect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2707299"/>
              </p:ext>
            </p:extLst>
          </p:nvPr>
        </p:nvGraphicFramePr>
        <p:xfrm>
          <a:off x="467545" y="1412776"/>
          <a:ext cx="7488832" cy="4680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11368</TotalTime>
  <Words>5688</Words>
  <Application>Microsoft Office PowerPoint</Application>
  <PresentationFormat>On-screen Show (4:3)</PresentationFormat>
  <Paragraphs>495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Chapter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I/O Function</vt:lpstr>
      <vt:lpstr>PowerPoint Presentation</vt:lpstr>
      <vt:lpstr>The interconnection structure must support the following types of transfers:</vt:lpstr>
      <vt:lpstr>Bus Interconnection</vt:lpstr>
      <vt:lpstr>Data Bus</vt:lpstr>
      <vt:lpstr>   Address Bus       Control Bus</vt:lpstr>
      <vt:lpstr>PowerPoint Presentation</vt:lpstr>
      <vt:lpstr>Point-to-Point Interconnect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Dr. Ghulam Muhammad BUKC</cp:lastModifiedBy>
  <cp:revision>152</cp:revision>
  <cp:lastPrinted>1999-09-24T09:11:31Z</cp:lastPrinted>
  <dcterms:created xsi:type="dcterms:W3CDTF">2012-06-16T23:28:52Z</dcterms:created>
  <dcterms:modified xsi:type="dcterms:W3CDTF">2023-03-08T06:24:07Z</dcterms:modified>
</cp:coreProperties>
</file>