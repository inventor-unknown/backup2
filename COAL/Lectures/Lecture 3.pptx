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21"/>
  </p:notesMasterIdLst>
  <p:handoutMasterIdLst>
    <p:handoutMasterId r:id="rId22"/>
  </p:handoutMasterIdLst>
  <p:sldIdLst>
    <p:sldId id="354" r:id="rId2"/>
    <p:sldId id="355" r:id="rId3"/>
    <p:sldId id="359" r:id="rId4"/>
    <p:sldId id="279" r:id="rId5"/>
    <p:sldId id="302" r:id="rId6"/>
    <p:sldId id="303" r:id="rId7"/>
    <p:sldId id="305" r:id="rId8"/>
    <p:sldId id="306" r:id="rId9"/>
    <p:sldId id="307" r:id="rId10"/>
    <p:sldId id="256" r:id="rId11"/>
    <p:sldId id="257" r:id="rId12"/>
    <p:sldId id="258" r:id="rId13"/>
    <p:sldId id="264" r:id="rId14"/>
    <p:sldId id="265" r:id="rId15"/>
    <p:sldId id="259" r:id="rId16"/>
    <p:sldId id="262" r:id="rId17"/>
    <p:sldId id="263" r:id="rId18"/>
    <p:sldId id="266" r:id="rId19"/>
    <p:sldId id="267" r:id="rId2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a:srgbClr val="8000FF"/>
    <a:srgbClr val="6666FF"/>
    <a:srgbClr val="80808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76" autoAdjust="0"/>
    <p:restoredTop sz="83683" autoAdjust="0"/>
  </p:normalViewPr>
  <p:slideViewPr>
    <p:cSldViewPr>
      <p:cViewPr varScale="1">
        <p:scale>
          <a:sx n="73" d="100"/>
          <a:sy n="73" d="100"/>
        </p:scale>
        <p:origin x="1644" y="6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slide" Target="slides/slide4.xml"/><Relationship Id="rId1" Type="http://schemas.openxmlformats.org/officeDocument/2006/relationships/slide" Target="slides/slide1.xml"/><Relationship Id="rId6" Type="http://schemas.openxmlformats.org/officeDocument/2006/relationships/slide" Target="slides/slide9.xml"/><Relationship Id="rId5" Type="http://schemas.openxmlformats.org/officeDocument/2006/relationships/slide" Target="slides/slide8.xml"/><Relationship Id="rId4"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AEE847-EAD2-FE40-8C84-DA512223181C}"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1F9DFB5F-DB72-3648-AF91-4FECE9B6B05B}">
      <dgm:prSet/>
      <dgm:spPr/>
      <dgm:t>
        <a:bodyPr/>
        <a:lstStyle/>
        <a:p>
          <a:pPr rtl="0"/>
          <a:r>
            <a:rPr lang="en-US" dirty="0"/>
            <a:t>Pipelining</a:t>
          </a:r>
        </a:p>
      </dgm:t>
    </dgm:pt>
    <dgm:pt modelId="{4AE55039-A559-5B46-940A-75ACC4386115}" type="parTrans" cxnId="{D4A65260-D363-034C-BC13-9724735933CB}">
      <dgm:prSet/>
      <dgm:spPr/>
      <dgm:t>
        <a:bodyPr/>
        <a:lstStyle/>
        <a:p>
          <a:endParaRPr lang="en-US"/>
        </a:p>
      </dgm:t>
    </dgm:pt>
    <dgm:pt modelId="{E8DDD59A-4B47-2445-810B-652711BDAF3F}" type="sibTrans" cxnId="{D4A65260-D363-034C-BC13-9724735933CB}">
      <dgm:prSet/>
      <dgm:spPr/>
      <dgm:t>
        <a:bodyPr/>
        <a:lstStyle/>
        <a:p>
          <a:endParaRPr lang="en-US"/>
        </a:p>
      </dgm:t>
    </dgm:pt>
    <dgm:pt modelId="{D0904AE8-993E-5942-97B6-306A66DF04F0}">
      <dgm:prSet custT="1"/>
      <dgm:spPr/>
      <dgm:t>
        <a:bodyPr/>
        <a:lstStyle/>
        <a:p>
          <a:pPr rtl="0"/>
          <a:r>
            <a:rPr lang="en-US" sz="1600" dirty="0"/>
            <a:t>Processor moves data or instructions into a conceptual pipe with all stages of the pipe processing simultaneously</a:t>
          </a:r>
        </a:p>
      </dgm:t>
    </dgm:pt>
    <dgm:pt modelId="{9F75FF9E-95F7-3A42-86AC-D87CBB9B2829}" type="parTrans" cxnId="{3F703D20-B38D-0440-87DC-35CF43E74087}">
      <dgm:prSet/>
      <dgm:spPr/>
      <dgm:t>
        <a:bodyPr/>
        <a:lstStyle/>
        <a:p>
          <a:endParaRPr lang="en-US"/>
        </a:p>
      </dgm:t>
    </dgm:pt>
    <dgm:pt modelId="{C6C74CB0-07D1-2444-933E-62ABDDE156FE}" type="sibTrans" cxnId="{3F703D20-B38D-0440-87DC-35CF43E74087}">
      <dgm:prSet/>
      <dgm:spPr/>
      <dgm:t>
        <a:bodyPr/>
        <a:lstStyle/>
        <a:p>
          <a:endParaRPr lang="en-US"/>
        </a:p>
      </dgm:t>
    </dgm:pt>
    <dgm:pt modelId="{9CFA17D8-46EF-D540-AC03-B1D783B08EBB}">
      <dgm:prSet/>
      <dgm:spPr/>
      <dgm:t>
        <a:bodyPr/>
        <a:lstStyle/>
        <a:p>
          <a:pPr rtl="0"/>
          <a:r>
            <a:rPr lang="en-US" dirty="0"/>
            <a:t>Branch prediction</a:t>
          </a:r>
        </a:p>
      </dgm:t>
    </dgm:pt>
    <dgm:pt modelId="{76F69678-778B-5942-BA13-4C4F290378CC}" type="parTrans" cxnId="{2EC13DCA-044A-5F4E-BFC5-433958E2AAB6}">
      <dgm:prSet/>
      <dgm:spPr/>
      <dgm:t>
        <a:bodyPr/>
        <a:lstStyle/>
        <a:p>
          <a:endParaRPr lang="en-US"/>
        </a:p>
      </dgm:t>
    </dgm:pt>
    <dgm:pt modelId="{C9D2CDA4-3B56-B44E-9256-FA215816FA39}" type="sibTrans" cxnId="{2EC13DCA-044A-5F4E-BFC5-433958E2AAB6}">
      <dgm:prSet/>
      <dgm:spPr/>
      <dgm:t>
        <a:bodyPr/>
        <a:lstStyle/>
        <a:p>
          <a:endParaRPr lang="en-US"/>
        </a:p>
      </dgm:t>
    </dgm:pt>
    <dgm:pt modelId="{39E21E8D-BCE6-874A-8E05-4FFC68AFADA3}">
      <dgm:prSet custT="1"/>
      <dgm:spPr/>
      <dgm:t>
        <a:bodyPr/>
        <a:lstStyle/>
        <a:p>
          <a:pPr rtl="0"/>
          <a:r>
            <a:rPr lang="en-US" sz="1400" dirty="0"/>
            <a:t>Processor looks ahead in the instruction code fetched from memory and predicts which branches, or groups of instructions, are likely to be processed next</a:t>
          </a:r>
        </a:p>
      </dgm:t>
    </dgm:pt>
    <dgm:pt modelId="{D7E8EFC3-C4E7-A34B-B349-9059739AD4BB}" type="parTrans" cxnId="{D89EA3E6-2CA9-904E-B95E-CE3A420575DE}">
      <dgm:prSet/>
      <dgm:spPr/>
      <dgm:t>
        <a:bodyPr/>
        <a:lstStyle/>
        <a:p>
          <a:endParaRPr lang="en-US"/>
        </a:p>
      </dgm:t>
    </dgm:pt>
    <dgm:pt modelId="{A8B5980D-5E5F-7D4B-B523-AC127D7ABF5F}" type="sibTrans" cxnId="{D89EA3E6-2CA9-904E-B95E-CE3A420575DE}">
      <dgm:prSet/>
      <dgm:spPr/>
      <dgm:t>
        <a:bodyPr/>
        <a:lstStyle/>
        <a:p>
          <a:endParaRPr lang="en-US"/>
        </a:p>
      </dgm:t>
    </dgm:pt>
    <dgm:pt modelId="{30C97FF5-6C28-2047-A086-66AB02D8C9E6}">
      <dgm:prSet/>
      <dgm:spPr/>
      <dgm:t>
        <a:bodyPr/>
        <a:lstStyle/>
        <a:p>
          <a:pPr rtl="0"/>
          <a:r>
            <a:rPr lang="en-US" dirty="0"/>
            <a:t>Data flow analysis</a:t>
          </a:r>
        </a:p>
      </dgm:t>
    </dgm:pt>
    <dgm:pt modelId="{8B33C48A-2DB3-7044-9606-73F5DE3532D7}" type="parTrans" cxnId="{8F91E62B-0F7C-5A42-841A-E7940D3EE6E8}">
      <dgm:prSet/>
      <dgm:spPr/>
      <dgm:t>
        <a:bodyPr/>
        <a:lstStyle/>
        <a:p>
          <a:endParaRPr lang="en-US"/>
        </a:p>
      </dgm:t>
    </dgm:pt>
    <dgm:pt modelId="{39F20121-8F60-EF4F-86A6-AFD0374E46AF}" type="sibTrans" cxnId="{8F91E62B-0F7C-5A42-841A-E7940D3EE6E8}">
      <dgm:prSet/>
      <dgm:spPr/>
      <dgm:t>
        <a:bodyPr/>
        <a:lstStyle/>
        <a:p>
          <a:endParaRPr lang="en-US"/>
        </a:p>
      </dgm:t>
    </dgm:pt>
    <dgm:pt modelId="{1ADEEF36-6D40-D44F-9B35-90E0CDA42AB8}">
      <dgm:prSet custT="1"/>
      <dgm:spPr/>
      <dgm:t>
        <a:bodyPr/>
        <a:lstStyle/>
        <a:p>
          <a:pPr rtl="0"/>
          <a:r>
            <a:rPr lang="en-US" sz="1400" dirty="0"/>
            <a:t>Processor analyzes which instructions are dependent on each other’s results, or data, to create an optimized schedule of instructions</a:t>
          </a:r>
        </a:p>
      </dgm:t>
    </dgm:pt>
    <dgm:pt modelId="{8BF2F0E2-2B88-9D4E-9A6B-A4483BF6CDE4}" type="parTrans" cxnId="{46F765FF-7156-694C-984E-6EAE0E5C28A5}">
      <dgm:prSet/>
      <dgm:spPr/>
      <dgm:t>
        <a:bodyPr/>
        <a:lstStyle/>
        <a:p>
          <a:endParaRPr lang="en-US"/>
        </a:p>
      </dgm:t>
    </dgm:pt>
    <dgm:pt modelId="{81FDBB88-0681-8E4E-8D8B-BB30C3BAFA65}" type="sibTrans" cxnId="{46F765FF-7156-694C-984E-6EAE0E5C28A5}">
      <dgm:prSet/>
      <dgm:spPr/>
      <dgm:t>
        <a:bodyPr/>
        <a:lstStyle/>
        <a:p>
          <a:endParaRPr lang="en-US"/>
        </a:p>
      </dgm:t>
    </dgm:pt>
    <dgm:pt modelId="{96FA048A-5310-FE4D-81B2-9D70B7C257AA}">
      <dgm:prSet/>
      <dgm:spPr/>
      <dgm:t>
        <a:bodyPr/>
        <a:lstStyle/>
        <a:p>
          <a:pPr rtl="0"/>
          <a:r>
            <a:rPr lang="en-US" dirty="0"/>
            <a:t>Speculative execution</a:t>
          </a:r>
        </a:p>
      </dgm:t>
    </dgm:pt>
    <dgm:pt modelId="{E46BF334-3C6C-F643-8363-F7310281F45D}" type="parTrans" cxnId="{1950FF33-8146-2642-B11E-74530D295442}">
      <dgm:prSet/>
      <dgm:spPr/>
      <dgm:t>
        <a:bodyPr/>
        <a:lstStyle/>
        <a:p>
          <a:endParaRPr lang="en-US"/>
        </a:p>
      </dgm:t>
    </dgm:pt>
    <dgm:pt modelId="{AC35690D-9D17-014B-8008-2A5C688BF974}" type="sibTrans" cxnId="{1950FF33-8146-2642-B11E-74530D295442}">
      <dgm:prSet/>
      <dgm:spPr/>
      <dgm:t>
        <a:bodyPr/>
        <a:lstStyle/>
        <a:p>
          <a:endParaRPr lang="en-US"/>
        </a:p>
      </dgm:t>
    </dgm:pt>
    <dgm:pt modelId="{0DA0EBF7-C177-5C4F-9EAE-1A180967A483}">
      <dgm:prSet custT="1"/>
      <dgm:spPr/>
      <dgm:t>
        <a:bodyPr/>
        <a:lstStyle/>
        <a:p>
          <a:pPr rtl="0"/>
          <a:r>
            <a:rPr lang="en-US" sz="1200" dirty="0"/>
            <a:t>Using branch prediction and data flow analysis, some processors speculatively execute instructions ahead of their actual appearance in the program execution, holding the results in temporary locations, keeping execution engines as busy as possible</a:t>
          </a:r>
        </a:p>
      </dgm:t>
    </dgm:pt>
    <dgm:pt modelId="{4A466D16-CBA1-5143-B43C-964C8F088F9E}" type="parTrans" cxnId="{CB9B861B-73E3-1449-BB22-CAF83A6C153E}">
      <dgm:prSet/>
      <dgm:spPr/>
      <dgm:t>
        <a:bodyPr/>
        <a:lstStyle/>
        <a:p>
          <a:endParaRPr lang="en-US"/>
        </a:p>
      </dgm:t>
    </dgm:pt>
    <dgm:pt modelId="{2CF877C0-D3B3-774A-BDC9-CCB09F6CE2DF}" type="sibTrans" cxnId="{CB9B861B-73E3-1449-BB22-CAF83A6C153E}">
      <dgm:prSet/>
      <dgm:spPr/>
      <dgm:t>
        <a:bodyPr/>
        <a:lstStyle/>
        <a:p>
          <a:endParaRPr lang="en-US"/>
        </a:p>
      </dgm:t>
    </dgm:pt>
    <dgm:pt modelId="{8A26F3A1-AB6C-5049-B361-FAF4609B2616}">
      <dgm:prSet/>
      <dgm:spPr/>
      <dgm:t>
        <a:bodyPr/>
        <a:lstStyle/>
        <a:p>
          <a:pPr rtl="0"/>
          <a:r>
            <a:rPr lang="en-US" dirty="0"/>
            <a:t>Superscalar execution</a:t>
          </a:r>
        </a:p>
      </dgm:t>
    </dgm:pt>
    <dgm:pt modelId="{AC6437F1-8798-1544-BB20-AB95D8409774}" type="parTrans" cxnId="{760301D8-6D8F-3C4B-A4AB-150C60644331}">
      <dgm:prSet/>
      <dgm:spPr/>
      <dgm:t>
        <a:bodyPr/>
        <a:lstStyle/>
        <a:p>
          <a:endParaRPr lang="en-US"/>
        </a:p>
      </dgm:t>
    </dgm:pt>
    <dgm:pt modelId="{1EE08078-6E4D-7842-9B72-3F0C7C3378C4}" type="sibTrans" cxnId="{760301D8-6D8F-3C4B-A4AB-150C60644331}">
      <dgm:prSet/>
      <dgm:spPr/>
      <dgm:t>
        <a:bodyPr/>
        <a:lstStyle/>
        <a:p>
          <a:endParaRPr lang="en-US"/>
        </a:p>
      </dgm:t>
    </dgm:pt>
    <dgm:pt modelId="{CE02E82E-38D7-9F49-B76A-A9DEA9406EA8}">
      <dgm:prSet custT="1"/>
      <dgm:spPr/>
      <dgm:t>
        <a:bodyPr/>
        <a:lstStyle/>
        <a:p>
          <a:pPr rtl="0"/>
          <a:r>
            <a:rPr lang="en-US" sz="1400" dirty="0"/>
            <a:t>This is the ability to issue more than one instruction in every processor clock cycle. (In effect, multiple parallel pipelines are used.)</a:t>
          </a:r>
        </a:p>
      </dgm:t>
    </dgm:pt>
    <dgm:pt modelId="{E3906516-8F1C-4E44-BF3B-DE1A16420EAE}" type="parTrans" cxnId="{A9BAD250-28CD-0A43-8EEB-F79FC2853276}">
      <dgm:prSet/>
      <dgm:spPr/>
      <dgm:t>
        <a:bodyPr/>
        <a:lstStyle/>
        <a:p>
          <a:endParaRPr lang="en-US"/>
        </a:p>
      </dgm:t>
    </dgm:pt>
    <dgm:pt modelId="{D0DB07B7-D114-984D-A8F2-E3D6867CD40F}" type="sibTrans" cxnId="{A9BAD250-28CD-0A43-8EEB-F79FC2853276}">
      <dgm:prSet/>
      <dgm:spPr/>
      <dgm:t>
        <a:bodyPr/>
        <a:lstStyle/>
        <a:p>
          <a:endParaRPr lang="en-US"/>
        </a:p>
      </dgm:t>
    </dgm:pt>
    <dgm:pt modelId="{B5438589-107F-BE44-8E79-B96C087882C3}" type="pres">
      <dgm:prSet presAssocID="{8BAEE847-EAD2-FE40-8C84-DA512223181C}" presName="Name0" presStyleCnt="0">
        <dgm:presLayoutVars>
          <dgm:chMax val="7"/>
          <dgm:dir/>
          <dgm:animLvl val="lvl"/>
          <dgm:resizeHandles val="exact"/>
        </dgm:presLayoutVars>
      </dgm:prSet>
      <dgm:spPr/>
    </dgm:pt>
    <dgm:pt modelId="{8F8399CD-6D80-A04B-A73D-FAE536245E54}" type="pres">
      <dgm:prSet presAssocID="{1F9DFB5F-DB72-3648-AF91-4FECE9B6B05B}" presName="circle1" presStyleLbl="node1" presStyleIdx="0" presStyleCnt="5"/>
      <dgm:spPr/>
    </dgm:pt>
    <dgm:pt modelId="{C8351538-822B-924A-B1CC-4E89FE8D8B98}" type="pres">
      <dgm:prSet presAssocID="{1F9DFB5F-DB72-3648-AF91-4FECE9B6B05B}" presName="space" presStyleCnt="0"/>
      <dgm:spPr/>
    </dgm:pt>
    <dgm:pt modelId="{1C95AEB3-1C20-5849-B1AE-D3E218984151}" type="pres">
      <dgm:prSet presAssocID="{1F9DFB5F-DB72-3648-AF91-4FECE9B6B05B}" presName="rect1" presStyleLbl="alignAcc1" presStyleIdx="0" presStyleCnt="5" custLinFactNeighborX="-31257" custLinFactNeighborY="-3573"/>
      <dgm:spPr/>
    </dgm:pt>
    <dgm:pt modelId="{E5E6FCE1-34FD-AE40-955F-2C56C6769BE6}" type="pres">
      <dgm:prSet presAssocID="{9CFA17D8-46EF-D540-AC03-B1D783B08EBB}" presName="vertSpace2" presStyleLbl="node1" presStyleIdx="0" presStyleCnt="5"/>
      <dgm:spPr/>
    </dgm:pt>
    <dgm:pt modelId="{95965867-777A-B244-9440-59A3ABA67E2E}" type="pres">
      <dgm:prSet presAssocID="{9CFA17D8-46EF-D540-AC03-B1D783B08EBB}" presName="circle2" presStyleLbl="node1" presStyleIdx="1" presStyleCnt="5"/>
      <dgm:spPr/>
    </dgm:pt>
    <dgm:pt modelId="{62C26FB8-F960-704B-9B69-4C5DA54F634F}" type="pres">
      <dgm:prSet presAssocID="{9CFA17D8-46EF-D540-AC03-B1D783B08EBB}" presName="rect2" presStyleLbl="alignAcc1" presStyleIdx="1" presStyleCnt="5" custLinFactNeighborX="-31257" custLinFactNeighborY="1381"/>
      <dgm:spPr/>
    </dgm:pt>
    <dgm:pt modelId="{21097EEF-7F32-5B40-849F-5D64D8FB6490}" type="pres">
      <dgm:prSet presAssocID="{8A26F3A1-AB6C-5049-B361-FAF4609B2616}" presName="vertSpace3" presStyleLbl="node1" presStyleIdx="1" presStyleCnt="5"/>
      <dgm:spPr/>
    </dgm:pt>
    <dgm:pt modelId="{8980E4CE-FAE8-4640-865E-DD474CAE12ED}" type="pres">
      <dgm:prSet presAssocID="{8A26F3A1-AB6C-5049-B361-FAF4609B2616}" presName="circle3" presStyleLbl="node1" presStyleIdx="2" presStyleCnt="5"/>
      <dgm:spPr/>
    </dgm:pt>
    <dgm:pt modelId="{8A0AD6EA-0B5C-914A-9F0A-CC84B3884EAA}" type="pres">
      <dgm:prSet presAssocID="{8A26F3A1-AB6C-5049-B361-FAF4609B2616}" presName="rect3" presStyleLbl="alignAcc1" presStyleIdx="2" presStyleCnt="5" custLinFactNeighborX="-40589" custLinFactNeighborY="-1131"/>
      <dgm:spPr/>
    </dgm:pt>
    <dgm:pt modelId="{C5C34AE3-0941-7F41-AEFA-33EA5ED8EA8E}" type="pres">
      <dgm:prSet presAssocID="{30C97FF5-6C28-2047-A086-66AB02D8C9E6}" presName="vertSpace4" presStyleLbl="node1" presStyleIdx="2" presStyleCnt="5"/>
      <dgm:spPr/>
    </dgm:pt>
    <dgm:pt modelId="{8FC3D4C7-6020-F347-A658-FE974C7C2633}" type="pres">
      <dgm:prSet presAssocID="{30C97FF5-6C28-2047-A086-66AB02D8C9E6}" presName="circle4" presStyleLbl="node1" presStyleIdx="3" presStyleCnt="5"/>
      <dgm:spPr/>
    </dgm:pt>
    <dgm:pt modelId="{3912B40C-E4AB-4443-8E49-43D36F560895}" type="pres">
      <dgm:prSet presAssocID="{30C97FF5-6C28-2047-A086-66AB02D8C9E6}" presName="rect4" presStyleLbl="alignAcc1" presStyleIdx="3" presStyleCnt="5" custLinFactNeighborX="-62658" custLinFactNeighborY="-1441"/>
      <dgm:spPr/>
    </dgm:pt>
    <dgm:pt modelId="{8D91002D-285F-B140-9CB7-BDD1A1FA0E36}" type="pres">
      <dgm:prSet presAssocID="{96FA048A-5310-FE4D-81B2-9D70B7C257AA}" presName="vertSpace5" presStyleLbl="node1" presStyleIdx="3" presStyleCnt="5"/>
      <dgm:spPr/>
    </dgm:pt>
    <dgm:pt modelId="{8CA8964D-0088-5C41-B5B6-C7928BBF95DC}" type="pres">
      <dgm:prSet presAssocID="{96FA048A-5310-FE4D-81B2-9D70B7C257AA}" presName="circle5" presStyleLbl="node1" presStyleIdx="4" presStyleCnt="5"/>
      <dgm:spPr/>
    </dgm:pt>
    <dgm:pt modelId="{4E35B49C-BBBC-DB45-BDFD-E61EAF99AC87}" type="pres">
      <dgm:prSet presAssocID="{96FA048A-5310-FE4D-81B2-9D70B7C257AA}" presName="rect5" presStyleLbl="alignAcc1" presStyleIdx="4" presStyleCnt="5" custScaleY="167553" custLinFactNeighborX="-29896" custLinFactNeighborY="31622"/>
      <dgm:spPr/>
    </dgm:pt>
    <dgm:pt modelId="{FDF68C10-93C2-9847-8923-5DAB69061B5C}" type="pres">
      <dgm:prSet presAssocID="{1F9DFB5F-DB72-3648-AF91-4FECE9B6B05B}" presName="rect1ParTx" presStyleLbl="alignAcc1" presStyleIdx="4" presStyleCnt="5">
        <dgm:presLayoutVars>
          <dgm:chMax val="1"/>
          <dgm:bulletEnabled val="1"/>
        </dgm:presLayoutVars>
      </dgm:prSet>
      <dgm:spPr/>
    </dgm:pt>
    <dgm:pt modelId="{9625A8A9-4E22-1C45-8780-F620536E0AB6}" type="pres">
      <dgm:prSet presAssocID="{1F9DFB5F-DB72-3648-AF91-4FECE9B6B05B}" presName="rect1ChTx" presStyleLbl="alignAcc1" presStyleIdx="4" presStyleCnt="5" custScaleX="198587" custScaleY="115772" custLinFactNeighborX="-28817" custLinFactNeighborY="-2510">
        <dgm:presLayoutVars>
          <dgm:bulletEnabled val="1"/>
        </dgm:presLayoutVars>
      </dgm:prSet>
      <dgm:spPr/>
    </dgm:pt>
    <dgm:pt modelId="{1296813F-D39B-814D-848B-44B53BD6057E}" type="pres">
      <dgm:prSet presAssocID="{9CFA17D8-46EF-D540-AC03-B1D783B08EBB}" presName="rect2ParTx" presStyleLbl="alignAcc1" presStyleIdx="4" presStyleCnt="5">
        <dgm:presLayoutVars>
          <dgm:chMax val="1"/>
          <dgm:bulletEnabled val="1"/>
        </dgm:presLayoutVars>
      </dgm:prSet>
      <dgm:spPr/>
    </dgm:pt>
    <dgm:pt modelId="{B8C4BD7A-9494-904F-8FD8-EAB30AD1C9C2}" type="pres">
      <dgm:prSet presAssocID="{9CFA17D8-46EF-D540-AC03-B1D783B08EBB}" presName="rect2ChTx" presStyleLbl="alignAcc1" presStyleIdx="4" presStyleCnt="5" custScaleX="196035" custLinFactNeighborX="-21925" custLinFactNeighborY="-2899">
        <dgm:presLayoutVars>
          <dgm:bulletEnabled val="1"/>
        </dgm:presLayoutVars>
      </dgm:prSet>
      <dgm:spPr/>
    </dgm:pt>
    <dgm:pt modelId="{4CD70E50-5CB8-974F-99E3-860FEAB27838}" type="pres">
      <dgm:prSet presAssocID="{8A26F3A1-AB6C-5049-B361-FAF4609B2616}" presName="rect3ParTx" presStyleLbl="alignAcc1" presStyleIdx="4" presStyleCnt="5">
        <dgm:presLayoutVars>
          <dgm:chMax val="1"/>
          <dgm:bulletEnabled val="1"/>
        </dgm:presLayoutVars>
      </dgm:prSet>
      <dgm:spPr/>
    </dgm:pt>
    <dgm:pt modelId="{9D7E2566-676D-9E41-99C2-0953099D924D}" type="pres">
      <dgm:prSet presAssocID="{8A26F3A1-AB6C-5049-B361-FAF4609B2616}" presName="rect3ChTx" presStyleLbl="alignAcc1" presStyleIdx="4" presStyleCnt="5" custScaleX="192696" custLinFactNeighborX="-22977" custLinFactNeighborY="-2899">
        <dgm:presLayoutVars>
          <dgm:bulletEnabled val="1"/>
        </dgm:presLayoutVars>
      </dgm:prSet>
      <dgm:spPr/>
    </dgm:pt>
    <dgm:pt modelId="{C047E8FF-ABA5-3248-AA1A-9A4239A7E3E6}" type="pres">
      <dgm:prSet presAssocID="{30C97FF5-6C28-2047-A086-66AB02D8C9E6}" presName="rect4ParTx" presStyleLbl="alignAcc1" presStyleIdx="4" presStyleCnt="5">
        <dgm:presLayoutVars>
          <dgm:chMax val="1"/>
          <dgm:bulletEnabled val="1"/>
        </dgm:presLayoutVars>
      </dgm:prSet>
      <dgm:spPr/>
    </dgm:pt>
    <dgm:pt modelId="{B4AAA73C-1031-C544-BDD6-9B9C29452A80}" type="pres">
      <dgm:prSet presAssocID="{30C97FF5-6C28-2047-A086-66AB02D8C9E6}" presName="rect4ChTx" presStyleLbl="alignAcc1" presStyleIdx="4" presStyleCnt="5" custScaleX="186285" custLinFactNeighborX="-18631" custLinFactNeighborY="-1909">
        <dgm:presLayoutVars>
          <dgm:bulletEnabled val="1"/>
        </dgm:presLayoutVars>
      </dgm:prSet>
      <dgm:spPr/>
    </dgm:pt>
    <dgm:pt modelId="{67BD0849-4A79-D541-90FC-E48AB8D34DEE}" type="pres">
      <dgm:prSet presAssocID="{96FA048A-5310-FE4D-81B2-9D70B7C257AA}" presName="rect5ParTx" presStyleLbl="alignAcc1" presStyleIdx="4" presStyleCnt="5">
        <dgm:presLayoutVars>
          <dgm:chMax val="1"/>
          <dgm:bulletEnabled val="1"/>
        </dgm:presLayoutVars>
      </dgm:prSet>
      <dgm:spPr/>
    </dgm:pt>
    <dgm:pt modelId="{BB5D0C00-E641-934E-AE39-CCC5D85D9568}" type="pres">
      <dgm:prSet presAssocID="{96FA048A-5310-FE4D-81B2-9D70B7C257AA}" presName="rect5ChTx" presStyleLbl="alignAcc1" presStyleIdx="4" presStyleCnt="5" custScaleX="189165" custScaleY="168072" custLinFactNeighborX="-23076" custLinFactNeighborY="31881">
        <dgm:presLayoutVars>
          <dgm:bulletEnabled val="1"/>
        </dgm:presLayoutVars>
      </dgm:prSet>
      <dgm:spPr/>
    </dgm:pt>
  </dgm:ptLst>
  <dgm:cxnLst>
    <dgm:cxn modelId="{8C44C30A-E064-7744-B4A2-1C94E483A490}" type="presOf" srcId="{CE02E82E-38D7-9F49-B76A-A9DEA9406EA8}" destId="{9D7E2566-676D-9E41-99C2-0953099D924D}" srcOrd="0" destOrd="0" presId="urn:microsoft.com/office/officeart/2005/8/layout/target3"/>
    <dgm:cxn modelId="{C517610C-5B74-2F41-A242-FA5CFF08BF4A}" type="presOf" srcId="{0DA0EBF7-C177-5C4F-9EAE-1A180967A483}" destId="{BB5D0C00-E641-934E-AE39-CCC5D85D9568}" srcOrd="0" destOrd="0" presId="urn:microsoft.com/office/officeart/2005/8/layout/target3"/>
    <dgm:cxn modelId="{0543E415-2607-204C-A468-518EB5E730BA}" type="presOf" srcId="{30C97FF5-6C28-2047-A086-66AB02D8C9E6}" destId="{C047E8FF-ABA5-3248-AA1A-9A4239A7E3E6}" srcOrd="1" destOrd="0" presId="urn:microsoft.com/office/officeart/2005/8/layout/target3"/>
    <dgm:cxn modelId="{CB9B861B-73E3-1449-BB22-CAF83A6C153E}" srcId="{96FA048A-5310-FE4D-81B2-9D70B7C257AA}" destId="{0DA0EBF7-C177-5C4F-9EAE-1A180967A483}" srcOrd="0" destOrd="0" parTransId="{4A466D16-CBA1-5143-B43C-964C8F088F9E}" sibTransId="{2CF877C0-D3B3-774A-BDC9-CCB09F6CE2DF}"/>
    <dgm:cxn modelId="{3F703D20-B38D-0440-87DC-35CF43E74087}" srcId="{1F9DFB5F-DB72-3648-AF91-4FECE9B6B05B}" destId="{D0904AE8-993E-5942-97B6-306A66DF04F0}" srcOrd="0" destOrd="0" parTransId="{9F75FF9E-95F7-3A42-86AC-D87CBB9B2829}" sibTransId="{C6C74CB0-07D1-2444-933E-62ABDDE156FE}"/>
    <dgm:cxn modelId="{8F91E62B-0F7C-5A42-841A-E7940D3EE6E8}" srcId="{8BAEE847-EAD2-FE40-8C84-DA512223181C}" destId="{30C97FF5-6C28-2047-A086-66AB02D8C9E6}" srcOrd="3" destOrd="0" parTransId="{8B33C48A-2DB3-7044-9606-73F5DE3532D7}" sibTransId="{39F20121-8F60-EF4F-86A6-AFD0374E46AF}"/>
    <dgm:cxn modelId="{1F75482D-39EF-5641-9DD0-57C267687981}" type="presOf" srcId="{8A26F3A1-AB6C-5049-B361-FAF4609B2616}" destId="{4CD70E50-5CB8-974F-99E3-860FEAB27838}" srcOrd="1" destOrd="0" presId="urn:microsoft.com/office/officeart/2005/8/layout/target3"/>
    <dgm:cxn modelId="{1950FF33-8146-2642-B11E-74530D295442}" srcId="{8BAEE847-EAD2-FE40-8C84-DA512223181C}" destId="{96FA048A-5310-FE4D-81B2-9D70B7C257AA}" srcOrd="4" destOrd="0" parTransId="{E46BF334-3C6C-F643-8363-F7310281F45D}" sibTransId="{AC35690D-9D17-014B-8008-2A5C688BF974}"/>
    <dgm:cxn modelId="{D4A65260-D363-034C-BC13-9724735933CB}" srcId="{8BAEE847-EAD2-FE40-8C84-DA512223181C}" destId="{1F9DFB5F-DB72-3648-AF91-4FECE9B6B05B}" srcOrd="0" destOrd="0" parTransId="{4AE55039-A559-5B46-940A-75ACC4386115}" sibTransId="{E8DDD59A-4B47-2445-810B-652711BDAF3F}"/>
    <dgm:cxn modelId="{A9BAD250-28CD-0A43-8EEB-F79FC2853276}" srcId="{8A26F3A1-AB6C-5049-B361-FAF4609B2616}" destId="{CE02E82E-38D7-9F49-B76A-A9DEA9406EA8}" srcOrd="0" destOrd="0" parTransId="{E3906516-8F1C-4E44-BF3B-DE1A16420EAE}" sibTransId="{D0DB07B7-D114-984D-A8F2-E3D6867CD40F}"/>
    <dgm:cxn modelId="{3124647B-CEF8-0348-A8DC-6017A38138EE}" type="presOf" srcId="{39E21E8D-BCE6-874A-8E05-4FFC68AFADA3}" destId="{B8C4BD7A-9494-904F-8FD8-EAB30AD1C9C2}" srcOrd="0" destOrd="0" presId="urn:microsoft.com/office/officeart/2005/8/layout/target3"/>
    <dgm:cxn modelId="{9EA4899C-801D-5844-8093-9EE9020D6B92}" type="presOf" srcId="{8BAEE847-EAD2-FE40-8C84-DA512223181C}" destId="{B5438589-107F-BE44-8E79-B96C087882C3}" srcOrd="0" destOrd="0" presId="urn:microsoft.com/office/officeart/2005/8/layout/target3"/>
    <dgm:cxn modelId="{DBA6C5A0-FE3E-9842-A01C-F83FB7771255}" type="presOf" srcId="{D0904AE8-993E-5942-97B6-306A66DF04F0}" destId="{9625A8A9-4E22-1C45-8780-F620536E0AB6}" srcOrd="0" destOrd="0" presId="urn:microsoft.com/office/officeart/2005/8/layout/target3"/>
    <dgm:cxn modelId="{493CC3A7-89C9-FC4D-AA12-8C4FCAA641E6}" type="presOf" srcId="{1F9DFB5F-DB72-3648-AF91-4FECE9B6B05B}" destId="{FDF68C10-93C2-9847-8923-5DAB69061B5C}" srcOrd="1" destOrd="0" presId="urn:microsoft.com/office/officeart/2005/8/layout/target3"/>
    <dgm:cxn modelId="{B5E7D4A8-5E1B-B541-96F4-801FA261EC47}" type="presOf" srcId="{96FA048A-5310-FE4D-81B2-9D70B7C257AA}" destId="{67BD0849-4A79-D541-90FC-E48AB8D34DEE}" srcOrd="1" destOrd="0" presId="urn:microsoft.com/office/officeart/2005/8/layout/target3"/>
    <dgm:cxn modelId="{4FD956BC-F778-8147-824F-46C487539D26}" type="presOf" srcId="{1F9DFB5F-DB72-3648-AF91-4FECE9B6B05B}" destId="{1C95AEB3-1C20-5849-B1AE-D3E218984151}" srcOrd="0" destOrd="0" presId="urn:microsoft.com/office/officeart/2005/8/layout/target3"/>
    <dgm:cxn modelId="{2EC13DCA-044A-5F4E-BFC5-433958E2AAB6}" srcId="{8BAEE847-EAD2-FE40-8C84-DA512223181C}" destId="{9CFA17D8-46EF-D540-AC03-B1D783B08EBB}" srcOrd="1" destOrd="0" parTransId="{76F69678-778B-5942-BA13-4C4F290378CC}" sibTransId="{C9D2CDA4-3B56-B44E-9256-FA215816FA39}"/>
    <dgm:cxn modelId="{70761CD2-A649-644E-9CB9-F7DC2012EE36}" type="presOf" srcId="{9CFA17D8-46EF-D540-AC03-B1D783B08EBB}" destId="{1296813F-D39B-814D-848B-44B53BD6057E}" srcOrd="1" destOrd="0" presId="urn:microsoft.com/office/officeart/2005/8/layout/target3"/>
    <dgm:cxn modelId="{97423DD5-2B0D-ED49-A726-E649080C84EC}" type="presOf" srcId="{9CFA17D8-46EF-D540-AC03-B1D783B08EBB}" destId="{62C26FB8-F960-704B-9B69-4C5DA54F634F}" srcOrd="0" destOrd="0" presId="urn:microsoft.com/office/officeart/2005/8/layout/target3"/>
    <dgm:cxn modelId="{760301D8-6D8F-3C4B-A4AB-150C60644331}" srcId="{8BAEE847-EAD2-FE40-8C84-DA512223181C}" destId="{8A26F3A1-AB6C-5049-B361-FAF4609B2616}" srcOrd="2" destOrd="0" parTransId="{AC6437F1-8798-1544-BB20-AB95D8409774}" sibTransId="{1EE08078-6E4D-7842-9B72-3F0C7C3378C4}"/>
    <dgm:cxn modelId="{3DFF21E3-F2C8-4C49-9D7F-7E92EB9D4F2C}" type="presOf" srcId="{96FA048A-5310-FE4D-81B2-9D70B7C257AA}" destId="{4E35B49C-BBBC-DB45-BDFD-E61EAF99AC87}" srcOrd="0" destOrd="0" presId="urn:microsoft.com/office/officeart/2005/8/layout/target3"/>
    <dgm:cxn modelId="{205C9DE3-2B2A-374C-A313-28A852AD70DF}" type="presOf" srcId="{1ADEEF36-6D40-D44F-9B35-90E0CDA42AB8}" destId="{B4AAA73C-1031-C544-BDD6-9B9C29452A80}" srcOrd="0" destOrd="0" presId="urn:microsoft.com/office/officeart/2005/8/layout/target3"/>
    <dgm:cxn modelId="{AA4077E6-98AB-8548-A1A9-4EDCD357F6AF}" type="presOf" srcId="{30C97FF5-6C28-2047-A086-66AB02D8C9E6}" destId="{3912B40C-E4AB-4443-8E49-43D36F560895}" srcOrd="0" destOrd="0" presId="urn:microsoft.com/office/officeart/2005/8/layout/target3"/>
    <dgm:cxn modelId="{D89EA3E6-2CA9-904E-B95E-CE3A420575DE}" srcId="{9CFA17D8-46EF-D540-AC03-B1D783B08EBB}" destId="{39E21E8D-BCE6-874A-8E05-4FFC68AFADA3}" srcOrd="0" destOrd="0" parTransId="{D7E8EFC3-C4E7-A34B-B349-9059739AD4BB}" sibTransId="{A8B5980D-5E5F-7D4B-B523-AC127D7ABF5F}"/>
    <dgm:cxn modelId="{46F765FF-7156-694C-984E-6EAE0E5C28A5}" srcId="{30C97FF5-6C28-2047-A086-66AB02D8C9E6}" destId="{1ADEEF36-6D40-D44F-9B35-90E0CDA42AB8}" srcOrd="0" destOrd="0" parTransId="{8BF2F0E2-2B88-9D4E-9A6B-A4483BF6CDE4}" sibTransId="{81FDBB88-0681-8E4E-8D8B-BB30C3BAFA65}"/>
    <dgm:cxn modelId="{301294FF-4AF4-D043-8E38-F8EB23367CB3}" type="presOf" srcId="{8A26F3A1-AB6C-5049-B361-FAF4609B2616}" destId="{8A0AD6EA-0B5C-914A-9F0A-CC84B3884EAA}" srcOrd="0" destOrd="0" presId="urn:microsoft.com/office/officeart/2005/8/layout/target3"/>
    <dgm:cxn modelId="{9337C14B-1017-AC44-91CB-F0CA4DC8148D}" type="presParOf" srcId="{B5438589-107F-BE44-8E79-B96C087882C3}" destId="{8F8399CD-6D80-A04B-A73D-FAE536245E54}" srcOrd="0" destOrd="0" presId="urn:microsoft.com/office/officeart/2005/8/layout/target3"/>
    <dgm:cxn modelId="{163E5219-EE5D-1B4E-ACD5-9CE2B956510E}" type="presParOf" srcId="{B5438589-107F-BE44-8E79-B96C087882C3}" destId="{C8351538-822B-924A-B1CC-4E89FE8D8B98}" srcOrd="1" destOrd="0" presId="urn:microsoft.com/office/officeart/2005/8/layout/target3"/>
    <dgm:cxn modelId="{9D8077DD-7DA2-594D-B3F3-BC397BEA446A}" type="presParOf" srcId="{B5438589-107F-BE44-8E79-B96C087882C3}" destId="{1C95AEB3-1C20-5849-B1AE-D3E218984151}" srcOrd="2" destOrd="0" presId="urn:microsoft.com/office/officeart/2005/8/layout/target3"/>
    <dgm:cxn modelId="{EF9A5943-94B4-EC45-80D5-9D88AB543EB2}" type="presParOf" srcId="{B5438589-107F-BE44-8E79-B96C087882C3}" destId="{E5E6FCE1-34FD-AE40-955F-2C56C6769BE6}" srcOrd="3" destOrd="0" presId="urn:microsoft.com/office/officeart/2005/8/layout/target3"/>
    <dgm:cxn modelId="{3769CB35-6124-BE47-82AD-A1EEF720959C}" type="presParOf" srcId="{B5438589-107F-BE44-8E79-B96C087882C3}" destId="{95965867-777A-B244-9440-59A3ABA67E2E}" srcOrd="4" destOrd="0" presId="urn:microsoft.com/office/officeart/2005/8/layout/target3"/>
    <dgm:cxn modelId="{1CA8701D-C0A4-DC41-A43A-88918726A5B6}" type="presParOf" srcId="{B5438589-107F-BE44-8E79-B96C087882C3}" destId="{62C26FB8-F960-704B-9B69-4C5DA54F634F}" srcOrd="5" destOrd="0" presId="urn:microsoft.com/office/officeart/2005/8/layout/target3"/>
    <dgm:cxn modelId="{2838EB30-9379-E042-8BA4-A0A280417150}" type="presParOf" srcId="{B5438589-107F-BE44-8E79-B96C087882C3}" destId="{21097EEF-7F32-5B40-849F-5D64D8FB6490}" srcOrd="6" destOrd="0" presId="urn:microsoft.com/office/officeart/2005/8/layout/target3"/>
    <dgm:cxn modelId="{9BB45B1D-656D-FC4D-9532-5278DBE01C23}" type="presParOf" srcId="{B5438589-107F-BE44-8E79-B96C087882C3}" destId="{8980E4CE-FAE8-4640-865E-DD474CAE12ED}" srcOrd="7" destOrd="0" presId="urn:microsoft.com/office/officeart/2005/8/layout/target3"/>
    <dgm:cxn modelId="{0CCBD73A-C2E5-B247-AE15-32F655193A9D}" type="presParOf" srcId="{B5438589-107F-BE44-8E79-B96C087882C3}" destId="{8A0AD6EA-0B5C-914A-9F0A-CC84B3884EAA}" srcOrd="8" destOrd="0" presId="urn:microsoft.com/office/officeart/2005/8/layout/target3"/>
    <dgm:cxn modelId="{C0F6B8D5-8098-5D4C-98D6-A7F9626720DB}" type="presParOf" srcId="{B5438589-107F-BE44-8E79-B96C087882C3}" destId="{C5C34AE3-0941-7F41-AEFA-33EA5ED8EA8E}" srcOrd="9" destOrd="0" presId="urn:microsoft.com/office/officeart/2005/8/layout/target3"/>
    <dgm:cxn modelId="{C0125645-5CD3-8746-BA79-4184EA7DA9E1}" type="presParOf" srcId="{B5438589-107F-BE44-8E79-B96C087882C3}" destId="{8FC3D4C7-6020-F347-A658-FE974C7C2633}" srcOrd="10" destOrd="0" presId="urn:microsoft.com/office/officeart/2005/8/layout/target3"/>
    <dgm:cxn modelId="{B522517D-4297-C44E-9B0D-4039E46AFA24}" type="presParOf" srcId="{B5438589-107F-BE44-8E79-B96C087882C3}" destId="{3912B40C-E4AB-4443-8E49-43D36F560895}" srcOrd="11" destOrd="0" presId="urn:microsoft.com/office/officeart/2005/8/layout/target3"/>
    <dgm:cxn modelId="{E161E772-0EA3-794C-B896-92A24A2298EC}" type="presParOf" srcId="{B5438589-107F-BE44-8E79-B96C087882C3}" destId="{8D91002D-285F-B140-9CB7-BDD1A1FA0E36}" srcOrd="12" destOrd="0" presId="urn:microsoft.com/office/officeart/2005/8/layout/target3"/>
    <dgm:cxn modelId="{08386E96-D699-CF41-AE08-2AAD0B39FB45}" type="presParOf" srcId="{B5438589-107F-BE44-8E79-B96C087882C3}" destId="{8CA8964D-0088-5C41-B5B6-C7928BBF95DC}" srcOrd="13" destOrd="0" presId="urn:microsoft.com/office/officeart/2005/8/layout/target3"/>
    <dgm:cxn modelId="{5969DB80-B243-0341-9494-70E131A79C21}" type="presParOf" srcId="{B5438589-107F-BE44-8E79-B96C087882C3}" destId="{4E35B49C-BBBC-DB45-BDFD-E61EAF99AC87}" srcOrd="14" destOrd="0" presId="urn:microsoft.com/office/officeart/2005/8/layout/target3"/>
    <dgm:cxn modelId="{5DD8A149-6B30-7548-A206-FC2CA8546DD3}" type="presParOf" srcId="{B5438589-107F-BE44-8E79-B96C087882C3}" destId="{FDF68C10-93C2-9847-8923-5DAB69061B5C}" srcOrd="15" destOrd="0" presId="urn:microsoft.com/office/officeart/2005/8/layout/target3"/>
    <dgm:cxn modelId="{80F29C6B-BB39-8A49-BB25-7D13885F5DD2}" type="presParOf" srcId="{B5438589-107F-BE44-8E79-B96C087882C3}" destId="{9625A8A9-4E22-1C45-8780-F620536E0AB6}" srcOrd="16" destOrd="0" presId="urn:microsoft.com/office/officeart/2005/8/layout/target3"/>
    <dgm:cxn modelId="{13F5F08D-CE69-8342-9A37-43AE6D23DDB6}" type="presParOf" srcId="{B5438589-107F-BE44-8E79-B96C087882C3}" destId="{1296813F-D39B-814D-848B-44B53BD6057E}" srcOrd="17" destOrd="0" presId="urn:microsoft.com/office/officeart/2005/8/layout/target3"/>
    <dgm:cxn modelId="{0F98E1D4-37E0-6E43-B731-D970A6053B92}" type="presParOf" srcId="{B5438589-107F-BE44-8E79-B96C087882C3}" destId="{B8C4BD7A-9494-904F-8FD8-EAB30AD1C9C2}" srcOrd="18" destOrd="0" presId="urn:microsoft.com/office/officeart/2005/8/layout/target3"/>
    <dgm:cxn modelId="{FC9C352E-88E2-1649-896D-A2F9EE815967}" type="presParOf" srcId="{B5438589-107F-BE44-8E79-B96C087882C3}" destId="{4CD70E50-5CB8-974F-99E3-860FEAB27838}" srcOrd="19" destOrd="0" presId="urn:microsoft.com/office/officeart/2005/8/layout/target3"/>
    <dgm:cxn modelId="{DDDE13AE-CC34-8446-9A0C-A649F9F6223A}" type="presParOf" srcId="{B5438589-107F-BE44-8E79-B96C087882C3}" destId="{9D7E2566-676D-9E41-99C2-0953099D924D}" srcOrd="20" destOrd="0" presId="urn:microsoft.com/office/officeart/2005/8/layout/target3"/>
    <dgm:cxn modelId="{F97C5BBA-6C8E-924D-9834-74B9C0B99ECA}" type="presParOf" srcId="{B5438589-107F-BE44-8E79-B96C087882C3}" destId="{C047E8FF-ABA5-3248-AA1A-9A4239A7E3E6}" srcOrd="21" destOrd="0" presId="urn:microsoft.com/office/officeart/2005/8/layout/target3"/>
    <dgm:cxn modelId="{5D083E1E-D0C1-0645-A810-66B443A8962C}" type="presParOf" srcId="{B5438589-107F-BE44-8E79-B96C087882C3}" destId="{B4AAA73C-1031-C544-BDD6-9B9C29452A80}" srcOrd="22" destOrd="0" presId="urn:microsoft.com/office/officeart/2005/8/layout/target3"/>
    <dgm:cxn modelId="{7AEA94CD-3EDF-F340-9697-00E5D0134088}" type="presParOf" srcId="{B5438589-107F-BE44-8E79-B96C087882C3}" destId="{67BD0849-4A79-D541-90FC-E48AB8D34DEE}" srcOrd="23" destOrd="0" presId="urn:microsoft.com/office/officeart/2005/8/layout/target3"/>
    <dgm:cxn modelId="{DAB33B87-0516-414F-B1FE-7F17EDBB379D}" type="presParOf" srcId="{B5438589-107F-BE44-8E79-B96C087882C3}" destId="{BB5D0C00-E641-934E-AE39-CCC5D85D9568}" srcOrd="2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302B29-DF7B-CE48-A8D2-94069316D1C3}" type="doc">
      <dgm:prSet loTypeId="urn:microsoft.com/office/officeart/2005/8/layout/target1" loCatId="relationship" qsTypeId="urn:microsoft.com/office/officeart/2005/8/quickstyle/3D2" qsCatId="3D" csTypeId="urn:microsoft.com/office/officeart/2005/8/colors/accent2_4" csCatId="accent2"/>
      <dgm:spPr/>
      <dgm:t>
        <a:bodyPr/>
        <a:lstStyle/>
        <a:p>
          <a:endParaRPr lang="en-US"/>
        </a:p>
      </dgm:t>
    </dgm:pt>
    <dgm:pt modelId="{C19F7702-5F4C-F44B-9333-C56759486144}">
      <dgm:prSet/>
      <dgm:spPr/>
      <dgm:t>
        <a:bodyPr/>
        <a:lstStyle/>
        <a:p>
          <a:pPr rtl="0"/>
          <a:r>
            <a:rPr lang="en-US" dirty="0"/>
            <a:t>The use of multiple processors on the same chip provides the potential to increase performance without increasing the clock rate</a:t>
          </a:r>
        </a:p>
      </dgm:t>
    </dgm:pt>
    <dgm:pt modelId="{A70B69E9-4AAC-D24E-AF8E-9E3927E157EF}" type="parTrans" cxnId="{46B638DB-5077-8F47-B532-560C4EEBB34E}">
      <dgm:prSet/>
      <dgm:spPr/>
      <dgm:t>
        <a:bodyPr/>
        <a:lstStyle/>
        <a:p>
          <a:endParaRPr lang="en-US"/>
        </a:p>
      </dgm:t>
    </dgm:pt>
    <dgm:pt modelId="{4562A5FB-A475-444C-82E8-04D61A9E986C}" type="sibTrans" cxnId="{46B638DB-5077-8F47-B532-560C4EEBB34E}">
      <dgm:prSet/>
      <dgm:spPr/>
      <dgm:t>
        <a:bodyPr/>
        <a:lstStyle/>
        <a:p>
          <a:endParaRPr lang="en-US"/>
        </a:p>
      </dgm:t>
    </dgm:pt>
    <dgm:pt modelId="{E155F29C-A5B5-0E46-A2C7-79E6A500D145}">
      <dgm:prSet/>
      <dgm:spPr/>
      <dgm:t>
        <a:bodyPr/>
        <a:lstStyle/>
        <a:p>
          <a:pPr rtl="0"/>
          <a:r>
            <a:rPr lang="en-US" dirty="0"/>
            <a:t>Strategy is to use two simpler processors on the chip rather than one more complex processor</a:t>
          </a:r>
        </a:p>
      </dgm:t>
    </dgm:pt>
    <dgm:pt modelId="{8055BD00-F1C8-7846-B466-65DE4011FD8C}" type="parTrans" cxnId="{68C16891-8D07-2645-B752-FE205353DCD5}">
      <dgm:prSet/>
      <dgm:spPr/>
      <dgm:t>
        <a:bodyPr/>
        <a:lstStyle/>
        <a:p>
          <a:endParaRPr lang="en-US"/>
        </a:p>
      </dgm:t>
    </dgm:pt>
    <dgm:pt modelId="{FCDFAB97-D041-E548-96BC-411DF7EC694B}" type="sibTrans" cxnId="{68C16891-8D07-2645-B752-FE205353DCD5}">
      <dgm:prSet/>
      <dgm:spPr/>
      <dgm:t>
        <a:bodyPr/>
        <a:lstStyle/>
        <a:p>
          <a:endParaRPr lang="en-US"/>
        </a:p>
      </dgm:t>
    </dgm:pt>
    <dgm:pt modelId="{8CAB68A3-B26F-2B4B-B51A-0CF38939513F}">
      <dgm:prSet/>
      <dgm:spPr/>
      <dgm:t>
        <a:bodyPr/>
        <a:lstStyle/>
        <a:p>
          <a:pPr rtl="0"/>
          <a:r>
            <a:rPr lang="en-US" dirty="0"/>
            <a:t>With two processors larger caches are justified</a:t>
          </a:r>
        </a:p>
      </dgm:t>
    </dgm:pt>
    <dgm:pt modelId="{6ACB63A5-1C58-524A-A160-886341F60C0C}" type="parTrans" cxnId="{4A4B1846-5DC4-C84A-A863-9D344E7D707C}">
      <dgm:prSet/>
      <dgm:spPr/>
      <dgm:t>
        <a:bodyPr/>
        <a:lstStyle/>
        <a:p>
          <a:endParaRPr lang="en-US"/>
        </a:p>
      </dgm:t>
    </dgm:pt>
    <dgm:pt modelId="{3E669834-DB2C-7641-B14E-DFD1B4C62083}" type="sibTrans" cxnId="{4A4B1846-5DC4-C84A-A863-9D344E7D707C}">
      <dgm:prSet/>
      <dgm:spPr/>
      <dgm:t>
        <a:bodyPr/>
        <a:lstStyle/>
        <a:p>
          <a:endParaRPr lang="en-US"/>
        </a:p>
      </dgm:t>
    </dgm:pt>
    <dgm:pt modelId="{2BB322CA-E42D-4846-BC15-76177995191D}">
      <dgm:prSet/>
      <dgm:spPr/>
      <dgm:t>
        <a:bodyPr/>
        <a:lstStyle/>
        <a:p>
          <a:pPr rtl="0"/>
          <a:r>
            <a:rPr lang="en-US" dirty="0"/>
            <a:t>As caches became larger it made performance sense to create two and then three levels of cache on a chip</a:t>
          </a:r>
        </a:p>
      </dgm:t>
    </dgm:pt>
    <dgm:pt modelId="{85853BED-64B9-CF48-99D4-E806CF0298B4}" type="parTrans" cxnId="{1C69D18B-4D6D-C54F-9524-6177246C5F7D}">
      <dgm:prSet/>
      <dgm:spPr/>
      <dgm:t>
        <a:bodyPr/>
        <a:lstStyle/>
        <a:p>
          <a:endParaRPr lang="en-US"/>
        </a:p>
      </dgm:t>
    </dgm:pt>
    <dgm:pt modelId="{035B4B6C-BBF5-0D4D-86D8-A0562E242151}" type="sibTrans" cxnId="{1C69D18B-4D6D-C54F-9524-6177246C5F7D}">
      <dgm:prSet/>
      <dgm:spPr/>
      <dgm:t>
        <a:bodyPr/>
        <a:lstStyle/>
        <a:p>
          <a:endParaRPr lang="en-US"/>
        </a:p>
      </dgm:t>
    </dgm:pt>
    <dgm:pt modelId="{67DFE038-8E3D-C649-A5BB-9B3C0EE1B407}" type="pres">
      <dgm:prSet presAssocID="{48302B29-DF7B-CE48-A8D2-94069316D1C3}" presName="composite" presStyleCnt="0">
        <dgm:presLayoutVars>
          <dgm:chMax val="5"/>
          <dgm:dir/>
          <dgm:resizeHandles val="exact"/>
        </dgm:presLayoutVars>
      </dgm:prSet>
      <dgm:spPr/>
    </dgm:pt>
    <dgm:pt modelId="{CAE743AE-6431-1E40-A97F-5F24D5B60547}" type="pres">
      <dgm:prSet presAssocID="{C19F7702-5F4C-F44B-9333-C56759486144}" presName="circle1" presStyleLbl="lnNode1" presStyleIdx="0" presStyleCnt="4"/>
      <dgm:spPr/>
    </dgm:pt>
    <dgm:pt modelId="{AB119BD4-C127-B449-BD7B-2FB3093D572E}" type="pres">
      <dgm:prSet presAssocID="{C19F7702-5F4C-F44B-9333-C56759486144}" presName="text1" presStyleLbl="revTx" presStyleIdx="0" presStyleCnt="4">
        <dgm:presLayoutVars>
          <dgm:bulletEnabled val="1"/>
        </dgm:presLayoutVars>
      </dgm:prSet>
      <dgm:spPr/>
    </dgm:pt>
    <dgm:pt modelId="{34B48968-EEAE-C24A-A838-020141B43AD6}" type="pres">
      <dgm:prSet presAssocID="{C19F7702-5F4C-F44B-9333-C56759486144}" presName="line1" presStyleLbl="callout" presStyleIdx="0" presStyleCnt="8"/>
      <dgm:spPr/>
    </dgm:pt>
    <dgm:pt modelId="{DDA5D090-4EDE-CC46-88A9-94E77850F40F}" type="pres">
      <dgm:prSet presAssocID="{C19F7702-5F4C-F44B-9333-C56759486144}" presName="d1" presStyleLbl="callout" presStyleIdx="1" presStyleCnt="8"/>
      <dgm:spPr/>
    </dgm:pt>
    <dgm:pt modelId="{EAFBFBDD-6B2F-6542-A0F4-55DD8CB829AA}" type="pres">
      <dgm:prSet presAssocID="{E155F29C-A5B5-0E46-A2C7-79E6A500D145}" presName="circle2" presStyleLbl="lnNode1" presStyleIdx="1" presStyleCnt="4"/>
      <dgm:spPr/>
    </dgm:pt>
    <dgm:pt modelId="{513BC700-EE34-1A44-899C-A6CEEACA89E1}" type="pres">
      <dgm:prSet presAssocID="{E155F29C-A5B5-0E46-A2C7-79E6A500D145}" presName="text2" presStyleLbl="revTx" presStyleIdx="1" presStyleCnt="4">
        <dgm:presLayoutVars>
          <dgm:bulletEnabled val="1"/>
        </dgm:presLayoutVars>
      </dgm:prSet>
      <dgm:spPr/>
    </dgm:pt>
    <dgm:pt modelId="{CD79B02B-ADDF-1141-8C86-45D10350966D}" type="pres">
      <dgm:prSet presAssocID="{E155F29C-A5B5-0E46-A2C7-79E6A500D145}" presName="line2" presStyleLbl="callout" presStyleIdx="2" presStyleCnt="8"/>
      <dgm:spPr/>
    </dgm:pt>
    <dgm:pt modelId="{816E5757-0CAD-CD46-B964-B653CB3D2F71}" type="pres">
      <dgm:prSet presAssocID="{E155F29C-A5B5-0E46-A2C7-79E6A500D145}" presName="d2" presStyleLbl="callout" presStyleIdx="3" presStyleCnt="8"/>
      <dgm:spPr/>
    </dgm:pt>
    <dgm:pt modelId="{09E5408D-8A11-C349-983A-FF27A4CD0E3B}" type="pres">
      <dgm:prSet presAssocID="{8CAB68A3-B26F-2B4B-B51A-0CF38939513F}" presName="circle3" presStyleLbl="lnNode1" presStyleIdx="2" presStyleCnt="4"/>
      <dgm:spPr/>
    </dgm:pt>
    <dgm:pt modelId="{64D028ED-D856-004F-82AE-25A1792DF594}" type="pres">
      <dgm:prSet presAssocID="{8CAB68A3-B26F-2B4B-B51A-0CF38939513F}" presName="text3" presStyleLbl="revTx" presStyleIdx="2" presStyleCnt="4">
        <dgm:presLayoutVars>
          <dgm:bulletEnabled val="1"/>
        </dgm:presLayoutVars>
      </dgm:prSet>
      <dgm:spPr/>
    </dgm:pt>
    <dgm:pt modelId="{844D6AD4-814E-9A49-8479-BBC4355D2906}" type="pres">
      <dgm:prSet presAssocID="{8CAB68A3-B26F-2B4B-B51A-0CF38939513F}" presName="line3" presStyleLbl="callout" presStyleIdx="4" presStyleCnt="8"/>
      <dgm:spPr/>
    </dgm:pt>
    <dgm:pt modelId="{09E031DD-5B6F-B149-9EF5-9E627F32C5E0}" type="pres">
      <dgm:prSet presAssocID="{8CAB68A3-B26F-2B4B-B51A-0CF38939513F}" presName="d3" presStyleLbl="callout" presStyleIdx="5" presStyleCnt="8"/>
      <dgm:spPr/>
    </dgm:pt>
    <dgm:pt modelId="{F85D9B43-A645-1046-AAFB-474175001081}" type="pres">
      <dgm:prSet presAssocID="{2BB322CA-E42D-4846-BC15-76177995191D}" presName="circle4" presStyleLbl="lnNode1" presStyleIdx="3" presStyleCnt="4"/>
      <dgm:spPr/>
    </dgm:pt>
    <dgm:pt modelId="{7DB2A403-2088-DF4C-B961-D8DCC748BA56}" type="pres">
      <dgm:prSet presAssocID="{2BB322CA-E42D-4846-BC15-76177995191D}" presName="text4" presStyleLbl="revTx" presStyleIdx="3" presStyleCnt="4">
        <dgm:presLayoutVars>
          <dgm:bulletEnabled val="1"/>
        </dgm:presLayoutVars>
      </dgm:prSet>
      <dgm:spPr/>
    </dgm:pt>
    <dgm:pt modelId="{DEF37567-F691-5D47-8D86-7EF938ACCD23}" type="pres">
      <dgm:prSet presAssocID="{2BB322CA-E42D-4846-BC15-76177995191D}" presName="line4" presStyleLbl="callout" presStyleIdx="6" presStyleCnt="8"/>
      <dgm:spPr/>
    </dgm:pt>
    <dgm:pt modelId="{C5CA4BDE-6447-5546-B9F5-65BD75E05390}" type="pres">
      <dgm:prSet presAssocID="{2BB322CA-E42D-4846-BC15-76177995191D}" presName="d4" presStyleLbl="callout" presStyleIdx="7" presStyleCnt="8"/>
      <dgm:spPr/>
    </dgm:pt>
  </dgm:ptLst>
  <dgm:cxnLst>
    <dgm:cxn modelId="{4B6C9305-9663-8143-81A0-3E9955214B81}" type="presOf" srcId="{E155F29C-A5B5-0E46-A2C7-79E6A500D145}" destId="{513BC700-EE34-1A44-899C-A6CEEACA89E1}" srcOrd="0" destOrd="0" presId="urn:microsoft.com/office/officeart/2005/8/layout/target1"/>
    <dgm:cxn modelId="{019DB62C-AF38-6F4D-9BB2-199E8BA3C067}" type="presOf" srcId="{48302B29-DF7B-CE48-A8D2-94069316D1C3}" destId="{67DFE038-8E3D-C649-A5BB-9B3C0EE1B407}" srcOrd="0" destOrd="0" presId="urn:microsoft.com/office/officeart/2005/8/layout/target1"/>
    <dgm:cxn modelId="{171A6A42-3C17-7748-A842-8CCB1915C2B8}" type="presOf" srcId="{C19F7702-5F4C-F44B-9333-C56759486144}" destId="{AB119BD4-C127-B449-BD7B-2FB3093D572E}" srcOrd="0" destOrd="0" presId="urn:microsoft.com/office/officeart/2005/8/layout/target1"/>
    <dgm:cxn modelId="{4A4B1846-5DC4-C84A-A863-9D344E7D707C}" srcId="{48302B29-DF7B-CE48-A8D2-94069316D1C3}" destId="{8CAB68A3-B26F-2B4B-B51A-0CF38939513F}" srcOrd="2" destOrd="0" parTransId="{6ACB63A5-1C58-524A-A160-886341F60C0C}" sibTransId="{3E669834-DB2C-7641-B14E-DFD1B4C62083}"/>
    <dgm:cxn modelId="{1C69D18B-4D6D-C54F-9524-6177246C5F7D}" srcId="{48302B29-DF7B-CE48-A8D2-94069316D1C3}" destId="{2BB322CA-E42D-4846-BC15-76177995191D}" srcOrd="3" destOrd="0" parTransId="{85853BED-64B9-CF48-99D4-E806CF0298B4}" sibTransId="{035B4B6C-BBF5-0D4D-86D8-A0562E242151}"/>
    <dgm:cxn modelId="{68C16891-8D07-2645-B752-FE205353DCD5}" srcId="{48302B29-DF7B-CE48-A8D2-94069316D1C3}" destId="{E155F29C-A5B5-0E46-A2C7-79E6A500D145}" srcOrd="1" destOrd="0" parTransId="{8055BD00-F1C8-7846-B466-65DE4011FD8C}" sibTransId="{FCDFAB97-D041-E548-96BC-411DF7EC694B}"/>
    <dgm:cxn modelId="{1AA003D7-C481-3A42-AA00-C72307ACAD34}" type="presOf" srcId="{8CAB68A3-B26F-2B4B-B51A-0CF38939513F}" destId="{64D028ED-D856-004F-82AE-25A1792DF594}" srcOrd="0" destOrd="0" presId="urn:microsoft.com/office/officeart/2005/8/layout/target1"/>
    <dgm:cxn modelId="{46B638DB-5077-8F47-B532-560C4EEBB34E}" srcId="{48302B29-DF7B-CE48-A8D2-94069316D1C3}" destId="{C19F7702-5F4C-F44B-9333-C56759486144}" srcOrd="0" destOrd="0" parTransId="{A70B69E9-4AAC-D24E-AF8E-9E3927E157EF}" sibTransId="{4562A5FB-A475-444C-82E8-04D61A9E986C}"/>
    <dgm:cxn modelId="{217BF1EC-0D44-B94C-924C-945A9E06B6F1}" type="presOf" srcId="{2BB322CA-E42D-4846-BC15-76177995191D}" destId="{7DB2A403-2088-DF4C-B961-D8DCC748BA56}" srcOrd="0" destOrd="0" presId="urn:microsoft.com/office/officeart/2005/8/layout/target1"/>
    <dgm:cxn modelId="{1FCC9E07-AA87-E64F-9072-85950E151E9B}" type="presParOf" srcId="{67DFE038-8E3D-C649-A5BB-9B3C0EE1B407}" destId="{CAE743AE-6431-1E40-A97F-5F24D5B60547}" srcOrd="0" destOrd="0" presId="urn:microsoft.com/office/officeart/2005/8/layout/target1"/>
    <dgm:cxn modelId="{B312B154-9FC1-8341-B8F7-465DBDC5F91D}" type="presParOf" srcId="{67DFE038-8E3D-C649-A5BB-9B3C0EE1B407}" destId="{AB119BD4-C127-B449-BD7B-2FB3093D572E}" srcOrd="1" destOrd="0" presId="urn:microsoft.com/office/officeart/2005/8/layout/target1"/>
    <dgm:cxn modelId="{A68EC521-5EFD-C747-8343-1B923810951F}" type="presParOf" srcId="{67DFE038-8E3D-C649-A5BB-9B3C0EE1B407}" destId="{34B48968-EEAE-C24A-A838-020141B43AD6}" srcOrd="2" destOrd="0" presId="urn:microsoft.com/office/officeart/2005/8/layout/target1"/>
    <dgm:cxn modelId="{49879328-35EC-A944-81C3-2A49F1C5E66B}" type="presParOf" srcId="{67DFE038-8E3D-C649-A5BB-9B3C0EE1B407}" destId="{DDA5D090-4EDE-CC46-88A9-94E77850F40F}" srcOrd="3" destOrd="0" presId="urn:microsoft.com/office/officeart/2005/8/layout/target1"/>
    <dgm:cxn modelId="{419233AA-A062-014B-94FC-1172D2BCCCEC}" type="presParOf" srcId="{67DFE038-8E3D-C649-A5BB-9B3C0EE1B407}" destId="{EAFBFBDD-6B2F-6542-A0F4-55DD8CB829AA}" srcOrd="4" destOrd="0" presId="urn:microsoft.com/office/officeart/2005/8/layout/target1"/>
    <dgm:cxn modelId="{BCBE20E3-240C-874B-A132-3934F75D0B77}" type="presParOf" srcId="{67DFE038-8E3D-C649-A5BB-9B3C0EE1B407}" destId="{513BC700-EE34-1A44-899C-A6CEEACA89E1}" srcOrd="5" destOrd="0" presId="urn:microsoft.com/office/officeart/2005/8/layout/target1"/>
    <dgm:cxn modelId="{F681055D-923A-D44A-B20B-E630B78B52EF}" type="presParOf" srcId="{67DFE038-8E3D-C649-A5BB-9B3C0EE1B407}" destId="{CD79B02B-ADDF-1141-8C86-45D10350966D}" srcOrd="6" destOrd="0" presId="urn:microsoft.com/office/officeart/2005/8/layout/target1"/>
    <dgm:cxn modelId="{05F61CE4-F3C6-1549-9C08-8735F7134DB1}" type="presParOf" srcId="{67DFE038-8E3D-C649-A5BB-9B3C0EE1B407}" destId="{816E5757-0CAD-CD46-B964-B653CB3D2F71}" srcOrd="7" destOrd="0" presId="urn:microsoft.com/office/officeart/2005/8/layout/target1"/>
    <dgm:cxn modelId="{57EF3DA7-8614-DE44-994C-8B8008F3DC84}" type="presParOf" srcId="{67DFE038-8E3D-C649-A5BB-9B3C0EE1B407}" destId="{09E5408D-8A11-C349-983A-FF27A4CD0E3B}" srcOrd="8" destOrd="0" presId="urn:microsoft.com/office/officeart/2005/8/layout/target1"/>
    <dgm:cxn modelId="{715A600E-11DA-044B-A3DA-384A55E6DA9C}" type="presParOf" srcId="{67DFE038-8E3D-C649-A5BB-9B3C0EE1B407}" destId="{64D028ED-D856-004F-82AE-25A1792DF594}" srcOrd="9" destOrd="0" presId="urn:microsoft.com/office/officeart/2005/8/layout/target1"/>
    <dgm:cxn modelId="{EBE12B9E-E7DC-3B4D-A525-CBF46CD0EF22}" type="presParOf" srcId="{67DFE038-8E3D-C649-A5BB-9B3C0EE1B407}" destId="{844D6AD4-814E-9A49-8479-BBC4355D2906}" srcOrd="10" destOrd="0" presId="urn:microsoft.com/office/officeart/2005/8/layout/target1"/>
    <dgm:cxn modelId="{45073F24-BDEA-A44F-928F-58D775E3409B}" type="presParOf" srcId="{67DFE038-8E3D-C649-A5BB-9B3C0EE1B407}" destId="{09E031DD-5B6F-B149-9EF5-9E627F32C5E0}" srcOrd="11" destOrd="0" presId="urn:microsoft.com/office/officeart/2005/8/layout/target1"/>
    <dgm:cxn modelId="{9E4047F7-2ACA-AA41-B926-46A2DE42BDF2}" type="presParOf" srcId="{67DFE038-8E3D-C649-A5BB-9B3C0EE1B407}" destId="{F85D9B43-A645-1046-AAFB-474175001081}" srcOrd="12" destOrd="0" presId="urn:microsoft.com/office/officeart/2005/8/layout/target1"/>
    <dgm:cxn modelId="{FBE53C4A-D092-E84C-938D-3A496E8B6665}" type="presParOf" srcId="{67DFE038-8E3D-C649-A5BB-9B3C0EE1B407}" destId="{7DB2A403-2088-DF4C-B961-D8DCC748BA56}" srcOrd="13" destOrd="0" presId="urn:microsoft.com/office/officeart/2005/8/layout/target1"/>
    <dgm:cxn modelId="{8C37571A-B911-EB43-80B5-B862A55E4F9A}" type="presParOf" srcId="{67DFE038-8E3D-C649-A5BB-9B3C0EE1B407}" destId="{DEF37567-F691-5D47-8D86-7EF938ACCD23}" srcOrd="14" destOrd="0" presId="urn:microsoft.com/office/officeart/2005/8/layout/target1"/>
    <dgm:cxn modelId="{FC3B03F4-13C2-014D-A1C0-61500825C10A}" type="presParOf" srcId="{67DFE038-8E3D-C649-A5BB-9B3C0EE1B407}" destId="{C5CA4BDE-6447-5546-B9F5-65BD75E05390}" srcOrd="15" destOrd="0" presId="urn:microsoft.com/office/officeart/2005/8/layout/target1"/>
  </dgm:cxnLst>
  <dgm:bg/>
  <dgm:whole>
    <a:ln>
      <a:solidFill>
        <a:schemeClr val="accent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399CD-6D80-A04B-A73D-FAE536245E54}">
      <dsp:nvSpPr>
        <dsp:cNvPr id="0" name=""/>
        <dsp:cNvSpPr/>
      </dsp:nvSpPr>
      <dsp:spPr>
        <a:xfrm>
          <a:off x="-651834" y="162008"/>
          <a:ext cx="4533787" cy="4533787"/>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C95AEB3-1C20-5849-B1AE-D3E218984151}">
      <dsp:nvSpPr>
        <dsp:cNvPr id="0" name=""/>
        <dsp:cNvSpPr/>
      </dsp:nvSpPr>
      <dsp:spPr>
        <a:xfrm>
          <a:off x="0" y="16"/>
          <a:ext cx="5289419" cy="45337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kern="1200" dirty="0"/>
            <a:t>Pipelining</a:t>
          </a:r>
        </a:p>
      </dsp:txBody>
      <dsp:txXfrm>
        <a:off x="0" y="16"/>
        <a:ext cx="2644709" cy="725406"/>
      </dsp:txXfrm>
    </dsp:sp>
    <dsp:sp modelId="{95965867-777A-B244-9440-59A3ABA67E2E}">
      <dsp:nvSpPr>
        <dsp:cNvPr id="0" name=""/>
        <dsp:cNvSpPr/>
      </dsp:nvSpPr>
      <dsp:spPr>
        <a:xfrm>
          <a:off x="-175787" y="887414"/>
          <a:ext cx="3581692" cy="3581692"/>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2C26FB8-F960-704B-9B69-4C5DA54F634F}">
      <dsp:nvSpPr>
        <dsp:cNvPr id="0" name=""/>
        <dsp:cNvSpPr/>
      </dsp:nvSpPr>
      <dsp:spPr>
        <a:xfrm>
          <a:off x="0" y="936878"/>
          <a:ext cx="5289419" cy="358169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kern="1200" dirty="0"/>
            <a:t>Branch prediction</a:t>
          </a:r>
        </a:p>
      </dsp:txBody>
      <dsp:txXfrm>
        <a:off x="0" y="936878"/>
        <a:ext cx="2644709" cy="725406"/>
      </dsp:txXfrm>
    </dsp:sp>
    <dsp:sp modelId="{8980E4CE-FAE8-4640-865E-DD474CAE12ED}">
      <dsp:nvSpPr>
        <dsp:cNvPr id="0" name=""/>
        <dsp:cNvSpPr/>
      </dsp:nvSpPr>
      <dsp:spPr>
        <a:xfrm>
          <a:off x="300260" y="1612820"/>
          <a:ext cx="2629596" cy="2629596"/>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A0AD6EA-0B5C-914A-9F0A-CC84B3884EAA}">
      <dsp:nvSpPr>
        <dsp:cNvPr id="0" name=""/>
        <dsp:cNvSpPr/>
      </dsp:nvSpPr>
      <dsp:spPr>
        <a:xfrm>
          <a:off x="0" y="1583080"/>
          <a:ext cx="5289419" cy="262959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kern="1200" dirty="0"/>
            <a:t>Superscalar execution</a:t>
          </a:r>
        </a:p>
      </dsp:txBody>
      <dsp:txXfrm>
        <a:off x="0" y="1583080"/>
        <a:ext cx="2644709" cy="725406"/>
      </dsp:txXfrm>
    </dsp:sp>
    <dsp:sp modelId="{8FC3D4C7-6020-F347-A658-FE974C7C2633}">
      <dsp:nvSpPr>
        <dsp:cNvPr id="0" name=""/>
        <dsp:cNvSpPr/>
      </dsp:nvSpPr>
      <dsp:spPr>
        <a:xfrm>
          <a:off x="776308" y="2338227"/>
          <a:ext cx="1677501" cy="1677501"/>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912B40C-E4AB-4443-8E49-43D36F560895}">
      <dsp:nvSpPr>
        <dsp:cNvPr id="0" name=""/>
        <dsp:cNvSpPr/>
      </dsp:nvSpPr>
      <dsp:spPr>
        <a:xfrm>
          <a:off x="0" y="2314054"/>
          <a:ext cx="5289419" cy="1677501"/>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kern="1200" dirty="0"/>
            <a:t>Data flow analysis</a:t>
          </a:r>
        </a:p>
      </dsp:txBody>
      <dsp:txXfrm>
        <a:off x="0" y="2314054"/>
        <a:ext cx="2644709" cy="725406"/>
      </dsp:txXfrm>
    </dsp:sp>
    <dsp:sp modelId="{8CA8964D-0088-5C41-B5B6-C7928BBF95DC}">
      <dsp:nvSpPr>
        <dsp:cNvPr id="0" name=""/>
        <dsp:cNvSpPr/>
      </dsp:nvSpPr>
      <dsp:spPr>
        <a:xfrm>
          <a:off x="1252355" y="3063633"/>
          <a:ext cx="725406" cy="725406"/>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E35B49C-BBBC-DB45-BDFD-E61EAF99AC87}">
      <dsp:nvSpPr>
        <dsp:cNvPr id="0" name=""/>
        <dsp:cNvSpPr/>
      </dsp:nvSpPr>
      <dsp:spPr>
        <a:xfrm>
          <a:off x="33734" y="3048004"/>
          <a:ext cx="5289419" cy="121543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kern="1200" dirty="0"/>
            <a:t>Speculative execution</a:t>
          </a:r>
        </a:p>
      </dsp:txBody>
      <dsp:txXfrm>
        <a:off x="33734" y="3048004"/>
        <a:ext cx="2644709" cy="1215439"/>
      </dsp:txXfrm>
    </dsp:sp>
    <dsp:sp modelId="{9625A8A9-4E22-1C45-8780-F620536E0AB6}">
      <dsp:nvSpPr>
        <dsp:cNvPr id="0" name=""/>
        <dsp:cNvSpPr/>
      </dsp:nvSpPr>
      <dsp:spPr>
        <a:xfrm>
          <a:off x="2193972" y="86595"/>
          <a:ext cx="5252049" cy="839817"/>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rtl="0">
            <a:lnSpc>
              <a:spcPct val="90000"/>
            </a:lnSpc>
            <a:spcBef>
              <a:spcPct val="0"/>
            </a:spcBef>
            <a:spcAft>
              <a:spcPct val="15000"/>
            </a:spcAft>
            <a:buChar char="•"/>
          </a:pPr>
          <a:r>
            <a:rPr lang="en-US" sz="1600" kern="1200" dirty="0"/>
            <a:t>Processor moves data or instructions into a conceptual pipe with all stages of the pipe processing simultaneously</a:t>
          </a:r>
        </a:p>
      </dsp:txBody>
      <dsp:txXfrm>
        <a:off x="2193972" y="86595"/>
        <a:ext cx="5252049" cy="839817"/>
      </dsp:txXfrm>
    </dsp:sp>
    <dsp:sp modelId="{B8C4BD7A-9494-904F-8FD8-EAB30AD1C9C2}">
      <dsp:nvSpPr>
        <dsp:cNvPr id="0" name=""/>
        <dsp:cNvSpPr/>
      </dsp:nvSpPr>
      <dsp:spPr>
        <a:xfrm>
          <a:off x="2409992" y="866385"/>
          <a:ext cx="5184556" cy="725406"/>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Processor looks ahead in the instruction code fetched from memory and predicts which branches, or groups of instructions, are likely to be processed next</a:t>
          </a:r>
        </a:p>
      </dsp:txBody>
      <dsp:txXfrm>
        <a:off x="2409992" y="866385"/>
        <a:ext cx="5184556" cy="725406"/>
      </dsp:txXfrm>
    </dsp:sp>
    <dsp:sp modelId="{9D7E2566-676D-9E41-99C2-0953099D924D}">
      <dsp:nvSpPr>
        <dsp:cNvPr id="0" name=""/>
        <dsp:cNvSpPr/>
      </dsp:nvSpPr>
      <dsp:spPr>
        <a:xfrm>
          <a:off x="2426323" y="1591791"/>
          <a:ext cx="5096249" cy="725406"/>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This is the ability to issue more than one instruction in every processor clock cycle. (In effect, multiple parallel pipelines are used.)</a:t>
          </a:r>
        </a:p>
      </dsp:txBody>
      <dsp:txXfrm>
        <a:off x="2426323" y="1591791"/>
        <a:ext cx="5096249" cy="725406"/>
      </dsp:txXfrm>
    </dsp:sp>
    <dsp:sp modelId="{B4AAA73C-1031-C544-BDD6-9B9C29452A80}">
      <dsp:nvSpPr>
        <dsp:cNvPr id="0" name=""/>
        <dsp:cNvSpPr/>
      </dsp:nvSpPr>
      <dsp:spPr>
        <a:xfrm>
          <a:off x="2626038" y="2324379"/>
          <a:ext cx="4926697" cy="725406"/>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Processor analyzes which instructions are dependent on each other’s results, or data, to create an optimized schedule of instructions</a:t>
          </a:r>
        </a:p>
      </dsp:txBody>
      <dsp:txXfrm>
        <a:off x="2626038" y="2324379"/>
        <a:ext cx="4926697" cy="725406"/>
      </dsp:txXfrm>
    </dsp:sp>
    <dsp:sp modelId="{BB5D0C00-E641-934E-AE39-CCC5D85D9568}">
      <dsp:nvSpPr>
        <dsp:cNvPr id="0" name=""/>
        <dsp:cNvSpPr/>
      </dsp:nvSpPr>
      <dsp:spPr>
        <a:xfrm>
          <a:off x="2470397" y="3048000"/>
          <a:ext cx="5002864" cy="1219204"/>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a:t>Using branch prediction and data flow analysis, some processors speculatively execute instructions ahead of their actual appearance in the program execution, holding the results in temporary locations, keeping execution engines as busy as possible</a:t>
          </a:r>
        </a:p>
      </dsp:txBody>
      <dsp:txXfrm>
        <a:off x="2470397" y="3048000"/>
        <a:ext cx="5002864" cy="12192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D9B43-A645-1046-AAFB-474175001081}">
      <dsp:nvSpPr>
        <dsp:cNvPr id="0" name=""/>
        <dsp:cNvSpPr/>
      </dsp:nvSpPr>
      <dsp:spPr>
        <a:xfrm>
          <a:off x="209550" y="1562100"/>
          <a:ext cx="4686300" cy="4686300"/>
        </a:xfrm>
        <a:prstGeom prst="ellipse">
          <a:avLst/>
        </a:prstGeom>
        <a:gradFill rotWithShape="0">
          <a:gsLst>
            <a:gs pos="0">
              <a:schemeClr val="accent2">
                <a:shade val="50000"/>
                <a:hueOff val="-237266"/>
                <a:satOff val="-33833"/>
                <a:lumOff val="33505"/>
                <a:alphaOff val="0"/>
                <a:shade val="40000"/>
                <a:alpha val="100000"/>
                <a:satMod val="150000"/>
                <a:lumMod val="100000"/>
              </a:schemeClr>
            </a:gs>
            <a:gs pos="100000">
              <a:schemeClr val="accent2">
                <a:shade val="50000"/>
                <a:hueOff val="-237266"/>
                <a:satOff val="-33833"/>
                <a:lumOff val="33505"/>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09E5408D-8A11-C349-983A-FF27A4CD0E3B}">
      <dsp:nvSpPr>
        <dsp:cNvPr id="0" name=""/>
        <dsp:cNvSpPr/>
      </dsp:nvSpPr>
      <dsp:spPr>
        <a:xfrm>
          <a:off x="879300" y="2231850"/>
          <a:ext cx="3346799" cy="3346799"/>
        </a:xfrm>
        <a:prstGeom prst="ellipse">
          <a:avLst/>
        </a:prstGeom>
        <a:gradFill rotWithShape="0">
          <a:gsLst>
            <a:gs pos="0">
              <a:schemeClr val="accent2">
                <a:shade val="50000"/>
                <a:hueOff val="-474532"/>
                <a:satOff val="-67666"/>
                <a:lumOff val="67010"/>
                <a:alphaOff val="0"/>
                <a:shade val="40000"/>
                <a:alpha val="100000"/>
                <a:satMod val="150000"/>
                <a:lumMod val="100000"/>
              </a:schemeClr>
            </a:gs>
            <a:gs pos="100000">
              <a:schemeClr val="accent2">
                <a:shade val="50000"/>
                <a:hueOff val="-474532"/>
                <a:satOff val="-67666"/>
                <a:lumOff val="6701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EAFBFBDD-6B2F-6542-A0F4-55DD8CB829AA}">
      <dsp:nvSpPr>
        <dsp:cNvPr id="0" name=""/>
        <dsp:cNvSpPr/>
      </dsp:nvSpPr>
      <dsp:spPr>
        <a:xfrm>
          <a:off x="1548660" y="2901210"/>
          <a:ext cx="2008079" cy="2008079"/>
        </a:xfrm>
        <a:prstGeom prst="ellipse">
          <a:avLst/>
        </a:prstGeom>
        <a:gradFill rotWithShape="0">
          <a:gsLst>
            <a:gs pos="0">
              <a:schemeClr val="accent2">
                <a:shade val="50000"/>
                <a:hueOff val="-237266"/>
                <a:satOff val="-33833"/>
                <a:lumOff val="33505"/>
                <a:alphaOff val="0"/>
                <a:shade val="40000"/>
                <a:alpha val="100000"/>
                <a:satMod val="150000"/>
                <a:lumMod val="100000"/>
              </a:schemeClr>
            </a:gs>
            <a:gs pos="100000">
              <a:schemeClr val="accent2">
                <a:shade val="50000"/>
                <a:hueOff val="-237266"/>
                <a:satOff val="-33833"/>
                <a:lumOff val="33505"/>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CAE743AE-6431-1E40-A97F-5F24D5B60547}">
      <dsp:nvSpPr>
        <dsp:cNvPr id="0" name=""/>
        <dsp:cNvSpPr/>
      </dsp:nvSpPr>
      <dsp:spPr>
        <a:xfrm>
          <a:off x="2218020" y="3570570"/>
          <a:ext cx="669359" cy="669359"/>
        </a:xfrm>
        <a:prstGeom prst="ellipse">
          <a:avLst/>
        </a:prstGeom>
        <a:gradFill rotWithShape="0">
          <a:gsLst>
            <a:gs pos="0">
              <a:schemeClr val="accent2">
                <a:shade val="50000"/>
                <a:hueOff val="0"/>
                <a:satOff val="0"/>
                <a:lumOff val="0"/>
                <a:alphaOff val="0"/>
                <a:shade val="40000"/>
                <a:alpha val="100000"/>
                <a:satMod val="150000"/>
                <a:lumMod val="100000"/>
              </a:schemeClr>
            </a:gs>
            <a:gs pos="100000">
              <a:schemeClr val="accent2">
                <a:shade val="50000"/>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AB119BD4-C127-B449-BD7B-2FB3093D572E}">
      <dsp:nvSpPr>
        <dsp:cNvPr id="0" name=""/>
        <dsp:cNvSpPr/>
      </dsp:nvSpPr>
      <dsp:spPr>
        <a:xfrm>
          <a:off x="5676900" y="0"/>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kern="1200" dirty="0"/>
            <a:t>The use of multiple processors on the same chip provides the potential to increase performance without increasing the clock rate</a:t>
          </a:r>
        </a:p>
      </dsp:txBody>
      <dsp:txXfrm>
        <a:off x="5676900" y="0"/>
        <a:ext cx="2343150" cy="1120806"/>
      </dsp:txXfrm>
    </dsp:sp>
    <dsp:sp modelId="{34B48968-EEAE-C24A-A838-020141B43AD6}">
      <dsp:nvSpPr>
        <dsp:cNvPr id="0" name=""/>
        <dsp:cNvSpPr/>
      </dsp:nvSpPr>
      <dsp:spPr>
        <a:xfrm>
          <a:off x="5091112" y="560403"/>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DDA5D090-4EDE-CC46-88A9-94E77850F40F}">
      <dsp:nvSpPr>
        <dsp:cNvPr id="0" name=""/>
        <dsp:cNvSpPr/>
      </dsp:nvSpPr>
      <dsp:spPr>
        <a:xfrm rot="5400000">
          <a:off x="2146554" y="929449"/>
          <a:ext cx="3311652" cy="2577465"/>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513BC700-EE34-1A44-899C-A6CEEACA89E1}">
      <dsp:nvSpPr>
        <dsp:cNvPr id="0" name=""/>
        <dsp:cNvSpPr/>
      </dsp:nvSpPr>
      <dsp:spPr>
        <a:xfrm>
          <a:off x="5676900" y="1120806"/>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kern="1200" dirty="0"/>
            <a:t>Strategy is to use two simpler processors on the chip rather than one more complex processor</a:t>
          </a:r>
        </a:p>
      </dsp:txBody>
      <dsp:txXfrm>
        <a:off x="5676900" y="1120806"/>
        <a:ext cx="2343150" cy="1120806"/>
      </dsp:txXfrm>
    </dsp:sp>
    <dsp:sp modelId="{CD79B02B-ADDF-1141-8C86-45D10350966D}">
      <dsp:nvSpPr>
        <dsp:cNvPr id="0" name=""/>
        <dsp:cNvSpPr/>
      </dsp:nvSpPr>
      <dsp:spPr>
        <a:xfrm>
          <a:off x="5091112" y="1681210"/>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816E5757-0CAD-CD46-B964-B653CB3D2F71}">
      <dsp:nvSpPr>
        <dsp:cNvPr id="0" name=""/>
        <dsp:cNvSpPr/>
      </dsp:nvSpPr>
      <dsp:spPr>
        <a:xfrm rot="5400000">
          <a:off x="2719844" y="2031901"/>
          <a:ext cx="2719616" cy="2019014"/>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64D028ED-D856-004F-82AE-25A1792DF594}">
      <dsp:nvSpPr>
        <dsp:cNvPr id="0" name=""/>
        <dsp:cNvSpPr/>
      </dsp:nvSpPr>
      <dsp:spPr>
        <a:xfrm>
          <a:off x="5676900" y="2241613"/>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kern="1200" dirty="0"/>
            <a:t>With two processors larger caches are justified</a:t>
          </a:r>
        </a:p>
      </dsp:txBody>
      <dsp:txXfrm>
        <a:off x="5676900" y="2241613"/>
        <a:ext cx="2343150" cy="1120806"/>
      </dsp:txXfrm>
    </dsp:sp>
    <dsp:sp modelId="{844D6AD4-814E-9A49-8479-BBC4355D2906}">
      <dsp:nvSpPr>
        <dsp:cNvPr id="0" name=""/>
        <dsp:cNvSpPr/>
      </dsp:nvSpPr>
      <dsp:spPr>
        <a:xfrm>
          <a:off x="5091112" y="2802016"/>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9E031DD-5B6F-B149-9EF5-9E627F32C5E0}">
      <dsp:nvSpPr>
        <dsp:cNvPr id="0" name=""/>
        <dsp:cNvSpPr/>
      </dsp:nvSpPr>
      <dsp:spPr>
        <a:xfrm rot="5400000">
          <a:off x="3274780" y="3059372"/>
          <a:ext cx="2074468" cy="1558194"/>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7DB2A403-2088-DF4C-B961-D8DCC748BA56}">
      <dsp:nvSpPr>
        <dsp:cNvPr id="0" name=""/>
        <dsp:cNvSpPr/>
      </dsp:nvSpPr>
      <dsp:spPr>
        <a:xfrm>
          <a:off x="5676900" y="3362420"/>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kern="1200" dirty="0"/>
            <a:t>As caches became larger it made performance sense to create two and then three levels of cache on a chip</a:t>
          </a:r>
        </a:p>
      </dsp:txBody>
      <dsp:txXfrm>
        <a:off x="5676900" y="3362420"/>
        <a:ext cx="2343150" cy="1120806"/>
      </dsp:txXfrm>
    </dsp:sp>
    <dsp:sp modelId="{DEF37567-F691-5D47-8D86-7EF938ACCD23}">
      <dsp:nvSpPr>
        <dsp:cNvPr id="0" name=""/>
        <dsp:cNvSpPr/>
      </dsp:nvSpPr>
      <dsp:spPr>
        <a:xfrm>
          <a:off x="5091112" y="3922823"/>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C5CA4BDE-6447-5546-B9F5-65BD75E05390}">
      <dsp:nvSpPr>
        <dsp:cNvPr id="0" name=""/>
        <dsp:cNvSpPr/>
      </dsp:nvSpPr>
      <dsp:spPr>
        <a:xfrm rot="5400000">
          <a:off x="3831044" y="4090905"/>
          <a:ext cx="1425884" cy="1088783"/>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r>
              <a:rPr lang="en-US" dirty="0"/>
              <a:t>© 2016 Pearson Education, Inc., Hoboken, NJ. All rights reserved.</a:t>
            </a:r>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4F817154-EF57-E447-B272-3CC33A38C6FD}" type="slidenum">
              <a:rPr lang="en-US"/>
              <a:pPr/>
              <a:t>‹#›</a:t>
            </a:fld>
            <a:endParaRPr lang="en-US" dirty="0"/>
          </a:p>
        </p:txBody>
      </p:sp>
    </p:spTree>
    <p:extLst>
      <p:ext uri="{BB962C8B-B14F-4D97-AF65-F5344CB8AC3E}">
        <p14:creationId xmlns:p14="http://schemas.microsoft.com/office/powerpoint/2010/main" val="9092161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83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83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r>
              <a:rPr lang="en-US" dirty="0"/>
              <a:t>© 2016 Pearson Education, Inc., Hoboken, NJ. All rights reserved.</a:t>
            </a:r>
          </a:p>
        </p:txBody>
      </p:sp>
      <p:sp>
        <p:nvSpPr>
          <p:cNvPr id="583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FDEEBCE0-4A34-3647-9307-E59F6D6CD745}" type="slidenum">
              <a:rPr lang="en-US"/>
              <a:pPr/>
              <a:t>‹#›</a:t>
            </a:fld>
            <a:endParaRPr lang="en-US" dirty="0"/>
          </a:p>
        </p:txBody>
      </p:sp>
    </p:spTree>
    <p:extLst>
      <p:ext uri="{BB962C8B-B14F-4D97-AF65-F5344CB8AC3E}">
        <p14:creationId xmlns:p14="http://schemas.microsoft.com/office/powerpoint/2010/main" val="2004387664"/>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10/e, by William Stallings, Chapter 2 “Performance Issues”.</a:t>
            </a:r>
            <a:endParaRPr lang="en-AU" dirty="0">
              <a:latin typeface="Times New Roman" pitchFamily="-110" charset="0"/>
            </a:endParaRPr>
          </a:p>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b="0" i="0" u="none" strike="noStrike" kern="1200" baseline="0" dirty="0">
                <a:solidFill>
                  <a:schemeClr val="tx1"/>
                </a:solidFill>
                <a:latin typeface="Times New Roman" pitchFamily="-110" charset="0"/>
                <a:ea typeface="+mn-ea"/>
                <a:cs typeface="+mn-cs"/>
              </a:rPr>
              <a:t>This chapter addresses the issue of computer system performance. We begin with a</a:t>
            </a:r>
          </a:p>
          <a:p>
            <a:r>
              <a:rPr kumimoji="1" lang="en-US" sz="1200" b="0" i="0" u="none" strike="noStrike" kern="1200" baseline="0" dirty="0">
                <a:solidFill>
                  <a:schemeClr val="tx1"/>
                </a:solidFill>
                <a:latin typeface="Times New Roman" pitchFamily="-110" charset="0"/>
                <a:ea typeface="+mn-ea"/>
                <a:cs typeface="+mn-cs"/>
              </a:rPr>
              <a:t>consideration of the need for balanced utilization of computer resources, which provides</a:t>
            </a:r>
          </a:p>
          <a:p>
            <a:r>
              <a:rPr kumimoji="1" lang="en-US" sz="1200" b="0" i="0" u="none" strike="noStrike" kern="1200" baseline="0" dirty="0">
                <a:solidFill>
                  <a:schemeClr val="tx1"/>
                </a:solidFill>
                <a:latin typeface="Times New Roman" pitchFamily="-110" charset="0"/>
                <a:ea typeface="+mn-ea"/>
                <a:cs typeface="+mn-cs"/>
              </a:rPr>
              <a:t>a perspective that is useful throughout the book. Next we look at contemporary</a:t>
            </a:r>
          </a:p>
          <a:p>
            <a:r>
              <a:rPr kumimoji="1" lang="en-US" sz="1200" b="0" i="0" u="none" strike="noStrike" kern="1200" baseline="0" dirty="0">
                <a:solidFill>
                  <a:schemeClr val="tx1"/>
                </a:solidFill>
                <a:latin typeface="Times New Roman" pitchFamily="-110" charset="0"/>
                <a:ea typeface="+mn-ea"/>
                <a:cs typeface="+mn-cs"/>
              </a:rPr>
              <a:t>computer organization designs intended to provide performance to meet current</a:t>
            </a:r>
          </a:p>
          <a:p>
            <a:r>
              <a:rPr kumimoji="1" lang="en-US" sz="1200" b="0" i="0" u="none" strike="noStrike" kern="1200" baseline="0" dirty="0">
                <a:solidFill>
                  <a:schemeClr val="tx1"/>
                </a:solidFill>
                <a:latin typeface="Times New Roman" pitchFamily="-110" charset="0"/>
                <a:ea typeface="+mn-ea"/>
                <a:cs typeface="+mn-cs"/>
              </a:rPr>
              <a:t>and projected demand. Finally, we look at tools and models that have been developed</a:t>
            </a:r>
          </a:p>
          <a:p>
            <a:r>
              <a:rPr kumimoji="1" lang="en-US" sz="1200" b="0" i="0" u="none" strike="noStrike" kern="1200" baseline="0" dirty="0">
                <a:solidFill>
                  <a:schemeClr val="tx1"/>
                </a:solidFill>
                <a:latin typeface="Times New Roman" pitchFamily="-110" charset="0"/>
                <a:ea typeface="+mn-ea"/>
                <a:cs typeface="+mn-cs"/>
              </a:rPr>
              <a:t>to provide a means of assessing comparative computer system performance.</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Year by year, the cost of computer systems continues to drop dramatically, while the</a:t>
            </a:r>
          </a:p>
          <a:p>
            <a:r>
              <a:rPr kumimoji="1" lang="en-US" sz="1200" b="0" i="0" u="none" strike="noStrike" kern="1200" baseline="0" dirty="0">
                <a:solidFill>
                  <a:schemeClr val="tx1"/>
                </a:solidFill>
                <a:latin typeface="Times New Roman" pitchFamily="-110" charset="0"/>
                <a:ea typeface="+mn-ea"/>
                <a:cs typeface="+mn-cs"/>
              </a:rPr>
              <a:t>performance and capacity of those systems continue to rise equally dramatically.</a:t>
            </a:r>
          </a:p>
          <a:p>
            <a:r>
              <a:rPr kumimoji="1" lang="en-US" sz="1200" b="0" i="0" u="none" strike="noStrike" kern="1200" baseline="0" dirty="0">
                <a:solidFill>
                  <a:schemeClr val="tx1"/>
                </a:solidFill>
                <a:latin typeface="Times New Roman" pitchFamily="-110" charset="0"/>
                <a:ea typeface="+mn-ea"/>
                <a:cs typeface="+mn-cs"/>
              </a:rPr>
              <a:t>Today’s laptops have the computing power of an IBM mainframe from 10 or 15</a:t>
            </a:r>
          </a:p>
          <a:p>
            <a:r>
              <a:rPr kumimoji="1" lang="en-US" sz="1200" b="0" i="0" u="none" strike="noStrike" kern="1200" baseline="0" dirty="0">
                <a:solidFill>
                  <a:schemeClr val="tx1"/>
                </a:solidFill>
                <a:latin typeface="Times New Roman" pitchFamily="-110" charset="0"/>
                <a:ea typeface="+mn-ea"/>
                <a:cs typeface="+mn-cs"/>
              </a:rPr>
              <a:t>years ago. Thus, we have virtually “free” computer power. Processors are so inexpensive</a:t>
            </a:r>
          </a:p>
          <a:p>
            <a:r>
              <a:rPr kumimoji="1" lang="en-US" sz="1200" b="0" i="0" u="none" strike="noStrike" kern="1200" baseline="0" dirty="0">
                <a:solidFill>
                  <a:schemeClr val="tx1"/>
                </a:solidFill>
                <a:latin typeface="Times New Roman" pitchFamily="-110" charset="0"/>
                <a:ea typeface="+mn-ea"/>
                <a:cs typeface="+mn-cs"/>
              </a:rPr>
              <a:t>that we now have microprocessors we throw away. The digital pregnancy test is</a:t>
            </a:r>
          </a:p>
          <a:p>
            <a:r>
              <a:rPr kumimoji="1" lang="en-US" sz="1200" b="0" i="0" u="none" strike="noStrike" kern="1200" baseline="0" dirty="0">
                <a:solidFill>
                  <a:schemeClr val="tx1"/>
                </a:solidFill>
                <a:latin typeface="Times New Roman" pitchFamily="-110" charset="0"/>
                <a:ea typeface="+mn-ea"/>
                <a:cs typeface="+mn-cs"/>
              </a:rPr>
              <a:t>an example (used once and then thrown away). And this continuing technological</a:t>
            </a:r>
          </a:p>
          <a:p>
            <a:r>
              <a:rPr kumimoji="1" lang="en-US" sz="1200" b="0" i="0" u="none" strike="noStrike" kern="1200" baseline="0" dirty="0">
                <a:solidFill>
                  <a:schemeClr val="tx1"/>
                </a:solidFill>
                <a:latin typeface="Times New Roman" pitchFamily="-110" charset="0"/>
                <a:ea typeface="+mn-ea"/>
                <a:cs typeface="+mn-cs"/>
              </a:rPr>
              <a:t>revolution has enabled the development of applications of astounding complexity</a:t>
            </a:r>
          </a:p>
          <a:p>
            <a:r>
              <a:rPr kumimoji="1" lang="en-US" sz="1200" b="0" i="0" u="none" strike="noStrike" kern="1200" baseline="0" dirty="0">
                <a:solidFill>
                  <a:schemeClr val="tx1"/>
                </a:solidFill>
                <a:latin typeface="Times New Roman" pitchFamily="-110" charset="0"/>
                <a:ea typeface="+mn-ea"/>
                <a:cs typeface="+mn-cs"/>
              </a:rPr>
              <a:t>and power. For example, desktop applications that require the great power of</a:t>
            </a:r>
          </a:p>
          <a:p>
            <a:r>
              <a:rPr kumimoji="1" lang="en-US" sz="1200" b="0" i="0" u="none" strike="noStrike" kern="1200" baseline="0" dirty="0">
                <a:solidFill>
                  <a:schemeClr val="tx1"/>
                </a:solidFill>
                <a:latin typeface="Times New Roman" pitchFamily="-110" charset="0"/>
                <a:ea typeface="+mn-ea"/>
                <a:cs typeface="+mn-cs"/>
              </a:rPr>
              <a:t>today’s microprocessor-based systems include</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Image processing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Three-dimensional rendering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Speech recognition</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Videoconferencing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Multimedia authoring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Voice and video annotation of files</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Simulation modeling</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Workstation systems now support highly sophisticated engineering and scientific</a:t>
            </a:r>
          </a:p>
          <a:p>
            <a:r>
              <a:rPr kumimoji="1" lang="en-US" sz="1200" b="0" i="0" u="none" strike="noStrike" kern="1200" baseline="0" dirty="0">
                <a:solidFill>
                  <a:schemeClr val="tx1"/>
                </a:solidFill>
                <a:latin typeface="Times New Roman" pitchFamily="-110" charset="0"/>
                <a:ea typeface="+mn-ea"/>
                <a:cs typeface="+mn-cs"/>
              </a:rPr>
              <a:t>applications and have the capacity to support image and video applications. In addition,</a:t>
            </a:r>
          </a:p>
          <a:p>
            <a:r>
              <a:rPr kumimoji="1" lang="en-US" sz="1200" b="0" i="0" u="none" strike="noStrike" kern="1200" baseline="0" dirty="0">
                <a:solidFill>
                  <a:schemeClr val="tx1"/>
                </a:solidFill>
                <a:latin typeface="Times New Roman" pitchFamily="-110" charset="0"/>
                <a:ea typeface="+mn-ea"/>
                <a:cs typeface="+mn-cs"/>
              </a:rPr>
              <a:t>businesses are relying on increasingly powerful servers to handle transaction</a:t>
            </a:r>
          </a:p>
          <a:p>
            <a:r>
              <a:rPr kumimoji="1" lang="en-US" sz="1200" b="0" i="0" u="none" strike="noStrike" kern="1200" baseline="0" dirty="0">
                <a:solidFill>
                  <a:schemeClr val="tx1"/>
                </a:solidFill>
                <a:latin typeface="Times New Roman" pitchFamily="-110" charset="0"/>
                <a:ea typeface="+mn-ea"/>
                <a:cs typeface="+mn-cs"/>
              </a:rPr>
              <a:t>and database processing and to support massive client/server networks that have</a:t>
            </a:r>
          </a:p>
          <a:p>
            <a:r>
              <a:rPr kumimoji="1" lang="en-US" sz="1200" b="0" i="0" u="none" strike="noStrike" kern="1200" baseline="0" dirty="0">
                <a:solidFill>
                  <a:schemeClr val="tx1"/>
                </a:solidFill>
                <a:latin typeface="Times New Roman" pitchFamily="-110" charset="0"/>
                <a:ea typeface="+mn-ea"/>
                <a:cs typeface="+mn-cs"/>
              </a:rPr>
              <a:t>replaced the huge mainframe computer centers of yesteryear. As well, cloud service</a:t>
            </a:r>
          </a:p>
          <a:p>
            <a:r>
              <a:rPr kumimoji="1" lang="en-US" sz="1200" b="0" i="0" u="none" strike="noStrike" kern="1200" baseline="0" dirty="0">
                <a:solidFill>
                  <a:schemeClr val="tx1"/>
                </a:solidFill>
                <a:latin typeface="Times New Roman" pitchFamily="-110" charset="0"/>
                <a:ea typeface="+mn-ea"/>
                <a:cs typeface="+mn-cs"/>
              </a:rPr>
              <a:t>providers use massive high-performance banks of servers to satisfy high-volume,</a:t>
            </a:r>
          </a:p>
          <a:p>
            <a:r>
              <a:rPr kumimoji="1" lang="en-US" sz="1200" b="0" i="0" u="none" strike="noStrike" kern="1200" baseline="0" dirty="0">
                <a:solidFill>
                  <a:schemeClr val="tx1"/>
                </a:solidFill>
                <a:latin typeface="Times New Roman" pitchFamily="-110" charset="0"/>
                <a:ea typeface="+mn-ea"/>
                <a:cs typeface="+mn-cs"/>
              </a:rPr>
              <a:t>high-transaction-rate applications for a broad spectrum of clients.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What is fascinating about all this from the perspective of computer organization</a:t>
            </a:r>
          </a:p>
          <a:p>
            <a:r>
              <a:rPr kumimoji="1" lang="en-US" sz="1200" b="0" i="0" u="none" strike="noStrike" kern="1200" baseline="0" dirty="0">
                <a:solidFill>
                  <a:schemeClr val="tx1"/>
                </a:solidFill>
                <a:latin typeface="Times New Roman" pitchFamily="-110" charset="0"/>
                <a:ea typeface="+mn-ea"/>
                <a:cs typeface="+mn-cs"/>
              </a:rPr>
              <a:t>and architecture is that, on the one hand, the basic building blocks for today’s</a:t>
            </a:r>
          </a:p>
          <a:p>
            <a:r>
              <a:rPr kumimoji="1" lang="en-US" sz="1200" b="0" i="0" u="none" strike="noStrike" kern="1200" baseline="0" dirty="0">
                <a:solidFill>
                  <a:schemeClr val="tx1"/>
                </a:solidFill>
                <a:latin typeface="Times New Roman" pitchFamily="-110" charset="0"/>
                <a:ea typeface="+mn-ea"/>
                <a:cs typeface="+mn-cs"/>
              </a:rPr>
              <a:t>computer miracles are virtually the same as those of the IAS computer from over</a:t>
            </a:r>
          </a:p>
          <a:p>
            <a:r>
              <a:rPr kumimoji="1" lang="en-US" sz="1200" b="0" i="0" u="none" strike="noStrike" kern="1200" baseline="0" dirty="0">
                <a:solidFill>
                  <a:schemeClr val="tx1"/>
                </a:solidFill>
                <a:latin typeface="Times New Roman" pitchFamily="-110" charset="0"/>
                <a:ea typeface="+mn-ea"/>
                <a:cs typeface="+mn-cs"/>
              </a:rPr>
              <a:t>50 years ago, while on the other hand, the techniques for squeezing the maximum</a:t>
            </a:r>
          </a:p>
          <a:p>
            <a:r>
              <a:rPr kumimoji="1" lang="en-US" sz="1200" b="0" i="0" u="none" strike="noStrike" kern="1200" baseline="0" dirty="0">
                <a:solidFill>
                  <a:schemeClr val="tx1"/>
                </a:solidFill>
                <a:latin typeface="Times New Roman" pitchFamily="-110" charset="0"/>
                <a:ea typeface="+mn-ea"/>
                <a:cs typeface="+mn-cs"/>
              </a:rPr>
              <a:t>performance out of the materials at hand have become increasingly sophisticated.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This observation serves as a guiding principle for the presentation in this</a:t>
            </a:r>
          </a:p>
          <a:p>
            <a:r>
              <a:rPr kumimoji="1" lang="en-US" sz="1200" b="0" i="0" u="none" strike="noStrike" kern="1200" baseline="0" dirty="0">
                <a:solidFill>
                  <a:schemeClr val="tx1"/>
                </a:solidFill>
                <a:latin typeface="Times New Roman" pitchFamily="-110" charset="0"/>
                <a:ea typeface="+mn-ea"/>
                <a:cs typeface="+mn-cs"/>
              </a:rPr>
              <a:t>book. As we progress through the various elements and components of a computer,</a:t>
            </a:r>
          </a:p>
          <a:p>
            <a:r>
              <a:rPr kumimoji="1" lang="en-US" sz="1200" b="0" i="0" u="none" strike="noStrike" kern="1200" baseline="0" dirty="0">
                <a:solidFill>
                  <a:schemeClr val="tx1"/>
                </a:solidFill>
                <a:latin typeface="Times New Roman" pitchFamily="-110" charset="0"/>
                <a:ea typeface="+mn-ea"/>
                <a:cs typeface="+mn-cs"/>
              </a:rPr>
              <a:t>two objectives are pursued. First, the book explains the fundamental functionality</a:t>
            </a:r>
          </a:p>
          <a:p>
            <a:r>
              <a:rPr kumimoji="1" lang="en-US" sz="1200" b="0" i="0" u="none" strike="noStrike" kern="1200" baseline="0" dirty="0">
                <a:solidFill>
                  <a:schemeClr val="tx1"/>
                </a:solidFill>
                <a:latin typeface="Times New Roman" pitchFamily="-110" charset="0"/>
                <a:ea typeface="+mn-ea"/>
                <a:cs typeface="+mn-cs"/>
              </a:rPr>
              <a:t>in each area under consideration, and second, the book explores those techniques</a:t>
            </a:r>
          </a:p>
          <a:p>
            <a:r>
              <a:rPr kumimoji="1" lang="en-US" sz="1200" b="0" i="0" u="none" strike="noStrike" kern="1200" baseline="0" dirty="0">
                <a:solidFill>
                  <a:schemeClr val="tx1"/>
                </a:solidFill>
                <a:latin typeface="Times New Roman" pitchFamily="-110" charset="0"/>
                <a:ea typeface="+mn-ea"/>
                <a:cs typeface="+mn-cs"/>
              </a:rPr>
              <a:t>required to achieve maximum performance. In the remainder of this section, we</a:t>
            </a:r>
          </a:p>
          <a:p>
            <a:r>
              <a:rPr kumimoji="1" lang="en-US" sz="1200" b="0" i="0" u="none" strike="noStrike" kern="1200" baseline="0" dirty="0">
                <a:solidFill>
                  <a:schemeClr val="tx1"/>
                </a:solidFill>
                <a:latin typeface="Times New Roman" pitchFamily="-110" charset="0"/>
                <a:ea typeface="+mn-ea"/>
                <a:cs typeface="+mn-cs"/>
              </a:rPr>
              <a:t>highlight some of the driving factors behind the need to design for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extLst>
      <p:ext uri="{BB962C8B-B14F-4D97-AF65-F5344CB8AC3E}">
        <p14:creationId xmlns:p14="http://schemas.microsoft.com/office/powerpoint/2010/main" val="2765294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A513D4-F2DB-E54E-8A8E-0AC7B43CCEC2}" type="slidenum">
              <a:rPr lang="en-US"/>
              <a:pPr/>
              <a:t>4</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What gives Intel x86 processors or IBM mainframe computers such mind-boggling</a:t>
            </a:r>
          </a:p>
          <a:p>
            <a:r>
              <a:rPr kumimoji="1" lang="en-US" sz="1200" kern="1200" baseline="0" dirty="0">
                <a:solidFill>
                  <a:schemeClr val="tx1"/>
                </a:solidFill>
                <a:latin typeface="Times New Roman" pitchFamily="-110" charset="0"/>
                <a:ea typeface="+mn-ea"/>
                <a:cs typeface="+mn-cs"/>
              </a:rPr>
              <a:t>power is the relentless pursuit of speed by processor chip manufacturers. The evolution</a:t>
            </a:r>
          </a:p>
          <a:p>
            <a:r>
              <a:rPr kumimoji="1" lang="en-US" sz="1200" kern="1200" baseline="0" dirty="0">
                <a:solidFill>
                  <a:schemeClr val="tx1"/>
                </a:solidFill>
                <a:latin typeface="Times New Roman" pitchFamily="-110" charset="0"/>
                <a:ea typeface="+mn-ea"/>
                <a:cs typeface="+mn-cs"/>
              </a:rPr>
              <a:t>of these machines continues to bear out Moore’s law, mentioned previously. So</a:t>
            </a:r>
          </a:p>
          <a:p>
            <a:r>
              <a:rPr kumimoji="1" lang="en-US" sz="1200" kern="1200" baseline="0" dirty="0">
                <a:solidFill>
                  <a:schemeClr val="tx1"/>
                </a:solidFill>
                <a:latin typeface="Times New Roman" pitchFamily="-110" charset="0"/>
                <a:ea typeface="+mn-ea"/>
                <a:cs typeface="+mn-cs"/>
              </a:rPr>
              <a:t>long as this law holds, chipmakers can unleash a new generation of chips every three</a:t>
            </a:r>
          </a:p>
          <a:p>
            <a:r>
              <a:rPr kumimoji="1" lang="en-US" sz="1200" kern="1200" baseline="0" dirty="0">
                <a:solidFill>
                  <a:schemeClr val="tx1"/>
                </a:solidFill>
                <a:latin typeface="Times New Roman" pitchFamily="-110" charset="0"/>
                <a:ea typeface="+mn-ea"/>
                <a:cs typeface="+mn-cs"/>
              </a:rPr>
              <a:t>years—with four times as many transistors. In memory chips, this has quadrupled</a:t>
            </a:r>
          </a:p>
          <a:p>
            <a:r>
              <a:rPr kumimoji="1" lang="en-US" sz="1200" kern="1200" baseline="0" dirty="0">
                <a:solidFill>
                  <a:schemeClr val="tx1"/>
                </a:solidFill>
                <a:latin typeface="Times New Roman" pitchFamily="-110" charset="0"/>
                <a:ea typeface="+mn-ea"/>
                <a:cs typeface="+mn-cs"/>
              </a:rPr>
              <a:t>the capacity of dynamic random-access memory (DRAM), still the basic technology</a:t>
            </a:r>
          </a:p>
          <a:p>
            <a:r>
              <a:rPr kumimoji="1" lang="en-US" sz="1200" kern="1200" baseline="0" dirty="0">
                <a:solidFill>
                  <a:schemeClr val="tx1"/>
                </a:solidFill>
                <a:latin typeface="Times New Roman" pitchFamily="-110" charset="0"/>
                <a:ea typeface="+mn-ea"/>
                <a:cs typeface="+mn-cs"/>
              </a:rPr>
              <a:t>for computer main memory, every three years. In microprocessors, the addition of</a:t>
            </a:r>
          </a:p>
          <a:p>
            <a:r>
              <a:rPr kumimoji="1" lang="en-US" sz="1200" kern="1200" baseline="0" dirty="0">
                <a:solidFill>
                  <a:schemeClr val="tx1"/>
                </a:solidFill>
                <a:latin typeface="Times New Roman" pitchFamily="-110" charset="0"/>
                <a:ea typeface="+mn-ea"/>
                <a:cs typeface="+mn-cs"/>
              </a:rPr>
              <a:t>new circuits, and the speed boost that comes from reducing the distances between</a:t>
            </a:r>
          </a:p>
          <a:p>
            <a:r>
              <a:rPr kumimoji="1" lang="en-US" sz="1200" kern="1200" baseline="0" dirty="0">
                <a:solidFill>
                  <a:schemeClr val="tx1"/>
                </a:solidFill>
                <a:latin typeface="Times New Roman" pitchFamily="-110" charset="0"/>
                <a:ea typeface="+mn-ea"/>
                <a:cs typeface="+mn-cs"/>
              </a:rPr>
              <a:t>them, has improved performance four- or fivefold every three years or so since Intel</a:t>
            </a:r>
          </a:p>
          <a:p>
            <a:r>
              <a:rPr kumimoji="1" lang="en-US" sz="1200" kern="1200" baseline="0" dirty="0">
                <a:solidFill>
                  <a:schemeClr val="tx1"/>
                </a:solidFill>
                <a:latin typeface="Times New Roman" pitchFamily="-110" charset="0"/>
                <a:ea typeface="+mn-ea"/>
                <a:cs typeface="+mn-cs"/>
              </a:rPr>
              <a:t>launched its x86 family in 1978.</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But the raw speed of the microprocessor will not achieve its potential unless</a:t>
            </a:r>
          </a:p>
          <a:p>
            <a:r>
              <a:rPr kumimoji="1" lang="en-US" sz="1200" kern="1200" baseline="0" dirty="0">
                <a:solidFill>
                  <a:schemeClr val="tx1"/>
                </a:solidFill>
                <a:latin typeface="Times New Roman" pitchFamily="-110" charset="0"/>
                <a:ea typeface="+mn-ea"/>
                <a:cs typeface="+mn-cs"/>
              </a:rPr>
              <a:t>it is fed a constant stream of work to do in the form of computer instructions.</a:t>
            </a:r>
          </a:p>
          <a:p>
            <a:r>
              <a:rPr kumimoji="1" lang="en-US" sz="1200" kern="1200" baseline="0" dirty="0">
                <a:solidFill>
                  <a:schemeClr val="tx1"/>
                </a:solidFill>
                <a:latin typeface="Times New Roman" pitchFamily="-110" charset="0"/>
                <a:ea typeface="+mn-ea"/>
                <a:cs typeface="+mn-cs"/>
              </a:rPr>
              <a:t>Anything that gets in the way of that smooth flow undermines the power of the</a:t>
            </a:r>
          </a:p>
          <a:p>
            <a:r>
              <a:rPr kumimoji="1" lang="en-US" sz="1200" kern="1200" baseline="0" dirty="0">
                <a:solidFill>
                  <a:schemeClr val="tx1"/>
                </a:solidFill>
                <a:latin typeface="Times New Roman" pitchFamily="-110" charset="0"/>
                <a:ea typeface="+mn-ea"/>
                <a:cs typeface="+mn-cs"/>
              </a:rPr>
              <a:t>processor. Accordingly, while the chipmakers have been busy learning how to fabricate</a:t>
            </a:r>
          </a:p>
          <a:p>
            <a:r>
              <a:rPr kumimoji="1" lang="en-US" sz="1200" kern="1200" baseline="0" dirty="0">
                <a:solidFill>
                  <a:schemeClr val="tx1"/>
                </a:solidFill>
                <a:latin typeface="Times New Roman" pitchFamily="-110" charset="0"/>
                <a:ea typeface="+mn-ea"/>
                <a:cs typeface="+mn-cs"/>
              </a:rPr>
              <a:t>chips of greater and greater density, the processor designers must come up with</a:t>
            </a:r>
          </a:p>
          <a:p>
            <a:r>
              <a:rPr kumimoji="1" lang="en-US" sz="1200" kern="1200" baseline="0" dirty="0">
                <a:solidFill>
                  <a:schemeClr val="tx1"/>
                </a:solidFill>
                <a:latin typeface="Times New Roman" pitchFamily="-110" charset="0"/>
                <a:ea typeface="+mn-ea"/>
                <a:cs typeface="+mn-cs"/>
              </a:rPr>
              <a:t>ever more elaborate techniques for feeding the monster. Among the techniques</a:t>
            </a:r>
          </a:p>
          <a:p>
            <a:r>
              <a:rPr kumimoji="1" lang="en-US" sz="1200" kern="1200" baseline="0" dirty="0">
                <a:solidFill>
                  <a:schemeClr val="tx1"/>
                </a:solidFill>
                <a:latin typeface="Times New Roman" pitchFamily="-110" charset="0"/>
                <a:ea typeface="+mn-ea"/>
                <a:cs typeface="+mn-cs"/>
              </a:rPr>
              <a:t>built into contemporary processors are the following:</a:t>
            </a:r>
          </a:p>
          <a:p>
            <a:endParaRPr kumimoji="1" lang="en-US" sz="1200" kern="1200" baseline="0" dirty="0">
              <a:solidFill>
                <a:schemeClr val="tx1"/>
              </a:solidFill>
              <a:latin typeface="Times New Roman" pitchFamily="-110" charset="0"/>
              <a:ea typeface="+mn-ea"/>
              <a:cs typeface="+mn-cs"/>
            </a:endParaRPr>
          </a:p>
          <a:p>
            <a:r>
              <a:rPr kumimoji="1" lang="en-US" sz="1200" b="1" kern="1200" baseline="0" dirty="0">
                <a:solidFill>
                  <a:schemeClr val="tx1"/>
                </a:solidFill>
                <a:latin typeface="Times New Roman" pitchFamily="-110" charset="0"/>
                <a:ea typeface="+mn-ea"/>
                <a:cs typeface="+mn-cs"/>
              </a:rPr>
              <a:t>Pipelining:</a:t>
            </a:r>
          </a:p>
          <a:p>
            <a:r>
              <a:rPr kumimoji="1" lang="en-US" sz="1200" b="0" i="0" u="none" strike="noStrike" kern="1200" baseline="0" dirty="0">
                <a:solidFill>
                  <a:schemeClr val="tx1"/>
                </a:solidFill>
                <a:latin typeface="Times New Roman" pitchFamily="-110" charset="0"/>
                <a:ea typeface="+mn-ea"/>
                <a:cs typeface="+mn-cs"/>
              </a:rPr>
              <a:t> The execution of an instruction involves multiple stages of operation,</a:t>
            </a:r>
          </a:p>
          <a:p>
            <a:r>
              <a:rPr kumimoji="1" lang="en-US" sz="1200" b="0" i="0" u="none" strike="noStrike" kern="1200" baseline="0" dirty="0">
                <a:solidFill>
                  <a:schemeClr val="tx1"/>
                </a:solidFill>
                <a:latin typeface="Times New Roman" pitchFamily="-110" charset="0"/>
                <a:ea typeface="+mn-ea"/>
                <a:cs typeface="+mn-cs"/>
              </a:rPr>
              <a:t>including fetching the instruction, decoding the </a:t>
            </a:r>
            <a:r>
              <a:rPr kumimoji="1" lang="en-US" sz="1200" b="0" i="0" u="none" strike="noStrike" kern="1200" baseline="0" dirty="0" err="1">
                <a:solidFill>
                  <a:schemeClr val="tx1"/>
                </a:solidFill>
                <a:latin typeface="Times New Roman" pitchFamily="-110" charset="0"/>
                <a:ea typeface="+mn-ea"/>
                <a:cs typeface="+mn-cs"/>
              </a:rPr>
              <a:t>opcode</a:t>
            </a:r>
            <a:r>
              <a:rPr kumimoji="1" lang="en-US" sz="1200" b="0" i="0" u="none" strike="noStrike" kern="1200" baseline="0" dirty="0">
                <a:solidFill>
                  <a:schemeClr val="tx1"/>
                </a:solidFill>
                <a:latin typeface="Times New Roman" pitchFamily="-110" charset="0"/>
                <a:ea typeface="+mn-ea"/>
                <a:cs typeface="+mn-cs"/>
              </a:rPr>
              <a:t>, fetching operands,</a:t>
            </a:r>
          </a:p>
          <a:p>
            <a:r>
              <a:rPr kumimoji="1" lang="en-US" sz="1200" b="0" i="0" u="none" strike="noStrike" kern="1200" baseline="0" dirty="0">
                <a:solidFill>
                  <a:schemeClr val="tx1"/>
                </a:solidFill>
                <a:latin typeface="Times New Roman" pitchFamily="-110" charset="0"/>
                <a:ea typeface="+mn-ea"/>
                <a:cs typeface="+mn-cs"/>
              </a:rPr>
              <a:t>performing a calculation, and so on. Pipelining enables a processor to</a:t>
            </a:r>
          </a:p>
          <a:p>
            <a:r>
              <a:rPr kumimoji="1" lang="en-US" sz="1200" b="0" i="0" u="none" strike="noStrike" kern="1200" baseline="0" dirty="0">
                <a:solidFill>
                  <a:schemeClr val="tx1"/>
                </a:solidFill>
                <a:latin typeface="Times New Roman" pitchFamily="-110" charset="0"/>
                <a:ea typeface="+mn-ea"/>
                <a:cs typeface="+mn-cs"/>
              </a:rPr>
              <a:t>work simultaneously on multiple instructions by performing a different phase</a:t>
            </a:r>
          </a:p>
          <a:p>
            <a:r>
              <a:rPr kumimoji="1" lang="en-US" sz="1200" b="0" i="0" u="none" strike="noStrike" kern="1200" baseline="0" dirty="0">
                <a:solidFill>
                  <a:schemeClr val="tx1"/>
                </a:solidFill>
                <a:latin typeface="Times New Roman" pitchFamily="-110" charset="0"/>
                <a:ea typeface="+mn-ea"/>
                <a:cs typeface="+mn-cs"/>
              </a:rPr>
              <a:t>for each of the multiple instructions at the same time. The processor overlaps</a:t>
            </a:r>
          </a:p>
          <a:p>
            <a:r>
              <a:rPr kumimoji="1" lang="en-US" sz="1200" b="0" i="0" u="none" strike="noStrike" kern="1200" baseline="0" dirty="0">
                <a:solidFill>
                  <a:schemeClr val="tx1"/>
                </a:solidFill>
                <a:latin typeface="Times New Roman" pitchFamily="-110" charset="0"/>
                <a:ea typeface="+mn-ea"/>
                <a:cs typeface="+mn-cs"/>
              </a:rPr>
              <a:t>operations by moving data or instructions into a conceptual pipe with all</a:t>
            </a:r>
          </a:p>
          <a:p>
            <a:r>
              <a:rPr kumimoji="1" lang="en-US" sz="1200" b="0" i="0" u="none" strike="noStrike" kern="1200" baseline="0" dirty="0">
                <a:solidFill>
                  <a:schemeClr val="tx1"/>
                </a:solidFill>
                <a:latin typeface="Times New Roman" pitchFamily="-110" charset="0"/>
                <a:ea typeface="+mn-ea"/>
                <a:cs typeface="+mn-cs"/>
              </a:rPr>
              <a:t>stages of the pipe processing simultaneously. For example, while one instruction</a:t>
            </a:r>
          </a:p>
          <a:p>
            <a:r>
              <a:rPr kumimoji="1" lang="en-US" sz="1200" b="0" i="0" u="none" strike="noStrike" kern="1200" baseline="0" dirty="0">
                <a:solidFill>
                  <a:schemeClr val="tx1"/>
                </a:solidFill>
                <a:latin typeface="Times New Roman" pitchFamily="-110" charset="0"/>
                <a:ea typeface="+mn-ea"/>
                <a:cs typeface="+mn-cs"/>
              </a:rPr>
              <a:t>is being executed, the computer is decoding the next instruction. This is</a:t>
            </a:r>
          </a:p>
          <a:p>
            <a:r>
              <a:rPr kumimoji="1" lang="en-US" sz="1200" b="0" i="0" u="none" strike="noStrike" kern="1200" baseline="0" dirty="0">
                <a:solidFill>
                  <a:schemeClr val="tx1"/>
                </a:solidFill>
                <a:latin typeface="Times New Roman" pitchFamily="-110" charset="0"/>
                <a:ea typeface="+mn-ea"/>
                <a:cs typeface="+mn-cs"/>
              </a:rPr>
              <a:t>the same principle as seen in an assembly line.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Branch prediction: </a:t>
            </a:r>
          </a:p>
          <a:p>
            <a:r>
              <a:rPr kumimoji="1" lang="en-US" sz="1200" b="0" kern="1200" baseline="0" dirty="0">
                <a:solidFill>
                  <a:schemeClr val="tx1"/>
                </a:solidFill>
                <a:latin typeface="Times New Roman" pitchFamily="-110" charset="0"/>
                <a:ea typeface="+mn-ea"/>
                <a:cs typeface="+mn-cs"/>
              </a:rPr>
              <a:t>The processor looks ahead in the instruction code fetched</a:t>
            </a:r>
          </a:p>
          <a:p>
            <a:r>
              <a:rPr kumimoji="1" lang="en-US" sz="1200" kern="1200" baseline="0" dirty="0">
                <a:solidFill>
                  <a:schemeClr val="tx1"/>
                </a:solidFill>
                <a:latin typeface="Times New Roman" pitchFamily="-110" charset="0"/>
                <a:ea typeface="+mn-ea"/>
                <a:cs typeface="+mn-cs"/>
              </a:rPr>
              <a:t>from memory and predicts which branches, or groups of instructions, are likely</a:t>
            </a:r>
          </a:p>
          <a:p>
            <a:r>
              <a:rPr kumimoji="1" lang="en-US" sz="1200" kern="1200" baseline="0" dirty="0">
                <a:solidFill>
                  <a:schemeClr val="tx1"/>
                </a:solidFill>
                <a:latin typeface="Times New Roman" pitchFamily="-110" charset="0"/>
                <a:ea typeface="+mn-ea"/>
                <a:cs typeface="+mn-cs"/>
              </a:rPr>
              <a:t>to be processed next. If the processor guesses right most of the time, it can</a:t>
            </a:r>
          </a:p>
          <a:p>
            <a:r>
              <a:rPr kumimoji="1" lang="en-US" sz="1200" kern="1200" baseline="0" dirty="0">
                <a:solidFill>
                  <a:schemeClr val="tx1"/>
                </a:solidFill>
                <a:latin typeface="Times New Roman" pitchFamily="-110" charset="0"/>
                <a:ea typeface="+mn-ea"/>
                <a:cs typeface="+mn-cs"/>
              </a:rPr>
              <a:t>prefetch the correct instructions and buffer them so that the processor is kept</a:t>
            </a:r>
          </a:p>
          <a:p>
            <a:r>
              <a:rPr kumimoji="1" lang="en-US" sz="1200" kern="1200" baseline="0" dirty="0">
                <a:solidFill>
                  <a:schemeClr val="tx1"/>
                </a:solidFill>
                <a:latin typeface="Times New Roman" pitchFamily="-110" charset="0"/>
                <a:ea typeface="+mn-ea"/>
                <a:cs typeface="+mn-cs"/>
              </a:rPr>
              <a:t>busy. The more sophisticated examples of this strategy predict not just the</a:t>
            </a:r>
            <a:endParaRPr kumimoji="1" lang="en-GB"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next branch but multiple branches ahead. Thus, branch prediction increases</a:t>
            </a:r>
          </a:p>
          <a:p>
            <a:r>
              <a:rPr kumimoji="1" lang="en-US" sz="1200" kern="1200" baseline="0" dirty="0">
                <a:solidFill>
                  <a:schemeClr val="tx1"/>
                </a:solidFill>
                <a:latin typeface="Times New Roman" pitchFamily="-110" charset="0"/>
                <a:ea typeface="+mn-ea"/>
                <a:cs typeface="+mn-cs"/>
              </a:rPr>
              <a:t>the amount of work available for the processor to execute.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Superscalar execution: </a:t>
            </a:r>
          </a:p>
          <a:p>
            <a:r>
              <a:rPr kumimoji="1" lang="en-US" sz="1200" b="0" i="0" u="none" strike="noStrike" kern="1200" baseline="0" dirty="0">
                <a:solidFill>
                  <a:schemeClr val="tx1"/>
                </a:solidFill>
                <a:latin typeface="Times New Roman" pitchFamily="-110" charset="0"/>
                <a:ea typeface="+mn-ea"/>
                <a:cs typeface="+mn-cs"/>
              </a:rPr>
              <a:t>This is the ability to issue more than one instruction</a:t>
            </a:r>
          </a:p>
          <a:p>
            <a:r>
              <a:rPr kumimoji="1" lang="en-US" sz="1200" b="0" i="0" u="none" strike="noStrike" kern="1200" baseline="0" dirty="0">
                <a:solidFill>
                  <a:schemeClr val="tx1"/>
                </a:solidFill>
                <a:latin typeface="Times New Roman" pitchFamily="-110" charset="0"/>
                <a:ea typeface="+mn-ea"/>
                <a:cs typeface="+mn-cs"/>
              </a:rPr>
              <a:t>in every processor clock cycle. In effect, multiple parallel pipelines are used.</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Data flow analysis: </a:t>
            </a:r>
          </a:p>
          <a:p>
            <a:r>
              <a:rPr kumimoji="1" lang="en-US" sz="1200" b="0" kern="1200" baseline="0" dirty="0">
                <a:solidFill>
                  <a:schemeClr val="tx1"/>
                </a:solidFill>
                <a:latin typeface="Times New Roman" pitchFamily="-110" charset="0"/>
                <a:ea typeface="+mn-ea"/>
                <a:cs typeface="+mn-cs"/>
              </a:rPr>
              <a:t>The processor analyzes which instructions are dependent</a:t>
            </a:r>
          </a:p>
          <a:p>
            <a:r>
              <a:rPr kumimoji="1" lang="en-US" sz="1200" kern="1200" baseline="0" dirty="0">
                <a:solidFill>
                  <a:schemeClr val="tx1"/>
                </a:solidFill>
                <a:latin typeface="Times New Roman" pitchFamily="-110" charset="0"/>
                <a:ea typeface="+mn-ea"/>
                <a:cs typeface="+mn-cs"/>
              </a:rPr>
              <a:t>on each other’s results, or data, to create an optimized schedule of instructions.</a:t>
            </a:r>
          </a:p>
          <a:p>
            <a:r>
              <a:rPr kumimoji="1" lang="en-US" sz="1200" kern="1200" baseline="0" dirty="0">
                <a:solidFill>
                  <a:schemeClr val="tx1"/>
                </a:solidFill>
                <a:latin typeface="Times New Roman" pitchFamily="-110" charset="0"/>
                <a:ea typeface="+mn-ea"/>
                <a:cs typeface="+mn-cs"/>
              </a:rPr>
              <a:t>In fact, instructions are scheduled to be executed when ready, independent of</a:t>
            </a:r>
          </a:p>
          <a:p>
            <a:r>
              <a:rPr kumimoji="1" lang="en-US" sz="1200" kern="1200" baseline="0" dirty="0">
                <a:solidFill>
                  <a:schemeClr val="tx1"/>
                </a:solidFill>
                <a:latin typeface="Times New Roman" pitchFamily="-110" charset="0"/>
                <a:ea typeface="+mn-ea"/>
                <a:cs typeface="+mn-cs"/>
              </a:rPr>
              <a:t>the original program order. This prevents unnecessary delay.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Speculative execution: </a:t>
            </a:r>
          </a:p>
          <a:p>
            <a:r>
              <a:rPr kumimoji="1" lang="en-US" sz="1200" b="0" kern="1200" baseline="0" dirty="0">
                <a:solidFill>
                  <a:schemeClr val="tx1"/>
                </a:solidFill>
                <a:latin typeface="Times New Roman" pitchFamily="-110" charset="0"/>
                <a:ea typeface="+mn-ea"/>
                <a:cs typeface="+mn-cs"/>
              </a:rPr>
              <a:t>Using branch prediction and data flow analysis, some</a:t>
            </a:r>
          </a:p>
          <a:p>
            <a:r>
              <a:rPr kumimoji="1" lang="en-US" sz="1200" kern="1200" baseline="0" dirty="0">
                <a:solidFill>
                  <a:schemeClr val="tx1"/>
                </a:solidFill>
                <a:latin typeface="Times New Roman" pitchFamily="-110" charset="0"/>
                <a:ea typeface="+mn-ea"/>
                <a:cs typeface="+mn-cs"/>
              </a:rPr>
              <a:t>processors speculatively execute instructions ahead of their actual appearance</a:t>
            </a:r>
          </a:p>
          <a:p>
            <a:r>
              <a:rPr kumimoji="1" lang="en-US" sz="1200" kern="1200" baseline="0" dirty="0">
                <a:solidFill>
                  <a:schemeClr val="tx1"/>
                </a:solidFill>
                <a:latin typeface="Times New Roman" pitchFamily="-110" charset="0"/>
                <a:ea typeface="+mn-ea"/>
                <a:cs typeface="+mn-cs"/>
              </a:rPr>
              <a:t>in the program execution, holding the results in temporary locations.</a:t>
            </a:r>
          </a:p>
          <a:p>
            <a:r>
              <a:rPr kumimoji="1" lang="en-US" sz="1200" kern="1200" baseline="0" dirty="0">
                <a:solidFill>
                  <a:schemeClr val="tx1"/>
                </a:solidFill>
                <a:latin typeface="Times New Roman" pitchFamily="-110" charset="0"/>
                <a:ea typeface="+mn-ea"/>
                <a:cs typeface="+mn-cs"/>
              </a:rPr>
              <a:t>This enables the processor to keep its execution engines as busy as possible by</a:t>
            </a:r>
          </a:p>
          <a:p>
            <a:r>
              <a:rPr kumimoji="1" lang="en-US" sz="1200" kern="1200" baseline="0" dirty="0">
                <a:solidFill>
                  <a:schemeClr val="tx1"/>
                </a:solidFill>
                <a:latin typeface="Times New Roman" pitchFamily="-110" charset="0"/>
                <a:ea typeface="+mn-ea"/>
                <a:cs typeface="+mn-cs"/>
              </a:rPr>
              <a:t>executing instructions that are likely to be needed.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These and other sophisticated techniques are made necessary by the sheer</a:t>
            </a:r>
          </a:p>
          <a:p>
            <a:r>
              <a:rPr kumimoji="1" lang="en-US" sz="1200" b="0" i="0" u="none" strike="noStrike" kern="1200" baseline="0" dirty="0">
                <a:solidFill>
                  <a:schemeClr val="tx1"/>
                </a:solidFill>
                <a:latin typeface="Times New Roman" pitchFamily="-110" charset="0"/>
                <a:ea typeface="+mn-ea"/>
                <a:cs typeface="+mn-cs"/>
              </a:rPr>
              <a:t>power of the processor. Collectively they make it possible to execute many instructions</a:t>
            </a:r>
          </a:p>
          <a:p>
            <a:r>
              <a:rPr kumimoji="1" lang="en-US" sz="1200" b="0" i="0" u="none" strike="noStrike" kern="1200" baseline="0" dirty="0">
                <a:solidFill>
                  <a:schemeClr val="tx1"/>
                </a:solidFill>
                <a:latin typeface="Times New Roman" pitchFamily="-110" charset="0"/>
                <a:ea typeface="+mn-ea"/>
                <a:cs typeface="+mn-cs"/>
              </a:rPr>
              <a:t>per processor cycle, rather than to take many cycles per instruction.</a:t>
            </a:r>
            <a:endParaRPr kumimoji="1" lang="en-US" sz="1200" kern="1200" baseline="0" dirty="0">
              <a:solidFill>
                <a:schemeClr val="tx1"/>
              </a:solidFill>
              <a:latin typeface="Times New Roman" pitchFamily="-110" charset="0"/>
              <a:ea typeface="+mn-ea"/>
              <a:cs typeface="+mn-cs"/>
            </a:endParaRPr>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a:solidFill>
                  <a:schemeClr val="tx1"/>
                </a:solidFill>
                <a:latin typeface="Times New Roman" pitchFamily="-110" charset="0"/>
                <a:ea typeface="+mn-ea"/>
                <a:cs typeface="+mn-cs"/>
              </a:rPr>
              <a:t>As designers wrestle with the challenge of balancing processor performance with that</a:t>
            </a:r>
          </a:p>
          <a:p>
            <a:r>
              <a:rPr kumimoji="1" lang="en-US" sz="1200" kern="1200" baseline="0" dirty="0">
                <a:solidFill>
                  <a:schemeClr val="tx1"/>
                </a:solidFill>
                <a:latin typeface="Times New Roman" pitchFamily="-110" charset="0"/>
                <a:ea typeface="+mn-ea"/>
                <a:cs typeface="+mn-cs"/>
              </a:rPr>
              <a:t>of main memory and other computer components, the need to increase processor</a:t>
            </a:r>
          </a:p>
          <a:p>
            <a:r>
              <a:rPr kumimoji="1" lang="en-US" sz="1200" kern="1200" baseline="0" dirty="0">
                <a:solidFill>
                  <a:schemeClr val="tx1"/>
                </a:solidFill>
                <a:latin typeface="Times New Roman" pitchFamily="-110" charset="0"/>
                <a:ea typeface="+mn-ea"/>
                <a:cs typeface="+mn-cs"/>
              </a:rPr>
              <a:t>speed remains. There are three approaches to achieving increased processor speed: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hardware speed of the processor. This increase is fundamentally</a:t>
            </a:r>
          </a:p>
          <a:p>
            <a:r>
              <a:rPr kumimoji="1" lang="en-US" sz="1200" kern="1200" baseline="0" dirty="0">
                <a:solidFill>
                  <a:schemeClr val="tx1"/>
                </a:solidFill>
                <a:latin typeface="Times New Roman" pitchFamily="-110" charset="0"/>
                <a:ea typeface="+mn-ea"/>
                <a:cs typeface="+mn-cs"/>
              </a:rPr>
              <a:t>due to shrinking the size of the logic gates on the processor chip, so that more</a:t>
            </a:r>
          </a:p>
          <a:p>
            <a:r>
              <a:rPr kumimoji="1" lang="en-US" sz="1200" kern="1200" baseline="0" dirty="0">
                <a:solidFill>
                  <a:schemeClr val="tx1"/>
                </a:solidFill>
                <a:latin typeface="Times New Roman" pitchFamily="-110" charset="0"/>
                <a:ea typeface="+mn-ea"/>
                <a:cs typeface="+mn-cs"/>
              </a:rPr>
              <a:t>gates can be packed together more tightly and to increasing the clock rate.</a:t>
            </a:r>
          </a:p>
          <a:p>
            <a:r>
              <a:rPr kumimoji="1" lang="en-US" sz="1200" kern="1200" baseline="0" dirty="0">
                <a:solidFill>
                  <a:schemeClr val="tx1"/>
                </a:solidFill>
                <a:latin typeface="Times New Roman" pitchFamily="-110" charset="0"/>
                <a:ea typeface="+mn-ea"/>
                <a:cs typeface="+mn-cs"/>
              </a:rPr>
              <a:t>With gates closer together, the propagation time for signals is significantly</a:t>
            </a:r>
          </a:p>
          <a:p>
            <a:r>
              <a:rPr kumimoji="1" lang="en-US" sz="1200" kern="1200" baseline="0" dirty="0">
                <a:solidFill>
                  <a:schemeClr val="tx1"/>
                </a:solidFill>
                <a:latin typeface="Times New Roman" pitchFamily="-110" charset="0"/>
                <a:ea typeface="+mn-ea"/>
                <a:cs typeface="+mn-cs"/>
              </a:rPr>
              <a:t>reduced, enabling a speeding up of the processor. An increase in clock rate</a:t>
            </a:r>
          </a:p>
          <a:p>
            <a:r>
              <a:rPr kumimoji="1" lang="en-US" sz="1200" kern="1200" baseline="0" dirty="0">
                <a:solidFill>
                  <a:schemeClr val="tx1"/>
                </a:solidFill>
                <a:latin typeface="Times New Roman" pitchFamily="-110" charset="0"/>
                <a:ea typeface="+mn-ea"/>
                <a:cs typeface="+mn-cs"/>
              </a:rPr>
              <a:t>means that individual operations are executed more rapidly.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size and speed of caches that are interposed between the processor</a:t>
            </a:r>
          </a:p>
          <a:p>
            <a:r>
              <a:rPr kumimoji="1" lang="en-US" sz="1200" kern="1200" baseline="0" dirty="0">
                <a:solidFill>
                  <a:schemeClr val="tx1"/>
                </a:solidFill>
                <a:latin typeface="Times New Roman" pitchFamily="-110" charset="0"/>
                <a:ea typeface="+mn-ea"/>
                <a:cs typeface="+mn-cs"/>
              </a:rPr>
              <a:t>and main memory. In particular, by dedicating a portion of the processor</a:t>
            </a:r>
          </a:p>
          <a:p>
            <a:r>
              <a:rPr kumimoji="1" lang="en-US" sz="1200" kern="1200" baseline="0" dirty="0">
                <a:solidFill>
                  <a:schemeClr val="tx1"/>
                </a:solidFill>
                <a:latin typeface="Times New Roman" pitchFamily="-110" charset="0"/>
                <a:ea typeface="+mn-ea"/>
                <a:cs typeface="+mn-cs"/>
              </a:rPr>
              <a:t>chip itself to the cache, cache access times drop significantly.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Make changes to the processor organization and architecture that increase the</a:t>
            </a:r>
          </a:p>
          <a:p>
            <a:r>
              <a:rPr kumimoji="1" lang="en-US" sz="1200" kern="1200" baseline="0" dirty="0">
                <a:solidFill>
                  <a:schemeClr val="tx1"/>
                </a:solidFill>
                <a:latin typeface="Times New Roman" pitchFamily="-110" charset="0"/>
                <a:ea typeface="+mn-ea"/>
                <a:cs typeface="+mn-cs"/>
              </a:rPr>
              <a:t>effective speed of instruction execution. Typically, this involves using parallelism</a:t>
            </a:r>
          </a:p>
          <a:p>
            <a:r>
              <a:rPr kumimoji="1" lang="en-US" sz="1200" kern="1200" baseline="0" dirty="0">
                <a:solidFill>
                  <a:schemeClr val="tx1"/>
                </a:solidFill>
                <a:latin typeface="Times New Roman" pitchFamily="-110" charset="0"/>
                <a:ea typeface="+mn-ea"/>
                <a:cs typeface="+mn-cs"/>
              </a:rPr>
              <a:t>in one form or another.</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baseline="0" dirty="0">
                <a:solidFill>
                  <a:schemeClr val="tx1"/>
                </a:solidFill>
                <a:latin typeface="Times New Roman" pitchFamily="-110" charset="0"/>
                <a:ea typeface="+mn-ea"/>
                <a:cs typeface="+mn-cs"/>
              </a:rPr>
              <a:t>Traditionally, the dominant factor in performance gains has been in increases</a:t>
            </a:r>
          </a:p>
          <a:p>
            <a:r>
              <a:rPr kumimoji="1" lang="en-US" sz="1200" kern="1200" baseline="0" dirty="0">
                <a:solidFill>
                  <a:schemeClr val="tx1"/>
                </a:solidFill>
                <a:latin typeface="Times New Roman" pitchFamily="-110" charset="0"/>
                <a:ea typeface="+mn-ea"/>
                <a:cs typeface="+mn-cs"/>
              </a:rPr>
              <a:t>in clock speed due and logic density. However, as clock speed and logic density</a:t>
            </a:r>
          </a:p>
          <a:p>
            <a:r>
              <a:rPr kumimoji="1" lang="en-US" sz="1200" kern="1200" baseline="0" dirty="0">
                <a:solidFill>
                  <a:schemeClr val="tx1"/>
                </a:solidFill>
                <a:latin typeface="Times New Roman" pitchFamily="-110" charset="0"/>
                <a:ea typeface="+mn-ea"/>
                <a:cs typeface="+mn-cs"/>
              </a:rPr>
              <a:t>increase, a number of obstacles become more significant [INTE04b]:</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Power: </a:t>
            </a:r>
            <a:r>
              <a:rPr kumimoji="1" lang="en-US" sz="1200" b="0" kern="1200" baseline="0" dirty="0">
                <a:solidFill>
                  <a:schemeClr val="tx1"/>
                </a:solidFill>
                <a:latin typeface="Times New Roman" pitchFamily="-110" charset="0"/>
                <a:ea typeface="+mn-ea"/>
                <a:cs typeface="+mn-cs"/>
              </a:rPr>
              <a:t>As the density of logic and the clock speed on a chip increase, so does</a:t>
            </a:r>
          </a:p>
          <a:p>
            <a:r>
              <a:rPr kumimoji="1" lang="en-US" sz="1200" b="0" kern="1200" baseline="0" dirty="0">
                <a:solidFill>
                  <a:schemeClr val="tx1"/>
                </a:solidFill>
                <a:latin typeface="Times New Roman" pitchFamily="-110" charset="0"/>
                <a:ea typeface="+mn-ea"/>
                <a:cs typeface="+mn-cs"/>
              </a:rPr>
              <a:t>the power density (Watts/cm2). The difficulty of dissipating the heat generated</a:t>
            </a:r>
          </a:p>
          <a:p>
            <a:r>
              <a:rPr kumimoji="1" lang="en-US" sz="1200" kern="1200" baseline="0" dirty="0">
                <a:solidFill>
                  <a:schemeClr val="tx1"/>
                </a:solidFill>
                <a:latin typeface="Times New Roman" pitchFamily="-110" charset="0"/>
                <a:ea typeface="+mn-ea"/>
                <a:cs typeface="+mn-cs"/>
              </a:rPr>
              <a:t>on high-density, high-speed chips is becoming a serious design issue [GIBB04,</a:t>
            </a:r>
          </a:p>
          <a:p>
            <a:r>
              <a:rPr kumimoji="1" lang="en-US" sz="1200" kern="1200" baseline="0" dirty="0">
                <a:solidFill>
                  <a:schemeClr val="tx1"/>
                </a:solidFill>
                <a:latin typeface="Times New Roman" pitchFamily="-110" charset="0"/>
                <a:ea typeface="+mn-ea"/>
                <a:cs typeface="+mn-cs"/>
              </a:rPr>
              <a:t>BORK03].</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RC delay: </a:t>
            </a:r>
            <a:r>
              <a:rPr kumimoji="1" lang="en-US" sz="1200" b="0" kern="1200" baseline="0" dirty="0">
                <a:solidFill>
                  <a:schemeClr val="tx1"/>
                </a:solidFill>
                <a:latin typeface="Times New Roman" pitchFamily="-110" charset="0"/>
                <a:ea typeface="+mn-ea"/>
                <a:cs typeface="+mn-cs"/>
              </a:rPr>
              <a:t>The speed at which electrons can flow on a chip between transistors</a:t>
            </a:r>
          </a:p>
          <a:p>
            <a:r>
              <a:rPr kumimoji="1" lang="en-US" sz="1200" kern="1200" baseline="0" dirty="0">
                <a:solidFill>
                  <a:schemeClr val="tx1"/>
                </a:solidFill>
                <a:latin typeface="Times New Roman" pitchFamily="-110" charset="0"/>
                <a:ea typeface="+mn-ea"/>
                <a:cs typeface="+mn-cs"/>
              </a:rPr>
              <a:t>is limited by the resistance and capacitance of the metal wires connecting</a:t>
            </a:r>
          </a:p>
          <a:p>
            <a:r>
              <a:rPr kumimoji="1" lang="en-US" sz="1200" kern="1200" baseline="0" dirty="0">
                <a:solidFill>
                  <a:schemeClr val="tx1"/>
                </a:solidFill>
                <a:latin typeface="Times New Roman" pitchFamily="-110" charset="0"/>
                <a:ea typeface="+mn-ea"/>
                <a:cs typeface="+mn-cs"/>
              </a:rPr>
              <a:t>them; specifically, delay increases as the RC product increases. As components</a:t>
            </a:r>
          </a:p>
          <a:p>
            <a:r>
              <a:rPr kumimoji="1" lang="en-US" sz="1200" kern="1200" baseline="0" dirty="0">
                <a:solidFill>
                  <a:schemeClr val="tx1"/>
                </a:solidFill>
                <a:latin typeface="Times New Roman" pitchFamily="-110" charset="0"/>
                <a:ea typeface="+mn-ea"/>
                <a:cs typeface="+mn-cs"/>
              </a:rPr>
              <a:t>on the chip decrease in size, the wire interconnects become thinner, increasing</a:t>
            </a:r>
          </a:p>
          <a:p>
            <a:r>
              <a:rPr kumimoji="1" lang="en-US" sz="1200" kern="1200" baseline="0" dirty="0">
                <a:solidFill>
                  <a:schemeClr val="tx1"/>
                </a:solidFill>
                <a:latin typeface="Times New Roman" pitchFamily="-110" charset="0"/>
                <a:ea typeface="+mn-ea"/>
                <a:cs typeface="+mn-cs"/>
              </a:rPr>
              <a:t>resistance. Also, the wires are closer together, increasing capacitance.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Memory latency: </a:t>
            </a:r>
            <a:r>
              <a:rPr kumimoji="1" lang="en-US" sz="1200" b="0" kern="1200" baseline="0" dirty="0">
                <a:solidFill>
                  <a:schemeClr val="tx1"/>
                </a:solidFill>
                <a:latin typeface="Times New Roman" pitchFamily="-110" charset="0"/>
                <a:ea typeface="+mn-ea"/>
                <a:cs typeface="+mn-cs"/>
              </a:rPr>
              <a:t>Memory speeds lag processor speeds, as previously discussed.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Thus, there will be more emphasis on organization and architectural approaches</a:t>
            </a:r>
          </a:p>
          <a:p>
            <a:r>
              <a:rPr kumimoji="1" lang="en-US" sz="1200" kern="1200" baseline="0" dirty="0">
                <a:solidFill>
                  <a:schemeClr val="tx1"/>
                </a:solidFill>
                <a:latin typeface="Times New Roman" pitchFamily="-110" charset="0"/>
                <a:ea typeface="+mn-ea"/>
                <a:cs typeface="+mn-cs"/>
              </a:rPr>
              <a:t>to improving performance. These techniques are discussed in later chapters of the book.</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110" charset="0"/>
                <a:ea typeface="+mn-ea"/>
                <a:cs typeface="+mn-cs"/>
              </a:rPr>
              <a:t>Beginning in the late 1980s, and continuing for about 15 years, two main</a:t>
            </a:r>
          </a:p>
          <a:p>
            <a:r>
              <a:rPr kumimoji="1" lang="en-US" sz="1200" kern="1200" baseline="0" dirty="0">
                <a:solidFill>
                  <a:schemeClr val="tx1"/>
                </a:solidFill>
                <a:latin typeface="Times New Roman" pitchFamily="-110" charset="0"/>
                <a:ea typeface="+mn-ea"/>
                <a:cs typeface="+mn-cs"/>
              </a:rPr>
              <a:t>strategies have been used to increase performance beyond what can be achieved</a:t>
            </a:r>
          </a:p>
          <a:p>
            <a:r>
              <a:rPr kumimoji="1" lang="en-US" sz="1200" kern="1200" baseline="0" dirty="0">
                <a:solidFill>
                  <a:schemeClr val="tx1"/>
                </a:solidFill>
                <a:latin typeface="Times New Roman" pitchFamily="-110" charset="0"/>
                <a:ea typeface="+mn-ea"/>
                <a:cs typeface="+mn-cs"/>
              </a:rPr>
              <a:t>simply by increasing clock speed. First, there has been an increase in cache capacity.</a:t>
            </a:r>
          </a:p>
          <a:p>
            <a:r>
              <a:rPr kumimoji="1" lang="en-US" sz="1200" kern="1200" baseline="0" dirty="0">
                <a:solidFill>
                  <a:schemeClr val="tx1"/>
                </a:solidFill>
                <a:latin typeface="Times New Roman" pitchFamily="-110" charset="0"/>
                <a:ea typeface="+mn-ea"/>
                <a:cs typeface="+mn-cs"/>
              </a:rPr>
              <a:t>There are now typically two or three levels of cache between the processor and</a:t>
            </a:r>
          </a:p>
          <a:p>
            <a:r>
              <a:rPr kumimoji="1" lang="en-US" sz="1200" kern="1200" baseline="0" dirty="0">
                <a:solidFill>
                  <a:schemeClr val="tx1"/>
                </a:solidFill>
                <a:latin typeface="Times New Roman" pitchFamily="-110" charset="0"/>
                <a:ea typeface="+mn-ea"/>
                <a:cs typeface="+mn-cs"/>
              </a:rPr>
              <a:t>main memory. As chip density has increased, more of the cache memory has been</a:t>
            </a:r>
          </a:p>
          <a:p>
            <a:r>
              <a:rPr kumimoji="1" lang="en-US" sz="1200" kern="1200" baseline="0" dirty="0">
                <a:solidFill>
                  <a:schemeClr val="tx1"/>
                </a:solidFill>
                <a:latin typeface="Times New Roman" pitchFamily="-110" charset="0"/>
                <a:ea typeface="+mn-ea"/>
                <a:cs typeface="+mn-cs"/>
              </a:rPr>
              <a:t>incorporated on the chip, enabling faster cache access. For example, the original</a:t>
            </a:r>
          </a:p>
          <a:p>
            <a:r>
              <a:rPr kumimoji="1" lang="en-US" sz="1200" kern="1200" baseline="0" dirty="0">
                <a:solidFill>
                  <a:schemeClr val="tx1"/>
                </a:solidFill>
                <a:latin typeface="Times New Roman" pitchFamily="-110" charset="0"/>
                <a:ea typeface="+mn-ea"/>
                <a:cs typeface="+mn-cs"/>
              </a:rPr>
              <a:t>Pentium chip devoted about 10% of on-chip area to caches. Contemporary chips</a:t>
            </a:r>
          </a:p>
          <a:p>
            <a:r>
              <a:rPr kumimoji="1" lang="en-US" sz="1200" kern="1200" baseline="0" dirty="0">
                <a:solidFill>
                  <a:schemeClr val="tx1"/>
                </a:solidFill>
                <a:latin typeface="Times New Roman" pitchFamily="-110" charset="0"/>
                <a:ea typeface="+mn-ea"/>
                <a:cs typeface="+mn-cs"/>
              </a:rPr>
              <a:t>devote over half of the chip area to caches. </a:t>
            </a:r>
            <a:r>
              <a:rPr kumimoji="1" lang="en-US" sz="1200" b="0" i="0" u="none" strike="noStrike" kern="1200" baseline="0" dirty="0">
                <a:solidFill>
                  <a:schemeClr val="tx1"/>
                </a:solidFill>
                <a:latin typeface="Times New Roman" pitchFamily="-110" charset="0"/>
                <a:ea typeface="+mn-ea"/>
                <a:cs typeface="+mn-cs"/>
              </a:rPr>
              <a:t>And, typically, about three-quarters of the</a:t>
            </a:r>
          </a:p>
          <a:p>
            <a:r>
              <a:rPr kumimoji="1" lang="en-US" sz="1200" b="0" i="0" u="none" strike="noStrike" kern="1200" baseline="0" dirty="0">
                <a:solidFill>
                  <a:schemeClr val="tx1"/>
                </a:solidFill>
                <a:latin typeface="Times New Roman" pitchFamily="-110" charset="0"/>
                <a:ea typeface="+mn-ea"/>
                <a:cs typeface="+mn-cs"/>
              </a:rPr>
              <a:t>other half is for pipeline-related control and buffering.</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Second, the instruction execution logic within a processor has become increasingly</a:t>
            </a:r>
          </a:p>
          <a:p>
            <a:r>
              <a:rPr kumimoji="1" lang="en-US" sz="1200" kern="1200" baseline="0" dirty="0">
                <a:solidFill>
                  <a:schemeClr val="tx1"/>
                </a:solidFill>
                <a:latin typeface="Times New Roman" pitchFamily="-110" charset="0"/>
                <a:ea typeface="+mn-ea"/>
                <a:cs typeface="+mn-cs"/>
              </a:rPr>
              <a:t>complex to enable parallel execution of instructions within the processor. Two</a:t>
            </a:r>
          </a:p>
          <a:p>
            <a:r>
              <a:rPr kumimoji="1" lang="en-US" sz="1200" kern="1200" baseline="0" dirty="0">
                <a:solidFill>
                  <a:schemeClr val="tx1"/>
                </a:solidFill>
                <a:latin typeface="Times New Roman" pitchFamily="-110" charset="0"/>
                <a:ea typeface="+mn-ea"/>
                <a:cs typeface="+mn-cs"/>
              </a:rPr>
              <a:t>noteworthy design approaches have been pipelining and superscalar. A pipeline</a:t>
            </a:r>
          </a:p>
          <a:p>
            <a:r>
              <a:rPr kumimoji="1" lang="en-US" sz="1200" kern="1200" baseline="0" dirty="0">
                <a:solidFill>
                  <a:schemeClr val="tx1"/>
                </a:solidFill>
                <a:latin typeface="Times New Roman" pitchFamily="-110" charset="0"/>
                <a:ea typeface="+mn-ea"/>
                <a:cs typeface="+mn-cs"/>
              </a:rPr>
              <a:t>works much as an assembly line in a manufacturing plant enabling different stages</a:t>
            </a:r>
          </a:p>
          <a:p>
            <a:r>
              <a:rPr kumimoji="1" lang="en-US" sz="1200" kern="1200" baseline="0" dirty="0">
                <a:solidFill>
                  <a:schemeClr val="tx1"/>
                </a:solidFill>
                <a:latin typeface="Times New Roman" pitchFamily="-110" charset="0"/>
                <a:ea typeface="+mn-ea"/>
                <a:cs typeface="+mn-cs"/>
              </a:rPr>
              <a:t>of execution of different instructions to occur at the same time along the pipeline. A</a:t>
            </a:r>
          </a:p>
          <a:p>
            <a:r>
              <a:rPr kumimoji="1" lang="en-US" sz="1200" kern="1200" baseline="0" dirty="0">
                <a:solidFill>
                  <a:schemeClr val="tx1"/>
                </a:solidFill>
                <a:latin typeface="Times New Roman" pitchFamily="-110" charset="0"/>
                <a:ea typeface="+mn-ea"/>
                <a:cs typeface="+mn-cs"/>
              </a:rPr>
              <a:t>superscalar approach in essence allows multiple pipelines within a single processor</a:t>
            </a:r>
          </a:p>
          <a:p>
            <a:r>
              <a:rPr kumimoji="1" lang="en-US" sz="1200" kern="1200" baseline="0" dirty="0">
                <a:solidFill>
                  <a:schemeClr val="tx1"/>
                </a:solidFill>
                <a:latin typeface="Times New Roman" pitchFamily="-110" charset="0"/>
                <a:ea typeface="+mn-ea"/>
                <a:cs typeface="+mn-cs"/>
              </a:rPr>
              <a:t>so that instructions that do not depend on one another can be executed in parallel.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By the mid to late 90s, both of these approaches were reaching a point of</a:t>
            </a:r>
          </a:p>
          <a:p>
            <a:r>
              <a:rPr kumimoji="1" lang="en-US" sz="1200" kern="1200" baseline="0" dirty="0">
                <a:solidFill>
                  <a:schemeClr val="tx1"/>
                </a:solidFill>
                <a:latin typeface="Times New Roman" pitchFamily="-110" charset="0"/>
                <a:ea typeface="+mn-ea"/>
                <a:cs typeface="+mn-cs"/>
              </a:rPr>
              <a:t>diminishing returns. The internal organization of contemporary processors is</a:t>
            </a:r>
          </a:p>
          <a:p>
            <a:r>
              <a:rPr kumimoji="1" lang="en-US" sz="1200" kern="1200" baseline="0" dirty="0">
                <a:solidFill>
                  <a:schemeClr val="tx1"/>
                </a:solidFill>
                <a:latin typeface="Times New Roman" pitchFamily="-110" charset="0"/>
                <a:ea typeface="+mn-ea"/>
                <a:cs typeface="+mn-cs"/>
              </a:rPr>
              <a:t>exceedingly complex and is able to squeeze a great deal of parallelism out of the</a:t>
            </a:r>
          </a:p>
          <a:p>
            <a:r>
              <a:rPr kumimoji="1" lang="en-US" sz="1200" kern="1200" baseline="0" dirty="0">
                <a:solidFill>
                  <a:schemeClr val="tx1"/>
                </a:solidFill>
                <a:latin typeface="Times New Roman" pitchFamily="-110" charset="0"/>
                <a:ea typeface="+mn-ea"/>
                <a:cs typeface="+mn-cs"/>
              </a:rPr>
              <a:t>instruction stream. It seems likely that further significant increases in this direction</a:t>
            </a:r>
          </a:p>
          <a:p>
            <a:r>
              <a:rPr kumimoji="1" lang="en-US" sz="1200" kern="1200" baseline="0" dirty="0">
                <a:solidFill>
                  <a:schemeClr val="tx1"/>
                </a:solidFill>
                <a:latin typeface="Times New Roman" pitchFamily="-110" charset="0"/>
                <a:ea typeface="+mn-ea"/>
                <a:cs typeface="+mn-cs"/>
              </a:rPr>
              <a:t>will be relatively modest [GIBB04]. With three levels of cache on the processor</a:t>
            </a:r>
          </a:p>
          <a:p>
            <a:r>
              <a:rPr kumimoji="1" lang="en-US" sz="1200" kern="1200" baseline="0" dirty="0">
                <a:solidFill>
                  <a:schemeClr val="tx1"/>
                </a:solidFill>
                <a:latin typeface="Times New Roman" pitchFamily="-110" charset="0"/>
                <a:ea typeface="+mn-ea"/>
                <a:cs typeface="+mn-cs"/>
              </a:rPr>
              <a:t>chip, each level providing substantial capacity, it also seems that the benefits from</a:t>
            </a:r>
          </a:p>
          <a:p>
            <a:r>
              <a:rPr kumimoji="1" lang="en-US" sz="1200" kern="1200" baseline="0" dirty="0">
                <a:solidFill>
                  <a:schemeClr val="tx1"/>
                </a:solidFill>
                <a:latin typeface="Times New Roman" pitchFamily="-110" charset="0"/>
                <a:ea typeface="+mn-ea"/>
                <a:cs typeface="+mn-cs"/>
              </a:rPr>
              <a:t>the cache are reaching a limit.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However, simply relying on increasing clock rate for increased performance</a:t>
            </a:r>
          </a:p>
          <a:p>
            <a:r>
              <a:rPr kumimoji="1" lang="en-US" sz="1200" kern="1200" baseline="0" dirty="0">
                <a:solidFill>
                  <a:schemeClr val="tx1"/>
                </a:solidFill>
                <a:latin typeface="Times New Roman" pitchFamily="-110" charset="0"/>
                <a:ea typeface="+mn-ea"/>
                <a:cs typeface="+mn-cs"/>
              </a:rPr>
              <a:t>runs into the power dissipation problem already referred to. The faster the clock</a:t>
            </a:r>
          </a:p>
          <a:p>
            <a:r>
              <a:rPr kumimoji="1" lang="en-US" sz="1200" kern="1200" baseline="0" dirty="0">
                <a:solidFill>
                  <a:schemeClr val="tx1"/>
                </a:solidFill>
                <a:latin typeface="Times New Roman" pitchFamily="-110" charset="0"/>
                <a:ea typeface="+mn-ea"/>
                <a:cs typeface="+mn-cs"/>
              </a:rPr>
              <a:t>rate, the greater the amount of power to be dissipated, and some fundamental physical</a:t>
            </a:r>
          </a:p>
          <a:p>
            <a:r>
              <a:rPr kumimoji="1" lang="en-US" sz="1200" kern="1200" baseline="0" dirty="0">
                <a:solidFill>
                  <a:schemeClr val="tx1"/>
                </a:solidFill>
                <a:latin typeface="Times New Roman" pitchFamily="-110" charset="0"/>
                <a:ea typeface="+mn-ea"/>
                <a:cs typeface="+mn-cs"/>
              </a:rPr>
              <a:t>limits are being reached.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2.2 illustrates the concepts we have been discussing. The top line</a:t>
            </a:r>
          </a:p>
          <a:p>
            <a:r>
              <a:rPr kumimoji="1" lang="en-US" sz="1200" kern="1200" baseline="0" dirty="0">
                <a:solidFill>
                  <a:schemeClr val="tx1"/>
                </a:solidFill>
                <a:latin typeface="Times New Roman" pitchFamily="-110" charset="0"/>
                <a:ea typeface="+mn-ea"/>
                <a:cs typeface="+mn-cs"/>
              </a:rPr>
              <a:t>shows that, as per Moore’s Law, the number of transistors on a single chip continues</a:t>
            </a:r>
          </a:p>
          <a:p>
            <a:r>
              <a:rPr kumimoji="1" lang="en-US" sz="1200" kern="1200" baseline="0" dirty="0">
                <a:solidFill>
                  <a:schemeClr val="tx1"/>
                </a:solidFill>
                <a:latin typeface="Times New Roman" pitchFamily="-110" charset="0"/>
                <a:ea typeface="+mn-ea"/>
                <a:cs typeface="+mn-cs"/>
              </a:rPr>
              <a:t>to grow exponentially. Meanwhile, the clock speed has leveled off, in order</a:t>
            </a:r>
          </a:p>
          <a:p>
            <a:r>
              <a:rPr kumimoji="1" lang="en-US" sz="1200" kern="1200" baseline="0" dirty="0">
                <a:solidFill>
                  <a:schemeClr val="tx1"/>
                </a:solidFill>
                <a:latin typeface="Times New Roman" pitchFamily="-110" charset="0"/>
                <a:ea typeface="+mn-ea"/>
                <a:cs typeface="+mn-cs"/>
              </a:rPr>
              <a:t>to prevent a further rise in power. To continue to increase performance, designers</a:t>
            </a:r>
          </a:p>
          <a:p>
            <a:r>
              <a:rPr kumimoji="1" lang="en-US" sz="1200" kern="1200" baseline="0" dirty="0">
                <a:solidFill>
                  <a:schemeClr val="tx1"/>
                </a:solidFill>
                <a:latin typeface="Times New Roman" pitchFamily="-110" charset="0"/>
                <a:ea typeface="+mn-ea"/>
                <a:cs typeface="+mn-cs"/>
              </a:rPr>
              <a:t>have had to find ways of exploiting the growing number of transistors other than</a:t>
            </a:r>
          </a:p>
          <a:p>
            <a:r>
              <a:rPr kumimoji="1" lang="en-US" sz="1200" kern="1200" baseline="0" dirty="0">
                <a:solidFill>
                  <a:schemeClr val="tx1"/>
                </a:solidFill>
                <a:latin typeface="Times New Roman" pitchFamily="-110" charset="0"/>
                <a:ea typeface="+mn-ea"/>
                <a:cs typeface="+mn-cs"/>
              </a:rPr>
              <a:t>simply building a more complex processor. The response in recent years has been</a:t>
            </a:r>
          </a:p>
          <a:p>
            <a:r>
              <a:rPr kumimoji="1" lang="en-US" sz="1200" kern="1200" baseline="0" dirty="0">
                <a:solidFill>
                  <a:schemeClr val="tx1"/>
                </a:solidFill>
                <a:latin typeface="Times New Roman" pitchFamily="-110" charset="0"/>
                <a:ea typeface="+mn-ea"/>
                <a:cs typeface="+mn-cs"/>
              </a:rPr>
              <a:t>the development of the multicore computer chip.</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7</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110" charset="0"/>
                <a:ea typeface="+mn-ea"/>
                <a:cs typeface="+mn-cs"/>
              </a:rPr>
              <a:t>With all of the difficulties cited in the preceding paragraphs in mind, designers</a:t>
            </a:r>
          </a:p>
          <a:p>
            <a:r>
              <a:rPr kumimoji="1" lang="en-US" sz="1200" kern="1200" baseline="0" dirty="0">
                <a:solidFill>
                  <a:schemeClr val="tx1"/>
                </a:solidFill>
                <a:latin typeface="Times New Roman" pitchFamily="-110" charset="0"/>
                <a:ea typeface="+mn-ea"/>
                <a:cs typeface="+mn-cs"/>
              </a:rPr>
              <a:t>have turned to a fundamentally new approach to improving performance: placing</a:t>
            </a:r>
          </a:p>
          <a:p>
            <a:r>
              <a:rPr kumimoji="1" lang="en-US" sz="1200" kern="1200" baseline="0" dirty="0">
                <a:solidFill>
                  <a:schemeClr val="tx1"/>
                </a:solidFill>
                <a:latin typeface="Times New Roman" pitchFamily="-110" charset="0"/>
                <a:ea typeface="+mn-ea"/>
                <a:cs typeface="+mn-cs"/>
              </a:rPr>
              <a:t>multiple processors on the same chip, with a large shared cache. The use of multiple</a:t>
            </a:r>
          </a:p>
          <a:p>
            <a:r>
              <a:rPr kumimoji="1" lang="en-US" sz="1200" kern="1200" baseline="0" dirty="0">
                <a:solidFill>
                  <a:schemeClr val="tx1"/>
                </a:solidFill>
                <a:latin typeface="Times New Roman" pitchFamily="-110" charset="0"/>
                <a:ea typeface="+mn-ea"/>
                <a:cs typeface="+mn-cs"/>
              </a:rPr>
              <a:t>processors on the same chip, also referred to as multiple cores, or </a:t>
            </a:r>
            <a:r>
              <a:rPr kumimoji="1" lang="en-US" sz="1200" b="1" kern="1200" baseline="0" dirty="0">
                <a:solidFill>
                  <a:schemeClr val="tx1"/>
                </a:solidFill>
                <a:latin typeface="Times New Roman" pitchFamily="-110" charset="0"/>
                <a:ea typeface="+mn-ea"/>
                <a:cs typeface="+mn-cs"/>
              </a:rPr>
              <a:t>multicore,</a:t>
            </a:r>
          </a:p>
          <a:p>
            <a:r>
              <a:rPr kumimoji="1" lang="en-US" sz="1200" kern="1200" baseline="0" dirty="0">
                <a:solidFill>
                  <a:schemeClr val="tx1"/>
                </a:solidFill>
                <a:latin typeface="Times New Roman" pitchFamily="-110" charset="0"/>
                <a:ea typeface="+mn-ea"/>
                <a:cs typeface="+mn-cs"/>
              </a:rPr>
              <a:t>provides the potential to increase performance without increasing the clock rate.</a:t>
            </a:r>
          </a:p>
          <a:p>
            <a:r>
              <a:rPr kumimoji="1" lang="en-US" sz="1200" kern="1200" baseline="0" dirty="0">
                <a:solidFill>
                  <a:schemeClr val="tx1"/>
                </a:solidFill>
                <a:latin typeface="Times New Roman" pitchFamily="-110" charset="0"/>
                <a:ea typeface="+mn-ea"/>
                <a:cs typeface="+mn-cs"/>
              </a:rPr>
              <a:t>Studies indicate that, within a processor, the increase in performance is roughly</a:t>
            </a:r>
          </a:p>
          <a:p>
            <a:r>
              <a:rPr kumimoji="1" lang="en-US" sz="1200" kern="1200" baseline="0" dirty="0">
                <a:solidFill>
                  <a:schemeClr val="tx1"/>
                </a:solidFill>
                <a:latin typeface="Times New Roman" pitchFamily="-110" charset="0"/>
                <a:ea typeface="+mn-ea"/>
                <a:cs typeface="+mn-cs"/>
              </a:rPr>
              <a:t>proportional to the square root of the increase in complexity [BORK03]. But if the</a:t>
            </a:r>
          </a:p>
          <a:p>
            <a:r>
              <a:rPr kumimoji="1" lang="en-US" sz="1200" kern="1200" baseline="0" dirty="0">
                <a:solidFill>
                  <a:schemeClr val="tx1"/>
                </a:solidFill>
                <a:latin typeface="Times New Roman" pitchFamily="-110" charset="0"/>
                <a:ea typeface="+mn-ea"/>
                <a:cs typeface="+mn-cs"/>
              </a:rPr>
              <a:t>software can support the effective use of multiple processors, then doubling the</a:t>
            </a:r>
          </a:p>
          <a:p>
            <a:r>
              <a:rPr kumimoji="1" lang="en-US" sz="1200" kern="1200" baseline="0" dirty="0">
                <a:solidFill>
                  <a:schemeClr val="tx1"/>
                </a:solidFill>
                <a:latin typeface="Times New Roman" pitchFamily="-110" charset="0"/>
                <a:ea typeface="+mn-ea"/>
                <a:cs typeface="+mn-cs"/>
              </a:rPr>
              <a:t>number of processors almost doubles performance. Thus, the strategy is to use two</a:t>
            </a:r>
          </a:p>
          <a:p>
            <a:r>
              <a:rPr kumimoji="1" lang="en-US" sz="1200" kern="1200" baseline="0" dirty="0">
                <a:solidFill>
                  <a:schemeClr val="tx1"/>
                </a:solidFill>
                <a:latin typeface="Times New Roman" pitchFamily="-110" charset="0"/>
                <a:ea typeface="+mn-ea"/>
                <a:cs typeface="+mn-cs"/>
              </a:rPr>
              <a:t>simpler processors on the chip rather than one more complex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addition, with two processors, larger caches are justified. This is important</a:t>
            </a:r>
          </a:p>
          <a:p>
            <a:r>
              <a:rPr kumimoji="1" lang="en-US" sz="1200" kern="1200" baseline="0" dirty="0">
                <a:solidFill>
                  <a:schemeClr val="tx1"/>
                </a:solidFill>
                <a:latin typeface="Times New Roman" pitchFamily="-110" charset="0"/>
                <a:ea typeface="+mn-ea"/>
                <a:cs typeface="+mn-cs"/>
              </a:rPr>
              <a:t>because the power consumption of memory logic on a chip is much less than that of</a:t>
            </a:r>
          </a:p>
          <a:p>
            <a:r>
              <a:rPr kumimoji="1" lang="en-US" sz="1200" kern="1200" baseline="0" dirty="0">
                <a:solidFill>
                  <a:schemeClr val="tx1"/>
                </a:solidFill>
                <a:latin typeface="Times New Roman" pitchFamily="-110" charset="0"/>
                <a:ea typeface="+mn-ea"/>
                <a:cs typeface="+mn-cs"/>
              </a:rPr>
              <a:t>processing logic.</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As the logic density on chips continues to rise, the trend to both more cores</a:t>
            </a:r>
          </a:p>
          <a:p>
            <a:r>
              <a:rPr kumimoji="1" lang="en-US" sz="1200" kern="1200" baseline="0" dirty="0">
                <a:solidFill>
                  <a:schemeClr val="tx1"/>
                </a:solidFill>
                <a:latin typeface="Times New Roman" pitchFamily="-110" charset="0"/>
                <a:ea typeface="+mn-ea"/>
                <a:cs typeface="+mn-cs"/>
              </a:rPr>
              <a:t>and more cache on a single chip continues. Two-core chips were quickly followed</a:t>
            </a:r>
          </a:p>
          <a:p>
            <a:r>
              <a:rPr kumimoji="1" lang="en-US" sz="1200" kern="1200" baseline="0" dirty="0">
                <a:solidFill>
                  <a:schemeClr val="tx1"/>
                </a:solidFill>
                <a:latin typeface="Times New Roman" pitchFamily="-110" charset="0"/>
                <a:ea typeface="+mn-ea"/>
                <a:cs typeface="+mn-cs"/>
              </a:rPr>
              <a:t>by four-core chips, then 8, then 16, and so on. As the caches became larger, it made</a:t>
            </a:r>
          </a:p>
          <a:p>
            <a:r>
              <a:rPr kumimoji="1" lang="en-US" sz="1200" kern="1200" baseline="0" dirty="0">
                <a:solidFill>
                  <a:schemeClr val="tx1"/>
                </a:solidFill>
                <a:latin typeface="Times New Roman" pitchFamily="-110" charset="0"/>
                <a:ea typeface="+mn-ea"/>
                <a:cs typeface="+mn-cs"/>
              </a:rPr>
              <a:t>performance sense to create two and then three levels of cache on a chip, with the</a:t>
            </a:r>
          </a:p>
          <a:p>
            <a:r>
              <a:rPr kumimoji="1" lang="en-US" sz="1200" kern="1200" baseline="0" dirty="0">
                <a:solidFill>
                  <a:schemeClr val="tx1"/>
                </a:solidFill>
                <a:latin typeface="Times New Roman" pitchFamily="-110" charset="0"/>
                <a:ea typeface="+mn-ea"/>
                <a:cs typeface="+mn-cs"/>
              </a:rPr>
              <a:t>first-level cache dedicated to an individual processor and levels two and three being</a:t>
            </a:r>
          </a:p>
          <a:p>
            <a:r>
              <a:rPr kumimoji="1" lang="en-US" sz="1200" kern="1200" baseline="0" dirty="0">
                <a:solidFill>
                  <a:schemeClr val="tx1"/>
                </a:solidFill>
                <a:latin typeface="Times New Roman" pitchFamily="-110" charset="0"/>
                <a:ea typeface="+mn-ea"/>
                <a:cs typeface="+mn-cs"/>
              </a:rPr>
              <a:t>shared by all the processors. </a:t>
            </a:r>
            <a:r>
              <a:rPr kumimoji="1" lang="en-US" sz="1200" b="0" i="0" u="none" strike="noStrike" kern="1200" baseline="0" dirty="0">
                <a:solidFill>
                  <a:schemeClr val="tx1"/>
                </a:solidFill>
                <a:latin typeface="Times New Roman" pitchFamily="-110" charset="0"/>
                <a:ea typeface="+mn-ea"/>
                <a:cs typeface="+mn-cs"/>
              </a:rPr>
              <a:t>It is now common for the second-level</a:t>
            </a:r>
          </a:p>
          <a:p>
            <a:r>
              <a:rPr kumimoji="1" lang="en-US" sz="1200" b="0" i="0" u="none" strike="noStrike" kern="1200" baseline="0" dirty="0">
                <a:solidFill>
                  <a:schemeClr val="tx1"/>
                </a:solidFill>
                <a:latin typeface="Times New Roman" pitchFamily="-110" charset="0"/>
                <a:ea typeface="+mn-ea"/>
                <a:cs typeface="+mn-cs"/>
              </a:rPr>
              <a:t>cache to also be private to each core.</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8</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a:solidFill>
                  <a:schemeClr val="tx1"/>
                </a:solidFill>
                <a:latin typeface="Times New Roman" pitchFamily="-110" charset="0"/>
                <a:ea typeface="+mn-ea"/>
                <a:cs typeface="+mn-cs"/>
              </a:rPr>
              <a:t>Chip manufacturers are now in the process of making a huge leap forward</a:t>
            </a:r>
          </a:p>
          <a:p>
            <a:r>
              <a:rPr kumimoji="1" lang="en-US" sz="1200" kern="1200" baseline="0" dirty="0">
                <a:solidFill>
                  <a:schemeClr val="tx1"/>
                </a:solidFill>
                <a:latin typeface="Times New Roman" pitchFamily="-110" charset="0"/>
                <a:ea typeface="+mn-ea"/>
                <a:cs typeface="+mn-cs"/>
              </a:rPr>
              <a:t>in the number of cores per chip, with more than 50 cores per chip. The leap in</a:t>
            </a:r>
          </a:p>
          <a:p>
            <a:r>
              <a:rPr kumimoji="1" lang="en-US" sz="1200" kern="1200" baseline="0" dirty="0">
                <a:solidFill>
                  <a:schemeClr val="tx1"/>
                </a:solidFill>
                <a:latin typeface="Times New Roman" pitchFamily="-110" charset="0"/>
                <a:ea typeface="+mn-ea"/>
                <a:cs typeface="+mn-cs"/>
              </a:rPr>
              <a:t>performance as well as the challenges in developing software to exploit such a large</a:t>
            </a:r>
          </a:p>
          <a:p>
            <a:r>
              <a:rPr kumimoji="1" lang="en-US" sz="1200" kern="1200" baseline="0" dirty="0">
                <a:solidFill>
                  <a:schemeClr val="tx1"/>
                </a:solidFill>
                <a:latin typeface="Times New Roman" pitchFamily="-110" charset="0"/>
                <a:ea typeface="+mn-ea"/>
                <a:cs typeface="+mn-cs"/>
              </a:rPr>
              <a:t>number of cores have led to the introduction of a new term: </a:t>
            </a:r>
            <a:r>
              <a:rPr kumimoji="1" lang="en-US" sz="1200" b="1" kern="1200" baseline="0" dirty="0">
                <a:solidFill>
                  <a:schemeClr val="tx1"/>
                </a:solidFill>
                <a:latin typeface="Times New Roman" pitchFamily="-110" charset="0"/>
                <a:ea typeface="+mn-ea"/>
                <a:cs typeface="+mn-cs"/>
              </a:rPr>
              <a:t>many integrated core</a:t>
            </a:r>
          </a:p>
          <a:p>
            <a:r>
              <a:rPr kumimoji="1" lang="en-US" sz="1200" b="1" kern="1200" baseline="0" dirty="0">
                <a:solidFill>
                  <a:schemeClr val="tx1"/>
                </a:solidFill>
                <a:latin typeface="Times New Roman" pitchFamily="-110" charset="0"/>
                <a:ea typeface="+mn-ea"/>
                <a:cs typeface="+mn-cs"/>
              </a:rPr>
              <a:t>(MIC).</a:t>
            </a:r>
          </a:p>
          <a:p>
            <a:endParaRPr kumimoji="1" lang="en-US" sz="1200" b="1"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multicore and MIC strategy involves a homogeneous collection of</a:t>
            </a:r>
          </a:p>
          <a:p>
            <a:r>
              <a:rPr kumimoji="1" lang="en-US" sz="1200" kern="1200" baseline="0" dirty="0">
                <a:solidFill>
                  <a:schemeClr val="tx1"/>
                </a:solidFill>
                <a:latin typeface="Times New Roman" pitchFamily="-110" charset="0"/>
                <a:ea typeface="+mn-ea"/>
                <a:cs typeface="+mn-cs"/>
              </a:rPr>
              <a:t>general-purpose processors on a single chip. At the same time, chip manufacturers</a:t>
            </a:r>
          </a:p>
          <a:p>
            <a:r>
              <a:rPr kumimoji="1" lang="en-US" sz="1200" kern="1200" baseline="0" dirty="0">
                <a:solidFill>
                  <a:schemeClr val="tx1"/>
                </a:solidFill>
                <a:latin typeface="Times New Roman" pitchFamily="-110" charset="0"/>
                <a:ea typeface="+mn-ea"/>
                <a:cs typeface="+mn-cs"/>
              </a:rPr>
              <a:t>are pursuing another design option: a chip with multiple general-purpose processors</a:t>
            </a:r>
          </a:p>
          <a:p>
            <a:r>
              <a:rPr kumimoji="1" lang="en-US" sz="1200" kern="1200" baseline="0" dirty="0">
                <a:solidFill>
                  <a:schemeClr val="tx1"/>
                </a:solidFill>
                <a:latin typeface="Times New Roman" pitchFamily="-110" charset="0"/>
                <a:ea typeface="+mn-ea"/>
                <a:cs typeface="+mn-cs"/>
              </a:rPr>
              <a:t>plus </a:t>
            </a:r>
            <a:r>
              <a:rPr kumimoji="1" lang="en-US" sz="1200" b="1" kern="1200" baseline="0" dirty="0">
                <a:solidFill>
                  <a:schemeClr val="tx1"/>
                </a:solidFill>
                <a:latin typeface="Times New Roman" pitchFamily="-110" charset="0"/>
                <a:ea typeface="+mn-ea"/>
                <a:cs typeface="+mn-cs"/>
              </a:rPr>
              <a:t>graphics processing units (GPUs) </a:t>
            </a:r>
            <a:r>
              <a:rPr kumimoji="1" lang="en-US" sz="1200" b="0" kern="1200" baseline="0" dirty="0">
                <a:solidFill>
                  <a:schemeClr val="tx1"/>
                </a:solidFill>
                <a:latin typeface="Times New Roman" pitchFamily="-110" charset="0"/>
                <a:ea typeface="+mn-ea"/>
                <a:cs typeface="+mn-cs"/>
              </a:rPr>
              <a:t>and specialized cores for video processing</a:t>
            </a:r>
          </a:p>
          <a:p>
            <a:r>
              <a:rPr kumimoji="1" lang="en-US" sz="1200" kern="1200" baseline="0" dirty="0">
                <a:solidFill>
                  <a:schemeClr val="tx1"/>
                </a:solidFill>
                <a:latin typeface="Times New Roman" pitchFamily="-110" charset="0"/>
                <a:ea typeface="+mn-ea"/>
                <a:cs typeface="+mn-cs"/>
              </a:rPr>
              <a:t>and other tasks. In broad terms, a GPU is a core designed to perform parallel</a:t>
            </a:r>
          </a:p>
          <a:p>
            <a:r>
              <a:rPr kumimoji="1" lang="en-US" sz="1200" kern="1200" baseline="0" dirty="0">
                <a:solidFill>
                  <a:schemeClr val="tx1"/>
                </a:solidFill>
                <a:latin typeface="Times New Roman" pitchFamily="-110" charset="0"/>
                <a:ea typeface="+mn-ea"/>
                <a:cs typeface="+mn-cs"/>
              </a:rPr>
              <a:t>operations on graphics data. Traditionally found on a plug-in graphics card (display</a:t>
            </a:r>
          </a:p>
          <a:p>
            <a:r>
              <a:rPr kumimoji="1" lang="en-US" sz="1200" kern="1200" baseline="0" dirty="0">
                <a:solidFill>
                  <a:schemeClr val="tx1"/>
                </a:solidFill>
                <a:latin typeface="Times New Roman" pitchFamily="-110" charset="0"/>
                <a:ea typeface="+mn-ea"/>
                <a:cs typeface="+mn-cs"/>
              </a:rPr>
              <a:t>adapter), it is used to encode and render 2D and 3D graphics as well as process</a:t>
            </a:r>
          </a:p>
          <a:p>
            <a:r>
              <a:rPr kumimoji="1" lang="en-US" sz="1200" kern="1200" baseline="0" dirty="0">
                <a:solidFill>
                  <a:schemeClr val="tx1"/>
                </a:solidFill>
                <a:latin typeface="Times New Roman" pitchFamily="-110" charset="0"/>
                <a:ea typeface="+mn-ea"/>
                <a:cs typeface="+mn-cs"/>
              </a:rPr>
              <a:t>video.</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Since GPUs perform parallel operations on multiple sets of data, they are</a:t>
            </a:r>
          </a:p>
          <a:p>
            <a:r>
              <a:rPr kumimoji="1" lang="en-US" sz="1200" kern="1200" baseline="0" dirty="0">
                <a:solidFill>
                  <a:schemeClr val="tx1"/>
                </a:solidFill>
                <a:latin typeface="Times New Roman" pitchFamily="-110" charset="0"/>
                <a:ea typeface="+mn-ea"/>
                <a:cs typeface="+mn-cs"/>
              </a:rPr>
              <a:t>increasingly being used as vector processors for a variety of applications that</a:t>
            </a:r>
          </a:p>
          <a:p>
            <a:r>
              <a:rPr kumimoji="1" lang="en-US" sz="1200" kern="1200" baseline="0" dirty="0">
                <a:solidFill>
                  <a:schemeClr val="tx1"/>
                </a:solidFill>
                <a:latin typeface="Times New Roman" pitchFamily="-110" charset="0"/>
                <a:ea typeface="+mn-ea"/>
                <a:cs typeface="+mn-cs"/>
              </a:rPr>
              <a:t>require repetitive computations. This blurs the line between the GPU and the</a:t>
            </a:r>
          </a:p>
          <a:p>
            <a:r>
              <a:rPr kumimoji="1" lang="en-US" sz="1200" kern="1200" baseline="0" dirty="0">
                <a:solidFill>
                  <a:schemeClr val="tx1"/>
                </a:solidFill>
                <a:latin typeface="Times New Roman" pitchFamily="-110" charset="0"/>
                <a:ea typeface="+mn-ea"/>
                <a:cs typeface="+mn-cs"/>
              </a:rPr>
              <a:t>CPU [FATA08, PROP11]. When a broad range of applications are supported</a:t>
            </a:r>
          </a:p>
          <a:p>
            <a:r>
              <a:rPr kumimoji="1" lang="en-US" sz="1200" kern="1200" baseline="0" dirty="0">
                <a:solidFill>
                  <a:schemeClr val="tx1"/>
                </a:solidFill>
                <a:latin typeface="Times New Roman" pitchFamily="-110" charset="0"/>
                <a:ea typeface="+mn-ea"/>
                <a:cs typeface="+mn-cs"/>
              </a:rPr>
              <a:t>by such a processor, the term </a:t>
            </a:r>
            <a:r>
              <a:rPr kumimoji="1" lang="en-US" sz="1200" b="1" kern="1200" baseline="0" dirty="0">
                <a:solidFill>
                  <a:schemeClr val="tx1"/>
                </a:solidFill>
                <a:latin typeface="Times New Roman" pitchFamily="-110" charset="0"/>
                <a:ea typeface="+mn-ea"/>
                <a:cs typeface="+mn-cs"/>
              </a:rPr>
              <a:t>general-purpose computing on GPUs (GPGPU)</a:t>
            </a:r>
          </a:p>
          <a:p>
            <a:r>
              <a:rPr kumimoji="1" lang="en-US" sz="1200" kern="1200" baseline="0" dirty="0">
                <a:solidFill>
                  <a:schemeClr val="tx1"/>
                </a:solidFill>
                <a:latin typeface="Times New Roman" pitchFamily="-110" charset="0"/>
                <a:ea typeface="+mn-ea"/>
                <a:cs typeface="+mn-cs"/>
              </a:rPr>
              <a:t>is used.</a:t>
            </a:r>
          </a:p>
          <a:p>
            <a:r>
              <a:rPr kumimoji="1" lang="en-US" sz="1200" b="0" i="0" u="none" strike="noStrike" kern="1200" baseline="0" dirty="0">
                <a:solidFill>
                  <a:schemeClr val="tx1"/>
                </a:solidFill>
                <a:latin typeface="Times New Roman" pitchFamily="-110" charset="0"/>
                <a:ea typeface="+mn-ea"/>
                <a:cs typeface="+mn-cs"/>
              </a:rPr>
              <a:t> </a:t>
            </a:r>
          </a:p>
          <a:p>
            <a:r>
              <a:rPr kumimoji="1" lang="en-US" sz="1200" b="0" i="0" u="none" strike="noStrike" kern="1200" baseline="0" dirty="0">
                <a:solidFill>
                  <a:schemeClr val="tx1"/>
                </a:solidFill>
                <a:latin typeface="Times New Roman" pitchFamily="-110" charset="0"/>
                <a:ea typeface="+mn-ea"/>
                <a:cs typeface="+mn-cs"/>
              </a:rPr>
              <a:t>We explore design characteristics of multicore computers in Chapter 18 and</a:t>
            </a:r>
          </a:p>
          <a:p>
            <a:r>
              <a:rPr kumimoji="1" lang="en-US" sz="1200" b="0" i="0" u="none" strike="noStrike" kern="1200" baseline="0" dirty="0">
                <a:solidFill>
                  <a:schemeClr val="tx1"/>
                </a:solidFill>
                <a:latin typeface="Times New Roman" pitchFamily="-110" charset="0"/>
                <a:ea typeface="+mn-ea"/>
                <a:cs typeface="+mn-cs"/>
              </a:rPr>
              <a:t>GPGPUs in Chapter 19.</a:t>
            </a:r>
            <a:endParaRPr kumimoji="1" lang="en-US"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9</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dirty="0"/>
              <a:t>© 2016 Pearson Education, Inc., Hoboken, NJ. All rights reserved.</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dirty="0"/>
              <a:t>© 2016 Pearson Education, Inc., Hoboken, NJ. All rights reserved.</a:t>
            </a:r>
            <a:endParaRPr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dirty="0"/>
              <a:t>© 2016 Pearson Education, Inc., Hoboken, NJ. All rights reserved.</a:t>
            </a:r>
            <a:endParaRPr dirty="0"/>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a:t>© 2016 Pearson Education, Inc., Hoboken, NJ. All rights reserved.</a:t>
            </a:r>
            <a:endParaRPr dirty="0"/>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a:t>© 2016 Pearson Education, Inc., Hoboken, NJ. All rights reserved.</a:t>
            </a:r>
            <a:endParaRPr dirty="0"/>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dirty="0"/>
              <a:t>© 2016 Pearson Education, Inc., Hoboken, NJ. All rights reserved.</a:t>
            </a:r>
            <a:endParaRPr dirty="0"/>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a:t>© 2016 Pearson Education, Inc., Hoboken, NJ. All rights reserved.</a:t>
            </a:r>
            <a:endParaRPr dirty="0"/>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a:t>William Stallings </a:t>
            </a:r>
            <a:br>
              <a:rPr lang="en-GB" dirty="0"/>
            </a:br>
            <a:r>
              <a:rPr lang="en-GB" dirty="0"/>
              <a:t>Computer Organization </a:t>
            </a:r>
            <a:br>
              <a:rPr lang="en-GB" dirty="0"/>
            </a:br>
            <a:r>
              <a:rPr lang="en-GB" dirty="0"/>
              <a:t>and Architecture</a:t>
            </a:r>
            <a:br>
              <a:rPr lang="en-GB" dirty="0"/>
            </a:br>
            <a:r>
              <a:rPr lang="en-GB" dirty="0"/>
              <a:t>10</a:t>
            </a:r>
            <a:r>
              <a:rPr lang="en-GB" baseline="30000" dirty="0"/>
              <a:t>th</a:t>
            </a:r>
            <a:r>
              <a:rPr lang="en-GB"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p:txBody>
          <a:bodyPr/>
          <a:lstStyle/>
          <a:p>
            <a:r>
              <a:rPr lang="en-GB" dirty="0"/>
              <a:t>© 2016 Pearson Education, Inc., Hoboken, NJ.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9552" y="4293096"/>
            <a:ext cx="6191157" cy="833718"/>
          </a:xfrm>
        </p:spPr>
        <p:txBody>
          <a:bodyPr>
            <a:noAutofit/>
          </a:bodyPr>
          <a:lstStyle/>
          <a:p>
            <a:r>
              <a:rPr lang="en-US" sz="5400" dirty="0">
                <a:effectLst>
                  <a:outerShdw blurRad="38100" dist="38100" dir="2700000" algn="tl">
                    <a:srgbClr val="000000">
                      <a:alpha val="43137"/>
                    </a:srgbClr>
                  </a:outerShdw>
                </a:effectLst>
              </a:rPr>
              <a:t>Chapter 2</a:t>
            </a:r>
          </a:p>
        </p:txBody>
      </p:sp>
      <p:sp>
        <p:nvSpPr>
          <p:cNvPr id="11" name="Text Placeholder 10"/>
          <p:cNvSpPr>
            <a:spLocks noGrp="1"/>
          </p:cNvSpPr>
          <p:nvPr>
            <p:ph type="body" sz="half" idx="2"/>
          </p:nvPr>
        </p:nvSpPr>
        <p:spPr>
          <a:xfrm>
            <a:off x="533400" y="5157192"/>
            <a:ext cx="8610600" cy="838200"/>
          </a:xfrm>
        </p:spPr>
        <p:txBody>
          <a:bodyPr>
            <a:normAutofit/>
          </a:bodyPr>
          <a:lstStyle/>
          <a:p>
            <a:r>
              <a:rPr lang="en-US" sz="4400" dirty="0"/>
              <a:t>Performance Issues</a:t>
            </a:r>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a:p>
          <a:p>
            <a:endParaRPr lang="en-US" dirty="0"/>
          </a:p>
          <a:p>
            <a:endParaRPr lang="en-US" dirty="0"/>
          </a:p>
          <a:p>
            <a:endParaRPr lang="en-US" dirty="0"/>
          </a:p>
          <a:p>
            <a:endParaRPr lang="en-US" dirty="0"/>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for Performance</a:t>
            </a:r>
          </a:p>
        </p:txBody>
      </p:sp>
      <p:sp>
        <p:nvSpPr>
          <p:cNvPr id="3" name="Content Placeholder 2"/>
          <p:cNvSpPr>
            <a:spLocks noGrp="1"/>
          </p:cNvSpPr>
          <p:nvPr>
            <p:ph idx="1"/>
          </p:nvPr>
        </p:nvSpPr>
        <p:spPr>
          <a:xfrm>
            <a:off x="467544" y="1268760"/>
            <a:ext cx="7556313" cy="5184576"/>
          </a:xfrm>
        </p:spPr>
        <p:txBody>
          <a:bodyPr>
            <a:normAutofit fontScale="70000" lnSpcReduction="20000"/>
          </a:bodyPr>
          <a:lstStyle/>
          <a:p>
            <a:r>
              <a:rPr lang="en-US" dirty="0"/>
              <a:t>The cost of computer systems continues to drop dramatically, while the performance and capacity of those systems continue to rise equally dramatically</a:t>
            </a:r>
          </a:p>
          <a:p>
            <a:r>
              <a:rPr lang="en-US" dirty="0"/>
              <a:t>Today’s laptops have the computing power of an IBM mainframe from 10 or 15 years ago</a:t>
            </a:r>
          </a:p>
          <a:p>
            <a:r>
              <a:rPr lang="en-US" dirty="0"/>
              <a:t>Processors are so inexpensive that we now have microprocessors we throw away</a:t>
            </a:r>
          </a:p>
          <a:p>
            <a:r>
              <a:rPr lang="en-US" dirty="0"/>
              <a:t>Desktop applications that require the great power of today’s microprocessor-based systems include:</a:t>
            </a:r>
          </a:p>
          <a:p>
            <a:pPr lvl="1"/>
            <a:r>
              <a:rPr lang="en-US" dirty="0"/>
              <a:t>Image processing</a:t>
            </a:r>
          </a:p>
          <a:p>
            <a:pPr lvl="1"/>
            <a:r>
              <a:rPr lang="en-US" dirty="0"/>
              <a:t>Three-dimensional rendering</a:t>
            </a:r>
          </a:p>
          <a:p>
            <a:pPr lvl="1"/>
            <a:r>
              <a:rPr lang="en-US" dirty="0"/>
              <a:t>Speech recognition</a:t>
            </a:r>
          </a:p>
          <a:p>
            <a:pPr lvl="1"/>
            <a:r>
              <a:rPr lang="en-US" dirty="0"/>
              <a:t>Videoconferencing</a:t>
            </a:r>
          </a:p>
          <a:p>
            <a:pPr lvl="1"/>
            <a:r>
              <a:rPr lang="en-US" dirty="0"/>
              <a:t>Multimedia authoring </a:t>
            </a:r>
          </a:p>
          <a:p>
            <a:pPr lvl="1"/>
            <a:r>
              <a:rPr lang="en-US" dirty="0"/>
              <a:t>Voice and video annotation of files</a:t>
            </a:r>
          </a:p>
          <a:p>
            <a:pPr lvl="1"/>
            <a:r>
              <a:rPr lang="en-US" dirty="0"/>
              <a:t>Simulation modeling</a:t>
            </a:r>
          </a:p>
          <a:p>
            <a:pPr marL="228600" lvl="1">
              <a:spcBef>
                <a:spcPts val="2000"/>
              </a:spcBef>
              <a:buClr>
                <a:schemeClr val="accent1"/>
              </a:buClr>
            </a:pPr>
            <a:r>
              <a:rPr lang="en-US" sz="2100" dirty="0"/>
              <a:t>Businesses are relying on increasingly powerful servers to handle transaction and database processing and to support massive client/server networks that have replaced the huge mainframe computer centers of yesteryear</a:t>
            </a:r>
          </a:p>
          <a:p>
            <a:pPr marL="228600" lvl="1">
              <a:spcBef>
                <a:spcPts val="2000"/>
              </a:spcBef>
              <a:buClr>
                <a:schemeClr val="accent1"/>
              </a:buClr>
            </a:pPr>
            <a:r>
              <a:rPr lang="en-US" sz="2100" dirty="0"/>
              <a:t>Cloud service providers use massive high-performance banks of servers to satisfy high-volume, high-transaction-rate applications for a broad spectrum of clients</a:t>
            </a:r>
          </a:p>
        </p:txBody>
      </p:sp>
      <p:pic>
        <p:nvPicPr>
          <p:cNvPr id="5" name="Picture 4"/>
          <p:cNvPicPr>
            <a:picLocks noChangeAspect="1"/>
          </p:cNvPicPr>
          <p:nvPr/>
        </p:nvPicPr>
        <p:blipFill>
          <a:blip r:embed="rId3"/>
          <a:stretch>
            <a:fillRect/>
          </a:stretch>
        </p:blipFill>
        <p:spPr>
          <a:xfrm rot="657724">
            <a:off x="6213239" y="3241397"/>
            <a:ext cx="1961927" cy="1545761"/>
          </a:xfrm>
          <a:prstGeom prst="rect">
            <a:avLst/>
          </a:prstGeom>
          <a:effectLst>
            <a:softEdge rad="177800"/>
          </a:effectLst>
        </p:spPr>
      </p:pic>
      <p:sp>
        <p:nvSpPr>
          <p:cNvPr id="4" name="Footer Placeholder 3"/>
          <p:cNvSpPr>
            <a:spLocks noGrp="1"/>
          </p:cNvSpPr>
          <p:nvPr>
            <p:ph type="ftr" sz="quarter" idx="11"/>
          </p:nvPr>
        </p:nvSpPr>
        <p:spPr/>
        <p:txBody>
          <a:bodyPr/>
          <a:lstStyle/>
          <a:p>
            <a:r>
              <a:rPr lang="en-US" dirty="0"/>
              <a:t>© 2016 Pearson Education, Inc., Hoboken, NJ. All rights reserved.</a:t>
            </a:r>
          </a:p>
        </p:txBody>
      </p:sp>
    </p:spTree>
    <p:extLst>
      <p:ext uri="{BB962C8B-B14F-4D97-AF65-F5344CB8AC3E}">
        <p14:creationId xmlns:p14="http://schemas.microsoft.com/office/powerpoint/2010/main" val="263346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dirty="0"/>
              <a:t>Microprocessor Speed</a:t>
            </a:r>
          </a:p>
        </p:txBody>
      </p:sp>
      <p:graphicFrame>
        <p:nvGraphicFramePr>
          <p:cNvPr id="20" name="Content Placeholder 19"/>
          <p:cNvGraphicFramePr>
            <a:graphicFrameLocks noGrp="1"/>
          </p:cNvGraphicFramePr>
          <p:nvPr>
            <p:ph idx="1"/>
            <p:extLst>
              <p:ext uri="{D42A27DB-BD31-4B8C-83A1-F6EECF244321}">
                <p14:modId xmlns:p14="http://schemas.microsoft.com/office/powerpoint/2010/main" val="2047749367"/>
              </p:ext>
            </p:extLst>
          </p:nvPr>
        </p:nvGraphicFramePr>
        <p:xfrm>
          <a:off x="793843" y="1905000"/>
          <a:ext cx="7556313"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p:cNvSpPr>
            <a:spLocks noGrp="1"/>
          </p:cNvSpPr>
          <p:nvPr>
            <p:ph type="body" sz="half" idx="4294967295"/>
          </p:nvPr>
        </p:nvSpPr>
        <p:spPr>
          <a:xfrm>
            <a:off x="228600" y="1295400"/>
            <a:ext cx="7559675" cy="609600"/>
          </a:xfrm>
        </p:spPr>
        <p:txBody>
          <a:bodyPr/>
          <a:lstStyle/>
          <a:p>
            <a:pPr>
              <a:buNone/>
            </a:pPr>
            <a:r>
              <a:rPr lang="en-US" dirty="0"/>
              <a:t>Techniques built into contemporary processors include:</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0" name="Rectangle 6"/>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Improvements in Chip Organization and Architecture</a:t>
            </a:r>
          </a:p>
        </p:txBody>
      </p:sp>
      <p:sp>
        <p:nvSpPr>
          <p:cNvPr id="98311" name="Rectangle 7"/>
          <p:cNvSpPr>
            <a:spLocks noGrp="1" noChangeArrowheads="1"/>
          </p:cNvSpPr>
          <p:nvPr>
            <p:ph idx="1"/>
          </p:nvPr>
        </p:nvSpPr>
        <p:spPr/>
        <p:txBody>
          <a:bodyPr/>
          <a:lstStyle/>
          <a:p>
            <a:r>
              <a:rPr lang="en-GB" dirty="0"/>
              <a:t>Increase hardware speed of processor</a:t>
            </a:r>
          </a:p>
          <a:p>
            <a:pPr lvl="1"/>
            <a:r>
              <a:rPr lang="en-GB" dirty="0"/>
              <a:t>Fundamentally due to shrinking logic gate size</a:t>
            </a:r>
          </a:p>
          <a:p>
            <a:pPr lvl="2"/>
            <a:r>
              <a:rPr lang="en-GB" dirty="0"/>
              <a:t>More gates, packed more tightly, increasing clock rate</a:t>
            </a:r>
          </a:p>
          <a:p>
            <a:pPr lvl="2"/>
            <a:r>
              <a:rPr lang="en-GB" dirty="0"/>
              <a:t>Propagation time for signals reduced</a:t>
            </a:r>
          </a:p>
          <a:p>
            <a:r>
              <a:rPr lang="en-GB" dirty="0"/>
              <a:t>Increase size and speed of caches</a:t>
            </a:r>
          </a:p>
          <a:p>
            <a:pPr lvl="1"/>
            <a:r>
              <a:rPr lang="en-GB" dirty="0"/>
              <a:t>Dedicating part of processor chip </a:t>
            </a:r>
          </a:p>
          <a:p>
            <a:pPr lvl="2"/>
            <a:r>
              <a:rPr lang="en-GB" dirty="0"/>
              <a:t>Cache access times drop significantly</a:t>
            </a:r>
          </a:p>
          <a:p>
            <a:r>
              <a:rPr lang="en-GB" dirty="0"/>
              <a:t>Change processor organization and architecture</a:t>
            </a:r>
          </a:p>
          <a:p>
            <a:pPr lvl="1"/>
            <a:r>
              <a:rPr lang="en-GB" dirty="0"/>
              <a:t>Increase effective speed of instruction execution</a:t>
            </a:r>
          </a:p>
          <a:p>
            <a:pPr lvl="1"/>
            <a:r>
              <a:rPr lang="en-GB" dirty="0"/>
              <a:t>Parallelism</a:t>
            </a:r>
          </a:p>
          <a:p>
            <a:pPr>
              <a:buFontTx/>
              <a:buNone/>
            </a:pPr>
            <a:endParaRPr lang="en-GB" dirty="0"/>
          </a:p>
        </p:txBody>
      </p:sp>
      <p:pic>
        <p:nvPicPr>
          <p:cNvPr id="2" name="Picture 1"/>
          <p:cNvPicPr>
            <a:picLocks noChangeAspect="1"/>
          </p:cNvPicPr>
          <p:nvPr/>
        </p:nvPicPr>
        <p:blipFill>
          <a:blip r:embed="rId3"/>
          <a:stretch>
            <a:fillRect/>
          </a:stretch>
        </p:blipFill>
        <p:spPr>
          <a:xfrm rot="1700518">
            <a:off x="6287018" y="3486648"/>
            <a:ext cx="2425700" cy="1727200"/>
          </a:xfrm>
          <a:prstGeom prst="rect">
            <a:avLst/>
          </a:prstGeom>
          <a:effectLst>
            <a:softEdge rad="38100"/>
          </a:effectLst>
        </p:spPr>
      </p:pic>
      <p:sp>
        <p:nvSpPr>
          <p:cNvPr id="3" name="Footer Placeholder 2"/>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Problems with Clock Speed and Login Density</a:t>
            </a:r>
          </a:p>
        </p:txBody>
      </p:sp>
      <p:sp>
        <p:nvSpPr>
          <p:cNvPr id="99333" name="Rectangle 5"/>
          <p:cNvSpPr>
            <a:spLocks noGrp="1" noChangeArrowheads="1"/>
          </p:cNvSpPr>
          <p:nvPr>
            <p:ph idx="1"/>
          </p:nvPr>
        </p:nvSpPr>
        <p:spPr>
          <a:xfrm>
            <a:off x="498474" y="1981200"/>
            <a:ext cx="7556313" cy="4616152"/>
          </a:xfrm>
        </p:spPr>
        <p:txBody>
          <a:bodyPr>
            <a:normAutofit fontScale="92500" lnSpcReduction="10000"/>
          </a:bodyPr>
          <a:lstStyle/>
          <a:p>
            <a:r>
              <a:rPr lang="en-GB" sz="2400" dirty="0"/>
              <a:t>Power</a:t>
            </a:r>
          </a:p>
          <a:p>
            <a:pPr lvl="1"/>
            <a:r>
              <a:rPr lang="en-GB" sz="2000" dirty="0"/>
              <a:t>Power density increases with density of logic and clock speed</a:t>
            </a:r>
          </a:p>
          <a:p>
            <a:pPr lvl="1"/>
            <a:r>
              <a:rPr lang="en-GB" sz="2000" dirty="0"/>
              <a:t>Dissipating heat</a:t>
            </a:r>
          </a:p>
          <a:p>
            <a:r>
              <a:rPr lang="en-GB" sz="2400" dirty="0"/>
              <a:t>RC delay</a:t>
            </a:r>
          </a:p>
          <a:p>
            <a:pPr lvl="1"/>
            <a:r>
              <a:rPr lang="en-GB" sz="2000" dirty="0"/>
              <a:t>Speed at which electrons flow limited by resistance and capacitance of metal wires connecting them</a:t>
            </a:r>
          </a:p>
          <a:p>
            <a:pPr lvl="1"/>
            <a:r>
              <a:rPr lang="en-GB" sz="2000" dirty="0"/>
              <a:t>Delay increases as the RC product increases</a:t>
            </a:r>
          </a:p>
          <a:p>
            <a:pPr lvl="1"/>
            <a:r>
              <a:rPr lang="en-GB" sz="2000" dirty="0"/>
              <a:t>As components on the chip decrease in size, the wire interconnects become thinner, increasing resistance</a:t>
            </a:r>
          </a:p>
          <a:p>
            <a:pPr lvl="1"/>
            <a:r>
              <a:rPr lang="en-GB" sz="2000" dirty="0"/>
              <a:t>Also, the wires are closer together, increasing capacitance</a:t>
            </a:r>
          </a:p>
          <a:p>
            <a:r>
              <a:rPr lang="en-GB" sz="2400" dirty="0"/>
              <a:t>Memory latency</a:t>
            </a:r>
          </a:p>
          <a:p>
            <a:pPr lvl="1"/>
            <a:r>
              <a:rPr lang="en-GB" sz="2000" dirty="0"/>
              <a:t>Memory speeds lag processor speeds</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8720667" y="1049867"/>
            <a:ext cx="184666" cy="461665"/>
          </a:xfrm>
          <a:prstGeom prst="rect">
            <a:avLst/>
          </a:prstGeom>
          <a:noFill/>
        </p:spPr>
        <p:txBody>
          <a:bodyPr wrap="none" rtlCol="0">
            <a:spAutoFit/>
          </a:bodyPr>
          <a:lstStyle/>
          <a:p>
            <a:endParaRPr lang="en-US" dirty="0"/>
          </a:p>
        </p:txBody>
      </p:sp>
      <p:pic>
        <p:nvPicPr>
          <p:cNvPr id="3" name="Picture 2" descr="f2.pdf"/>
          <p:cNvPicPr>
            <a:picLocks noChangeAspect="1"/>
          </p:cNvPicPr>
          <p:nvPr/>
        </p:nvPicPr>
        <p:blipFill rotWithShape="1">
          <a:blip r:embed="rId3">
            <a:extLst>
              <a:ext uri="{28A0092B-C50C-407E-A947-70E740481C1C}">
                <a14:useLocalDpi xmlns:a14="http://schemas.microsoft.com/office/drawing/2010/main" val="0"/>
              </a:ext>
            </a:extLst>
          </a:blip>
          <a:srcRect t="19664" r="-4703" b="23638"/>
          <a:stretch/>
        </p:blipFill>
        <p:spPr>
          <a:xfrm>
            <a:off x="591813" y="404664"/>
            <a:ext cx="8552187" cy="5993226"/>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 name="Content Placeholder 19"/>
          <p:cNvGraphicFramePr>
            <a:graphicFrameLocks noGrp="1"/>
          </p:cNvGraphicFramePr>
          <p:nvPr>
            <p:ph idx="4294967295"/>
            <p:extLst>
              <p:ext uri="{D42A27DB-BD31-4B8C-83A1-F6EECF244321}">
                <p14:modId xmlns:p14="http://schemas.microsoft.com/office/powerpoint/2010/main" val="1805614568"/>
              </p:ext>
            </p:extLst>
          </p:nvPr>
        </p:nvGraphicFramePr>
        <p:xfrm>
          <a:off x="557360" y="153348"/>
          <a:ext cx="8229600" cy="624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2404" name="Rectangle 4"/>
          <p:cNvSpPr>
            <a:spLocks noGrp="1" noChangeArrowheads="1"/>
          </p:cNvSpPr>
          <p:nvPr>
            <p:ph type="title" idx="4294967295"/>
          </p:nvPr>
        </p:nvSpPr>
        <p:spPr>
          <a:xfrm>
            <a:off x="899592" y="692696"/>
            <a:ext cx="7556500" cy="1116012"/>
          </a:xfrm>
        </p:spPr>
        <p:txBody>
          <a:bodyPr/>
          <a:lstStyle/>
          <a:p>
            <a:r>
              <a:rPr lang="en-GB" dirty="0">
                <a:solidFill>
                  <a:schemeClr val="accent3">
                    <a:lumMod val="75000"/>
                  </a:schemeClr>
                </a:solidFill>
                <a:effectLst>
                  <a:outerShdw blurRad="38100" dist="38100" dir="2700000" algn="tl">
                    <a:srgbClr val="000000">
                      <a:alpha val="43137"/>
                    </a:srgbClr>
                  </a:outerShdw>
                </a:effectLst>
              </a:rPr>
              <a:t>Multicore</a:t>
            </a:r>
          </a:p>
        </p:txBody>
      </p:sp>
      <p:sp>
        <p:nvSpPr>
          <p:cNvPr id="28" name="TextBox 27"/>
          <p:cNvSpPr txBox="1"/>
          <p:nvPr/>
        </p:nvSpPr>
        <p:spPr>
          <a:xfrm>
            <a:off x="186267" y="1811867"/>
            <a:ext cx="184666" cy="461665"/>
          </a:xfrm>
          <a:prstGeom prst="rect">
            <a:avLst/>
          </a:prstGeom>
          <a:noFill/>
        </p:spPr>
        <p:txBody>
          <a:bodyPr wrap="none" rtlCol="0">
            <a:spAutoFit/>
          </a:bodyPr>
          <a:lstStyle/>
          <a:p>
            <a:endParaRPr lang="en-US" dirty="0"/>
          </a:p>
        </p:txBody>
      </p:sp>
      <p:sp>
        <p:nvSpPr>
          <p:cNvPr id="30" name="TextBox 29"/>
          <p:cNvSpPr txBox="1"/>
          <p:nvPr/>
        </p:nvSpPr>
        <p:spPr>
          <a:xfrm>
            <a:off x="321733" y="795867"/>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a:xfrm>
            <a:off x="179512" y="6488571"/>
            <a:ext cx="6122894" cy="365125"/>
          </a:xfrm>
        </p:spPr>
        <p:txBody>
          <a:bodyPr/>
          <a:lstStyle/>
          <a:p>
            <a:r>
              <a:rPr lang="en-US" dirty="0"/>
              <a:t>© 2016 Pearson Education, Inc., Hoboken, NJ.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4"/>
          <p:cNvSpPr>
            <a:spLocks noGrp="1" noChangeArrowheads="1"/>
          </p:cNvSpPr>
          <p:nvPr>
            <p:ph type="title"/>
          </p:nvPr>
        </p:nvSpPr>
        <p:spPr>
          <a:xfrm>
            <a:off x="498474" y="484094"/>
            <a:ext cx="7556313" cy="1344706"/>
          </a:xfrm>
        </p:spPr>
        <p:txBody>
          <a:bodyPr/>
          <a:lstStyle/>
          <a:p>
            <a:pPr>
              <a:spcBef>
                <a:spcPts val="600"/>
              </a:spcBef>
              <a:spcAft>
                <a:spcPts val="600"/>
              </a:spcAft>
            </a:pPr>
            <a:r>
              <a:rPr lang="en-GB" dirty="0">
                <a:effectLst>
                  <a:outerShdw blurRad="38100" dist="38100" dir="2700000" algn="tl">
                    <a:srgbClr val="000000">
                      <a:alpha val="43137"/>
                    </a:srgbClr>
                  </a:outerShdw>
                </a:effectLst>
              </a:rPr>
              <a:t>Many Integrated Core (MIC)</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Graphics Processing Unit (GPU)</a:t>
            </a:r>
            <a:br>
              <a:rPr lang="en-US" dirty="0"/>
            </a:br>
            <a:endParaRPr lang="en-GB" dirty="0"/>
          </a:p>
        </p:txBody>
      </p:sp>
      <p:sp>
        <p:nvSpPr>
          <p:cNvPr id="103429" name="Rectangle 5"/>
          <p:cNvSpPr>
            <a:spLocks noGrp="1" noChangeArrowheads="1"/>
          </p:cNvSpPr>
          <p:nvPr>
            <p:ph sz="half" idx="2"/>
          </p:nvPr>
        </p:nvSpPr>
        <p:spPr/>
        <p:txBody>
          <a:bodyPr/>
          <a:lstStyle/>
          <a:p>
            <a:r>
              <a:rPr lang="en-GB" dirty="0"/>
              <a:t>Leap in performance as well as the challenges in developing software to exploit such a large number of cores</a:t>
            </a:r>
          </a:p>
          <a:p>
            <a:r>
              <a:rPr lang="en-GB" dirty="0"/>
              <a:t>The multicore and MIC strategy involves a homogeneous collection of general purpose processors on a single chip</a:t>
            </a:r>
          </a:p>
          <a:p>
            <a:endParaRPr lang="en-GB" dirty="0"/>
          </a:p>
          <a:p>
            <a:endParaRPr lang="en-GB" dirty="0"/>
          </a:p>
        </p:txBody>
      </p:sp>
      <p:sp>
        <p:nvSpPr>
          <p:cNvPr id="16" name="Content Placeholder 15"/>
          <p:cNvSpPr>
            <a:spLocks noGrp="1"/>
          </p:cNvSpPr>
          <p:nvPr>
            <p:ph sz="quarter" idx="4"/>
          </p:nvPr>
        </p:nvSpPr>
        <p:spPr>
          <a:xfrm>
            <a:off x="4399878" y="2447365"/>
            <a:ext cx="3753522" cy="4182035"/>
          </a:xfrm>
        </p:spPr>
        <p:txBody>
          <a:bodyPr>
            <a:normAutofit/>
          </a:bodyPr>
          <a:lstStyle/>
          <a:p>
            <a:r>
              <a:rPr lang="en-US" dirty="0"/>
              <a:t>Core designed to perform parallel operations on graphics data</a:t>
            </a:r>
          </a:p>
          <a:p>
            <a:r>
              <a:rPr lang="en-US" dirty="0"/>
              <a:t>Traditionally found on a plug-in graphics card, it is used to encode and render 2D and 3D graphics as well as process video</a:t>
            </a:r>
          </a:p>
          <a:p>
            <a:r>
              <a:rPr lang="en-US" dirty="0"/>
              <a:t>Used as vector processors for a variety of applications that require repetitive computations</a:t>
            </a:r>
          </a:p>
        </p:txBody>
      </p:sp>
      <p:sp>
        <p:nvSpPr>
          <p:cNvPr id="5" name="Text Placeholder 4"/>
          <p:cNvSpPr>
            <a:spLocks noGrp="1"/>
          </p:cNvSpPr>
          <p:nvPr>
            <p:ph type="body" idx="1"/>
          </p:nvPr>
        </p:nvSpPr>
        <p:spPr/>
        <p:txBody>
          <a:bodyPr/>
          <a:lstStyle/>
          <a:p>
            <a:r>
              <a:rPr lang="en-US" dirty="0"/>
              <a:t>MIC	</a:t>
            </a:r>
            <a:endParaRPr lang="en-US" sz="3000" dirty="0">
              <a:solidFill>
                <a:schemeClr val="accent1"/>
              </a:solidFill>
            </a:endParaRPr>
          </a:p>
        </p:txBody>
      </p:sp>
      <p:sp>
        <p:nvSpPr>
          <p:cNvPr id="15" name="Text Placeholder 14"/>
          <p:cNvSpPr>
            <a:spLocks noGrp="1"/>
          </p:cNvSpPr>
          <p:nvPr>
            <p:ph type="body" sz="quarter" idx="3"/>
          </p:nvPr>
        </p:nvSpPr>
        <p:spPr/>
        <p:txBody>
          <a:bodyPr/>
          <a:lstStyle/>
          <a:p>
            <a:r>
              <a:rPr lang="en-US" dirty="0"/>
              <a:t>GPU</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Performance</a:t>
            </a:r>
          </a:p>
        </p:txBody>
      </p:sp>
    </p:spTree>
    <p:extLst>
      <p:ext uri="{BB962C8B-B14F-4D97-AF65-F5344CB8AC3E}">
        <p14:creationId xmlns:p14="http://schemas.microsoft.com/office/powerpoint/2010/main" val="2881404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08000" y="764704"/>
            <a:ext cx="6447501" cy="990600"/>
          </a:xfrm>
        </p:spPr>
        <p:txBody>
          <a:bodyPr/>
          <a:lstStyle/>
          <a:p>
            <a:r>
              <a:rPr lang="en-GB" altLang="en-US" sz="2800" u="sng" dirty="0"/>
              <a:t>Performance Assessment</a:t>
            </a:r>
            <a:br>
              <a:rPr lang="en-GB" altLang="en-US" sz="2800" dirty="0"/>
            </a:br>
            <a:r>
              <a:rPr lang="en-GB" altLang="en-US" sz="2400" dirty="0"/>
              <a:t>Clock Speed</a:t>
            </a:r>
          </a:p>
        </p:txBody>
      </p:sp>
      <p:sp>
        <p:nvSpPr>
          <p:cNvPr id="111619" name="Rectangle 3"/>
          <p:cNvSpPr>
            <a:spLocks noGrp="1" noChangeArrowheads="1"/>
          </p:cNvSpPr>
          <p:nvPr>
            <p:ph idx="1"/>
          </p:nvPr>
        </p:nvSpPr>
        <p:spPr>
          <a:xfrm>
            <a:off x="508000" y="1870720"/>
            <a:ext cx="7090979" cy="3590062"/>
          </a:xfrm>
        </p:spPr>
        <p:txBody>
          <a:bodyPr>
            <a:noAutofit/>
          </a:bodyPr>
          <a:lstStyle/>
          <a:p>
            <a:pPr>
              <a:lnSpc>
                <a:spcPct val="90000"/>
              </a:lnSpc>
            </a:pPr>
            <a:r>
              <a:rPr lang="en-GB" altLang="en-US" sz="1400" dirty="0"/>
              <a:t>Key parameters</a:t>
            </a:r>
          </a:p>
          <a:p>
            <a:pPr lvl="1">
              <a:lnSpc>
                <a:spcPct val="90000"/>
              </a:lnSpc>
            </a:pPr>
            <a:r>
              <a:rPr lang="en-GB" altLang="en-US" sz="1400" dirty="0"/>
              <a:t>Performance, cost, size, security, reliability, power consumption</a:t>
            </a:r>
          </a:p>
          <a:p>
            <a:pPr>
              <a:lnSpc>
                <a:spcPct val="90000"/>
              </a:lnSpc>
            </a:pPr>
            <a:r>
              <a:rPr lang="en-GB" altLang="en-US" sz="1400" dirty="0"/>
              <a:t>System clock speed</a:t>
            </a:r>
          </a:p>
          <a:p>
            <a:pPr lvl="1">
              <a:lnSpc>
                <a:spcPct val="90000"/>
              </a:lnSpc>
            </a:pPr>
            <a:r>
              <a:rPr lang="en-GB" altLang="en-US" sz="1400" dirty="0"/>
              <a:t>In Hz or multiples of Hz</a:t>
            </a:r>
          </a:p>
          <a:p>
            <a:pPr lvl="1">
              <a:lnSpc>
                <a:spcPct val="90000"/>
              </a:lnSpc>
            </a:pPr>
            <a:r>
              <a:rPr lang="en-GB" altLang="en-US" sz="1400" dirty="0"/>
              <a:t>Clock rate, clock cycle, clock tick, cycle time</a:t>
            </a:r>
          </a:p>
          <a:p>
            <a:pPr>
              <a:lnSpc>
                <a:spcPct val="90000"/>
              </a:lnSpc>
            </a:pPr>
            <a:r>
              <a:rPr lang="en-GB" altLang="en-US" sz="1400" dirty="0"/>
              <a:t>Signals in CPU take time to settle down to 1 or 0</a:t>
            </a:r>
          </a:p>
          <a:p>
            <a:pPr>
              <a:lnSpc>
                <a:spcPct val="90000"/>
              </a:lnSpc>
            </a:pPr>
            <a:r>
              <a:rPr lang="en-GB" altLang="en-US" sz="1400" dirty="0"/>
              <a:t>Signals may change at different speeds</a:t>
            </a:r>
          </a:p>
          <a:p>
            <a:pPr>
              <a:lnSpc>
                <a:spcPct val="90000"/>
              </a:lnSpc>
            </a:pPr>
            <a:r>
              <a:rPr lang="en-GB" altLang="en-US" sz="1400" dirty="0"/>
              <a:t>Operations need to be synchronised</a:t>
            </a:r>
          </a:p>
          <a:p>
            <a:pPr>
              <a:lnSpc>
                <a:spcPct val="90000"/>
              </a:lnSpc>
            </a:pPr>
            <a:r>
              <a:rPr lang="en-GB" altLang="en-US" sz="1400" dirty="0"/>
              <a:t>Instruction execution in discrete steps</a:t>
            </a:r>
          </a:p>
          <a:p>
            <a:pPr lvl="1">
              <a:lnSpc>
                <a:spcPct val="90000"/>
              </a:lnSpc>
            </a:pPr>
            <a:r>
              <a:rPr lang="en-GB" altLang="en-US" sz="1400" dirty="0"/>
              <a:t>Fetch, decode, load and store, arithmetic or logical</a:t>
            </a:r>
          </a:p>
          <a:p>
            <a:pPr lvl="1">
              <a:lnSpc>
                <a:spcPct val="90000"/>
              </a:lnSpc>
            </a:pPr>
            <a:r>
              <a:rPr lang="en-GB" altLang="en-US" sz="1400" dirty="0"/>
              <a:t>Usually require multiple clock cycles per instruction</a:t>
            </a:r>
          </a:p>
          <a:p>
            <a:pPr>
              <a:lnSpc>
                <a:spcPct val="90000"/>
              </a:lnSpc>
            </a:pPr>
            <a:r>
              <a:rPr lang="en-GB" altLang="en-US" sz="1400" dirty="0"/>
              <a:t>Pipelining gives simultaneous execution of instructions</a:t>
            </a:r>
          </a:p>
          <a:p>
            <a:pPr>
              <a:lnSpc>
                <a:spcPct val="90000"/>
              </a:lnSpc>
            </a:pPr>
            <a:r>
              <a:rPr lang="en-GB" altLang="en-US" sz="1400" dirty="0"/>
              <a:t>So, clock speed is not the whole story</a:t>
            </a:r>
          </a:p>
        </p:txBody>
      </p:sp>
    </p:spTree>
    <p:extLst>
      <p:ext uri="{BB962C8B-B14F-4D97-AF65-F5344CB8AC3E}">
        <p14:creationId xmlns:p14="http://schemas.microsoft.com/office/powerpoint/2010/main" val="593900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GB" altLang="en-US" dirty="0"/>
              <a:t>Instruction Execution Rate</a:t>
            </a:r>
          </a:p>
        </p:txBody>
      </p:sp>
      <p:sp>
        <p:nvSpPr>
          <p:cNvPr id="2" name="Content Placeholder 1"/>
          <p:cNvSpPr>
            <a:spLocks noGrp="1"/>
          </p:cNvSpPr>
          <p:nvPr>
            <p:ph idx="1"/>
          </p:nvPr>
        </p:nvSpPr>
        <p:spPr/>
        <p:txBody>
          <a:bodyPr/>
          <a:lstStyle/>
          <a:p>
            <a:endParaRPr lang="en-US"/>
          </a:p>
        </p:txBody>
      </p:sp>
      <p:pic>
        <p:nvPicPr>
          <p:cNvPr id="3" name="Picture 2"/>
          <p:cNvPicPr>
            <a:picLocks noChangeAspect="1"/>
          </p:cNvPicPr>
          <p:nvPr/>
        </p:nvPicPr>
        <p:blipFill>
          <a:blip r:embed="rId2"/>
          <a:stretch>
            <a:fillRect/>
          </a:stretch>
        </p:blipFill>
        <p:spPr>
          <a:xfrm>
            <a:off x="613333" y="1999880"/>
            <a:ext cx="6413114" cy="3114060"/>
          </a:xfrm>
          <a:prstGeom prst="rect">
            <a:avLst/>
          </a:prstGeom>
        </p:spPr>
      </p:pic>
    </p:spTree>
    <p:extLst>
      <p:ext uri="{BB962C8B-B14F-4D97-AF65-F5344CB8AC3E}">
        <p14:creationId xmlns:p14="http://schemas.microsoft.com/office/powerpoint/2010/main" val="1278861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3568" y="879943"/>
            <a:ext cx="6560620" cy="636245"/>
          </a:xfrm>
          <a:prstGeom prst="rect">
            <a:avLst/>
          </a:prstGeom>
        </p:spPr>
      </p:pic>
      <p:pic>
        <p:nvPicPr>
          <p:cNvPr id="5" name="Picture 4"/>
          <p:cNvPicPr>
            <a:picLocks noChangeAspect="1"/>
          </p:cNvPicPr>
          <p:nvPr/>
        </p:nvPicPr>
        <p:blipFill>
          <a:blip r:embed="rId3"/>
          <a:stretch>
            <a:fillRect/>
          </a:stretch>
        </p:blipFill>
        <p:spPr>
          <a:xfrm>
            <a:off x="805805" y="2241389"/>
            <a:ext cx="5738772" cy="3503480"/>
          </a:xfrm>
          <a:prstGeom prst="rect">
            <a:avLst/>
          </a:prstGeom>
        </p:spPr>
      </p:pic>
    </p:spTree>
    <p:extLst>
      <p:ext uri="{BB962C8B-B14F-4D97-AF65-F5344CB8AC3E}">
        <p14:creationId xmlns:p14="http://schemas.microsoft.com/office/powerpoint/2010/main" val="3446130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3503" y="2135674"/>
            <a:ext cx="7532106" cy="912983"/>
          </a:xfrm>
          <a:prstGeom prst="rect">
            <a:avLst/>
          </a:prstGeom>
        </p:spPr>
      </p:pic>
    </p:spTree>
    <p:extLst>
      <p:ext uri="{BB962C8B-B14F-4D97-AF65-F5344CB8AC3E}">
        <p14:creationId xmlns:p14="http://schemas.microsoft.com/office/powerpoint/2010/main" val="824012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GB" altLang="en-US"/>
              <a:t>Benchmarks</a:t>
            </a:r>
          </a:p>
        </p:txBody>
      </p:sp>
      <p:sp>
        <p:nvSpPr>
          <p:cNvPr id="119811" name="Rectangle 3"/>
          <p:cNvSpPr>
            <a:spLocks noGrp="1" noChangeArrowheads="1"/>
          </p:cNvSpPr>
          <p:nvPr>
            <p:ph idx="1"/>
          </p:nvPr>
        </p:nvSpPr>
        <p:spPr>
          <a:xfrm>
            <a:off x="498474" y="1340768"/>
            <a:ext cx="7212725" cy="3608740"/>
          </a:xfrm>
        </p:spPr>
        <p:txBody>
          <a:bodyPr>
            <a:noAutofit/>
          </a:bodyPr>
          <a:lstStyle/>
          <a:p>
            <a:pPr>
              <a:lnSpc>
                <a:spcPct val="90000"/>
              </a:lnSpc>
            </a:pPr>
            <a:r>
              <a:rPr lang="en-GB" altLang="en-US" sz="1400" dirty="0"/>
              <a:t>Programs designed to test performance</a:t>
            </a:r>
          </a:p>
          <a:p>
            <a:pPr>
              <a:lnSpc>
                <a:spcPct val="90000"/>
              </a:lnSpc>
            </a:pPr>
            <a:r>
              <a:rPr lang="en-GB" altLang="en-US" sz="1400" dirty="0"/>
              <a:t>Written in high level language </a:t>
            </a:r>
          </a:p>
          <a:p>
            <a:pPr lvl="1">
              <a:lnSpc>
                <a:spcPct val="90000"/>
              </a:lnSpc>
            </a:pPr>
            <a:r>
              <a:rPr lang="en-GB" altLang="en-US" sz="1400" dirty="0"/>
              <a:t>Portable </a:t>
            </a:r>
          </a:p>
          <a:p>
            <a:pPr>
              <a:lnSpc>
                <a:spcPct val="90000"/>
              </a:lnSpc>
            </a:pPr>
            <a:r>
              <a:rPr lang="en-GB" altLang="en-US" sz="1400" dirty="0"/>
              <a:t>Represents style of task</a:t>
            </a:r>
          </a:p>
          <a:p>
            <a:pPr lvl="1">
              <a:lnSpc>
                <a:spcPct val="90000"/>
              </a:lnSpc>
            </a:pPr>
            <a:r>
              <a:rPr lang="en-GB" altLang="en-US" sz="1400" dirty="0"/>
              <a:t>Systems, numerical, commercial</a:t>
            </a:r>
          </a:p>
          <a:p>
            <a:pPr>
              <a:lnSpc>
                <a:spcPct val="90000"/>
              </a:lnSpc>
            </a:pPr>
            <a:r>
              <a:rPr lang="en-GB" altLang="en-US" sz="1400" dirty="0"/>
              <a:t>Easily measured</a:t>
            </a:r>
          </a:p>
          <a:p>
            <a:pPr>
              <a:lnSpc>
                <a:spcPct val="90000"/>
              </a:lnSpc>
            </a:pPr>
            <a:r>
              <a:rPr lang="en-GB" altLang="en-US" sz="1400" dirty="0"/>
              <a:t>Widely distributed</a:t>
            </a:r>
          </a:p>
          <a:p>
            <a:pPr>
              <a:lnSpc>
                <a:spcPct val="90000"/>
              </a:lnSpc>
            </a:pPr>
            <a:r>
              <a:rPr lang="en-GB" altLang="en-US" sz="1400" dirty="0"/>
              <a:t>E.g. System Performance Evaluation Corporation (SPEC)</a:t>
            </a:r>
          </a:p>
          <a:p>
            <a:pPr lvl="1">
              <a:lnSpc>
                <a:spcPct val="90000"/>
              </a:lnSpc>
            </a:pPr>
            <a:r>
              <a:rPr lang="en-GB" altLang="en-US" sz="1400" dirty="0"/>
              <a:t>CPU2006 for computation bound</a:t>
            </a:r>
          </a:p>
          <a:p>
            <a:pPr lvl="2">
              <a:lnSpc>
                <a:spcPct val="90000"/>
              </a:lnSpc>
            </a:pPr>
            <a:r>
              <a:rPr lang="en-GB" altLang="en-US" sz="1400" dirty="0"/>
              <a:t>17 floating point programs in C, C++, Fortran</a:t>
            </a:r>
          </a:p>
          <a:p>
            <a:pPr lvl="2">
              <a:lnSpc>
                <a:spcPct val="90000"/>
              </a:lnSpc>
            </a:pPr>
            <a:r>
              <a:rPr lang="en-GB" altLang="en-US" sz="1400" dirty="0"/>
              <a:t>12 integer programs in C, C++</a:t>
            </a:r>
          </a:p>
          <a:p>
            <a:pPr lvl="2">
              <a:lnSpc>
                <a:spcPct val="90000"/>
              </a:lnSpc>
            </a:pPr>
            <a:r>
              <a:rPr lang="en-GB" altLang="en-US" sz="1400" dirty="0"/>
              <a:t>3 million lines of code</a:t>
            </a:r>
          </a:p>
          <a:p>
            <a:pPr lvl="1">
              <a:lnSpc>
                <a:spcPct val="90000"/>
              </a:lnSpc>
            </a:pPr>
            <a:r>
              <a:rPr lang="en-GB" altLang="en-US" sz="1400" dirty="0"/>
              <a:t>Speed and rate metrics</a:t>
            </a:r>
          </a:p>
          <a:p>
            <a:pPr lvl="2">
              <a:lnSpc>
                <a:spcPct val="90000"/>
              </a:lnSpc>
            </a:pPr>
            <a:r>
              <a:rPr lang="en-GB" altLang="en-US" sz="1400" dirty="0"/>
              <a:t>Single task and throughput</a:t>
            </a:r>
          </a:p>
        </p:txBody>
      </p:sp>
    </p:spTree>
    <p:extLst>
      <p:ext uri="{BB962C8B-B14F-4D97-AF65-F5344CB8AC3E}">
        <p14:creationId xmlns:p14="http://schemas.microsoft.com/office/powerpoint/2010/main" val="4123815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GB" altLang="en-US"/>
              <a:t>Amdahl’s Law</a:t>
            </a:r>
          </a:p>
        </p:txBody>
      </p:sp>
      <p:sp>
        <p:nvSpPr>
          <p:cNvPr id="120835" name="Rectangle 3"/>
          <p:cNvSpPr>
            <a:spLocks noGrp="1" noChangeArrowheads="1"/>
          </p:cNvSpPr>
          <p:nvPr>
            <p:ph idx="1"/>
          </p:nvPr>
        </p:nvSpPr>
        <p:spPr>
          <a:xfrm>
            <a:off x="508001" y="2020492"/>
            <a:ext cx="6704724" cy="3203807"/>
          </a:xfrm>
        </p:spPr>
        <p:txBody>
          <a:bodyPr>
            <a:normAutofit fontScale="85000" lnSpcReduction="10000"/>
          </a:bodyPr>
          <a:lstStyle/>
          <a:p>
            <a:r>
              <a:rPr lang="en-GB" altLang="en-US" dirty="0"/>
              <a:t>Gene Amdahl [AMDA67]</a:t>
            </a:r>
          </a:p>
          <a:p>
            <a:r>
              <a:rPr lang="en-GB" altLang="en-US" dirty="0"/>
              <a:t>Potential speed up of program using multiple processors</a:t>
            </a:r>
          </a:p>
          <a:p>
            <a:r>
              <a:rPr lang="en-GB" altLang="en-US" dirty="0"/>
              <a:t>Concluded that:</a:t>
            </a:r>
          </a:p>
          <a:p>
            <a:pPr lvl="1"/>
            <a:r>
              <a:rPr lang="en-GB" altLang="en-US" dirty="0"/>
              <a:t>Code needs to be parallelizable</a:t>
            </a:r>
          </a:p>
          <a:p>
            <a:pPr lvl="1"/>
            <a:r>
              <a:rPr lang="en-GB" altLang="en-US" dirty="0"/>
              <a:t>Speed up is bound, giving diminishing returns for more processors</a:t>
            </a:r>
          </a:p>
          <a:p>
            <a:r>
              <a:rPr lang="en-GB" altLang="en-US" dirty="0"/>
              <a:t>Task dependent</a:t>
            </a:r>
          </a:p>
          <a:p>
            <a:pPr lvl="1"/>
            <a:r>
              <a:rPr lang="en-GB" altLang="en-US" dirty="0"/>
              <a:t>Servers gain by maintaining multiple connections on multiple processors</a:t>
            </a:r>
          </a:p>
          <a:p>
            <a:pPr lvl="1"/>
            <a:r>
              <a:rPr lang="en-GB" altLang="en-US" dirty="0"/>
              <a:t>Databases can be split into parallel tasks</a:t>
            </a:r>
          </a:p>
        </p:txBody>
      </p:sp>
    </p:spTree>
    <p:extLst>
      <p:ext uri="{BB962C8B-B14F-4D97-AF65-F5344CB8AC3E}">
        <p14:creationId xmlns:p14="http://schemas.microsoft.com/office/powerpoint/2010/main" val="358772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GB" altLang="en-US"/>
              <a:t>Amdahl’s Law Formula</a:t>
            </a:r>
          </a:p>
        </p:txBody>
      </p:sp>
      <p:sp>
        <p:nvSpPr>
          <p:cNvPr id="123907" name="Rectangle 3"/>
          <p:cNvSpPr>
            <a:spLocks noGrp="1" noChangeArrowheads="1"/>
          </p:cNvSpPr>
          <p:nvPr>
            <p:ph idx="1"/>
          </p:nvPr>
        </p:nvSpPr>
        <p:spPr>
          <a:xfrm>
            <a:off x="873920" y="4593431"/>
            <a:ext cx="6134100" cy="1241822"/>
          </a:xfrm>
        </p:spPr>
        <p:txBody>
          <a:bodyPr>
            <a:normAutofit lnSpcReduction="10000"/>
          </a:bodyPr>
          <a:lstStyle/>
          <a:p>
            <a:r>
              <a:rPr lang="en-GB" altLang="en-US" sz="1800" dirty="0"/>
              <a:t>Conclusions</a:t>
            </a:r>
          </a:p>
          <a:p>
            <a:pPr lvl="1"/>
            <a:r>
              <a:rPr lang="en-GB" altLang="en-US" sz="1500" i="1" dirty="0"/>
              <a:t>f </a:t>
            </a:r>
            <a:r>
              <a:rPr lang="en-GB" altLang="en-US" sz="1500" dirty="0"/>
              <a:t>small, parallel processors has little effect</a:t>
            </a:r>
          </a:p>
          <a:p>
            <a:pPr lvl="1"/>
            <a:r>
              <a:rPr lang="en-GB" altLang="en-US" sz="1500" i="1" dirty="0"/>
              <a:t>N </a:t>
            </a:r>
            <a:r>
              <a:rPr lang="en-GB" altLang="en-US" sz="1500" dirty="0"/>
              <a:t>-&gt;∞, speedup bound by 1/(1 – </a:t>
            </a:r>
            <a:r>
              <a:rPr lang="en-GB" altLang="en-US" sz="1500" i="1" dirty="0"/>
              <a:t>f</a:t>
            </a:r>
            <a:r>
              <a:rPr lang="en-GB" altLang="en-US" sz="1500" dirty="0"/>
              <a:t>)</a:t>
            </a:r>
          </a:p>
          <a:p>
            <a:pPr lvl="2"/>
            <a:r>
              <a:rPr lang="en-GB" altLang="en-US" sz="1350" dirty="0"/>
              <a:t>Diminishing returns for using more processors</a:t>
            </a:r>
          </a:p>
        </p:txBody>
      </p:sp>
      <p:pic>
        <p:nvPicPr>
          <p:cNvPr id="123908" name="Picture 4"/>
          <p:cNvPicPr>
            <a:picLocks noChangeAspect="1" noChangeArrowheads="1"/>
          </p:cNvPicPr>
          <p:nvPr/>
        </p:nvPicPr>
        <p:blipFill>
          <a:blip r:embed="rId2">
            <a:extLst>
              <a:ext uri="{28A0092B-C50C-407E-A947-70E740481C1C}">
                <a14:useLocalDpi xmlns:a14="http://schemas.microsoft.com/office/drawing/2010/main" val="0"/>
              </a:ext>
            </a:extLst>
          </a:blip>
          <a:srcRect l="2693" t="10558" r="2991" b="26218"/>
          <a:stretch>
            <a:fillRect/>
          </a:stretch>
        </p:blipFill>
        <p:spPr bwMode="auto">
          <a:xfrm>
            <a:off x="873920" y="3861197"/>
            <a:ext cx="6399610" cy="732234"/>
          </a:xfrm>
          <a:prstGeom prst="rect">
            <a:avLst/>
          </a:prstGeom>
          <a:noFill/>
          <a:extLst>
            <a:ext uri="{909E8E84-426E-40DD-AFC4-6F175D3DCCD1}">
              <a14:hiddenFill xmlns:a14="http://schemas.microsoft.com/office/drawing/2010/main">
                <a:solidFill>
                  <a:srgbClr val="FFFFFF"/>
                </a:solidFill>
              </a14:hiddenFill>
            </a:ext>
          </a:extLst>
        </p:spPr>
      </p:pic>
      <p:sp>
        <p:nvSpPr>
          <p:cNvPr id="123909" name="Rectangle 5"/>
          <p:cNvSpPr>
            <a:spLocks noChangeArrowheads="1"/>
          </p:cNvSpPr>
          <p:nvPr/>
        </p:nvSpPr>
        <p:spPr bwMode="auto">
          <a:xfrm>
            <a:off x="664701" y="1809750"/>
            <a:ext cx="6134100" cy="1475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rgbClr val="008080"/>
              </a:buClr>
              <a:buChar char="•"/>
              <a:defRPr kumimoji="1" sz="2800">
                <a:solidFill>
                  <a:schemeClr val="tx1"/>
                </a:solidFill>
                <a:latin typeface="Verdana" panose="020B0604030504040204" pitchFamily="34" charset="0"/>
              </a:defRPr>
            </a:lvl1pPr>
            <a:lvl2pPr marL="742950" indent="-285750">
              <a:spcBef>
                <a:spcPct val="20000"/>
              </a:spcBef>
              <a:buClr>
                <a:srgbClr val="008080"/>
              </a:buClr>
              <a:buChar char="—"/>
              <a:defRPr kumimoji="1" sz="2400">
                <a:solidFill>
                  <a:schemeClr val="tx1"/>
                </a:solidFill>
                <a:latin typeface="Verdana" panose="020B0604030504040204" pitchFamily="34" charset="0"/>
              </a:defRPr>
            </a:lvl2pPr>
            <a:lvl3pPr marL="1143000" indent="-228600">
              <a:spcBef>
                <a:spcPct val="20000"/>
              </a:spcBef>
              <a:buClr>
                <a:srgbClr val="008080"/>
              </a:buClr>
              <a:buChar char="–"/>
              <a:defRPr kumimoji="1" sz="2000">
                <a:solidFill>
                  <a:schemeClr val="tx1"/>
                </a:solidFill>
                <a:latin typeface="Verdana" panose="020B0604030504040204" pitchFamily="34" charset="0"/>
              </a:defRPr>
            </a:lvl3pPr>
            <a:lvl4pPr marL="1600200" indent="-228600">
              <a:spcBef>
                <a:spcPct val="20000"/>
              </a:spcBef>
              <a:buClr>
                <a:srgbClr val="008080"/>
              </a:buClr>
              <a:buChar char="+"/>
              <a:defRPr kumimoji="1">
                <a:solidFill>
                  <a:schemeClr val="tx1"/>
                </a:solidFill>
                <a:latin typeface="Verdana" panose="020B0604030504040204" pitchFamily="34" charset="0"/>
              </a:defRPr>
            </a:lvl4pPr>
            <a:lvl5pPr marL="2057400" indent="-228600">
              <a:spcBef>
                <a:spcPct val="20000"/>
              </a:spcBef>
              <a:buClr>
                <a:srgbClr val="00808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buChar char="o"/>
              <a:defRPr kumimoji="1">
                <a:solidFill>
                  <a:schemeClr val="tx1"/>
                </a:solidFill>
                <a:latin typeface="Verdana" panose="020B0604030504040204" pitchFamily="34" charset="0"/>
              </a:defRPr>
            </a:lvl9pPr>
          </a:lstStyle>
          <a:p>
            <a:r>
              <a:rPr lang="en-GB" altLang="en-US" sz="1800" dirty="0"/>
              <a:t>For program running on single processor</a:t>
            </a:r>
          </a:p>
          <a:p>
            <a:pPr lvl="1"/>
            <a:r>
              <a:rPr lang="en-GB" altLang="en-US" sz="1500" dirty="0"/>
              <a:t>Fraction</a:t>
            </a:r>
            <a:r>
              <a:rPr lang="en-GB" altLang="en-US" sz="1500" i="1" dirty="0"/>
              <a:t> f </a:t>
            </a:r>
            <a:r>
              <a:rPr lang="en-GB" altLang="en-US" sz="1500" dirty="0"/>
              <a:t>of code infinitely parallelizable with no scheduling overhead</a:t>
            </a:r>
          </a:p>
          <a:p>
            <a:pPr lvl="1"/>
            <a:r>
              <a:rPr lang="en-GB" altLang="en-US" sz="1500" dirty="0"/>
              <a:t>Fraction (1-</a:t>
            </a:r>
            <a:r>
              <a:rPr lang="en-GB" altLang="en-US" sz="1500" i="1" dirty="0"/>
              <a:t>f</a:t>
            </a:r>
            <a:r>
              <a:rPr lang="en-GB" altLang="en-US" sz="1500" dirty="0"/>
              <a:t>) of code inherently serial</a:t>
            </a:r>
          </a:p>
          <a:p>
            <a:pPr lvl="1"/>
            <a:r>
              <a:rPr lang="en-GB" altLang="en-US" sz="1500" dirty="0"/>
              <a:t>T is total execution time for program on single processor</a:t>
            </a:r>
          </a:p>
          <a:p>
            <a:pPr lvl="1"/>
            <a:r>
              <a:rPr lang="en-GB" altLang="en-US" sz="1500" dirty="0"/>
              <a:t>N is number of processors that fully </a:t>
            </a:r>
            <a:r>
              <a:rPr lang="en-GB" altLang="en-US" sz="1500"/>
              <a:t>exploit parallel </a:t>
            </a:r>
            <a:r>
              <a:rPr lang="en-GB" altLang="en-US" sz="1500" dirty="0"/>
              <a:t>portions of code</a:t>
            </a:r>
          </a:p>
        </p:txBody>
      </p:sp>
    </p:spTree>
    <p:extLst>
      <p:ext uri="{BB962C8B-B14F-4D97-AF65-F5344CB8AC3E}">
        <p14:creationId xmlns:p14="http://schemas.microsoft.com/office/powerpoint/2010/main" val="4269138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508001" y="2052023"/>
            <a:ext cx="6865484" cy="2296511"/>
          </a:xfrm>
          <a:prstGeom prst="rect">
            <a:avLst/>
          </a:prstGeom>
        </p:spPr>
      </p:pic>
    </p:spTree>
    <p:extLst>
      <p:ext uri="{BB962C8B-B14F-4D97-AF65-F5344CB8AC3E}">
        <p14:creationId xmlns:p14="http://schemas.microsoft.com/office/powerpoint/2010/main" val="428407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08001" y="1848919"/>
            <a:ext cx="5222765" cy="2948783"/>
          </a:xfrm>
          <a:prstGeom prst="rect">
            <a:avLst/>
          </a:prstGeom>
        </p:spPr>
      </p:pic>
      <p:pic>
        <p:nvPicPr>
          <p:cNvPr id="5" name="Picture 4"/>
          <p:cNvPicPr>
            <a:picLocks noChangeAspect="1"/>
          </p:cNvPicPr>
          <p:nvPr/>
        </p:nvPicPr>
        <p:blipFill>
          <a:blip r:embed="rId3"/>
          <a:stretch>
            <a:fillRect/>
          </a:stretch>
        </p:blipFill>
        <p:spPr>
          <a:xfrm>
            <a:off x="575194" y="4850215"/>
            <a:ext cx="5933423" cy="481957"/>
          </a:xfrm>
          <a:prstGeom prst="rect">
            <a:avLst/>
          </a:prstGeom>
        </p:spPr>
      </p:pic>
    </p:spTree>
    <p:extLst>
      <p:ext uri="{BB962C8B-B14F-4D97-AF65-F5344CB8AC3E}">
        <p14:creationId xmlns:p14="http://schemas.microsoft.com/office/powerpoint/2010/main" val="3011451987"/>
      </p:ext>
    </p:extLst>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45735</TotalTime>
  <Words>3641</Words>
  <Application>Microsoft Office PowerPoint</Application>
  <PresentationFormat>On-screen Show (4:3)</PresentationFormat>
  <Paragraphs>371</Paragraphs>
  <Slides>19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Rockwell</vt:lpstr>
      <vt:lpstr>Times New Roman</vt:lpstr>
      <vt:lpstr>Wingdings</vt:lpstr>
      <vt:lpstr>Advantage</vt:lpstr>
      <vt:lpstr>William Stallings  Computer Organization  and Architecture 10th Edition</vt:lpstr>
      <vt:lpstr>Chapter 2</vt:lpstr>
      <vt:lpstr>Designing for Performance</vt:lpstr>
      <vt:lpstr>Microprocessor Speed</vt:lpstr>
      <vt:lpstr>Improvements in Chip Organization and Architecture</vt:lpstr>
      <vt:lpstr>Problems with Clock Speed and Login Density</vt:lpstr>
      <vt:lpstr>PowerPoint Presentation</vt:lpstr>
      <vt:lpstr>Multicore</vt:lpstr>
      <vt:lpstr>Many Integrated Core (MIC)       Graphics Processing Unit (GPU) </vt:lpstr>
      <vt:lpstr>Computer Performance</vt:lpstr>
      <vt:lpstr>Performance Assessment Clock Speed</vt:lpstr>
      <vt:lpstr>Instruction Execution Rate</vt:lpstr>
      <vt:lpstr>PowerPoint Presentation</vt:lpstr>
      <vt:lpstr>PowerPoint Presentation</vt:lpstr>
      <vt:lpstr>Benchmarks</vt:lpstr>
      <vt:lpstr>Amdahl’s Law</vt:lpstr>
      <vt:lpstr>Amdahl’s Law Formula</vt:lpstr>
      <vt:lpstr>Problem</vt:lpstr>
      <vt:lpstr>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Computer Evolution and Performance</dc:title>
  <dc:creator>Adrian J Pullin</dc:creator>
  <cp:lastModifiedBy>SUNSHINE .........</cp:lastModifiedBy>
  <cp:revision>289</cp:revision>
  <dcterms:created xsi:type="dcterms:W3CDTF">2012-06-10T04:05:19Z</dcterms:created>
  <dcterms:modified xsi:type="dcterms:W3CDTF">2025-02-24T11:58:57Z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a.j.pullin@newi.ac.uk</vt:lpwstr>
  </property>
  <property fmtid="{D5CDD505-2E9C-101B-9397-08002B2CF9AE}" pid="8" name="HomePage">
    <vt:lpwstr>http://www.newi.ac.uk/pullina/default.htm</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H:\Data\Networks\Notes\HTML</vt:lpwstr>
  </property>
</Properties>
</file>