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</p:sldMasterIdLst>
  <p:notesMasterIdLst>
    <p:notesMasterId r:id="rId23"/>
  </p:notesMasterIdLst>
  <p:handoutMasterIdLst>
    <p:handoutMasterId r:id="rId24"/>
  </p:handoutMasterIdLst>
  <p:sldIdLst>
    <p:sldId id="256" r:id="rId2"/>
    <p:sldId id="294" r:id="rId3"/>
    <p:sldId id="295" r:id="rId4"/>
    <p:sldId id="296" r:id="rId5"/>
    <p:sldId id="275" r:id="rId6"/>
    <p:sldId id="257" r:id="rId7"/>
    <p:sldId id="276" r:id="rId8"/>
    <p:sldId id="259" r:id="rId9"/>
    <p:sldId id="261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6" r:id="rId18"/>
    <p:sldId id="287" r:id="rId19"/>
    <p:sldId id="288" r:id="rId20"/>
    <p:sldId id="290" r:id="rId21"/>
    <p:sldId id="293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86946" autoAdjust="0"/>
  </p:normalViewPr>
  <p:slideViewPr>
    <p:cSldViewPr>
      <p:cViewPr varScale="1">
        <p:scale>
          <a:sx n="74" d="100"/>
          <a:sy n="74" d="100"/>
        </p:scale>
        <p:origin x="100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7.xml"/><Relationship Id="rId2" Type="http://schemas.openxmlformats.org/officeDocument/2006/relationships/slide" Target="slides/slide6.xml"/><Relationship Id="rId1" Type="http://schemas.openxmlformats.org/officeDocument/2006/relationships/slide" Target="slides/slide1.xml"/><Relationship Id="rId5" Type="http://schemas.openxmlformats.org/officeDocument/2006/relationships/slide" Target="slides/slide19.xml"/><Relationship Id="rId4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8CF26C-3B9E-EC4D-B017-A6EDD2D78F18}" type="doc">
      <dgm:prSet loTypeId="urn:microsoft.com/office/officeart/2005/8/layout/cycle4#1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CAEE6A-D8FA-1A4E-8E6A-4450A6DD048D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Architecture</a:t>
          </a:r>
        </a:p>
      </dgm:t>
    </dgm:pt>
    <dgm:pt modelId="{688287C0-0BBB-B04A-B8B2-AB36598391AC}" type="parTrans" cxnId="{D3324486-6DB6-E64B-B1A8-C30BAEA50D60}">
      <dgm:prSet/>
      <dgm:spPr/>
      <dgm:t>
        <a:bodyPr/>
        <a:lstStyle/>
        <a:p>
          <a:endParaRPr lang="en-US"/>
        </a:p>
      </dgm:t>
    </dgm:pt>
    <dgm:pt modelId="{06346C9A-108C-B141-813D-843AF3CECB9B}" type="sibTrans" cxnId="{D3324486-6DB6-E64B-B1A8-C30BAEA50D60}">
      <dgm:prSet/>
      <dgm:spPr/>
      <dgm:t>
        <a:bodyPr/>
        <a:lstStyle/>
        <a:p>
          <a:endParaRPr lang="en-US"/>
        </a:p>
      </dgm:t>
    </dgm:pt>
    <dgm:pt modelId="{28315CB9-8304-2142-842C-3463531B3569}">
      <dgm:prSet/>
      <dgm:spPr/>
      <dgm:t>
        <a:bodyPr/>
        <a:lstStyle/>
        <a:p>
          <a:pPr rtl="0"/>
          <a:r>
            <a:rPr lang="en-US" dirty="0"/>
            <a:t>Attributes of a system visible to the programmer</a:t>
          </a:r>
        </a:p>
      </dgm:t>
    </dgm:pt>
    <dgm:pt modelId="{A7B6E241-54E6-4343-8A9E-03120641D454}" type="parTrans" cxnId="{0982BD52-6017-0E45-866D-E6B00540A5AF}">
      <dgm:prSet/>
      <dgm:spPr/>
      <dgm:t>
        <a:bodyPr/>
        <a:lstStyle/>
        <a:p>
          <a:endParaRPr lang="en-US"/>
        </a:p>
      </dgm:t>
    </dgm:pt>
    <dgm:pt modelId="{8805F3BF-5747-FA44-B2D6-8E46921DD5F2}" type="sibTrans" cxnId="{0982BD52-6017-0E45-866D-E6B00540A5AF}">
      <dgm:prSet/>
      <dgm:spPr/>
      <dgm:t>
        <a:bodyPr/>
        <a:lstStyle/>
        <a:p>
          <a:endParaRPr lang="en-US"/>
        </a:p>
      </dgm:t>
    </dgm:pt>
    <dgm:pt modelId="{21A469AC-73E4-2148-8557-29B0050DEDC0}">
      <dgm:prSet/>
      <dgm:spPr/>
      <dgm:t>
        <a:bodyPr/>
        <a:lstStyle/>
        <a:p>
          <a:pPr rtl="0"/>
          <a:r>
            <a:rPr lang="en-US" dirty="0"/>
            <a:t>Have a direct impact on the logical execution of a program</a:t>
          </a:r>
        </a:p>
      </dgm:t>
    </dgm:pt>
    <dgm:pt modelId="{94BC96F5-293D-3C4D-A2F1-79679BBF38E8}" type="parTrans" cxnId="{174D5ABD-454D-0D4F-8354-0209701BD34D}">
      <dgm:prSet/>
      <dgm:spPr/>
      <dgm:t>
        <a:bodyPr/>
        <a:lstStyle/>
        <a:p>
          <a:endParaRPr lang="en-US"/>
        </a:p>
      </dgm:t>
    </dgm:pt>
    <dgm:pt modelId="{C5D2949D-BDAD-0542-A3C2-B076CCD0AE72}" type="sibTrans" cxnId="{174D5ABD-454D-0D4F-8354-0209701BD34D}">
      <dgm:prSet/>
      <dgm:spPr/>
      <dgm:t>
        <a:bodyPr/>
        <a:lstStyle/>
        <a:p>
          <a:endParaRPr lang="en-US"/>
        </a:p>
      </dgm:t>
    </dgm:pt>
    <dgm:pt modelId="{308789E6-82F7-DB43-B928-143FCBCCB864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Architectural attributes include:</a:t>
          </a:r>
        </a:p>
      </dgm:t>
    </dgm:pt>
    <dgm:pt modelId="{FB24C361-90FF-A246-9A34-69E4A6A8AF57}" type="parTrans" cxnId="{30023AC5-9093-4448-B688-57B5C6556549}">
      <dgm:prSet/>
      <dgm:spPr/>
      <dgm:t>
        <a:bodyPr/>
        <a:lstStyle/>
        <a:p>
          <a:endParaRPr lang="en-US"/>
        </a:p>
      </dgm:t>
    </dgm:pt>
    <dgm:pt modelId="{616A0DCE-F636-194D-9DA8-C39FF48D7209}" type="sibTrans" cxnId="{30023AC5-9093-4448-B688-57B5C6556549}">
      <dgm:prSet/>
      <dgm:spPr/>
      <dgm:t>
        <a:bodyPr/>
        <a:lstStyle/>
        <a:p>
          <a:endParaRPr lang="en-US"/>
        </a:p>
      </dgm:t>
    </dgm:pt>
    <dgm:pt modelId="{CE5F8666-70FC-564C-8B7D-337BE33E4106}">
      <dgm:prSet/>
      <dgm:spPr/>
      <dgm:t>
        <a:bodyPr/>
        <a:lstStyle/>
        <a:p>
          <a:pPr rtl="0"/>
          <a:r>
            <a:rPr lang="en-US" dirty="0"/>
            <a:t>Instruction set, number of bits used to represent various data types,   I/O mechanisms, techniques for addressing memory</a:t>
          </a:r>
        </a:p>
      </dgm:t>
    </dgm:pt>
    <dgm:pt modelId="{76348B6E-B52D-394F-A7D3-0CFAABB89617}" type="parTrans" cxnId="{1387E257-C914-334F-A738-A616B99E545F}">
      <dgm:prSet/>
      <dgm:spPr/>
      <dgm:t>
        <a:bodyPr/>
        <a:lstStyle/>
        <a:p>
          <a:endParaRPr lang="en-US"/>
        </a:p>
      </dgm:t>
    </dgm:pt>
    <dgm:pt modelId="{AC6E989A-20AA-194C-A7C6-0BE634EC1713}" type="sibTrans" cxnId="{1387E257-C914-334F-A738-A616B99E545F}">
      <dgm:prSet/>
      <dgm:spPr/>
      <dgm:t>
        <a:bodyPr/>
        <a:lstStyle/>
        <a:p>
          <a:endParaRPr lang="en-US"/>
        </a:p>
      </dgm:t>
    </dgm:pt>
    <dgm:pt modelId="{74536227-6FB9-EA42-B0D1-89175BB10E79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Organization </a:t>
          </a:r>
        </a:p>
      </dgm:t>
    </dgm:pt>
    <dgm:pt modelId="{0F4E1031-08A1-144E-B04B-64D102B658EE}" type="parTrans" cxnId="{8E989642-BD8C-7744-8EF6-FBB60B8A00FD}">
      <dgm:prSet/>
      <dgm:spPr/>
      <dgm:t>
        <a:bodyPr/>
        <a:lstStyle/>
        <a:p>
          <a:endParaRPr lang="en-US"/>
        </a:p>
      </dgm:t>
    </dgm:pt>
    <dgm:pt modelId="{134FF832-CB26-164C-83F8-265482D291A9}" type="sibTrans" cxnId="{8E989642-BD8C-7744-8EF6-FBB60B8A00FD}">
      <dgm:prSet/>
      <dgm:spPr/>
      <dgm:t>
        <a:bodyPr/>
        <a:lstStyle/>
        <a:p>
          <a:endParaRPr lang="en-US"/>
        </a:p>
      </dgm:t>
    </dgm:pt>
    <dgm:pt modelId="{4ABB395C-A2BC-EB46-8166-8924AE293271}">
      <dgm:prSet/>
      <dgm:spPr/>
      <dgm:t>
        <a:bodyPr/>
        <a:lstStyle/>
        <a:p>
          <a:pPr rtl="0"/>
          <a:r>
            <a:rPr lang="en-US" dirty="0"/>
            <a:t>The operational units and their interconnections that realize the architectural specifications</a:t>
          </a:r>
        </a:p>
      </dgm:t>
    </dgm:pt>
    <dgm:pt modelId="{39F91221-9930-CA4C-BDE4-128319DAD71D}" type="parTrans" cxnId="{B9F257A1-A141-2245-873F-A8263CDB5102}">
      <dgm:prSet/>
      <dgm:spPr/>
      <dgm:t>
        <a:bodyPr/>
        <a:lstStyle/>
        <a:p>
          <a:endParaRPr lang="en-US"/>
        </a:p>
      </dgm:t>
    </dgm:pt>
    <dgm:pt modelId="{FAA95E30-E469-594E-8C2C-8129BB965E39}" type="sibTrans" cxnId="{B9F257A1-A141-2245-873F-A8263CDB5102}">
      <dgm:prSet/>
      <dgm:spPr/>
      <dgm:t>
        <a:bodyPr/>
        <a:lstStyle/>
        <a:p>
          <a:endParaRPr lang="en-US"/>
        </a:p>
      </dgm:t>
    </dgm:pt>
    <dgm:pt modelId="{54AC2B3A-9757-C341-B161-89A6E0CA9575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Organizational attributes include:</a:t>
          </a:r>
        </a:p>
      </dgm:t>
    </dgm:pt>
    <dgm:pt modelId="{83493404-DFEF-9E42-ABB4-FBBE426B3AF9}" type="parTrans" cxnId="{734FF944-1D40-0F41-B4EE-7FBCB36088CC}">
      <dgm:prSet/>
      <dgm:spPr/>
      <dgm:t>
        <a:bodyPr/>
        <a:lstStyle/>
        <a:p>
          <a:endParaRPr lang="en-US"/>
        </a:p>
      </dgm:t>
    </dgm:pt>
    <dgm:pt modelId="{D8E9FC16-4D96-4648-AE70-EC41FE4D60A6}" type="sibTrans" cxnId="{734FF944-1D40-0F41-B4EE-7FBCB36088CC}">
      <dgm:prSet/>
      <dgm:spPr/>
      <dgm:t>
        <a:bodyPr/>
        <a:lstStyle/>
        <a:p>
          <a:endParaRPr lang="en-US"/>
        </a:p>
      </dgm:t>
    </dgm:pt>
    <dgm:pt modelId="{601FD3FE-0540-834F-BCAB-697B63FDDAF5}">
      <dgm:prSet/>
      <dgm:spPr/>
      <dgm:t>
        <a:bodyPr/>
        <a:lstStyle/>
        <a:p>
          <a:pPr rtl="0"/>
          <a:r>
            <a:rPr lang="en-US" dirty="0"/>
            <a:t>Hardware details transparent to the programmer, control signals, interfaces between the computer and peripherals, memory technology used</a:t>
          </a:r>
        </a:p>
      </dgm:t>
    </dgm:pt>
    <dgm:pt modelId="{7AC73AAD-48BD-0141-801C-7F03F555A865}" type="parTrans" cxnId="{1014AC31-BFCA-4C40-9E55-38A36284F8BC}">
      <dgm:prSet/>
      <dgm:spPr/>
      <dgm:t>
        <a:bodyPr/>
        <a:lstStyle/>
        <a:p>
          <a:endParaRPr lang="en-US"/>
        </a:p>
      </dgm:t>
    </dgm:pt>
    <dgm:pt modelId="{2B5FD2A9-EFF7-224B-968B-602AA09A0E4E}" type="sibTrans" cxnId="{1014AC31-BFCA-4C40-9E55-38A36284F8BC}">
      <dgm:prSet/>
      <dgm:spPr/>
      <dgm:t>
        <a:bodyPr/>
        <a:lstStyle/>
        <a:p>
          <a:endParaRPr lang="en-US"/>
        </a:p>
      </dgm:t>
    </dgm:pt>
    <dgm:pt modelId="{CDA0A06D-0FB6-1E45-90C3-5F07AC6489BF}" type="pres">
      <dgm:prSet presAssocID="{218CF26C-3B9E-EC4D-B017-A6EDD2D78F1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E230A46-0396-8548-BFE6-7DE77B7F5698}" type="pres">
      <dgm:prSet presAssocID="{218CF26C-3B9E-EC4D-B017-A6EDD2D78F18}" presName="children" presStyleCnt="0"/>
      <dgm:spPr/>
    </dgm:pt>
    <dgm:pt modelId="{9355E2DA-ED4B-FF45-A420-CEC2FAD4F47F}" type="pres">
      <dgm:prSet presAssocID="{218CF26C-3B9E-EC4D-B017-A6EDD2D78F18}" presName="child1group" presStyleCnt="0"/>
      <dgm:spPr/>
    </dgm:pt>
    <dgm:pt modelId="{EAF475D4-71BA-AC4A-A978-8E1A58675943}" type="pres">
      <dgm:prSet presAssocID="{218CF26C-3B9E-EC4D-B017-A6EDD2D78F18}" presName="child1" presStyleLbl="bgAcc1" presStyleIdx="0" presStyleCnt="4"/>
      <dgm:spPr/>
    </dgm:pt>
    <dgm:pt modelId="{8DC48612-CC3B-434C-BDCA-2D368136FE30}" type="pres">
      <dgm:prSet presAssocID="{218CF26C-3B9E-EC4D-B017-A6EDD2D78F18}" presName="child1Text" presStyleLbl="bgAcc1" presStyleIdx="0" presStyleCnt="4">
        <dgm:presLayoutVars>
          <dgm:bulletEnabled val="1"/>
        </dgm:presLayoutVars>
      </dgm:prSet>
      <dgm:spPr/>
    </dgm:pt>
    <dgm:pt modelId="{36650470-D0B6-4E4B-B2CF-C9FC9D98A3AF}" type="pres">
      <dgm:prSet presAssocID="{218CF26C-3B9E-EC4D-B017-A6EDD2D78F18}" presName="child2group" presStyleCnt="0"/>
      <dgm:spPr/>
    </dgm:pt>
    <dgm:pt modelId="{D6EE7FF3-03D5-1248-B164-AC203683EA31}" type="pres">
      <dgm:prSet presAssocID="{218CF26C-3B9E-EC4D-B017-A6EDD2D78F18}" presName="child2" presStyleLbl="bgAcc1" presStyleIdx="1" presStyleCnt="4"/>
      <dgm:spPr/>
    </dgm:pt>
    <dgm:pt modelId="{7378E5CD-5D97-4946-88A6-1649F23BF4FB}" type="pres">
      <dgm:prSet presAssocID="{218CF26C-3B9E-EC4D-B017-A6EDD2D78F18}" presName="child2Text" presStyleLbl="bgAcc1" presStyleIdx="1" presStyleCnt="4">
        <dgm:presLayoutVars>
          <dgm:bulletEnabled val="1"/>
        </dgm:presLayoutVars>
      </dgm:prSet>
      <dgm:spPr/>
    </dgm:pt>
    <dgm:pt modelId="{079BE95B-2F90-7845-93AC-93020A91204D}" type="pres">
      <dgm:prSet presAssocID="{218CF26C-3B9E-EC4D-B017-A6EDD2D78F18}" presName="child3group" presStyleCnt="0"/>
      <dgm:spPr/>
    </dgm:pt>
    <dgm:pt modelId="{F4B243E3-6A78-9746-BEE9-84ACAEA02E36}" type="pres">
      <dgm:prSet presAssocID="{218CF26C-3B9E-EC4D-B017-A6EDD2D78F18}" presName="child3" presStyleLbl="bgAcc1" presStyleIdx="2" presStyleCnt="4" custLinFactNeighborX="11105" custLinFactNeighborY="568"/>
      <dgm:spPr/>
    </dgm:pt>
    <dgm:pt modelId="{28FF47C2-252F-AD4F-9FFC-C7380D031906}" type="pres">
      <dgm:prSet presAssocID="{218CF26C-3B9E-EC4D-B017-A6EDD2D78F18}" presName="child3Text" presStyleLbl="bgAcc1" presStyleIdx="2" presStyleCnt="4">
        <dgm:presLayoutVars>
          <dgm:bulletEnabled val="1"/>
        </dgm:presLayoutVars>
      </dgm:prSet>
      <dgm:spPr/>
    </dgm:pt>
    <dgm:pt modelId="{857D66DE-4C1F-C044-A0CF-897ECE7AFBB6}" type="pres">
      <dgm:prSet presAssocID="{218CF26C-3B9E-EC4D-B017-A6EDD2D78F18}" presName="child4group" presStyleCnt="0"/>
      <dgm:spPr/>
    </dgm:pt>
    <dgm:pt modelId="{82886FAE-83A2-704D-92D1-F4CC571A92A1}" type="pres">
      <dgm:prSet presAssocID="{218CF26C-3B9E-EC4D-B017-A6EDD2D78F18}" presName="child4" presStyleLbl="bgAcc1" presStyleIdx="3" presStyleCnt="4"/>
      <dgm:spPr/>
    </dgm:pt>
    <dgm:pt modelId="{946504B0-6F32-CA4D-B160-51F1CA3B2486}" type="pres">
      <dgm:prSet presAssocID="{218CF26C-3B9E-EC4D-B017-A6EDD2D78F18}" presName="child4Text" presStyleLbl="bgAcc1" presStyleIdx="3" presStyleCnt="4">
        <dgm:presLayoutVars>
          <dgm:bulletEnabled val="1"/>
        </dgm:presLayoutVars>
      </dgm:prSet>
      <dgm:spPr/>
    </dgm:pt>
    <dgm:pt modelId="{B36011C0-D512-5B43-AFFF-B5EF3477E6BC}" type="pres">
      <dgm:prSet presAssocID="{218CF26C-3B9E-EC4D-B017-A6EDD2D78F18}" presName="childPlaceholder" presStyleCnt="0"/>
      <dgm:spPr/>
    </dgm:pt>
    <dgm:pt modelId="{0176A4A2-93EB-3B4F-8E44-E15DD76601A9}" type="pres">
      <dgm:prSet presAssocID="{218CF26C-3B9E-EC4D-B017-A6EDD2D78F18}" presName="circle" presStyleCnt="0"/>
      <dgm:spPr/>
    </dgm:pt>
    <dgm:pt modelId="{0995DE62-81B9-0E4E-9982-90865C30B506}" type="pres">
      <dgm:prSet presAssocID="{218CF26C-3B9E-EC4D-B017-A6EDD2D78F1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E56301CE-27B0-6744-BFE7-3637DF690F07}" type="pres">
      <dgm:prSet presAssocID="{218CF26C-3B9E-EC4D-B017-A6EDD2D78F18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48FC8C78-AEC8-1E4B-9265-AE1BCBD2AB12}" type="pres">
      <dgm:prSet presAssocID="{218CF26C-3B9E-EC4D-B017-A6EDD2D78F18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84C6FD03-EE72-914E-B7C9-68870374A795}" type="pres">
      <dgm:prSet presAssocID="{218CF26C-3B9E-EC4D-B017-A6EDD2D78F1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D6826F6B-04DC-E742-8F5F-D9B2D824E236}" type="pres">
      <dgm:prSet presAssocID="{218CF26C-3B9E-EC4D-B017-A6EDD2D78F18}" presName="quadrantPlaceholder" presStyleCnt="0"/>
      <dgm:spPr/>
    </dgm:pt>
    <dgm:pt modelId="{1A971C7A-02BC-2144-9C44-48A4E03337B1}" type="pres">
      <dgm:prSet presAssocID="{218CF26C-3B9E-EC4D-B017-A6EDD2D78F18}" presName="center1" presStyleLbl="fgShp" presStyleIdx="0" presStyleCnt="2"/>
      <dgm:spPr/>
    </dgm:pt>
    <dgm:pt modelId="{290E4CF8-E8EE-584A-BC6F-814759FDAB7A}" type="pres">
      <dgm:prSet presAssocID="{218CF26C-3B9E-EC4D-B017-A6EDD2D78F18}" presName="center2" presStyleLbl="fgShp" presStyleIdx="1" presStyleCnt="2"/>
      <dgm:spPr/>
    </dgm:pt>
  </dgm:ptLst>
  <dgm:cxnLst>
    <dgm:cxn modelId="{FD56FF05-D7A2-584A-8ABF-2D3821A1E937}" type="presOf" srcId="{601FD3FE-0540-834F-BCAB-697B63FDDAF5}" destId="{946504B0-6F32-CA4D-B160-51F1CA3B2486}" srcOrd="1" destOrd="0" presId="urn:microsoft.com/office/officeart/2005/8/layout/cycle4#1"/>
    <dgm:cxn modelId="{28A35006-6EB0-C244-B998-FFFD23D91384}" type="presOf" srcId="{21A469AC-73E4-2148-8557-29B0050DEDC0}" destId="{8DC48612-CC3B-434C-BDCA-2D368136FE30}" srcOrd="1" destOrd="1" presId="urn:microsoft.com/office/officeart/2005/8/layout/cycle4#1"/>
    <dgm:cxn modelId="{2FF7D623-05EC-C341-AE4E-3E9FCAB5123F}" type="presOf" srcId="{54AC2B3A-9757-C341-B161-89A6E0CA9575}" destId="{84C6FD03-EE72-914E-B7C9-68870374A795}" srcOrd="0" destOrd="0" presId="urn:microsoft.com/office/officeart/2005/8/layout/cycle4#1"/>
    <dgm:cxn modelId="{1014AC31-BFCA-4C40-9E55-38A36284F8BC}" srcId="{54AC2B3A-9757-C341-B161-89A6E0CA9575}" destId="{601FD3FE-0540-834F-BCAB-697B63FDDAF5}" srcOrd="0" destOrd="0" parTransId="{7AC73AAD-48BD-0141-801C-7F03F555A865}" sibTransId="{2B5FD2A9-EFF7-224B-968B-602AA09A0E4E}"/>
    <dgm:cxn modelId="{DEC79734-5731-0947-807E-E0BA6FB7738D}" type="presOf" srcId="{CE5F8666-70FC-564C-8B7D-337BE33E4106}" destId="{D6EE7FF3-03D5-1248-B164-AC203683EA31}" srcOrd="0" destOrd="0" presId="urn:microsoft.com/office/officeart/2005/8/layout/cycle4#1"/>
    <dgm:cxn modelId="{1C7F9834-53D8-D447-AFDE-406FAFE9AA01}" type="presOf" srcId="{CE5F8666-70FC-564C-8B7D-337BE33E4106}" destId="{7378E5CD-5D97-4946-88A6-1649F23BF4FB}" srcOrd="1" destOrd="0" presId="urn:microsoft.com/office/officeart/2005/8/layout/cycle4#1"/>
    <dgm:cxn modelId="{578AC43C-622E-8A4D-8989-0B9965ECC139}" type="presOf" srcId="{218CF26C-3B9E-EC4D-B017-A6EDD2D78F18}" destId="{CDA0A06D-0FB6-1E45-90C3-5F07AC6489BF}" srcOrd="0" destOrd="0" presId="urn:microsoft.com/office/officeart/2005/8/layout/cycle4#1"/>
    <dgm:cxn modelId="{8E989642-BD8C-7744-8EF6-FBB60B8A00FD}" srcId="{218CF26C-3B9E-EC4D-B017-A6EDD2D78F18}" destId="{74536227-6FB9-EA42-B0D1-89175BB10E79}" srcOrd="2" destOrd="0" parTransId="{0F4E1031-08A1-144E-B04B-64D102B658EE}" sibTransId="{134FF832-CB26-164C-83F8-265482D291A9}"/>
    <dgm:cxn modelId="{734FF944-1D40-0F41-B4EE-7FBCB36088CC}" srcId="{218CF26C-3B9E-EC4D-B017-A6EDD2D78F18}" destId="{54AC2B3A-9757-C341-B161-89A6E0CA9575}" srcOrd="3" destOrd="0" parTransId="{83493404-DFEF-9E42-ABB4-FBBE426B3AF9}" sibTransId="{D8E9FC16-4D96-4648-AE70-EC41FE4D60A6}"/>
    <dgm:cxn modelId="{E1272249-4E69-894D-8DDC-98388B0A56AB}" type="presOf" srcId="{4ABB395C-A2BC-EB46-8166-8924AE293271}" destId="{F4B243E3-6A78-9746-BEE9-84ACAEA02E36}" srcOrd="0" destOrd="0" presId="urn:microsoft.com/office/officeart/2005/8/layout/cycle4#1"/>
    <dgm:cxn modelId="{65823B6C-C9F6-D147-988F-D9D117570779}" type="presOf" srcId="{21A469AC-73E4-2148-8557-29B0050DEDC0}" destId="{EAF475D4-71BA-AC4A-A978-8E1A58675943}" srcOrd="0" destOrd="1" presId="urn:microsoft.com/office/officeart/2005/8/layout/cycle4#1"/>
    <dgm:cxn modelId="{6CB4A252-48D8-A94C-B5E1-F54449DF1DFD}" type="presOf" srcId="{B0CAEE6A-D8FA-1A4E-8E6A-4450A6DD048D}" destId="{0995DE62-81B9-0E4E-9982-90865C30B506}" srcOrd="0" destOrd="0" presId="urn:microsoft.com/office/officeart/2005/8/layout/cycle4#1"/>
    <dgm:cxn modelId="{0982BD52-6017-0E45-866D-E6B00540A5AF}" srcId="{B0CAEE6A-D8FA-1A4E-8E6A-4450A6DD048D}" destId="{28315CB9-8304-2142-842C-3463531B3569}" srcOrd="0" destOrd="0" parTransId="{A7B6E241-54E6-4343-8A9E-03120641D454}" sibTransId="{8805F3BF-5747-FA44-B2D6-8E46921DD5F2}"/>
    <dgm:cxn modelId="{4B6F0975-8F18-3744-BB40-DFA5A827FB65}" type="presOf" srcId="{4ABB395C-A2BC-EB46-8166-8924AE293271}" destId="{28FF47C2-252F-AD4F-9FFC-C7380D031906}" srcOrd="1" destOrd="0" presId="urn:microsoft.com/office/officeart/2005/8/layout/cycle4#1"/>
    <dgm:cxn modelId="{1387E257-C914-334F-A738-A616B99E545F}" srcId="{308789E6-82F7-DB43-B928-143FCBCCB864}" destId="{CE5F8666-70FC-564C-8B7D-337BE33E4106}" srcOrd="0" destOrd="0" parTransId="{76348B6E-B52D-394F-A7D3-0CFAABB89617}" sibTransId="{AC6E989A-20AA-194C-A7C6-0BE634EC1713}"/>
    <dgm:cxn modelId="{D3324486-6DB6-E64B-B1A8-C30BAEA50D60}" srcId="{218CF26C-3B9E-EC4D-B017-A6EDD2D78F18}" destId="{B0CAEE6A-D8FA-1A4E-8E6A-4450A6DD048D}" srcOrd="0" destOrd="0" parTransId="{688287C0-0BBB-B04A-B8B2-AB36598391AC}" sibTransId="{06346C9A-108C-B141-813D-843AF3CECB9B}"/>
    <dgm:cxn modelId="{50C3899A-CA77-A647-B562-3E414DB1DB38}" type="presOf" srcId="{308789E6-82F7-DB43-B928-143FCBCCB864}" destId="{E56301CE-27B0-6744-BFE7-3637DF690F07}" srcOrd="0" destOrd="0" presId="urn:microsoft.com/office/officeart/2005/8/layout/cycle4#1"/>
    <dgm:cxn modelId="{B9F257A1-A141-2245-873F-A8263CDB5102}" srcId="{74536227-6FB9-EA42-B0D1-89175BB10E79}" destId="{4ABB395C-A2BC-EB46-8166-8924AE293271}" srcOrd="0" destOrd="0" parTransId="{39F91221-9930-CA4C-BDE4-128319DAD71D}" sibTransId="{FAA95E30-E469-594E-8C2C-8129BB965E39}"/>
    <dgm:cxn modelId="{936663A7-F3F1-544C-BB00-A6B8712F5F75}" type="presOf" srcId="{28315CB9-8304-2142-842C-3463531B3569}" destId="{EAF475D4-71BA-AC4A-A978-8E1A58675943}" srcOrd="0" destOrd="0" presId="urn:microsoft.com/office/officeart/2005/8/layout/cycle4#1"/>
    <dgm:cxn modelId="{644EB4B2-C2D8-7446-B13E-0BDB42040D15}" type="presOf" srcId="{601FD3FE-0540-834F-BCAB-697B63FDDAF5}" destId="{82886FAE-83A2-704D-92D1-F4CC571A92A1}" srcOrd="0" destOrd="0" presId="urn:microsoft.com/office/officeart/2005/8/layout/cycle4#1"/>
    <dgm:cxn modelId="{369DE2B8-1C60-D342-8E38-EC0EB138C6CF}" type="presOf" srcId="{74536227-6FB9-EA42-B0D1-89175BB10E79}" destId="{48FC8C78-AEC8-1E4B-9265-AE1BCBD2AB12}" srcOrd="0" destOrd="0" presId="urn:microsoft.com/office/officeart/2005/8/layout/cycle4#1"/>
    <dgm:cxn modelId="{174D5ABD-454D-0D4F-8354-0209701BD34D}" srcId="{B0CAEE6A-D8FA-1A4E-8E6A-4450A6DD048D}" destId="{21A469AC-73E4-2148-8557-29B0050DEDC0}" srcOrd="1" destOrd="0" parTransId="{94BC96F5-293D-3C4D-A2F1-79679BBF38E8}" sibTransId="{C5D2949D-BDAD-0542-A3C2-B076CCD0AE72}"/>
    <dgm:cxn modelId="{30023AC5-9093-4448-B688-57B5C6556549}" srcId="{218CF26C-3B9E-EC4D-B017-A6EDD2D78F18}" destId="{308789E6-82F7-DB43-B928-143FCBCCB864}" srcOrd="1" destOrd="0" parTransId="{FB24C361-90FF-A246-9A34-69E4A6A8AF57}" sibTransId="{616A0DCE-F636-194D-9DA8-C39FF48D7209}"/>
    <dgm:cxn modelId="{E7A4ADFA-B474-C14B-8A27-965FB71E5D8D}" type="presOf" srcId="{28315CB9-8304-2142-842C-3463531B3569}" destId="{8DC48612-CC3B-434C-BDCA-2D368136FE30}" srcOrd="1" destOrd="0" presId="urn:microsoft.com/office/officeart/2005/8/layout/cycle4#1"/>
    <dgm:cxn modelId="{699078D6-31A2-0B41-B5B3-4D3C3092B897}" type="presParOf" srcId="{CDA0A06D-0FB6-1E45-90C3-5F07AC6489BF}" destId="{AE230A46-0396-8548-BFE6-7DE77B7F5698}" srcOrd="0" destOrd="0" presId="urn:microsoft.com/office/officeart/2005/8/layout/cycle4#1"/>
    <dgm:cxn modelId="{51036B94-27D6-6442-B7E8-4BD19D5092C3}" type="presParOf" srcId="{AE230A46-0396-8548-BFE6-7DE77B7F5698}" destId="{9355E2DA-ED4B-FF45-A420-CEC2FAD4F47F}" srcOrd="0" destOrd="0" presId="urn:microsoft.com/office/officeart/2005/8/layout/cycle4#1"/>
    <dgm:cxn modelId="{5CEFC4B6-D27A-F64A-9614-3E4A00A63D41}" type="presParOf" srcId="{9355E2DA-ED4B-FF45-A420-CEC2FAD4F47F}" destId="{EAF475D4-71BA-AC4A-A978-8E1A58675943}" srcOrd="0" destOrd="0" presId="urn:microsoft.com/office/officeart/2005/8/layout/cycle4#1"/>
    <dgm:cxn modelId="{F695AE92-91AF-1640-8C0C-BF1FD554B2BE}" type="presParOf" srcId="{9355E2DA-ED4B-FF45-A420-CEC2FAD4F47F}" destId="{8DC48612-CC3B-434C-BDCA-2D368136FE30}" srcOrd="1" destOrd="0" presId="urn:microsoft.com/office/officeart/2005/8/layout/cycle4#1"/>
    <dgm:cxn modelId="{FECF91CB-3E6A-F14A-93BB-0814B430D767}" type="presParOf" srcId="{AE230A46-0396-8548-BFE6-7DE77B7F5698}" destId="{36650470-D0B6-4E4B-B2CF-C9FC9D98A3AF}" srcOrd="1" destOrd="0" presId="urn:microsoft.com/office/officeart/2005/8/layout/cycle4#1"/>
    <dgm:cxn modelId="{2033105B-7235-A441-BCD4-1C23395F17D1}" type="presParOf" srcId="{36650470-D0B6-4E4B-B2CF-C9FC9D98A3AF}" destId="{D6EE7FF3-03D5-1248-B164-AC203683EA31}" srcOrd="0" destOrd="0" presId="urn:microsoft.com/office/officeart/2005/8/layout/cycle4#1"/>
    <dgm:cxn modelId="{53B6DDD3-7071-314D-8F65-2945B82F0920}" type="presParOf" srcId="{36650470-D0B6-4E4B-B2CF-C9FC9D98A3AF}" destId="{7378E5CD-5D97-4946-88A6-1649F23BF4FB}" srcOrd="1" destOrd="0" presId="urn:microsoft.com/office/officeart/2005/8/layout/cycle4#1"/>
    <dgm:cxn modelId="{0A0EA159-BE72-504D-AF89-D51A7FA317C4}" type="presParOf" srcId="{AE230A46-0396-8548-BFE6-7DE77B7F5698}" destId="{079BE95B-2F90-7845-93AC-93020A91204D}" srcOrd="2" destOrd="0" presId="urn:microsoft.com/office/officeart/2005/8/layout/cycle4#1"/>
    <dgm:cxn modelId="{6FBAA814-9EDF-874C-B162-98D6DFEA4453}" type="presParOf" srcId="{079BE95B-2F90-7845-93AC-93020A91204D}" destId="{F4B243E3-6A78-9746-BEE9-84ACAEA02E36}" srcOrd="0" destOrd="0" presId="urn:microsoft.com/office/officeart/2005/8/layout/cycle4#1"/>
    <dgm:cxn modelId="{3B12EC53-267E-804F-9CA2-2CFD8BBE1C98}" type="presParOf" srcId="{079BE95B-2F90-7845-93AC-93020A91204D}" destId="{28FF47C2-252F-AD4F-9FFC-C7380D031906}" srcOrd="1" destOrd="0" presId="urn:microsoft.com/office/officeart/2005/8/layout/cycle4#1"/>
    <dgm:cxn modelId="{8E16598D-E657-2440-8FF9-F797A1DC2AB2}" type="presParOf" srcId="{AE230A46-0396-8548-BFE6-7DE77B7F5698}" destId="{857D66DE-4C1F-C044-A0CF-897ECE7AFBB6}" srcOrd="3" destOrd="0" presId="urn:microsoft.com/office/officeart/2005/8/layout/cycle4#1"/>
    <dgm:cxn modelId="{2F4564CF-B1C8-474E-A73E-211CD6C602FF}" type="presParOf" srcId="{857D66DE-4C1F-C044-A0CF-897ECE7AFBB6}" destId="{82886FAE-83A2-704D-92D1-F4CC571A92A1}" srcOrd="0" destOrd="0" presId="urn:microsoft.com/office/officeart/2005/8/layout/cycle4#1"/>
    <dgm:cxn modelId="{361FFEEA-B37D-DD4B-90FD-8019974C51CE}" type="presParOf" srcId="{857D66DE-4C1F-C044-A0CF-897ECE7AFBB6}" destId="{946504B0-6F32-CA4D-B160-51F1CA3B2486}" srcOrd="1" destOrd="0" presId="urn:microsoft.com/office/officeart/2005/8/layout/cycle4#1"/>
    <dgm:cxn modelId="{39AC28DA-B93C-FF4B-938E-E2902348EF70}" type="presParOf" srcId="{AE230A46-0396-8548-BFE6-7DE77B7F5698}" destId="{B36011C0-D512-5B43-AFFF-B5EF3477E6BC}" srcOrd="4" destOrd="0" presId="urn:microsoft.com/office/officeart/2005/8/layout/cycle4#1"/>
    <dgm:cxn modelId="{A20B9968-9E67-7142-A408-85D07AD8F89D}" type="presParOf" srcId="{CDA0A06D-0FB6-1E45-90C3-5F07AC6489BF}" destId="{0176A4A2-93EB-3B4F-8E44-E15DD76601A9}" srcOrd="1" destOrd="0" presId="urn:microsoft.com/office/officeart/2005/8/layout/cycle4#1"/>
    <dgm:cxn modelId="{68023DFC-2968-F643-9CE0-8363C792C624}" type="presParOf" srcId="{0176A4A2-93EB-3B4F-8E44-E15DD76601A9}" destId="{0995DE62-81B9-0E4E-9982-90865C30B506}" srcOrd="0" destOrd="0" presId="urn:microsoft.com/office/officeart/2005/8/layout/cycle4#1"/>
    <dgm:cxn modelId="{232F2B00-0E40-5244-AE96-43E53DC4C21B}" type="presParOf" srcId="{0176A4A2-93EB-3B4F-8E44-E15DD76601A9}" destId="{E56301CE-27B0-6744-BFE7-3637DF690F07}" srcOrd="1" destOrd="0" presId="urn:microsoft.com/office/officeart/2005/8/layout/cycle4#1"/>
    <dgm:cxn modelId="{64C1EE4B-7E4E-7F40-88F6-574C1472E73D}" type="presParOf" srcId="{0176A4A2-93EB-3B4F-8E44-E15DD76601A9}" destId="{48FC8C78-AEC8-1E4B-9265-AE1BCBD2AB12}" srcOrd="2" destOrd="0" presId="urn:microsoft.com/office/officeart/2005/8/layout/cycle4#1"/>
    <dgm:cxn modelId="{B9555833-A8E3-984C-A0CD-48531905E914}" type="presParOf" srcId="{0176A4A2-93EB-3B4F-8E44-E15DD76601A9}" destId="{84C6FD03-EE72-914E-B7C9-68870374A795}" srcOrd="3" destOrd="0" presId="urn:microsoft.com/office/officeart/2005/8/layout/cycle4#1"/>
    <dgm:cxn modelId="{C8E47CC9-F756-8D48-907D-F6D6F2C5F303}" type="presParOf" srcId="{0176A4A2-93EB-3B4F-8E44-E15DD76601A9}" destId="{D6826F6B-04DC-E742-8F5F-D9B2D824E236}" srcOrd="4" destOrd="0" presId="urn:microsoft.com/office/officeart/2005/8/layout/cycle4#1"/>
    <dgm:cxn modelId="{565B3FCF-A28D-E347-8015-2F2DE1DBE44D}" type="presParOf" srcId="{CDA0A06D-0FB6-1E45-90C3-5F07AC6489BF}" destId="{1A971C7A-02BC-2144-9C44-48A4E03337B1}" srcOrd="2" destOrd="0" presId="urn:microsoft.com/office/officeart/2005/8/layout/cycle4#1"/>
    <dgm:cxn modelId="{5BBB7B46-0562-E844-809D-68B34867AC01}" type="presParOf" srcId="{CDA0A06D-0FB6-1E45-90C3-5F07AC6489BF}" destId="{290E4CF8-E8EE-584A-BC6F-814759FDAB7A}" srcOrd="3" destOrd="0" presId="urn:microsoft.com/office/officeart/2005/8/layout/cycle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E09AF2-9AE1-FB41-99AF-0443389F04C5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663F6C-82B1-D142-9476-2B6261508F49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</dgm:t>
    </dgm:pt>
    <dgm:pt modelId="{F7F3C479-91A8-6343-812B-A5D68BB7EB3D}" type="parTrans" cxnId="{FDA980E1-7003-774D-9832-CEF2C362D91A}">
      <dgm:prSet/>
      <dgm:spPr/>
      <dgm:t>
        <a:bodyPr/>
        <a:lstStyle/>
        <a:p>
          <a:endParaRPr lang="en-US"/>
        </a:p>
      </dgm:t>
    </dgm:pt>
    <dgm:pt modelId="{497FA11D-1D25-7E45-9B30-00E372145D41}" type="sibTrans" cxnId="{FDA980E1-7003-774D-9832-CEF2C362D91A}">
      <dgm:prSet/>
      <dgm:spPr/>
      <dgm:t>
        <a:bodyPr/>
        <a:lstStyle/>
        <a:p>
          <a:endParaRPr lang="en-US"/>
        </a:p>
      </dgm:t>
    </dgm:pt>
    <dgm:pt modelId="{983D0763-390C-1C4D-A956-8AEA364C7DE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Contains a word to be stored in memory or sent to the  I/O unit</a:t>
          </a:r>
        </a:p>
      </dgm:t>
    </dgm:pt>
    <dgm:pt modelId="{EE4788FB-E46E-BE4B-8992-71A0B078B764}" type="parTrans" cxnId="{08E7F7BD-EA38-EB41-A1C0-17C62086F05B}">
      <dgm:prSet/>
      <dgm:spPr/>
      <dgm:t>
        <a:bodyPr/>
        <a:lstStyle/>
        <a:p>
          <a:endParaRPr lang="en-US"/>
        </a:p>
      </dgm:t>
    </dgm:pt>
    <dgm:pt modelId="{7AD71A3B-9582-2745-866A-023ECE006DF2}" type="sibTrans" cxnId="{08E7F7BD-EA38-EB41-A1C0-17C62086F05B}">
      <dgm:prSet/>
      <dgm:spPr/>
      <dgm:t>
        <a:bodyPr/>
        <a:lstStyle/>
        <a:p>
          <a:endParaRPr lang="en-US"/>
        </a:p>
      </dgm:t>
    </dgm:pt>
    <dgm:pt modelId="{EBCDBAEC-FCC4-1F43-9879-98177D2FB990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 is used to receive a word from memory or from the I/O unit</a:t>
          </a:r>
        </a:p>
      </dgm:t>
    </dgm:pt>
    <dgm:pt modelId="{0CE74277-13BA-C24D-9106-859B38F32026}" type="parTrans" cxnId="{1F0C1B89-F833-274F-A1B1-F35D07B3BE4F}">
      <dgm:prSet/>
      <dgm:spPr/>
      <dgm:t>
        <a:bodyPr/>
        <a:lstStyle/>
        <a:p>
          <a:endParaRPr lang="en-US"/>
        </a:p>
      </dgm:t>
    </dgm:pt>
    <dgm:pt modelId="{76CDBA38-D372-8348-AD06-9299B96E50A3}" type="sibTrans" cxnId="{1F0C1B89-F833-274F-A1B1-F35D07B3BE4F}">
      <dgm:prSet/>
      <dgm:spPr/>
      <dgm:t>
        <a:bodyPr/>
        <a:lstStyle/>
        <a:p>
          <a:endParaRPr lang="en-US"/>
        </a:p>
      </dgm:t>
    </dgm:pt>
    <dgm:pt modelId="{65983CE6-E863-7C48-99C7-7D9C6DCD1E26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</dgm:t>
    </dgm:pt>
    <dgm:pt modelId="{7AE7A4AC-1A04-6E47-8627-B9021F173F90}" type="parTrans" cxnId="{10A33F33-74B3-4040-98B8-BE15B3151552}">
      <dgm:prSet/>
      <dgm:spPr/>
      <dgm:t>
        <a:bodyPr/>
        <a:lstStyle/>
        <a:p>
          <a:endParaRPr lang="en-US"/>
        </a:p>
      </dgm:t>
    </dgm:pt>
    <dgm:pt modelId="{340EC2BD-814D-D843-B40C-D5053956DF63}" type="sibTrans" cxnId="{10A33F33-74B3-4040-98B8-BE15B3151552}">
      <dgm:prSet/>
      <dgm:spPr/>
      <dgm:t>
        <a:bodyPr/>
        <a:lstStyle/>
        <a:p>
          <a:endParaRPr lang="en-US"/>
        </a:p>
      </dgm:t>
    </dgm:pt>
    <dgm:pt modelId="{6A46E06D-ACF8-DE45-9687-3C2546649AAB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Specifies the address in memory of the word to be written from or read into the MBR</a:t>
          </a:r>
        </a:p>
      </dgm:t>
    </dgm:pt>
    <dgm:pt modelId="{D82528B5-3955-C540-9DDC-D8765259A89C}" type="parTrans" cxnId="{F29E6208-4985-6247-84EE-AD50F5FC8F52}">
      <dgm:prSet/>
      <dgm:spPr/>
      <dgm:t>
        <a:bodyPr/>
        <a:lstStyle/>
        <a:p>
          <a:endParaRPr lang="en-US"/>
        </a:p>
      </dgm:t>
    </dgm:pt>
    <dgm:pt modelId="{8EFE98E7-8548-494B-83E9-019F8064BB10}" type="sibTrans" cxnId="{F29E6208-4985-6247-84EE-AD50F5FC8F52}">
      <dgm:prSet/>
      <dgm:spPr/>
      <dgm:t>
        <a:bodyPr/>
        <a:lstStyle/>
        <a:p>
          <a:endParaRPr lang="en-US"/>
        </a:p>
      </dgm:t>
    </dgm:pt>
    <dgm:pt modelId="{1790E50B-3ECE-FA4C-9CD5-C678A681856F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register (IR)</a:t>
          </a:r>
        </a:p>
      </dgm:t>
    </dgm:pt>
    <dgm:pt modelId="{16BE0251-3AEA-DB4B-83D3-3AD38714267D}" type="parTrans" cxnId="{C5D9F764-9323-0544-A014-3A1E8EE5C726}">
      <dgm:prSet/>
      <dgm:spPr/>
      <dgm:t>
        <a:bodyPr/>
        <a:lstStyle/>
        <a:p>
          <a:endParaRPr lang="en-US"/>
        </a:p>
      </dgm:t>
    </dgm:pt>
    <dgm:pt modelId="{BD587779-CA08-6140-AB0D-B1FFC658BAB2}" type="sibTrans" cxnId="{C5D9F764-9323-0544-A014-3A1E8EE5C726}">
      <dgm:prSet/>
      <dgm:spPr/>
      <dgm:t>
        <a:bodyPr/>
        <a:lstStyle/>
        <a:p>
          <a:endParaRPr lang="en-US"/>
        </a:p>
      </dgm:t>
    </dgm:pt>
    <dgm:pt modelId="{89D18AA2-6D08-0743-BA5E-F2FD7939C801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Contains the 8-bit opcode instruction being executed</a:t>
          </a:r>
        </a:p>
      </dgm:t>
    </dgm:pt>
    <dgm:pt modelId="{4EE7EC46-950C-C74C-94A6-B246D0944B66}" type="parTrans" cxnId="{A4C0DEF0-87B7-1947-A9C4-AB9C9CEE975A}">
      <dgm:prSet/>
      <dgm:spPr/>
      <dgm:t>
        <a:bodyPr/>
        <a:lstStyle/>
        <a:p>
          <a:endParaRPr lang="en-US"/>
        </a:p>
      </dgm:t>
    </dgm:pt>
    <dgm:pt modelId="{00E0C177-D917-3F44-883A-04D47388BA7A}" type="sibTrans" cxnId="{A4C0DEF0-87B7-1947-A9C4-AB9C9CEE975A}">
      <dgm:prSet/>
      <dgm:spPr/>
      <dgm:t>
        <a:bodyPr/>
        <a:lstStyle/>
        <a:p>
          <a:endParaRPr lang="en-US"/>
        </a:p>
      </dgm:t>
    </dgm:pt>
    <dgm:pt modelId="{E9E65EFC-4C94-B645-AAEE-FFCAAC6C9A28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buffer register (IBR)</a:t>
          </a:r>
        </a:p>
      </dgm:t>
    </dgm:pt>
    <dgm:pt modelId="{3B1C56A8-0A47-EB4D-8013-1000A12914AB}" type="parTrans" cxnId="{07060C6A-8EF2-6E41-89E6-28DADE83DE91}">
      <dgm:prSet/>
      <dgm:spPr/>
      <dgm:t>
        <a:bodyPr/>
        <a:lstStyle/>
        <a:p>
          <a:endParaRPr lang="en-US"/>
        </a:p>
      </dgm:t>
    </dgm:pt>
    <dgm:pt modelId="{33B8FBE5-5405-6A4E-B288-3F6059E81AD0}" type="sibTrans" cxnId="{07060C6A-8EF2-6E41-89E6-28DADE83DE91}">
      <dgm:prSet/>
      <dgm:spPr/>
      <dgm:t>
        <a:bodyPr/>
        <a:lstStyle/>
        <a:p>
          <a:endParaRPr lang="en-US"/>
        </a:p>
      </dgm:t>
    </dgm:pt>
    <dgm:pt modelId="{A7F141B5-D8A4-504D-B823-062804224018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Employed to temporarily hold the right-hand instruction from a word in memory</a:t>
          </a:r>
        </a:p>
      </dgm:t>
    </dgm:pt>
    <dgm:pt modelId="{12F84BD8-822E-9B4F-B9D1-68D7A33E13DC}" type="parTrans" cxnId="{6C4E03BD-0B2B-374A-9E02-B09294541E32}">
      <dgm:prSet/>
      <dgm:spPr/>
      <dgm:t>
        <a:bodyPr/>
        <a:lstStyle/>
        <a:p>
          <a:endParaRPr lang="en-US"/>
        </a:p>
      </dgm:t>
    </dgm:pt>
    <dgm:pt modelId="{DF788E86-A164-2342-A854-BED1A303BD1C}" type="sibTrans" cxnId="{6C4E03BD-0B2B-374A-9E02-B09294541E32}">
      <dgm:prSet/>
      <dgm:spPr/>
      <dgm:t>
        <a:bodyPr/>
        <a:lstStyle/>
        <a:p>
          <a:endParaRPr lang="en-US"/>
        </a:p>
      </dgm:t>
    </dgm:pt>
    <dgm:pt modelId="{96EAA1B5-377E-014F-986A-0459C28D9531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 counter (PC)</a:t>
          </a:r>
        </a:p>
      </dgm:t>
    </dgm:pt>
    <dgm:pt modelId="{68FFE1C2-1A9A-FA42-822C-0BC214C544E8}" type="parTrans" cxnId="{4DEE51A1-A22B-CD46-B99B-D8ECA28E273B}">
      <dgm:prSet/>
      <dgm:spPr/>
      <dgm:t>
        <a:bodyPr/>
        <a:lstStyle/>
        <a:p>
          <a:endParaRPr lang="en-US"/>
        </a:p>
      </dgm:t>
    </dgm:pt>
    <dgm:pt modelId="{CA59F1BF-2709-2F45-A412-5E1D8FB26738}" type="sibTrans" cxnId="{4DEE51A1-A22B-CD46-B99B-D8ECA28E273B}">
      <dgm:prSet/>
      <dgm:spPr/>
      <dgm:t>
        <a:bodyPr/>
        <a:lstStyle/>
        <a:p>
          <a:endParaRPr lang="en-US"/>
        </a:p>
      </dgm:t>
    </dgm:pt>
    <dgm:pt modelId="{0691804E-C818-D34C-BC8F-31C9E94EA9CD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Contains the address of the next instruction pair to be fetched from memory</a:t>
          </a:r>
        </a:p>
      </dgm:t>
    </dgm:pt>
    <dgm:pt modelId="{7FA9B53A-DB94-324F-B03B-9719CB6A2347}" type="parTrans" cxnId="{EB199F31-13D3-9246-83DC-4F2EA27A2A94}">
      <dgm:prSet/>
      <dgm:spPr/>
      <dgm:t>
        <a:bodyPr/>
        <a:lstStyle/>
        <a:p>
          <a:endParaRPr lang="en-US"/>
        </a:p>
      </dgm:t>
    </dgm:pt>
    <dgm:pt modelId="{12B1F7C8-20A0-5C42-B2CE-17BE33A35B1F}" type="sibTrans" cxnId="{EB199F31-13D3-9246-83DC-4F2EA27A2A94}">
      <dgm:prSet/>
      <dgm:spPr/>
      <dgm:t>
        <a:bodyPr/>
        <a:lstStyle/>
        <a:p>
          <a:endParaRPr lang="en-US"/>
        </a:p>
      </dgm:t>
    </dgm:pt>
    <dgm:pt modelId="{04DEC0A9-8D36-F645-B1D5-DAE358DAAFBA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Accumulator (AC) and multiplier quotient (MQ)</a:t>
          </a:r>
        </a:p>
      </dgm:t>
    </dgm:pt>
    <dgm:pt modelId="{631A0EA5-0494-B24E-9403-4527B0F85C7E}" type="parTrans" cxnId="{38603506-379B-B046-8B2D-497BE42F1DCB}">
      <dgm:prSet/>
      <dgm:spPr/>
      <dgm:t>
        <a:bodyPr/>
        <a:lstStyle/>
        <a:p>
          <a:endParaRPr lang="en-US"/>
        </a:p>
      </dgm:t>
    </dgm:pt>
    <dgm:pt modelId="{564ECAF2-DC7F-414C-9921-AF6E8F5E40B9}" type="sibTrans" cxnId="{38603506-379B-B046-8B2D-497BE42F1DCB}">
      <dgm:prSet/>
      <dgm:spPr/>
      <dgm:t>
        <a:bodyPr/>
        <a:lstStyle/>
        <a:p>
          <a:endParaRPr lang="en-US"/>
        </a:p>
      </dgm:t>
    </dgm:pt>
    <dgm:pt modelId="{D05D06A4-74D4-6242-9110-9720EF8306B6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Employed to temporarily hold operands and results of ALU operations</a:t>
          </a:r>
        </a:p>
      </dgm:t>
    </dgm:pt>
    <dgm:pt modelId="{C5FEEFDB-C11A-684A-8A54-FD58D085F0FD}" type="parTrans" cxnId="{A0BCFF7B-CEFE-A443-A0AD-DB297EA7C2DD}">
      <dgm:prSet/>
      <dgm:spPr/>
      <dgm:t>
        <a:bodyPr/>
        <a:lstStyle/>
        <a:p>
          <a:endParaRPr lang="en-US"/>
        </a:p>
      </dgm:t>
    </dgm:pt>
    <dgm:pt modelId="{E7DDEF07-E714-B04F-9AA8-6F74D0592852}" type="sibTrans" cxnId="{A0BCFF7B-CEFE-A443-A0AD-DB297EA7C2DD}">
      <dgm:prSet/>
      <dgm:spPr/>
      <dgm:t>
        <a:bodyPr/>
        <a:lstStyle/>
        <a:p>
          <a:endParaRPr lang="en-US"/>
        </a:p>
      </dgm:t>
    </dgm:pt>
    <dgm:pt modelId="{BA5A99DF-215D-904F-A6D0-65BB379826CF}" type="pres">
      <dgm:prSet presAssocID="{FEE09AF2-9AE1-FB41-99AF-0443389F04C5}" presName="Name0" presStyleCnt="0">
        <dgm:presLayoutVars>
          <dgm:dir/>
          <dgm:animLvl val="lvl"/>
          <dgm:resizeHandles val="exact"/>
        </dgm:presLayoutVars>
      </dgm:prSet>
      <dgm:spPr/>
    </dgm:pt>
    <dgm:pt modelId="{979424FD-12D2-C64F-89D9-5113633F291B}" type="pres">
      <dgm:prSet presAssocID="{17663F6C-82B1-D142-9476-2B6261508F49}" presName="linNode" presStyleCnt="0"/>
      <dgm:spPr/>
    </dgm:pt>
    <dgm:pt modelId="{0CFA3958-9CCA-714D-80C2-D920A4C3B568}" type="pres">
      <dgm:prSet presAssocID="{17663F6C-82B1-D142-9476-2B6261508F49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CC497F74-E56D-D54A-A32A-EBB4F6B3EB59}" type="pres">
      <dgm:prSet presAssocID="{17663F6C-82B1-D142-9476-2B6261508F49}" presName="descendantText" presStyleLbl="alignAccFollowNode1" presStyleIdx="0" presStyleCnt="6">
        <dgm:presLayoutVars>
          <dgm:bulletEnabled val="1"/>
        </dgm:presLayoutVars>
      </dgm:prSet>
      <dgm:spPr/>
    </dgm:pt>
    <dgm:pt modelId="{E9077E51-2E5E-A740-8614-DF8126403F15}" type="pres">
      <dgm:prSet presAssocID="{497FA11D-1D25-7E45-9B30-00E372145D41}" presName="sp" presStyleCnt="0"/>
      <dgm:spPr/>
    </dgm:pt>
    <dgm:pt modelId="{27D68538-4B83-8F42-AF07-241E95CB5C6D}" type="pres">
      <dgm:prSet presAssocID="{65983CE6-E863-7C48-99C7-7D9C6DCD1E26}" presName="linNode" presStyleCnt="0"/>
      <dgm:spPr/>
    </dgm:pt>
    <dgm:pt modelId="{48A8FEC9-0511-B347-8FBE-EBA2B7357690}" type="pres">
      <dgm:prSet presAssocID="{65983CE6-E863-7C48-99C7-7D9C6DCD1E26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BE17F6E8-5455-3B44-880E-E877A6004AF4}" type="pres">
      <dgm:prSet presAssocID="{65983CE6-E863-7C48-99C7-7D9C6DCD1E26}" presName="descendantText" presStyleLbl="alignAccFollowNode1" presStyleIdx="1" presStyleCnt="6">
        <dgm:presLayoutVars>
          <dgm:bulletEnabled val="1"/>
        </dgm:presLayoutVars>
      </dgm:prSet>
      <dgm:spPr/>
    </dgm:pt>
    <dgm:pt modelId="{7C393D1B-F0BC-DF4B-99B0-228A5CFC1779}" type="pres">
      <dgm:prSet presAssocID="{340EC2BD-814D-D843-B40C-D5053956DF63}" presName="sp" presStyleCnt="0"/>
      <dgm:spPr/>
    </dgm:pt>
    <dgm:pt modelId="{AD72A645-2D90-A54D-BAB3-E0B09A1E9178}" type="pres">
      <dgm:prSet presAssocID="{1790E50B-3ECE-FA4C-9CD5-C678A681856F}" presName="linNode" presStyleCnt="0"/>
      <dgm:spPr/>
    </dgm:pt>
    <dgm:pt modelId="{7766074F-B532-BA4A-B509-BE407CA8E0EF}" type="pres">
      <dgm:prSet presAssocID="{1790E50B-3ECE-FA4C-9CD5-C678A681856F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7153501E-395B-E940-A6F0-A2B38B4DD9DA}" type="pres">
      <dgm:prSet presAssocID="{1790E50B-3ECE-FA4C-9CD5-C678A681856F}" presName="descendantText" presStyleLbl="alignAccFollowNode1" presStyleIdx="2" presStyleCnt="6">
        <dgm:presLayoutVars>
          <dgm:bulletEnabled val="1"/>
        </dgm:presLayoutVars>
      </dgm:prSet>
      <dgm:spPr/>
    </dgm:pt>
    <dgm:pt modelId="{85EDF9B2-00BB-9F40-BD8C-4DFDFF48F423}" type="pres">
      <dgm:prSet presAssocID="{BD587779-CA08-6140-AB0D-B1FFC658BAB2}" presName="sp" presStyleCnt="0"/>
      <dgm:spPr/>
    </dgm:pt>
    <dgm:pt modelId="{BB7B410C-BD9D-4047-A944-A7711B586696}" type="pres">
      <dgm:prSet presAssocID="{E9E65EFC-4C94-B645-AAEE-FFCAAC6C9A28}" presName="linNode" presStyleCnt="0"/>
      <dgm:spPr/>
    </dgm:pt>
    <dgm:pt modelId="{D62165FB-07F8-BB41-AD94-3FC196D4B89A}" type="pres">
      <dgm:prSet presAssocID="{E9E65EFC-4C94-B645-AAEE-FFCAAC6C9A28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5DCB971D-C09B-EE4E-84F5-7EF86105255A}" type="pres">
      <dgm:prSet presAssocID="{E9E65EFC-4C94-B645-AAEE-FFCAAC6C9A28}" presName="descendantText" presStyleLbl="alignAccFollowNode1" presStyleIdx="3" presStyleCnt="6">
        <dgm:presLayoutVars>
          <dgm:bulletEnabled val="1"/>
        </dgm:presLayoutVars>
      </dgm:prSet>
      <dgm:spPr/>
    </dgm:pt>
    <dgm:pt modelId="{2C1EFBE5-6ED6-5B41-B6EF-602E0DE42527}" type="pres">
      <dgm:prSet presAssocID="{33B8FBE5-5405-6A4E-B288-3F6059E81AD0}" presName="sp" presStyleCnt="0"/>
      <dgm:spPr/>
    </dgm:pt>
    <dgm:pt modelId="{4ECF73A2-6A4C-2C43-B448-6FC917CB42E4}" type="pres">
      <dgm:prSet presAssocID="{96EAA1B5-377E-014F-986A-0459C28D9531}" presName="linNode" presStyleCnt="0"/>
      <dgm:spPr/>
    </dgm:pt>
    <dgm:pt modelId="{5184DBB6-5A0C-6745-8BDB-B2A811578BEF}" type="pres">
      <dgm:prSet presAssocID="{96EAA1B5-377E-014F-986A-0459C28D9531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99C0F29E-E6D4-594F-87A8-EF664CEC31E3}" type="pres">
      <dgm:prSet presAssocID="{96EAA1B5-377E-014F-986A-0459C28D9531}" presName="descendantText" presStyleLbl="alignAccFollowNode1" presStyleIdx="4" presStyleCnt="6">
        <dgm:presLayoutVars>
          <dgm:bulletEnabled val="1"/>
        </dgm:presLayoutVars>
      </dgm:prSet>
      <dgm:spPr/>
    </dgm:pt>
    <dgm:pt modelId="{9B1C6B72-5A04-D44C-859A-B47ED4C24702}" type="pres">
      <dgm:prSet presAssocID="{CA59F1BF-2709-2F45-A412-5E1D8FB26738}" presName="sp" presStyleCnt="0"/>
      <dgm:spPr/>
    </dgm:pt>
    <dgm:pt modelId="{BC3A5F91-4D23-5240-A069-1C426B2B7B52}" type="pres">
      <dgm:prSet presAssocID="{04DEC0A9-8D36-F645-B1D5-DAE358DAAFBA}" presName="linNode" presStyleCnt="0"/>
      <dgm:spPr/>
    </dgm:pt>
    <dgm:pt modelId="{5D289608-FBD2-6445-968F-32CDE3AA653D}" type="pres">
      <dgm:prSet presAssocID="{04DEC0A9-8D36-F645-B1D5-DAE358DAAFBA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7951A7FF-1A7B-4147-A464-EEADD31946FA}" type="pres">
      <dgm:prSet presAssocID="{04DEC0A9-8D36-F645-B1D5-DAE358DAAFBA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38603506-379B-B046-8B2D-497BE42F1DCB}" srcId="{FEE09AF2-9AE1-FB41-99AF-0443389F04C5}" destId="{04DEC0A9-8D36-F645-B1D5-DAE358DAAFBA}" srcOrd="5" destOrd="0" parTransId="{631A0EA5-0494-B24E-9403-4527B0F85C7E}" sibTransId="{564ECAF2-DC7F-414C-9921-AF6E8F5E40B9}"/>
    <dgm:cxn modelId="{F29E6208-4985-6247-84EE-AD50F5FC8F52}" srcId="{65983CE6-E863-7C48-99C7-7D9C6DCD1E26}" destId="{6A46E06D-ACF8-DE45-9687-3C2546649AAB}" srcOrd="0" destOrd="0" parTransId="{D82528B5-3955-C540-9DDC-D8765259A89C}" sibTransId="{8EFE98E7-8548-494B-83E9-019F8064BB10}"/>
    <dgm:cxn modelId="{E729670D-D22B-0F4B-8F42-72A3606E0D0D}" type="presOf" srcId="{6A46E06D-ACF8-DE45-9687-3C2546649AAB}" destId="{BE17F6E8-5455-3B44-880E-E877A6004AF4}" srcOrd="0" destOrd="0" presId="urn:microsoft.com/office/officeart/2005/8/layout/vList5"/>
    <dgm:cxn modelId="{C5776612-1E65-A943-88FB-B123C0D765C9}" type="presOf" srcId="{EBCDBAEC-FCC4-1F43-9879-98177D2FB990}" destId="{CC497F74-E56D-D54A-A32A-EBB4F6B3EB59}" srcOrd="0" destOrd="1" presId="urn:microsoft.com/office/officeart/2005/8/layout/vList5"/>
    <dgm:cxn modelId="{B914E520-1EB6-9E4C-B67D-EAAB5BC91D0D}" type="presOf" srcId="{65983CE6-E863-7C48-99C7-7D9C6DCD1E26}" destId="{48A8FEC9-0511-B347-8FBE-EBA2B7357690}" srcOrd="0" destOrd="0" presId="urn:microsoft.com/office/officeart/2005/8/layout/vList5"/>
    <dgm:cxn modelId="{C55DB623-993B-6E43-B4A8-EA9AF3E0DFDA}" type="presOf" srcId="{FEE09AF2-9AE1-FB41-99AF-0443389F04C5}" destId="{BA5A99DF-215D-904F-A6D0-65BB379826CF}" srcOrd="0" destOrd="0" presId="urn:microsoft.com/office/officeart/2005/8/layout/vList5"/>
    <dgm:cxn modelId="{EB199F31-13D3-9246-83DC-4F2EA27A2A94}" srcId="{96EAA1B5-377E-014F-986A-0459C28D9531}" destId="{0691804E-C818-D34C-BC8F-31C9E94EA9CD}" srcOrd="0" destOrd="0" parTransId="{7FA9B53A-DB94-324F-B03B-9719CB6A2347}" sibTransId="{12B1F7C8-20A0-5C42-B2CE-17BE33A35B1F}"/>
    <dgm:cxn modelId="{10A33F33-74B3-4040-98B8-BE15B3151552}" srcId="{FEE09AF2-9AE1-FB41-99AF-0443389F04C5}" destId="{65983CE6-E863-7C48-99C7-7D9C6DCD1E26}" srcOrd="1" destOrd="0" parTransId="{7AE7A4AC-1A04-6E47-8627-B9021F173F90}" sibTransId="{340EC2BD-814D-D843-B40C-D5053956DF63}"/>
    <dgm:cxn modelId="{2C7EB333-B365-184E-AAE9-8B6675C5A7A2}" type="presOf" srcId="{D05D06A4-74D4-6242-9110-9720EF8306B6}" destId="{7951A7FF-1A7B-4147-A464-EEADD31946FA}" srcOrd="0" destOrd="0" presId="urn:microsoft.com/office/officeart/2005/8/layout/vList5"/>
    <dgm:cxn modelId="{7800BD3A-E8FE-7D41-A159-0A098B392547}" type="presOf" srcId="{A7F141B5-D8A4-504D-B823-062804224018}" destId="{5DCB971D-C09B-EE4E-84F5-7EF86105255A}" srcOrd="0" destOrd="0" presId="urn:microsoft.com/office/officeart/2005/8/layout/vList5"/>
    <dgm:cxn modelId="{D330B95F-A9CF-DB40-A2E4-743F97EA0C1E}" type="presOf" srcId="{89D18AA2-6D08-0743-BA5E-F2FD7939C801}" destId="{7153501E-395B-E940-A6F0-A2B38B4DD9DA}" srcOrd="0" destOrd="0" presId="urn:microsoft.com/office/officeart/2005/8/layout/vList5"/>
    <dgm:cxn modelId="{C5D9F764-9323-0544-A014-3A1E8EE5C726}" srcId="{FEE09AF2-9AE1-FB41-99AF-0443389F04C5}" destId="{1790E50B-3ECE-FA4C-9CD5-C678A681856F}" srcOrd="2" destOrd="0" parTransId="{16BE0251-3AEA-DB4B-83D3-3AD38714267D}" sibTransId="{BD587779-CA08-6140-AB0D-B1FFC658BAB2}"/>
    <dgm:cxn modelId="{F2F8A469-FF6D-5A4B-B6FC-75750ABA872E}" type="presOf" srcId="{1790E50B-3ECE-FA4C-9CD5-C678A681856F}" destId="{7766074F-B532-BA4A-B509-BE407CA8E0EF}" srcOrd="0" destOrd="0" presId="urn:microsoft.com/office/officeart/2005/8/layout/vList5"/>
    <dgm:cxn modelId="{07060C6A-8EF2-6E41-89E6-28DADE83DE91}" srcId="{FEE09AF2-9AE1-FB41-99AF-0443389F04C5}" destId="{E9E65EFC-4C94-B645-AAEE-FFCAAC6C9A28}" srcOrd="3" destOrd="0" parTransId="{3B1C56A8-0A47-EB4D-8013-1000A12914AB}" sibTransId="{33B8FBE5-5405-6A4E-B288-3F6059E81AD0}"/>
    <dgm:cxn modelId="{9F9F6C4D-AE65-6741-A78F-49415A5251A0}" type="presOf" srcId="{983D0763-390C-1C4D-A956-8AEA364C7DE4}" destId="{CC497F74-E56D-D54A-A32A-EBB4F6B3EB59}" srcOrd="0" destOrd="0" presId="urn:microsoft.com/office/officeart/2005/8/layout/vList5"/>
    <dgm:cxn modelId="{A0BCFF7B-CEFE-A443-A0AD-DB297EA7C2DD}" srcId="{04DEC0A9-8D36-F645-B1D5-DAE358DAAFBA}" destId="{D05D06A4-74D4-6242-9110-9720EF8306B6}" srcOrd="0" destOrd="0" parTransId="{C5FEEFDB-C11A-684A-8A54-FD58D085F0FD}" sibTransId="{E7DDEF07-E714-B04F-9AA8-6F74D0592852}"/>
    <dgm:cxn modelId="{1F0C1B89-F833-274F-A1B1-F35D07B3BE4F}" srcId="{17663F6C-82B1-D142-9476-2B6261508F49}" destId="{EBCDBAEC-FCC4-1F43-9879-98177D2FB990}" srcOrd="1" destOrd="0" parTransId="{0CE74277-13BA-C24D-9106-859B38F32026}" sibTransId="{76CDBA38-D372-8348-AD06-9299B96E50A3}"/>
    <dgm:cxn modelId="{D1E70F99-782E-B34D-B378-9C414B0A3A77}" type="presOf" srcId="{E9E65EFC-4C94-B645-AAEE-FFCAAC6C9A28}" destId="{D62165FB-07F8-BB41-AD94-3FC196D4B89A}" srcOrd="0" destOrd="0" presId="urn:microsoft.com/office/officeart/2005/8/layout/vList5"/>
    <dgm:cxn modelId="{D700A799-97BB-2C45-91A6-BA0864ADB487}" type="presOf" srcId="{96EAA1B5-377E-014F-986A-0459C28D9531}" destId="{5184DBB6-5A0C-6745-8BDB-B2A811578BEF}" srcOrd="0" destOrd="0" presId="urn:microsoft.com/office/officeart/2005/8/layout/vList5"/>
    <dgm:cxn modelId="{4DEE51A1-A22B-CD46-B99B-D8ECA28E273B}" srcId="{FEE09AF2-9AE1-FB41-99AF-0443389F04C5}" destId="{96EAA1B5-377E-014F-986A-0459C28D9531}" srcOrd="4" destOrd="0" parTransId="{68FFE1C2-1A9A-FA42-822C-0BC214C544E8}" sibTransId="{CA59F1BF-2709-2F45-A412-5E1D8FB26738}"/>
    <dgm:cxn modelId="{C6CCA8A7-50B8-3744-B5EA-6AF7DCDD9E3C}" type="presOf" srcId="{0691804E-C818-D34C-BC8F-31C9E94EA9CD}" destId="{99C0F29E-E6D4-594F-87A8-EF664CEC31E3}" srcOrd="0" destOrd="0" presId="urn:microsoft.com/office/officeart/2005/8/layout/vList5"/>
    <dgm:cxn modelId="{B2C31DAE-4FED-BC40-B0A8-970A9B0E0F70}" type="presOf" srcId="{04DEC0A9-8D36-F645-B1D5-DAE358DAAFBA}" destId="{5D289608-FBD2-6445-968F-32CDE3AA653D}" srcOrd="0" destOrd="0" presId="urn:microsoft.com/office/officeart/2005/8/layout/vList5"/>
    <dgm:cxn modelId="{6C4E03BD-0B2B-374A-9E02-B09294541E32}" srcId="{E9E65EFC-4C94-B645-AAEE-FFCAAC6C9A28}" destId="{A7F141B5-D8A4-504D-B823-062804224018}" srcOrd="0" destOrd="0" parTransId="{12F84BD8-822E-9B4F-B9D1-68D7A33E13DC}" sibTransId="{DF788E86-A164-2342-A854-BED1A303BD1C}"/>
    <dgm:cxn modelId="{08E7F7BD-EA38-EB41-A1C0-17C62086F05B}" srcId="{17663F6C-82B1-D142-9476-2B6261508F49}" destId="{983D0763-390C-1C4D-A956-8AEA364C7DE4}" srcOrd="0" destOrd="0" parTransId="{EE4788FB-E46E-BE4B-8992-71A0B078B764}" sibTransId="{7AD71A3B-9582-2745-866A-023ECE006DF2}"/>
    <dgm:cxn modelId="{9F9F0AC5-0C1B-AC40-B0FF-9E6D0635B27F}" type="presOf" srcId="{17663F6C-82B1-D142-9476-2B6261508F49}" destId="{0CFA3958-9CCA-714D-80C2-D920A4C3B568}" srcOrd="0" destOrd="0" presId="urn:microsoft.com/office/officeart/2005/8/layout/vList5"/>
    <dgm:cxn modelId="{FDA980E1-7003-774D-9832-CEF2C362D91A}" srcId="{FEE09AF2-9AE1-FB41-99AF-0443389F04C5}" destId="{17663F6C-82B1-D142-9476-2B6261508F49}" srcOrd="0" destOrd="0" parTransId="{F7F3C479-91A8-6343-812B-A5D68BB7EB3D}" sibTransId="{497FA11D-1D25-7E45-9B30-00E372145D41}"/>
    <dgm:cxn modelId="{A4C0DEF0-87B7-1947-A9C4-AB9C9CEE975A}" srcId="{1790E50B-3ECE-FA4C-9CD5-C678A681856F}" destId="{89D18AA2-6D08-0743-BA5E-F2FD7939C801}" srcOrd="0" destOrd="0" parTransId="{4EE7EC46-950C-C74C-94A6-B246D0944B66}" sibTransId="{00E0C177-D917-3F44-883A-04D47388BA7A}"/>
    <dgm:cxn modelId="{6B05330D-8D27-824F-9399-B25E2BBB12B1}" type="presParOf" srcId="{BA5A99DF-215D-904F-A6D0-65BB379826CF}" destId="{979424FD-12D2-C64F-89D9-5113633F291B}" srcOrd="0" destOrd="0" presId="urn:microsoft.com/office/officeart/2005/8/layout/vList5"/>
    <dgm:cxn modelId="{9C1FF730-D29D-C146-8FCF-1F5733B9588B}" type="presParOf" srcId="{979424FD-12D2-C64F-89D9-5113633F291B}" destId="{0CFA3958-9CCA-714D-80C2-D920A4C3B568}" srcOrd="0" destOrd="0" presId="urn:microsoft.com/office/officeart/2005/8/layout/vList5"/>
    <dgm:cxn modelId="{B348DDDE-AFB7-2E4B-84A8-C2FD43E54579}" type="presParOf" srcId="{979424FD-12D2-C64F-89D9-5113633F291B}" destId="{CC497F74-E56D-D54A-A32A-EBB4F6B3EB59}" srcOrd="1" destOrd="0" presId="urn:microsoft.com/office/officeart/2005/8/layout/vList5"/>
    <dgm:cxn modelId="{9C14A52F-20E0-9148-BA09-A770ACB182A9}" type="presParOf" srcId="{BA5A99DF-215D-904F-A6D0-65BB379826CF}" destId="{E9077E51-2E5E-A740-8614-DF8126403F15}" srcOrd="1" destOrd="0" presId="urn:microsoft.com/office/officeart/2005/8/layout/vList5"/>
    <dgm:cxn modelId="{4FB5F682-6C49-424C-A307-42FE76BC5ACE}" type="presParOf" srcId="{BA5A99DF-215D-904F-A6D0-65BB379826CF}" destId="{27D68538-4B83-8F42-AF07-241E95CB5C6D}" srcOrd="2" destOrd="0" presId="urn:microsoft.com/office/officeart/2005/8/layout/vList5"/>
    <dgm:cxn modelId="{76868A16-3D4B-F644-BEAC-DE163CADE6E6}" type="presParOf" srcId="{27D68538-4B83-8F42-AF07-241E95CB5C6D}" destId="{48A8FEC9-0511-B347-8FBE-EBA2B7357690}" srcOrd="0" destOrd="0" presId="urn:microsoft.com/office/officeart/2005/8/layout/vList5"/>
    <dgm:cxn modelId="{BBA636F3-0C39-B040-92F8-30FB872CF146}" type="presParOf" srcId="{27D68538-4B83-8F42-AF07-241E95CB5C6D}" destId="{BE17F6E8-5455-3B44-880E-E877A6004AF4}" srcOrd="1" destOrd="0" presId="urn:microsoft.com/office/officeart/2005/8/layout/vList5"/>
    <dgm:cxn modelId="{E19859D3-53AA-6A45-ACD1-EA04106FC727}" type="presParOf" srcId="{BA5A99DF-215D-904F-A6D0-65BB379826CF}" destId="{7C393D1B-F0BC-DF4B-99B0-228A5CFC1779}" srcOrd="3" destOrd="0" presId="urn:microsoft.com/office/officeart/2005/8/layout/vList5"/>
    <dgm:cxn modelId="{903AA7A4-6F50-3441-B2B6-1C5679332F96}" type="presParOf" srcId="{BA5A99DF-215D-904F-A6D0-65BB379826CF}" destId="{AD72A645-2D90-A54D-BAB3-E0B09A1E9178}" srcOrd="4" destOrd="0" presId="urn:microsoft.com/office/officeart/2005/8/layout/vList5"/>
    <dgm:cxn modelId="{2C0675F5-11DB-674C-8156-5D2B08A245DD}" type="presParOf" srcId="{AD72A645-2D90-A54D-BAB3-E0B09A1E9178}" destId="{7766074F-B532-BA4A-B509-BE407CA8E0EF}" srcOrd="0" destOrd="0" presId="urn:microsoft.com/office/officeart/2005/8/layout/vList5"/>
    <dgm:cxn modelId="{09D78C66-29FC-AE4D-8C85-5B560E61F8FC}" type="presParOf" srcId="{AD72A645-2D90-A54D-BAB3-E0B09A1E9178}" destId="{7153501E-395B-E940-A6F0-A2B38B4DD9DA}" srcOrd="1" destOrd="0" presId="urn:microsoft.com/office/officeart/2005/8/layout/vList5"/>
    <dgm:cxn modelId="{6FE286D3-5977-5E40-81EE-0980014A0746}" type="presParOf" srcId="{BA5A99DF-215D-904F-A6D0-65BB379826CF}" destId="{85EDF9B2-00BB-9F40-BD8C-4DFDFF48F423}" srcOrd="5" destOrd="0" presId="urn:microsoft.com/office/officeart/2005/8/layout/vList5"/>
    <dgm:cxn modelId="{50506A38-7BE9-F340-9DE5-A40F14436376}" type="presParOf" srcId="{BA5A99DF-215D-904F-A6D0-65BB379826CF}" destId="{BB7B410C-BD9D-4047-A944-A7711B586696}" srcOrd="6" destOrd="0" presId="urn:microsoft.com/office/officeart/2005/8/layout/vList5"/>
    <dgm:cxn modelId="{5C95A454-EDAB-7749-91AD-18F536499E46}" type="presParOf" srcId="{BB7B410C-BD9D-4047-A944-A7711B586696}" destId="{D62165FB-07F8-BB41-AD94-3FC196D4B89A}" srcOrd="0" destOrd="0" presId="urn:microsoft.com/office/officeart/2005/8/layout/vList5"/>
    <dgm:cxn modelId="{D9A4C19A-87DC-6248-BDA6-0F9437CAF926}" type="presParOf" srcId="{BB7B410C-BD9D-4047-A944-A7711B586696}" destId="{5DCB971D-C09B-EE4E-84F5-7EF86105255A}" srcOrd="1" destOrd="0" presId="urn:microsoft.com/office/officeart/2005/8/layout/vList5"/>
    <dgm:cxn modelId="{4374A651-4A57-BF42-924E-B9ED40045B31}" type="presParOf" srcId="{BA5A99DF-215D-904F-A6D0-65BB379826CF}" destId="{2C1EFBE5-6ED6-5B41-B6EF-602E0DE42527}" srcOrd="7" destOrd="0" presId="urn:microsoft.com/office/officeart/2005/8/layout/vList5"/>
    <dgm:cxn modelId="{9690DE40-1C33-D848-9376-8CB9B0A2A166}" type="presParOf" srcId="{BA5A99DF-215D-904F-A6D0-65BB379826CF}" destId="{4ECF73A2-6A4C-2C43-B448-6FC917CB42E4}" srcOrd="8" destOrd="0" presId="urn:microsoft.com/office/officeart/2005/8/layout/vList5"/>
    <dgm:cxn modelId="{5722036E-8466-554E-BE04-006A98C69613}" type="presParOf" srcId="{4ECF73A2-6A4C-2C43-B448-6FC917CB42E4}" destId="{5184DBB6-5A0C-6745-8BDB-B2A811578BEF}" srcOrd="0" destOrd="0" presId="urn:microsoft.com/office/officeart/2005/8/layout/vList5"/>
    <dgm:cxn modelId="{A53F2B56-A7A7-FF41-A6AC-1912BB9017C2}" type="presParOf" srcId="{4ECF73A2-6A4C-2C43-B448-6FC917CB42E4}" destId="{99C0F29E-E6D4-594F-87A8-EF664CEC31E3}" srcOrd="1" destOrd="0" presId="urn:microsoft.com/office/officeart/2005/8/layout/vList5"/>
    <dgm:cxn modelId="{F3044E45-C635-0347-88AE-898607C0C2F9}" type="presParOf" srcId="{BA5A99DF-215D-904F-A6D0-65BB379826CF}" destId="{9B1C6B72-5A04-D44C-859A-B47ED4C24702}" srcOrd="9" destOrd="0" presId="urn:microsoft.com/office/officeart/2005/8/layout/vList5"/>
    <dgm:cxn modelId="{258219E9-7F1E-1341-81ED-609950E52159}" type="presParOf" srcId="{BA5A99DF-215D-904F-A6D0-65BB379826CF}" destId="{BC3A5F91-4D23-5240-A069-1C426B2B7B52}" srcOrd="10" destOrd="0" presId="urn:microsoft.com/office/officeart/2005/8/layout/vList5"/>
    <dgm:cxn modelId="{BDD89167-EAD8-9549-8998-426B2C834F01}" type="presParOf" srcId="{BC3A5F91-4D23-5240-A069-1C426B2B7B52}" destId="{5D289608-FBD2-6445-968F-32CDE3AA653D}" srcOrd="0" destOrd="0" presId="urn:microsoft.com/office/officeart/2005/8/layout/vList5"/>
    <dgm:cxn modelId="{7994CA4F-0EC3-E342-8B7D-C50BB89ABD21}" type="presParOf" srcId="{BC3A5F91-4D23-5240-A069-1C426B2B7B52}" destId="{7951A7FF-1A7B-4147-A464-EEADD31946F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243E3-6A78-9746-BEE9-84ACAEA02E36}">
      <dsp:nvSpPr>
        <dsp:cNvPr id="0" name=""/>
        <dsp:cNvSpPr/>
      </dsp:nvSpPr>
      <dsp:spPr>
        <a:xfrm>
          <a:off x="5334000" y="3419855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The operational units and their interconnections that realize the architectural specifications</a:t>
          </a:r>
        </a:p>
      </dsp:txBody>
      <dsp:txXfrm>
        <a:off x="6114680" y="3857543"/>
        <a:ext cx="1668393" cy="1136304"/>
      </dsp:txXfrm>
    </dsp:sp>
    <dsp:sp modelId="{82886FAE-83A2-704D-92D1-F4CC571A92A1}">
      <dsp:nvSpPr>
        <dsp:cNvPr id="0" name=""/>
        <dsp:cNvSpPr/>
      </dsp:nvSpPr>
      <dsp:spPr>
        <a:xfrm>
          <a:off x="1004570" y="3419855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Hardware details transparent to the programmer, control signals, interfaces between the computer and peripherals, memory technology used</a:t>
          </a:r>
        </a:p>
      </dsp:txBody>
      <dsp:txXfrm>
        <a:off x="1039922" y="3857543"/>
        <a:ext cx="1668393" cy="1136304"/>
      </dsp:txXfrm>
    </dsp:sp>
    <dsp:sp modelId="{D6EE7FF3-03D5-1248-B164-AC203683EA31}">
      <dsp:nvSpPr>
        <dsp:cNvPr id="0" name=""/>
        <dsp:cNvSpPr/>
      </dsp:nvSpPr>
      <dsp:spPr>
        <a:xfrm>
          <a:off x="5058105" y="0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Instruction set, number of bits used to represent various data types,   I/O mechanisms, techniques for addressing memory</a:t>
          </a:r>
        </a:p>
      </dsp:txBody>
      <dsp:txXfrm>
        <a:off x="5838784" y="35352"/>
        <a:ext cx="1668393" cy="1136304"/>
      </dsp:txXfrm>
    </dsp:sp>
    <dsp:sp modelId="{EAF475D4-71BA-AC4A-A978-8E1A58675943}">
      <dsp:nvSpPr>
        <dsp:cNvPr id="0" name=""/>
        <dsp:cNvSpPr/>
      </dsp:nvSpPr>
      <dsp:spPr>
        <a:xfrm>
          <a:off x="1004570" y="0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Attributes of a system visible to the programmer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Have a direct impact on the logical execution of a program</a:t>
          </a:r>
        </a:p>
      </dsp:txBody>
      <dsp:txXfrm>
        <a:off x="1039922" y="35352"/>
        <a:ext cx="1668393" cy="1136304"/>
      </dsp:txXfrm>
    </dsp:sp>
    <dsp:sp modelId="{0995DE62-81B9-0E4E-9982-90865C30B506}">
      <dsp:nvSpPr>
        <dsp:cNvPr id="0" name=""/>
        <dsp:cNvSpPr/>
      </dsp:nvSpPr>
      <dsp:spPr>
        <a:xfrm>
          <a:off x="2045614" y="286664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Architecture</a:t>
          </a:r>
        </a:p>
      </dsp:txBody>
      <dsp:txXfrm>
        <a:off x="2683431" y="924481"/>
        <a:ext cx="1539826" cy="1539826"/>
      </dsp:txXfrm>
    </dsp:sp>
    <dsp:sp modelId="{E56301CE-27B0-6744-BFE7-3637DF690F07}">
      <dsp:nvSpPr>
        <dsp:cNvPr id="0" name=""/>
        <dsp:cNvSpPr/>
      </dsp:nvSpPr>
      <dsp:spPr>
        <a:xfrm rot="5400000">
          <a:off x="4323842" y="286664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Architectural attributes include:</a:t>
          </a:r>
        </a:p>
      </dsp:txBody>
      <dsp:txXfrm rot="-5400000">
        <a:off x="4323842" y="924481"/>
        <a:ext cx="1539826" cy="1539826"/>
      </dsp:txXfrm>
    </dsp:sp>
    <dsp:sp modelId="{48FC8C78-AEC8-1E4B-9265-AE1BCBD2AB12}">
      <dsp:nvSpPr>
        <dsp:cNvPr id="0" name=""/>
        <dsp:cNvSpPr/>
      </dsp:nvSpPr>
      <dsp:spPr>
        <a:xfrm rot="10800000">
          <a:off x="4323842" y="2564892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Organization </a:t>
          </a:r>
        </a:p>
      </dsp:txBody>
      <dsp:txXfrm rot="10800000">
        <a:off x="4323842" y="2564892"/>
        <a:ext cx="1539826" cy="1539826"/>
      </dsp:txXfrm>
    </dsp:sp>
    <dsp:sp modelId="{84C6FD03-EE72-914E-B7C9-68870374A795}">
      <dsp:nvSpPr>
        <dsp:cNvPr id="0" name=""/>
        <dsp:cNvSpPr/>
      </dsp:nvSpPr>
      <dsp:spPr>
        <a:xfrm rot="16200000">
          <a:off x="2045614" y="2564892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Organizational attributes include:</a:t>
          </a:r>
        </a:p>
      </dsp:txBody>
      <dsp:txXfrm rot="5400000">
        <a:off x="2683431" y="2564892"/>
        <a:ext cx="1539826" cy="1539826"/>
      </dsp:txXfrm>
    </dsp:sp>
    <dsp:sp modelId="{1A971C7A-02BC-2144-9C44-48A4E03337B1}">
      <dsp:nvSpPr>
        <dsp:cNvPr id="0" name=""/>
        <dsp:cNvSpPr/>
      </dsp:nvSpPr>
      <dsp:spPr>
        <a:xfrm>
          <a:off x="3897617" y="2061972"/>
          <a:ext cx="751865" cy="653795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90E4CF8-E8EE-584A-BC6F-814759FDAB7A}">
      <dsp:nvSpPr>
        <dsp:cNvPr id="0" name=""/>
        <dsp:cNvSpPr/>
      </dsp:nvSpPr>
      <dsp:spPr>
        <a:xfrm rot="10800000">
          <a:off x="3897617" y="2313432"/>
          <a:ext cx="751865" cy="653795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97F74-E56D-D54A-A32A-EBB4F6B3EB59}">
      <dsp:nvSpPr>
        <dsp:cNvPr id="0" name=""/>
        <dsp:cNvSpPr/>
      </dsp:nvSpPr>
      <dsp:spPr>
        <a:xfrm rot="5400000">
          <a:off x="4746527" y="-1973908"/>
          <a:ext cx="662880" cy="4779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Contains a word to be stored in memory or sent to the  I/O unit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 is used to receive a word from memory or from the I/O unit</a:t>
          </a:r>
        </a:p>
      </dsp:txBody>
      <dsp:txXfrm rot="-5400000">
        <a:off x="2688336" y="116642"/>
        <a:ext cx="4746905" cy="598162"/>
      </dsp:txXfrm>
    </dsp:sp>
    <dsp:sp modelId="{0CFA3958-9CCA-714D-80C2-D920A4C3B568}">
      <dsp:nvSpPr>
        <dsp:cNvPr id="0" name=""/>
        <dsp:cNvSpPr/>
      </dsp:nvSpPr>
      <dsp:spPr>
        <a:xfrm>
          <a:off x="0" y="1423"/>
          <a:ext cx="2688336" cy="828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</dsp:txBody>
      <dsp:txXfrm>
        <a:off x="40449" y="41872"/>
        <a:ext cx="2607438" cy="747702"/>
      </dsp:txXfrm>
    </dsp:sp>
    <dsp:sp modelId="{BE17F6E8-5455-3B44-880E-E877A6004AF4}">
      <dsp:nvSpPr>
        <dsp:cNvPr id="0" name=""/>
        <dsp:cNvSpPr/>
      </dsp:nvSpPr>
      <dsp:spPr>
        <a:xfrm rot="5400000">
          <a:off x="4746527" y="-1103877"/>
          <a:ext cx="662880" cy="4779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Specifies the address in memory of the word to be written from or read into the MBR</a:t>
          </a:r>
        </a:p>
      </dsp:txBody>
      <dsp:txXfrm rot="-5400000">
        <a:off x="2688336" y="986673"/>
        <a:ext cx="4746905" cy="598162"/>
      </dsp:txXfrm>
    </dsp:sp>
    <dsp:sp modelId="{48A8FEC9-0511-B347-8FBE-EBA2B7357690}">
      <dsp:nvSpPr>
        <dsp:cNvPr id="0" name=""/>
        <dsp:cNvSpPr/>
      </dsp:nvSpPr>
      <dsp:spPr>
        <a:xfrm>
          <a:off x="0" y="871453"/>
          <a:ext cx="2688336" cy="828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</dsp:txBody>
      <dsp:txXfrm>
        <a:off x="40449" y="911902"/>
        <a:ext cx="2607438" cy="747702"/>
      </dsp:txXfrm>
    </dsp:sp>
    <dsp:sp modelId="{7153501E-395B-E940-A6F0-A2B38B4DD9DA}">
      <dsp:nvSpPr>
        <dsp:cNvPr id="0" name=""/>
        <dsp:cNvSpPr/>
      </dsp:nvSpPr>
      <dsp:spPr>
        <a:xfrm rot="5400000">
          <a:off x="4746527" y="-233847"/>
          <a:ext cx="662880" cy="4779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Contains the 8-bit opcode instruction being executed</a:t>
          </a:r>
        </a:p>
      </dsp:txBody>
      <dsp:txXfrm rot="-5400000">
        <a:off x="2688336" y="1856703"/>
        <a:ext cx="4746905" cy="598162"/>
      </dsp:txXfrm>
    </dsp:sp>
    <dsp:sp modelId="{7766074F-B532-BA4A-B509-BE407CA8E0EF}">
      <dsp:nvSpPr>
        <dsp:cNvPr id="0" name=""/>
        <dsp:cNvSpPr/>
      </dsp:nvSpPr>
      <dsp:spPr>
        <a:xfrm>
          <a:off x="0" y="1741484"/>
          <a:ext cx="2688336" cy="828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register (IR)</a:t>
          </a:r>
        </a:p>
      </dsp:txBody>
      <dsp:txXfrm>
        <a:off x="40449" y="1781933"/>
        <a:ext cx="2607438" cy="747702"/>
      </dsp:txXfrm>
    </dsp:sp>
    <dsp:sp modelId="{5DCB971D-C09B-EE4E-84F5-7EF86105255A}">
      <dsp:nvSpPr>
        <dsp:cNvPr id="0" name=""/>
        <dsp:cNvSpPr/>
      </dsp:nvSpPr>
      <dsp:spPr>
        <a:xfrm rot="5400000">
          <a:off x="4746527" y="636183"/>
          <a:ext cx="662880" cy="4779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Employed to temporarily hold the right-hand instruction from a word in memory</a:t>
          </a:r>
        </a:p>
      </dsp:txBody>
      <dsp:txXfrm rot="-5400000">
        <a:off x="2688336" y="2726734"/>
        <a:ext cx="4746905" cy="598162"/>
      </dsp:txXfrm>
    </dsp:sp>
    <dsp:sp modelId="{D62165FB-07F8-BB41-AD94-3FC196D4B89A}">
      <dsp:nvSpPr>
        <dsp:cNvPr id="0" name=""/>
        <dsp:cNvSpPr/>
      </dsp:nvSpPr>
      <dsp:spPr>
        <a:xfrm>
          <a:off x="0" y="2611515"/>
          <a:ext cx="2688336" cy="828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buffer register (IBR)</a:t>
          </a:r>
        </a:p>
      </dsp:txBody>
      <dsp:txXfrm>
        <a:off x="40449" y="2651964"/>
        <a:ext cx="2607438" cy="747702"/>
      </dsp:txXfrm>
    </dsp:sp>
    <dsp:sp modelId="{99C0F29E-E6D4-594F-87A8-EF664CEC31E3}">
      <dsp:nvSpPr>
        <dsp:cNvPr id="0" name=""/>
        <dsp:cNvSpPr/>
      </dsp:nvSpPr>
      <dsp:spPr>
        <a:xfrm rot="5400000">
          <a:off x="4746527" y="1506213"/>
          <a:ext cx="662880" cy="4779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Contains the address of the next instruction pair to be fetched from memory</a:t>
          </a:r>
        </a:p>
      </dsp:txBody>
      <dsp:txXfrm rot="-5400000">
        <a:off x="2688336" y="3596764"/>
        <a:ext cx="4746905" cy="598162"/>
      </dsp:txXfrm>
    </dsp:sp>
    <dsp:sp modelId="{5184DBB6-5A0C-6745-8BDB-B2A811578BEF}">
      <dsp:nvSpPr>
        <dsp:cNvPr id="0" name=""/>
        <dsp:cNvSpPr/>
      </dsp:nvSpPr>
      <dsp:spPr>
        <a:xfrm>
          <a:off x="0" y="3481545"/>
          <a:ext cx="2688336" cy="828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 counter (PC)</a:t>
          </a:r>
        </a:p>
      </dsp:txBody>
      <dsp:txXfrm>
        <a:off x="40449" y="3521994"/>
        <a:ext cx="2607438" cy="747702"/>
      </dsp:txXfrm>
    </dsp:sp>
    <dsp:sp modelId="{7951A7FF-1A7B-4147-A464-EEADD31946FA}">
      <dsp:nvSpPr>
        <dsp:cNvPr id="0" name=""/>
        <dsp:cNvSpPr/>
      </dsp:nvSpPr>
      <dsp:spPr>
        <a:xfrm rot="5400000">
          <a:off x="4746527" y="2376244"/>
          <a:ext cx="662880" cy="47792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Employed to temporarily hold operands and results of ALU operations</a:t>
          </a:r>
        </a:p>
      </dsp:txBody>
      <dsp:txXfrm rot="-5400000">
        <a:off x="2688336" y="4466795"/>
        <a:ext cx="4746905" cy="598162"/>
      </dsp:txXfrm>
    </dsp:sp>
    <dsp:sp modelId="{5D289608-FBD2-6445-968F-32CDE3AA653D}">
      <dsp:nvSpPr>
        <dsp:cNvPr id="0" name=""/>
        <dsp:cNvSpPr/>
      </dsp:nvSpPr>
      <dsp:spPr>
        <a:xfrm>
          <a:off x="0" y="4351576"/>
          <a:ext cx="2688336" cy="828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Accumulator (AC) and multiplier quotient (MQ)</a:t>
          </a:r>
        </a:p>
      </dsp:txBody>
      <dsp:txXfrm>
        <a:off x="40449" y="4392025"/>
        <a:ext cx="2607438" cy="747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fld id="{632BFCA1-7074-BE49-9C26-1E5CA6845EA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213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fld id="{426AC9EA-110C-D44B-81A3-E5165EEE361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1030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10/e, by William Stallings, Chapter 1 “Introduction”.</a:t>
            </a:r>
            <a:endParaRPr lang="en-AU" dirty="0">
              <a:latin typeface="Times New Roman" pitchFamily="-110" charset="0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63190BB-DEA7-DA3C-65FF-36200664B7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61E59941-DBCB-CFED-A10C-1BB0B4192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In a class of computers called microcomputers, the relationship between architecture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organization is very close. Changes in technology not only influence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organization but also result in the introduction of more powerful and more complex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architectures. Generally, there is less of a requirement for generation-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To-generation compatibility for these smaller machines. Thus, there is more interplay between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organizational and architectural design decisions. An intriguing example of this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reduced instruction set computer (RISC), which we examine in Chapter 15.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This book examines both computer organization and computer architecture.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emphasis is perhaps more on the side of organization. However, because a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organization must be designed to implement a particular architectural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specification, a thorough treatment of organization requires a detailed examination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architecture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674719-171D-B949-8C83-D2F8F6712CF4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describing computers, a distinction is often made between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architecture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organization.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Although it is difficult to give precise definitions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for these terms, a consensus exists about the general areas covered by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(e.g., see [VRAN80], [SIEW82], and [BELL78a]); an interesting alternative view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 presented in [REDD76].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architecture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refers to those attributes of a system visible to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programmer or, put another way, those attributes that have a direct impact 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logical execution of a program.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term that is often used interchangeably with computer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architecture is </a:t>
            </a:r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instruction set architecture (ISA)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. The ISA defines instruction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formats, instruction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opcodes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, registers, instruction and data memory; the effect of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executed instructions on the registers and memory; and an algorithm for controlling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instruction execution.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organization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refers to the operational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units and their interconnections that realize the architectural specifications.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Examples of architectural attributes include the instruction set, the number of bits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used to represent various data types (e.g., numbers, characters), I/O mechanisms,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techniques for addressing memory. Organizational attributes include those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hardware details transparent to the programmer, such as control signals; interfaces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between the computer and peripherals; and the memory technology used.</a:t>
            </a:r>
            <a:endParaRPr kumimoji="1" lang="en-GB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endParaRPr kumimoji="1" lang="en-GB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For example, it is an architectural design issue whether a computer will have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multiply instruction. It is an organizational issue whether that instruction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 implemented by a special multiply unit or by a mechanism that makes repeated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use of the add unit of the system. The organizational decision may be based on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anticipated frequency of use of the multiply instruction, the relative speed of the two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approaches, and the cost and physical size of a special multiply unit.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Historically, and still today, the distinction between architecture and organization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has been an important one. Many computer manufacturers offer a family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models, all with the same architecture but with differences in organization.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Consequently, the different models in the family have different price and performance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characteristics. Furthermore, a particular architecture may span many years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encompass a number of different computer models, its organization changing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changing technology.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674719-171D-B949-8C83-D2F8F6712CF4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prominent example of both these phenomena is the IBM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System/370 architecture. This architecture was first introduced in 1970 and included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number of models. The customer with modest requirements could buy a cheaper,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slower model and, if demand increased, later upgrade to a more expensive, faster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model without having to abandon software that had already been developed. Over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years, IBM has introduced many new models with improved technology to replace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older models, offering the customer greater speed, lower cost, or both. These newer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models retained the same architecture so that the customer’s software investment was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protected. Remarkably, the System/370 architecture, with a few enhancements, has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survived to this day as the architecture of IBM’s mainframe product line.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6B1C33-4E34-3D4C-B143-0332C5DBB7DE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computer is a complex system; contemporary computers contain millions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Elementary electronic components. How, then, can one clearly describe them?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key is to recognize the hierarchical nature of most complex systems, including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computer [SIMO96]. A hierarchical system is a set of interrelated subsystems,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each of the latter, in turn, hierarchical in structure until we reach some lowest level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elementary subsystem.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hierarchical nature of complex systems is essential to both their design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their description. The designer need only deal with a particular level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at a time. At each level, the system consists of a set of components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their interrelationships. The behavior at each level depends only on a simplified,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abstracted characterization of the system at the next lower level. At each level,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designer is concerned with structure and function:</a:t>
            </a:r>
          </a:p>
          <a:p>
            <a:endParaRPr lang="en-US" sz="4400" b="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Structure: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way in which the components are interrelated.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Function: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operation of each individual component as part of the structure.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terms of description, we have two choices: starting at the bottom and building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up to a complete description, or beginning with a top view and decomposing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into its subparts. Evidence from a number of fields suggests that the top-down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approach is the clearest and most effective [WEIN75].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approach taken in this book follows from this viewpoint. The computer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will be described from the top down. We begin with the major components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a computer, describing their structure and function, and proceed to successively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lower layers of the hierarchy. The remainder of this section provides a very brief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overview of this plan of attack.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19CD7E-4F7A-9B44-863C-1B45C56F48EF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Both the structure and functioning of a computer are, in essence, simple. Figure 1.1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depicts the basic functions that a computer can perform. In general terms, there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only four: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Processing.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data may take a wide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variety of forms, and the range of processing requirements is broad. However, we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shall see that there are only a few fundamental methods or types of data processing.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Storage.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Even if the computer is processing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on the fly (i.e., data come in and get processed, and the results go out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immediately), the computer must temporarily store at least those pieces of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that are being worked on at any given moment. Thus, there is at least a short-term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storage function. Equally important, the computer performs a long-term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storage function. Files of data are stored on the computer for subsequent retrieval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update.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Movement. 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computer’s operating environment consists of devices that serve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either sources or destinations of data. When data are received from or delivered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device that is directly connected to the computer, the process is known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input–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output (I/O), and the device is referred to as a peripheral. When data are moved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over longer distances, to or from a remote device, the process is known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communications.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Control. 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Within the computer, a control unit manages the computer’s resources and orchestrates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performance of its functional parts in response to those instructions.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We now look in a general way at the internal structure of a computer. We begin with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traditional computer with a single processor that employs a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microprogrammed</a:t>
            </a:r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 unit, then examine a typical multicore structure.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Figure 1.1 provides a hierarchical view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the internal structure of a traditional single-processor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There are four main structural components: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Central processing unit (CPU):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Controls the operation of the computer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performs its data processing functions; often simply referred to as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Main 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Stores data.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I/O: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Moves data between the computer and its external environment.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interconnection: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Some mechanism that provides for communication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among CPU, main memory, and I/O. A common example of system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 by means of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bus,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consisting of a number of conducting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wires to which all the other components attach.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There may be one or more of each of the aforementioned components.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Traditionally, there has been just a single processor. In recent years, there has been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increasing use of multiple processors in a single computer. Some design issues relating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to multiple processors crop up and are discussed as the text proceeds; Part Five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focuses on such computers.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Each of these components will be examined in some detail in Part Two.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However, for our purposes, the most interesting and in some ways the most complex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component is the CPU. Its major structural components are as follows: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 unit: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Controls the operation of the CPU and hence the computer.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Arithmetic and logic unit (ALU):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Performs the computer’s data processing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functions.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Registers: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Provides storage internal to the CPU.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CPU interconnection: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Some mechanism that provides for communication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among the control unit, ALU, and registers.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Part Three covers these components, where we will see that complexity is added by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use of parallel and pipelined organizational techniques. Finally, there are several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approaches to the implementation of the control unit; one common approach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microprogrammed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 implementation. In essence, a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microprogrammed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control unit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operates by executing microinstructions that define the functionality of the control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unit. With this approach, the structure of the control unit can be depicted, as in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Figure 1.1. This structure is examined in Part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As was mentioned, contemporary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computers generally have multiple processors. When these processors all reside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on a single chip, the term multicore computer  is used, and each processing unit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(consisting of a control unit, ALU, registers, and perhaps cache) is called a core . To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clarify the terminology, this text will use the following definitions.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Central processing unit (CPU) : That portion of a computer that fetches and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executes instructions. It consists of an ALU, a control unit, and registers. In a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with a single processing unit, it is often simply referred to as a processor 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Core : An individual processing unit on a processor chip. A core may be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equivalent in functionality to a CPU on a single-CPU system. Other specialized processing units, 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such as one optimized for vector and matrix operations, are also referred to as cores.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Processor:  A physical piece of silicon containing one or more cores.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 is the computer component that interprets and executes instructions.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If a processor contains multiple cores, it is referred to as a multicore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 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After about a decade of discussion, there is broad industry consensus on this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20798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Another prominent feature of contemporary computers is the use of multiple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layers of memory, called cache memory , between the processor and main memory.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Chapter 4 is devoted to the topic of cache memory. For our purposes in this section,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we simply note that a cache memory is smaller and faster than main memory and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used to speed up memory access by placing in the cache, data from main memory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that is likely to be used in the near future. A greater performance improvement may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 obtained by using multiple levels of cache, with level 1 (L1) closest to the core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additional levels (L2, L3, and so on) progressively farther from the core. In this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scheme, level n  is smaller and faster than level n + 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17232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Figure 1.2 is a simplified view of the principal components of a typical multicore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computer. Most computers, including embedded computers in smartphones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tablets, plus personal computers, laptops, and workstations, are housed on a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motherboard. Before describing this arrangement, we need to define some terms.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printed circuit board  is a rigid, flat board that holds and interconnects chips and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other electronic components. The board is made of layers, typically two to ten,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that interconnect components via copper pathways that are etched into the board.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main printed circuit board (PCB) in a computer is called a system board or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motherboard , while smaller ones that plug into the slots in the main board are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called expansion boards.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most prominent elements on the motherboard are the chips. A chip 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single piece of semiconducting material, typically silicon, upon which electronic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circuits and logic gates are fabricated. The resulting product is referred to as an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integrated circuit 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The motherboard contains a slot or socket for the processor chip, which typically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contains multiple individual cores, in what is known as a multicore processor 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There are also slots for memory chips, I/O controller chips, and other key computer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components. For desktop computers, expansion slots enable the inclusion of more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components on expansion boards. Thus, a modern motherboard connects only a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few individual chip components, with each chip containing from a few thousand up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to hundreds of millions of transistors.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Figure 1.2 shows a processor chip that contains eight cores and an L3 cache.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Not shown is the logic required to control operations between the cores and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cache and between the cores and the external circuitry on the motherboard.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figure indicates that the L3 cache occupies two distinct portions of the chip surface.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However, typically, all cores have access to the entire L3 cache via the aforementioned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 circuits. The processor chip shown in Figure 1.2 does not represent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any specific product, but provides a general idea of how such chips are laid out.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Next, we zoom in on the structure of a single core, which occupies a portion of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processor chip. In general terms, the functional elements of a core are: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Instruction logic:  This includes the tasks involved in fetching instructions and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decoding each instruction to determine the instruction operation and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memory locations of any operands.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Arithmetic and logic unit (ALU):  Performs the operation specified by an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instruction.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Load/store logic:  Manages the transfer of data to and from main memory via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cache.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core also contains an L1 cache, split between an instruction cache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(I-cache) that is used for the transfer of instructions to and from main memory, and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 L1 data cache, for the transfer of operands and results. Typically, today’s processor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chips also include an L2 cache as part of the core. In many cases, this cache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 also split between instruction and data caches, although a combined, single L2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cache is also used.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Keep in mind that this representation of the layout of the core is only intended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to give a general idea of internal core structure. In a given product, the functional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elements may not be laid out as the three distinct elements shown in Figure 1.2,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especially if some or all of these functions are implemented as part of a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microprogrammed</a:t>
            </a:r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64878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It will be instructive to look at some real-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world examples that illustrate the hierarchical structure of computers. 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Figure 1.3 is a photograph of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motherboard for a computer built around two Intel Quad-Core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Xeon processor chips. Many of the elements labeled on the photograph are discussed subsequently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this book. Here, we mention the most important, in addition to the processor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sockets: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PCI-Express slots for a high-end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display adapter and for additional peripherals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(Section 3.6 describes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PCIe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).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Ethernet controller and Ethernet ports for network connections.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USB sockets for peripheral devices.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Serial ATA (SATA) sockets for connection to disk memory (Section 7.7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discusses Ethernet, USB, and SATA).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Interfaces for DDR (double data rate) main memory chips (Section 5.3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discusses DDR).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Intel 3420 chipset is an I/O controller for direct memory access operations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between peripheral devices and main memory (Section 7.5 discusses DDR).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8161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Following our top-down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strategy, as illustrated in Figures 1.1 and 1.2, we can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now zoom in and look at the internal structure of a processor chip. For variety, we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look at an IBM chip instead of the Intel processor chip. Figure 1.4 is a photograph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the processor chip for the IBM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zEnterprise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EC12 mainframe computer. This chip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has 2.75 billion transistors. The superimposed labels indicate how the silicon real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estate of the chip is allocated. We see that this chip has six cores, or processors.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addition, there are two large areas labeled L3 cache, which are shared by all six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processors. The L3 control logic controls traffic between the L3 cache and the cores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between the L3 cache and the external environment. Additionally, there is storage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 (SC) logic between the cores and the L3 cache. The memory controller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(MC) function controls access to memory external to the chip. The GX I/O bus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controls the interface to the channel adapters accessing the I/O.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5713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Going down one level deeper, we examine the internal structure of a single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core, as shown in the photograph of Figure 1.5. Keep in mind that this is a portion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the silicon surface area making up a single-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 chip. The main sub-areas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within this core area are the following: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ISU (instruction sequence unit): Determines the sequence in which instructions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are executed in what is referred to as a superscalar architecture (Chapter 16).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IFU (instruction fetch unit): Logic for fetching instructions.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IDU (instruction decode unit): The IDU is fed from the IFU buffers, and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responsible for the parsing and decoding of all z/Architecture operation codes.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LSU (load-store unit): The LSU contains the 96-kB L1 data cache1, and manages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traffic between the L2 data cache and the functional execution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units. It is responsible for handling all types of operand accesses of all lengths,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modes, and formats as defined in the z/Architecture.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XU (translation unit): This unit translates logical addresses from instructions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into physical addresses in main memory. The XU also contains a translation</a:t>
            </a:r>
          </a:p>
          <a:p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lookaside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buffer (TLB) used to speed up memory access. TLBs are discussed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Chapter 8.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FXU (fixed-point unit): The FXU executes fixed-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point arithmetic operations.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BFU (binary floating-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point unit): The BFU handles all binary and hexadecimal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Floating-point operations, as well as fixed-point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multiplication operations.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DFU (decimal floating-point unit): The DFU handles both fixed-point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floating-point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operations on numbers that are stored as decimal digits.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RU (recovery unit): The RU keeps a copy of the complete state of the system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that includes all registers, collects hardware fault signals, and manages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hardware recovery actions.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COP (dedicated co-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processor): The COP is responsible for data compression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encryption functions for each core.</a:t>
            </a: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I-cache: This is a 64-kB L1 instruction cache, allowing the IFU to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prefetch</a:t>
            </a:r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instructions before they are needed.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L2 control: This is the control logic that manages the traffic through the two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L2 caches.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Data- L2: A 1-MB L2 data cache for all memory traffic other than instructions.</a:t>
            </a:r>
          </a:p>
          <a:p>
            <a:endParaRPr kumimoji="1" lang="en-US" sz="1200" b="1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■ </a:t>
            </a:r>
            <a:r>
              <a:rPr kumimoji="1" lang="en-US" sz="1200" b="0" i="0" u="none" strike="noStrike" kern="1200" baseline="0" dirty="0" err="1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Instr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L2: A 1-MB L2 instruction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0704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02DEA2-F8D7-C549-B179-963DC37A15CB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first generation of computers used vacuum tubes for digital logic elements and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memory. A number of research and then commercial computers were built using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vacuum tubes. For our purposes, it will be instructive to examine perhaps the most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famous first-generation computer, known as the IAS computer.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fundamental design approach first implemented in the IAS computer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known as the stored-program concept . This idea is usually attributed to the mathematician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John von Neumann. Alan Turing developed the idea at about the same time.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first publication of the idea was in a 1945 proposal by von Neumann for a new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computer, the EDVAC (Electronic Discrete Variable Computer).3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1946, von Neumann and his colleagues began the design of a new stored-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program computer, referred to as the IAS computer, at the Princeton Institute for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Advanced Studies. The IAS computer, although not completed until 1952, is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prototype of all subsequent general-purpose computers.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403C2-765D-404C-AB4A-99BCCA5A6DC8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1.6 shows the general structure of the IAS computer (compare with Figure 1.1).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It consists of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stores both data and instructions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arithmetic and logic unit (ALU)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capable of operating on binary data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unit,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interprets the instructions in memory and causes them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be executed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Input/output (I/O)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equipment operated by the control unit</a:t>
            </a:r>
          </a:p>
          <a:p>
            <a:endParaRPr kumimoji="1" lang="en-US" sz="1200" b="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This structure was outlined in von Neumann’s earlier proposal, which is worth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quoting in part at this point [VONN45]: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2.2 First:  Since the device is primarily a computer, it will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have to perform the elementary operations of arithmetic most frequently.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These are addition, subtraction, multiplication, and division.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It is therefore reasonable that it should contain specialized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organs for just these operations.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It must be observed, however, that while this principle as such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 probably sound, the specific way in which it is realized requires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close scrutiny. At any rate a central arithmetical  part of the device will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probably have to exist, and this constitutes the first specific part: CA 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2.3 Second:  The logical control of the device, that is,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proper sequencing of its operations, can be most efficiently carried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out by a central control organ. If the device is to be elastic ,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that is, as nearly as possible all purpose , then a distinction must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be made between the specific instructions given for and defining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particular problem, and the general control organs that see to it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that these instructions—no matter what they are—are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carried out. The former must be stored in some way; the latter are represented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by definite operating parts of the device. By the central control  we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mean this latter function only, and the organs that perform it form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second specific part: CC 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2.4 Third:  Any device that is to carry out long and complicated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sequences of operations (specifically of calculations) must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have a considerable memory . . 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The instructions which govern a complicated problem may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constitute considerable material, particularly so, if the code is circumstantial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(which it is in most arrangements). This material must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 remembered.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 At any rate, the total memory  constitutes the third specific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part of the device: M.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 2.6 The three specific parts CA, CC (together C), and M correspond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to the associative  neurons in the human nervous system. It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remains to discuss the equivalents of the sensory  or afferent  and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motor  or efferent  neurons. These are the input  and output  organs of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device. The device must be endowed with the ability to maintain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input and output (sensory and motor) contact with some specific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medium of this type. The medium will be called the outside recording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medium of the device: R 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2.7 Fourth:  The device must have organs to transfer information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from R into its specific parts C and M. These organs form its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input , the fourth specific part: I . It will be seen that it is best to make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all transfers from R (by I) into M and never directly from C.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	2.8 Fifth:  The device must have organs to transfer from its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specific parts C and M into R. These organs form its output ,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fifth specific part: O . It will be seen that it is again best to make all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transfers from M (by O) into R, and never directly from C.</a:t>
            </a:r>
            <a:endParaRPr lang="en-GB" b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control unit operates the IAS by fetching instructions from memory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executing them one at a time. We explain these operations with reference to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Figure 1.6. This figure reveals that both the control unit and the ALU contain storage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locations, called registers , defined as follows: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buffer register (MBR):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Contains a word to be stored in memory or sent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I/O unit, or is used to receive a word from memory or from the I/O unit.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address register (MAR):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Specifies the address in memory of the word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be written from or read into the MBR.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register (IR 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Contains the 8-bit opcode instruction being executed.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buffer register (IBR):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Employed to hold temporarily the right-hand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from a word in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counter (PC):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Contains the address of the next instruction pair to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fetched from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Accumulator (AC) and multiplier quotient (MQ):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Employed to hold temporarily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operands and results of ALU operations. For example, the result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multiplying two 40-bit numbers is an 80-bit number; the most significant 40 bits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stored in the AC and the least significant in the MQ.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EBCE0-4A34-3647-9307-E59F6D6CD74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 dirty="0"/>
              <a:t>© 2016 Pearson Education, Inc., Hoboken, NJ.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803400"/>
            <a:ext cx="8153400" cy="43688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0E71F90-202C-7311-8022-0426922832C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0" y="6248400"/>
            <a:ext cx="2667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256B8-2CD9-41EA-903D-9C4A9D5ED7CA}" type="datetime1">
              <a:rPr lang="en-US"/>
              <a:pPr>
                <a:defRPr/>
              </a:pPr>
              <a:t>2/12/2024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A4CE1EB-2EA4-6E56-B2DA-7A5987C6EE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" y="6248400"/>
            <a:ext cx="54213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C6CA95A-5015-AB9E-9B96-24AF9518B7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0" y="1498600"/>
            <a:ext cx="533400" cy="244475"/>
          </a:xfrm>
        </p:spPr>
        <p:txBody>
          <a:bodyPr/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fld id="{F55F96B5-C7DF-4DAE-9CFF-F61DB2CE7524}" type="slidenum">
              <a:rPr lang="en-US" altLang="en-US"/>
              <a:pPr/>
              <a:t>‹#›</a:t>
            </a:fld>
            <a:endParaRPr lang="en-US" alt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93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William Stallings </a:t>
            </a:r>
            <a:br>
              <a:rPr lang="en-GB" dirty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br>
              <a:rPr lang="en-GB" dirty="0"/>
            </a:br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2E7D0149-81E8-6894-490A-5FFB1B1B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620713"/>
            <a:ext cx="6799262" cy="1303337"/>
          </a:xfrm>
        </p:spPr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COURSE ASSESSMENT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E8B6D-772A-9BEE-E25D-317204D04B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</a:pPr>
            <a:fld id="{6F5B3A43-35AB-4B19-B0FF-65E71F6A1D9E}" type="slidenum">
              <a:rPr lang="en-US" altLang="en-US" sz="1200">
                <a:solidFill>
                  <a:srgbClr val="FFFFFF"/>
                </a:solidFill>
                <a:latin typeface="Garamond" panose="02020404030301010803" pitchFamily="18" charset="0"/>
              </a:rPr>
              <a:pPr>
                <a:lnSpc>
                  <a:spcPct val="80000"/>
                </a:lnSpc>
              </a:pPr>
              <a:t>2</a:t>
            </a:fld>
            <a:endParaRPr lang="en-US" altLang="en-US" sz="900" b="0">
              <a:latin typeface="Garamond" panose="02020404030301010803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79306-AFE1-48D3-6195-C158AA8479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Ø"/>
              <a:defRPr/>
            </a:pPr>
            <a:r>
              <a:rPr lang="en-US" sz="3600" dirty="0">
                <a:latin typeface="Arial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Arial" charset="0"/>
              </a:rPr>
              <a:t>Assignments (4) --------------------- 20%</a:t>
            </a:r>
          </a:p>
          <a:p>
            <a:pPr eaLnBrk="1" fontAlgn="auto" hangingPunct="1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Ø"/>
              <a:defRPr/>
            </a:pPr>
            <a:r>
              <a:rPr lang="en-US" sz="3200" dirty="0">
                <a:solidFill>
                  <a:srgbClr val="002060"/>
                </a:solidFill>
                <a:latin typeface="Arial" charset="0"/>
              </a:rPr>
              <a:t> Quizzes(4)  -------------------------	 10%</a:t>
            </a:r>
          </a:p>
          <a:p>
            <a:pPr eaLnBrk="1" fontAlgn="auto" hangingPunct="1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Ø"/>
              <a:defRPr/>
            </a:pPr>
            <a:r>
              <a:rPr lang="en-US" sz="3200" dirty="0">
                <a:solidFill>
                  <a:srgbClr val="002060"/>
                </a:solidFill>
                <a:latin typeface="Arial" charset="0"/>
              </a:rPr>
              <a:t> Mid Term	 -------------------------	 20%</a:t>
            </a:r>
            <a:endParaRPr lang="en-US" sz="3200" b="1" dirty="0">
              <a:solidFill>
                <a:srgbClr val="002060"/>
              </a:solidFill>
              <a:latin typeface="Arial" charset="0"/>
            </a:endParaRPr>
          </a:p>
          <a:p>
            <a:pPr eaLnBrk="1" fontAlgn="auto" hangingPunct="1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Ø"/>
              <a:defRPr/>
            </a:pPr>
            <a:r>
              <a:rPr lang="en-US" sz="360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Arial" charset="0"/>
              </a:rPr>
              <a:t>Final</a:t>
            </a:r>
            <a:r>
              <a:rPr lang="en-US" sz="3600" dirty="0">
                <a:solidFill>
                  <a:srgbClr val="002060"/>
                </a:solidFill>
                <a:latin typeface="Arial" charset="0"/>
              </a:rPr>
              <a:t>    ---------------------------    50%</a:t>
            </a:r>
          </a:p>
          <a:p>
            <a:pPr eaLnBrk="1" fontAlgn="auto" hangingPunct="1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Ø"/>
              <a:defRPr/>
            </a:pPr>
            <a:r>
              <a:rPr lang="en-US" sz="4000" b="1" dirty="0">
                <a:solidFill>
                  <a:srgbClr val="002060"/>
                </a:solidFill>
                <a:latin typeface="Arial" charset="0"/>
              </a:rPr>
              <a:t>Total</a:t>
            </a:r>
            <a:r>
              <a:rPr lang="en-US" sz="3600" dirty="0">
                <a:solidFill>
                  <a:srgbClr val="002060"/>
                </a:solidFill>
                <a:latin typeface="Arial" charset="0"/>
              </a:rPr>
              <a:t>    ----------------------------- 100%</a:t>
            </a:r>
          </a:p>
          <a:p>
            <a:pPr eaLnBrk="1" fontAlgn="auto" hangingPunct="1">
              <a:buFont typeface="Arial"/>
              <a:buChar char="•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C087504B-243A-0AA8-F186-ACBDC5C9A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765175"/>
            <a:ext cx="8204200" cy="838200"/>
          </a:xfrm>
        </p:spPr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ATTENDANCE ALERT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7448AA4-2B24-E48F-0D34-F9C60EAB42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Keep track of your attendance throughout the semester</a:t>
            </a:r>
          </a:p>
          <a:p>
            <a:pPr eaLnBrk="1" hangingPunct="1">
              <a:defRPr/>
            </a:pPr>
            <a:r>
              <a:rPr lang="en-US" altLang="en-US" sz="2800" dirty="0"/>
              <a:t>Need to maintain 75% attendance at the end of semester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800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9632D8EA-26D9-8BF6-FE50-ABDF10CB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692150"/>
            <a:ext cx="6799263" cy="1304925"/>
          </a:xfrm>
        </p:spPr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BOOKS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401AD290-7675-465A-B755-A6616D4AB6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5288" y="1803400"/>
            <a:ext cx="8497887" cy="4368800"/>
          </a:xfrm>
        </p:spPr>
        <p:txBody>
          <a:bodyPr/>
          <a:lstStyle/>
          <a:p>
            <a:pPr eaLnBrk="1" hangingPunct="1"/>
            <a:r>
              <a:rPr lang="en-GB" altLang="en-US"/>
              <a:t>William Stallings, Computer Organization and. Architecture, 10th Edition, Prentice Hall, 2016</a:t>
            </a:r>
            <a:endParaRPr lang="en-US" altLang="en-US"/>
          </a:p>
          <a:p>
            <a:pPr eaLnBrk="1" hangingPunct="1"/>
            <a:r>
              <a:rPr lang="en-GB" altLang="en-US"/>
              <a:t>Computer Systems: A Programmer's Perspective, 3/E, Randal E. Bryant and David R.O' Hallaron</a:t>
            </a:r>
          </a:p>
          <a:p>
            <a:pPr eaLnBrk="1" hangingPunct="1"/>
            <a:r>
              <a:rPr lang="en-GB" altLang="en-US"/>
              <a:t>Kip R. Irvine, Assembly Language for x86 Processors,7th edition, Prentice Hall, 2014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9552" y="4005064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1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9552" y="4797152"/>
            <a:ext cx="7881919" cy="885825"/>
          </a:xfrm>
        </p:spPr>
        <p:txBody>
          <a:bodyPr>
            <a:noAutofit/>
          </a:bodyPr>
          <a:lstStyle/>
          <a:p>
            <a:r>
              <a:rPr lang="en-US" sz="4400" dirty="0"/>
              <a:t>Basic Concepts and Computer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116632"/>
            <a:ext cx="7556500" cy="995362"/>
          </a:xfrm>
        </p:spPr>
        <p:txBody>
          <a:bodyPr>
            <a:norm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Architecture</a:t>
            </a: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85387467"/>
              </p:ext>
            </p:extLst>
          </p:nvPr>
        </p:nvGraphicFramePr>
        <p:xfrm>
          <a:off x="316139" y="1441437"/>
          <a:ext cx="85471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" name="Text Placeholder 29"/>
          <p:cNvSpPr>
            <a:spLocks noGrp="1"/>
          </p:cNvSpPr>
          <p:nvPr>
            <p:ph type="body" sz="half" idx="4294967295"/>
          </p:nvPr>
        </p:nvSpPr>
        <p:spPr>
          <a:xfrm>
            <a:off x="1187624" y="692696"/>
            <a:ext cx="7559675" cy="774700"/>
          </a:xfrm>
        </p:spPr>
        <p:txBody>
          <a:bodyPr>
            <a:normAutofit/>
          </a:bodyPr>
          <a:lstStyle/>
          <a:p>
            <a:pPr algn="r">
              <a:spcBef>
                <a:spcPct val="0"/>
              </a:spcBef>
              <a:buNone/>
            </a:pPr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Organization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07504" y="6597352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56313" cy="1116106"/>
          </a:xfrm>
        </p:spPr>
        <p:txBody>
          <a:bodyPr>
            <a:norm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IBM System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IBM System/370 architecture</a:t>
            </a:r>
          </a:p>
          <a:p>
            <a:pPr lvl="1"/>
            <a:r>
              <a:rPr lang="en-GB" sz="1638" dirty="0"/>
              <a:t>Was introduced in 1970</a:t>
            </a:r>
          </a:p>
          <a:p>
            <a:pPr lvl="1"/>
            <a:r>
              <a:rPr lang="en-GB" sz="1638" dirty="0"/>
              <a:t>Included a number of models</a:t>
            </a:r>
          </a:p>
          <a:p>
            <a:pPr lvl="1"/>
            <a:r>
              <a:rPr lang="en-GB" sz="1638" dirty="0"/>
              <a:t>Could upgrade to a more expensive, faster model without having to abandon original software</a:t>
            </a:r>
          </a:p>
          <a:p>
            <a:pPr lvl="1"/>
            <a:r>
              <a:rPr lang="en-GB" sz="1638" dirty="0"/>
              <a:t>New models are introduced with improved technology, but retain the same architecture so that the customer’s software investment is protected</a:t>
            </a:r>
          </a:p>
          <a:p>
            <a:pPr lvl="1"/>
            <a:r>
              <a:rPr lang="en-GB" sz="1638" dirty="0"/>
              <a:t>Architecture has survived to this day as the architecture of IBM’s mainframe product line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half" idx="4294967295"/>
          </p:nvPr>
        </p:nvSpPr>
        <p:spPr>
          <a:xfrm>
            <a:off x="-1066800" y="914400"/>
            <a:ext cx="7559675" cy="774700"/>
          </a:xfrm>
        </p:spPr>
        <p:txBody>
          <a:bodyPr>
            <a:normAutofit/>
          </a:bodyPr>
          <a:lstStyle/>
          <a:p>
            <a:pPr algn="r">
              <a:spcBef>
                <a:spcPct val="0"/>
              </a:spcBef>
              <a:buNone/>
            </a:pPr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370 Architecture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029200"/>
            <a:ext cx="2043775" cy="20574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Structure and Function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657600" cy="4419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Hierarchical system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Set of interrelated subsystems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>
                <a:solidFill>
                  <a:srgbClr val="000000"/>
                </a:solidFill>
              </a:rPr>
              <a:t>Hierarchical nature of complex systems is essential to both their design and their description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>
                <a:solidFill>
                  <a:srgbClr val="000000"/>
                </a:solidFill>
              </a:rPr>
              <a:t>Designer need only deal with a particular level of the system at a time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Concerned with structure and function at each level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876800" y="2133600"/>
            <a:ext cx="3657600" cy="33528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Structure</a:t>
            </a:r>
          </a:p>
          <a:p>
            <a:pPr lvl="1"/>
            <a:r>
              <a:rPr lang="en-GB" dirty="0">
                <a:solidFill>
                  <a:srgbClr val="000000"/>
                </a:solidFill>
              </a:rPr>
              <a:t>The way in which components relate to each other</a:t>
            </a:r>
          </a:p>
          <a:p>
            <a:r>
              <a:rPr lang="en-GB" dirty="0">
                <a:solidFill>
                  <a:srgbClr val="000000"/>
                </a:solidFill>
              </a:rPr>
              <a:t>Function</a:t>
            </a:r>
          </a:p>
          <a:p>
            <a:pPr lvl="1"/>
            <a:r>
              <a:rPr lang="en-GB" dirty="0">
                <a:solidFill>
                  <a:srgbClr val="000000"/>
                </a:solidFill>
              </a:rPr>
              <a:t>The operation of individual components as part of the structure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5181600"/>
            <a:ext cx="1371600" cy="1450731"/>
          </a:xfrm>
          <a:prstGeom prst="rect">
            <a:avLst/>
          </a:prstGeom>
          <a:solidFill>
            <a:srgbClr val="6666CC"/>
          </a:solidFill>
          <a:scene3d>
            <a:camera prst="orthographicFront">
              <a:rot lat="0" lon="10799999" rev="0"/>
            </a:camera>
            <a:lightRig rig="threePt" dir="t"/>
          </a:scene3d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dirty="0"/>
              <a:t>Function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67544" y="1556792"/>
            <a:ext cx="7556313" cy="49685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four basic functions that a computer can perform:</a:t>
            </a:r>
          </a:p>
          <a:p>
            <a:pPr lvl="1"/>
            <a:r>
              <a:rPr lang="en-US" dirty="0"/>
              <a:t>Data processing</a:t>
            </a:r>
          </a:p>
          <a:p>
            <a:pPr lvl="2"/>
            <a:r>
              <a:rPr lang="en-US" dirty="0"/>
              <a:t>Data may take a wide variety of forms and the range of processing requirements is broad</a:t>
            </a:r>
          </a:p>
          <a:p>
            <a:pPr lvl="1"/>
            <a:r>
              <a:rPr lang="en-US" dirty="0"/>
              <a:t>Data storage</a:t>
            </a:r>
          </a:p>
          <a:p>
            <a:pPr lvl="2"/>
            <a:r>
              <a:rPr lang="en-US" dirty="0"/>
              <a:t>Short-term</a:t>
            </a:r>
          </a:p>
          <a:p>
            <a:pPr lvl="2"/>
            <a:r>
              <a:rPr lang="en-US" dirty="0"/>
              <a:t>Long-term</a:t>
            </a:r>
          </a:p>
          <a:p>
            <a:pPr lvl="1"/>
            <a:r>
              <a:rPr lang="en-US" dirty="0"/>
              <a:t>Data movement</a:t>
            </a:r>
          </a:p>
          <a:p>
            <a:pPr lvl="2"/>
            <a:r>
              <a:rPr lang="en-US" dirty="0"/>
              <a:t>Input-output (I/O) - when data are received from or delivered to a device (peripheral) that is directly connected to the computer</a:t>
            </a:r>
          </a:p>
          <a:p>
            <a:pPr lvl="2"/>
            <a:r>
              <a:rPr lang="en-US" dirty="0"/>
              <a:t>Data communications – when data are moved over longer distances, to or from a remote device</a:t>
            </a:r>
          </a:p>
          <a:p>
            <a:pPr lvl="1"/>
            <a:r>
              <a:rPr lang="en-US" dirty="0"/>
              <a:t>Control</a:t>
            </a:r>
          </a:p>
          <a:p>
            <a:pPr lvl="2"/>
            <a:r>
              <a:rPr lang="en-US" dirty="0"/>
              <a:t>A control unit manages the computer’s resources and orchestrates the performance of its functional parts in response to instructions</a:t>
            </a:r>
          </a:p>
        </p:txBody>
      </p:sp>
      <p:sp>
        <p:nvSpPr>
          <p:cNvPr id="12" name="Minus 11"/>
          <p:cNvSpPr/>
          <p:nvPr/>
        </p:nvSpPr>
        <p:spPr>
          <a:xfrm>
            <a:off x="251520" y="1268760"/>
            <a:ext cx="1828800" cy="137160"/>
          </a:xfrm>
          <a:prstGeom prst="mathMinus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11560" y="2708920"/>
            <a:ext cx="7556500" cy="1116012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</a:p>
        </p:txBody>
      </p:sp>
      <p:pic>
        <p:nvPicPr>
          <p:cNvPr id="3" name="Picture 2" descr="f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-387424"/>
            <a:ext cx="5760640" cy="745494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plu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idx="1"/>
          </p:nvPr>
        </p:nvSpPr>
        <p:spPr>
          <a:xfrm>
            <a:off x="3962400" y="990600"/>
            <a:ext cx="4876800" cy="6477000"/>
          </a:xfrm>
        </p:spPr>
        <p:txBody>
          <a:bodyPr>
            <a:no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CPU – controls the operation of the computer and performs its data processing functions </a:t>
            </a:r>
          </a:p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400" dirty="0">
                <a:solidFill>
                  <a:schemeClr val="tx1"/>
                </a:solidFill>
              </a:rPr>
              <a:t> Main Memory – stores data</a:t>
            </a:r>
          </a:p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400" dirty="0">
                <a:solidFill>
                  <a:schemeClr val="tx1"/>
                </a:solidFill>
              </a:rPr>
              <a:t> I/O – moves data between the computer and its external environment</a:t>
            </a:r>
          </a:p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400" dirty="0">
                <a:solidFill>
                  <a:schemeClr val="tx1"/>
                </a:solidFill>
              </a:rPr>
              <a:t> System Interconnection – some mechanism that provides for communication among CPU, main memory, and I/O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33400" y="1524000"/>
            <a:ext cx="2911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+mn-lt"/>
              </a:rPr>
              <a:t>There are four main structural components</a:t>
            </a:r>
          </a:p>
          <a:p>
            <a:r>
              <a:rPr lang="en-US" sz="2800" dirty="0">
                <a:solidFill>
                  <a:srgbClr val="FFFFFF"/>
                </a:solidFill>
                <a:latin typeface="+mn-lt"/>
              </a:rPr>
              <a:t>of the computer: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2400"/>
            <a:ext cx="2146980" cy="213007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9144000" cy="365125"/>
          </a:xfrm>
        </p:spPr>
        <p:txBody>
          <a:bodyPr/>
          <a:lstStyle/>
          <a:p>
            <a:pPr algn="r"/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3255264" cy="1162050"/>
          </a:xfrm>
        </p:spPr>
        <p:txBody>
          <a:bodyPr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838200"/>
            <a:ext cx="4597399" cy="57912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Control Unit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Controls the operation of the CPU and hence the computer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>
                <a:solidFill>
                  <a:srgbClr val="000000"/>
                </a:solidFill>
              </a:rPr>
              <a:t>Arithmetic and Logic Unit (ALU)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Performs the computer’s data processing function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>
                <a:solidFill>
                  <a:srgbClr val="000000"/>
                </a:solidFill>
              </a:rPr>
              <a:t>Registers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Provide storage internal to the CPU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>
                <a:solidFill>
                  <a:srgbClr val="000000"/>
                </a:solidFill>
              </a:rPr>
              <a:t>CPU Interconnection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Some mechanism that provides for communication among the control unit, ALU, and registers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676400"/>
            <a:ext cx="3255264" cy="2392363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600" dirty="0">
                <a:latin typeface="+mj-lt"/>
                <a:ea typeface="+mj-ea"/>
                <a:cs typeface="+mj-cs"/>
              </a:rPr>
              <a:t>Major structural components: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44596">
            <a:off x="1752600" y="4724400"/>
            <a:ext cx="1599971" cy="15999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77974">
            <a:off x="588811" y="2951012"/>
            <a:ext cx="1612900" cy="16129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59305" y="6492875"/>
            <a:ext cx="5284695" cy="365125"/>
          </a:xfrm>
        </p:spPr>
        <p:txBody>
          <a:bodyPr/>
          <a:lstStyle/>
          <a:p>
            <a:pPr algn="r"/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Multicore Computer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772816"/>
            <a:ext cx="7745934" cy="43533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Central processing unit (CPU)</a:t>
            </a:r>
          </a:p>
          <a:p>
            <a:pPr lvl="1"/>
            <a:r>
              <a:rPr lang="en-US" dirty="0"/>
              <a:t>Portion of the computer that fetches and executes instructions</a:t>
            </a:r>
          </a:p>
          <a:p>
            <a:pPr lvl="1"/>
            <a:r>
              <a:rPr lang="en-US" dirty="0"/>
              <a:t>Consists of an ALU, a control unit, and registers</a:t>
            </a:r>
          </a:p>
          <a:p>
            <a:pPr lvl="1"/>
            <a:r>
              <a:rPr lang="en-US" dirty="0"/>
              <a:t>Referred to as a processor in a system with a single processing unit</a:t>
            </a:r>
          </a:p>
          <a:p>
            <a:r>
              <a:rPr lang="en-US" dirty="0"/>
              <a:t>Core</a:t>
            </a:r>
          </a:p>
          <a:p>
            <a:pPr lvl="1"/>
            <a:r>
              <a:rPr lang="en-US" dirty="0"/>
              <a:t>An individual processing unit on a processor chip</a:t>
            </a:r>
          </a:p>
          <a:p>
            <a:pPr lvl="1"/>
            <a:r>
              <a:rPr lang="en-US" dirty="0"/>
              <a:t>May be equivalent in functionality to a CPU on a single-CPU system</a:t>
            </a:r>
          </a:p>
          <a:p>
            <a:pPr lvl="1"/>
            <a:r>
              <a:rPr lang="en-US" dirty="0"/>
              <a:t>Specialized processing units are also referred to as cores</a:t>
            </a:r>
          </a:p>
          <a:p>
            <a:r>
              <a:rPr lang="en-US" dirty="0"/>
              <a:t>Processor </a:t>
            </a:r>
          </a:p>
          <a:p>
            <a:pPr lvl="1"/>
            <a:r>
              <a:rPr lang="en-US" dirty="0"/>
              <a:t>A physical piece of silicon containing one or more cores</a:t>
            </a:r>
          </a:p>
          <a:p>
            <a:pPr lvl="1"/>
            <a:r>
              <a:rPr lang="en-US" dirty="0"/>
              <a:t>Is the computer component that interprets and executes instructions</a:t>
            </a:r>
          </a:p>
          <a:p>
            <a:pPr lvl="1"/>
            <a:r>
              <a:rPr lang="en-US" dirty="0"/>
              <a:t>Referred to as a </a:t>
            </a:r>
            <a:r>
              <a:rPr lang="en-US" i="1" dirty="0"/>
              <a:t>multicore processor </a:t>
            </a:r>
            <a:r>
              <a:rPr lang="en-US" dirty="0"/>
              <a:t>if it contains multiple cores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873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layers of memory between the processor and main memory</a:t>
            </a:r>
          </a:p>
          <a:p>
            <a:r>
              <a:rPr lang="en-US" dirty="0"/>
              <a:t>Is smaller and faster than main memory</a:t>
            </a:r>
          </a:p>
          <a:p>
            <a:r>
              <a:rPr lang="en-US" dirty="0"/>
              <a:t>Used to speed up memory access by placing in the cache data from main memory that is likely to be used in the near future</a:t>
            </a:r>
          </a:p>
          <a:p>
            <a:r>
              <a:rPr lang="en-US" dirty="0"/>
              <a:t>A greater performance improvement may be obtained by using multiple levels of cache, with level 1 (L1) closest to the core and additional levels (L2, L3, etc.) progressively farther from the core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57560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-315416"/>
            <a:ext cx="5760640" cy="745494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78313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therboar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40769"/>
            <a:ext cx="7636261" cy="360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1600" y="530120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</a:rPr>
              <a:t>Figure 1.3</a:t>
            </a:r>
          </a:p>
          <a:p>
            <a:r>
              <a:rPr lang="en-US" sz="2200" dirty="0">
                <a:solidFill>
                  <a:srgbClr val="FFFFFF"/>
                </a:solidFill>
                <a:latin typeface="+mj-lt"/>
              </a:rPr>
              <a:t>Motherboard with Two Intel Quad-Core Xeon Processors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11560" y="6515745"/>
            <a:ext cx="5638800" cy="36512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52168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8224" y="1844824"/>
            <a:ext cx="24482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Figure 1.4</a:t>
            </a: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 err="1">
                <a:latin typeface="+mj-lt"/>
              </a:rPr>
              <a:t>zEnterprise</a:t>
            </a:r>
            <a:r>
              <a:rPr lang="en-US" dirty="0">
                <a:latin typeface="+mj-lt"/>
              </a:rPr>
              <a:t> EC12 Processor Unit (PU) </a:t>
            </a:r>
          </a:p>
          <a:p>
            <a:pPr algn="ctr"/>
            <a:r>
              <a:rPr lang="en-US" dirty="0">
                <a:latin typeface="+mj-lt"/>
              </a:rPr>
              <a:t>Chip Diagram</a:t>
            </a:r>
          </a:p>
        </p:txBody>
      </p:sp>
      <p:pic>
        <p:nvPicPr>
          <p:cNvPr id="3" name="Picture 2" descr="EC12-PU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6632"/>
            <a:ext cx="6336704" cy="662804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1520" y="6597352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60569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C12-Cor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640"/>
            <a:ext cx="5616624" cy="6397744"/>
          </a:xfrm>
          <a:prstGeom prst="rect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5940152" y="1628800"/>
            <a:ext cx="3203848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Figure 1.5</a:t>
            </a:r>
          </a:p>
          <a:p>
            <a:pPr algn="ctr"/>
            <a:endParaRPr lang="en-US" sz="2800" dirty="0">
              <a:latin typeface="+mj-lt"/>
            </a:endParaRPr>
          </a:p>
          <a:p>
            <a:pPr algn="ctr"/>
            <a:endParaRPr lang="en-US" sz="2800" dirty="0">
              <a:latin typeface="+mj-lt"/>
            </a:endParaRPr>
          </a:p>
          <a:p>
            <a:pPr algn="ctr"/>
            <a:r>
              <a:rPr lang="en-US" sz="3200" dirty="0" err="1">
                <a:latin typeface="+mj-lt"/>
              </a:rPr>
              <a:t>zEnterprise</a:t>
            </a:r>
            <a:r>
              <a:rPr lang="en-US" sz="3200" dirty="0">
                <a:latin typeface="+mj-lt"/>
              </a:rPr>
              <a:t> </a:t>
            </a:r>
          </a:p>
          <a:p>
            <a:pPr algn="ctr"/>
            <a:r>
              <a:rPr lang="en-US" sz="3200" dirty="0">
                <a:latin typeface="+mj-lt"/>
              </a:rPr>
              <a:t>EC12 </a:t>
            </a:r>
          </a:p>
          <a:p>
            <a:pPr algn="ctr"/>
            <a:r>
              <a:rPr lang="en-US" sz="3200" dirty="0">
                <a:latin typeface="+mj-lt"/>
              </a:rPr>
              <a:t>Core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0152" y="188640"/>
            <a:ext cx="344798" cy="539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512720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71871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Computers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276872"/>
            <a:ext cx="7556313" cy="4144963"/>
          </a:xfrm>
        </p:spPr>
        <p:txBody>
          <a:bodyPr>
            <a:normAutofit/>
          </a:bodyPr>
          <a:lstStyle/>
          <a:p>
            <a:r>
              <a:rPr lang="en-GB" dirty="0"/>
              <a:t>Vacuum tubes were used for digital logic                     elements and memory</a:t>
            </a:r>
          </a:p>
          <a:p>
            <a:pPr>
              <a:spcBef>
                <a:spcPts val="1200"/>
              </a:spcBef>
            </a:pPr>
            <a:r>
              <a:rPr lang="en-GB" dirty="0"/>
              <a:t>IAS computer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Fundamental design approach was the stored program concept</a:t>
            </a:r>
          </a:p>
          <a:p>
            <a:pPr lvl="2"/>
            <a:r>
              <a:rPr lang="en-GB" dirty="0"/>
              <a:t>Attributed to the mathematician John von Neumann</a:t>
            </a:r>
          </a:p>
          <a:p>
            <a:pPr lvl="2">
              <a:spcBef>
                <a:spcPts val="1200"/>
              </a:spcBef>
            </a:pPr>
            <a:r>
              <a:rPr lang="en-GB" dirty="0"/>
              <a:t>First publication of the idea was in 1945 for the EDVAC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Design began at the Princeton Institute for Advanced Studies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Completed in 1952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Prototype of all subsequent general-purpose computers</a:t>
            </a:r>
          </a:p>
          <a:p>
            <a:pPr>
              <a:spcBef>
                <a:spcPts val="1200"/>
              </a:spcBef>
            </a:pP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4294967295"/>
          </p:nvPr>
        </p:nvSpPr>
        <p:spPr>
          <a:xfrm>
            <a:off x="1066800" y="1143000"/>
            <a:ext cx="7143750" cy="7747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Generation:  Vacuum Tubes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alphaModFix amt="87000"/>
            <a:lum/>
          </a:blip>
          <a:stretch>
            <a:fillRect/>
          </a:stretch>
        </p:blipFill>
        <p:spPr>
          <a:xfrm>
            <a:off x="6228184" y="1916832"/>
            <a:ext cx="2514600" cy="1722501"/>
          </a:xfrm>
          <a:prstGeom prst="rect">
            <a:avLst/>
          </a:prstGeom>
          <a:effectLst>
            <a:softEdge rad="279400"/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-603448"/>
            <a:ext cx="5832648" cy="754813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rism dir="r"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5749925" cy="1116106"/>
          </a:xfrm>
        </p:spPr>
        <p:txBody>
          <a:bodyPr vert="horz"/>
          <a:lstStyle/>
          <a:p>
            <a:pPr algn="r"/>
            <a:r>
              <a:rPr lang="en-US" sz="4400" kern="2200" dirty="0">
                <a:solidFill>
                  <a:schemeClr val="accent3"/>
                </a:solidFill>
              </a:rPr>
              <a:t>Registers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381000" y="1219200"/>
          <a:ext cx="74676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19381</TotalTime>
  <Words>6087</Words>
  <Application>Microsoft Office PowerPoint</Application>
  <PresentationFormat>On-screen Show (4:3)</PresentationFormat>
  <Paragraphs>620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Garamond</vt:lpstr>
      <vt:lpstr>Rockwell</vt:lpstr>
      <vt:lpstr>Times New Roman</vt:lpstr>
      <vt:lpstr>Wingdings</vt:lpstr>
      <vt:lpstr>Advantage</vt:lpstr>
      <vt:lpstr>William Stallings  Computer Organization  and Architecture 10th Edition</vt:lpstr>
      <vt:lpstr>COURSE ASSESSMENT</vt:lpstr>
      <vt:lpstr>ATTENDANCE ALERT</vt:lpstr>
      <vt:lpstr>BOOKS</vt:lpstr>
      <vt:lpstr>Chapter 1</vt:lpstr>
      <vt:lpstr>Computer Architecture</vt:lpstr>
      <vt:lpstr>IBM System</vt:lpstr>
      <vt:lpstr>Structure and Function</vt:lpstr>
      <vt:lpstr>Function</vt:lpstr>
      <vt:lpstr>Structure</vt:lpstr>
      <vt:lpstr>PowerPoint Presentation</vt:lpstr>
      <vt:lpstr>CPU</vt:lpstr>
      <vt:lpstr>Multicore Computer Structure</vt:lpstr>
      <vt:lpstr>Cache Memory</vt:lpstr>
      <vt:lpstr>PowerPoint Presentation</vt:lpstr>
      <vt:lpstr>PowerPoint Presentation</vt:lpstr>
      <vt:lpstr>PowerPoint Presentation</vt:lpstr>
      <vt:lpstr>PowerPoint Presentation</vt:lpstr>
      <vt:lpstr>History of Computers</vt:lpstr>
      <vt:lpstr>PowerPoint Presentation</vt:lpstr>
      <vt:lpstr>Registers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Intrduction</dc:title>
  <dc:creator>Adrian J Pullin</dc:creator>
  <cp:lastModifiedBy>SUNSHINE .........</cp:lastModifiedBy>
  <cp:revision>207</cp:revision>
  <dcterms:created xsi:type="dcterms:W3CDTF">2012-06-10T02:41:24Z</dcterms:created>
  <dcterms:modified xsi:type="dcterms:W3CDTF">2024-02-12T06:21:31Z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a.j.pullin@newi.ac.uk</vt:lpwstr>
  </property>
  <property fmtid="{D5CDD505-2E9C-101B-9397-08002B2CF9AE}" pid="8" name="HomePage">
    <vt:lpwstr>http://www.newi.ac.uk/pullina/default.htm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H:\Data\Networks\Notes\HTML</vt:lpwstr>
  </property>
</Properties>
</file>