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6FC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7748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6FC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7748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6FC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6FC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356347" y="6754367"/>
            <a:ext cx="893444" cy="104139"/>
          </a:xfrm>
          <a:custGeom>
            <a:avLst/>
            <a:gdLst/>
            <a:ahLst/>
            <a:cxnLst/>
            <a:rect l="l" t="t" r="r" b="b"/>
            <a:pathLst>
              <a:path w="893445" h="104140">
                <a:moveTo>
                  <a:pt x="893063" y="0"/>
                </a:moveTo>
                <a:lnTo>
                  <a:pt x="0" y="0"/>
                </a:lnTo>
                <a:lnTo>
                  <a:pt x="0" y="103632"/>
                </a:lnTo>
                <a:lnTo>
                  <a:pt x="893063" y="103632"/>
                </a:lnTo>
                <a:lnTo>
                  <a:pt x="893063" y="0"/>
                </a:lnTo>
                <a:close/>
              </a:path>
            </a:pathLst>
          </a:custGeom>
          <a:solidFill>
            <a:srgbClr val="FF96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250935" y="6754367"/>
            <a:ext cx="893444" cy="104139"/>
          </a:xfrm>
          <a:custGeom>
            <a:avLst/>
            <a:gdLst/>
            <a:ahLst/>
            <a:cxnLst/>
            <a:rect l="l" t="t" r="r" b="b"/>
            <a:pathLst>
              <a:path w="893445" h="104140">
                <a:moveTo>
                  <a:pt x="893064" y="0"/>
                </a:moveTo>
                <a:lnTo>
                  <a:pt x="0" y="0"/>
                </a:lnTo>
                <a:lnTo>
                  <a:pt x="0" y="103632"/>
                </a:lnTo>
                <a:lnTo>
                  <a:pt x="893064" y="103632"/>
                </a:lnTo>
                <a:lnTo>
                  <a:pt x="893064" y="0"/>
                </a:lnTo>
                <a:close/>
              </a:path>
            </a:pathLst>
          </a:custGeom>
          <a:solidFill>
            <a:srgbClr val="F101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754367"/>
            <a:ext cx="893444" cy="104139"/>
          </a:xfrm>
          <a:custGeom>
            <a:avLst/>
            <a:gdLst/>
            <a:ahLst/>
            <a:cxnLst/>
            <a:rect l="l" t="t" r="r" b="b"/>
            <a:pathLst>
              <a:path w="893444" h="104140">
                <a:moveTo>
                  <a:pt x="893063" y="0"/>
                </a:moveTo>
                <a:lnTo>
                  <a:pt x="0" y="0"/>
                </a:lnTo>
                <a:lnTo>
                  <a:pt x="0" y="103632"/>
                </a:lnTo>
                <a:lnTo>
                  <a:pt x="893063" y="103632"/>
                </a:lnTo>
                <a:lnTo>
                  <a:pt x="893063" y="0"/>
                </a:lnTo>
                <a:close/>
              </a:path>
            </a:pathLst>
          </a:custGeom>
          <a:solidFill>
            <a:srgbClr val="7DCE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93063" y="6754367"/>
            <a:ext cx="6463665" cy="104139"/>
          </a:xfrm>
          <a:custGeom>
            <a:avLst/>
            <a:gdLst/>
            <a:ahLst/>
            <a:cxnLst/>
            <a:rect l="l" t="t" r="r" b="b"/>
            <a:pathLst>
              <a:path w="6463665" h="104140">
                <a:moveTo>
                  <a:pt x="6463284" y="0"/>
                </a:moveTo>
                <a:lnTo>
                  <a:pt x="0" y="0"/>
                </a:lnTo>
                <a:lnTo>
                  <a:pt x="0" y="103632"/>
                </a:lnTo>
                <a:lnTo>
                  <a:pt x="6463284" y="103632"/>
                </a:lnTo>
                <a:lnTo>
                  <a:pt x="6463284" y="0"/>
                </a:lnTo>
                <a:close/>
              </a:path>
            </a:pathLst>
          </a:custGeom>
          <a:solidFill>
            <a:srgbClr val="2085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3399" y="746886"/>
            <a:ext cx="6908749" cy="578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6FC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5891" y="1499108"/>
            <a:ext cx="7932216" cy="46158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7748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37503" y="3377184"/>
            <a:ext cx="1445260" cy="104139"/>
            <a:chOff x="5937503" y="3377184"/>
            <a:chExt cx="1445260" cy="104139"/>
          </a:xfrm>
        </p:grpSpPr>
        <p:sp>
          <p:nvSpPr>
            <p:cNvPr id="3" name="object 3"/>
            <p:cNvSpPr/>
            <p:nvPr/>
          </p:nvSpPr>
          <p:spPr>
            <a:xfrm>
              <a:off x="5937503" y="3377184"/>
              <a:ext cx="722630" cy="104139"/>
            </a:xfrm>
            <a:custGeom>
              <a:avLst/>
              <a:gdLst/>
              <a:ahLst/>
              <a:cxnLst/>
              <a:rect l="l" t="t" r="r" b="b"/>
              <a:pathLst>
                <a:path w="722629" h="104139">
                  <a:moveTo>
                    <a:pt x="722376" y="0"/>
                  </a:moveTo>
                  <a:lnTo>
                    <a:pt x="0" y="0"/>
                  </a:lnTo>
                  <a:lnTo>
                    <a:pt x="0" y="103632"/>
                  </a:lnTo>
                  <a:lnTo>
                    <a:pt x="722376" y="103632"/>
                  </a:lnTo>
                  <a:lnTo>
                    <a:pt x="722376" y="0"/>
                  </a:lnTo>
                  <a:close/>
                </a:path>
              </a:pathLst>
            </a:custGeom>
            <a:solidFill>
              <a:srgbClr val="FF9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59879" y="3377184"/>
              <a:ext cx="722630" cy="104139"/>
            </a:xfrm>
            <a:custGeom>
              <a:avLst/>
              <a:gdLst/>
              <a:ahLst/>
              <a:cxnLst/>
              <a:rect l="l" t="t" r="r" b="b"/>
              <a:pathLst>
                <a:path w="722629" h="104139">
                  <a:moveTo>
                    <a:pt x="722376" y="0"/>
                  </a:moveTo>
                  <a:lnTo>
                    <a:pt x="0" y="0"/>
                  </a:lnTo>
                  <a:lnTo>
                    <a:pt x="0" y="103632"/>
                  </a:lnTo>
                  <a:lnTo>
                    <a:pt x="722376" y="103632"/>
                  </a:lnTo>
                  <a:lnTo>
                    <a:pt x="722376" y="0"/>
                  </a:lnTo>
                  <a:close/>
                </a:path>
              </a:pathLst>
            </a:custGeom>
            <a:solidFill>
              <a:srgbClr val="F101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0" y="2388107"/>
            <a:ext cx="7139305" cy="1203325"/>
            <a:chOff x="0" y="2388107"/>
            <a:chExt cx="7139305" cy="1203325"/>
          </a:xfrm>
        </p:grpSpPr>
        <p:sp>
          <p:nvSpPr>
            <p:cNvPr id="6" name="object 6"/>
            <p:cNvSpPr/>
            <p:nvPr/>
          </p:nvSpPr>
          <p:spPr>
            <a:xfrm>
              <a:off x="0" y="3377183"/>
              <a:ext cx="722630" cy="104139"/>
            </a:xfrm>
            <a:custGeom>
              <a:avLst/>
              <a:gdLst/>
              <a:ahLst/>
              <a:cxnLst/>
              <a:rect l="l" t="t" r="r" b="b"/>
              <a:pathLst>
                <a:path w="722630" h="104139">
                  <a:moveTo>
                    <a:pt x="722376" y="0"/>
                  </a:moveTo>
                  <a:lnTo>
                    <a:pt x="0" y="0"/>
                  </a:lnTo>
                  <a:lnTo>
                    <a:pt x="0" y="103632"/>
                  </a:lnTo>
                  <a:lnTo>
                    <a:pt x="722376" y="103632"/>
                  </a:lnTo>
                  <a:lnTo>
                    <a:pt x="722376" y="0"/>
                  </a:lnTo>
                  <a:close/>
                </a:path>
              </a:pathLst>
            </a:custGeom>
            <a:solidFill>
              <a:srgbClr val="7DCE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0851" y="3377183"/>
              <a:ext cx="5217160" cy="104139"/>
            </a:xfrm>
            <a:custGeom>
              <a:avLst/>
              <a:gdLst/>
              <a:ahLst/>
              <a:cxnLst/>
              <a:rect l="l" t="t" r="r" b="b"/>
              <a:pathLst>
                <a:path w="5217160" h="104139">
                  <a:moveTo>
                    <a:pt x="5216652" y="0"/>
                  </a:moveTo>
                  <a:lnTo>
                    <a:pt x="0" y="0"/>
                  </a:lnTo>
                  <a:lnTo>
                    <a:pt x="0" y="103632"/>
                  </a:lnTo>
                  <a:lnTo>
                    <a:pt x="5216652" y="103632"/>
                  </a:lnTo>
                  <a:lnTo>
                    <a:pt x="5216652" y="0"/>
                  </a:lnTo>
                  <a:close/>
                </a:path>
              </a:pathLst>
            </a:custGeom>
            <a:solidFill>
              <a:srgbClr val="208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207" y="2388107"/>
              <a:ext cx="4930902" cy="120319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3503" y="2500883"/>
              <a:ext cx="1620774" cy="10157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30011" y="2500883"/>
              <a:ext cx="756665" cy="10157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82411" y="2500883"/>
              <a:ext cx="1556765" cy="1015746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65226" y="2532633"/>
            <a:ext cx="625348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dirty="0">
                <a:solidFill>
                  <a:srgbClr val="1D405D"/>
                </a:solidFill>
                <a:latin typeface="Times New Roman"/>
                <a:cs typeface="Times New Roman"/>
              </a:rPr>
              <a:t>Critical</a:t>
            </a:r>
            <a:r>
              <a:rPr sz="4300" spc="-145" dirty="0">
                <a:solidFill>
                  <a:srgbClr val="1D405D"/>
                </a:solidFill>
                <a:latin typeface="Times New Roman"/>
                <a:cs typeface="Times New Roman"/>
              </a:rPr>
              <a:t> </a:t>
            </a:r>
            <a:r>
              <a:rPr sz="4300" dirty="0">
                <a:solidFill>
                  <a:srgbClr val="1D405D"/>
                </a:solidFill>
                <a:latin typeface="Times New Roman"/>
                <a:cs typeface="Times New Roman"/>
              </a:rPr>
              <a:t>Thinking</a:t>
            </a:r>
            <a:r>
              <a:rPr sz="4300" spc="-135" dirty="0">
                <a:solidFill>
                  <a:srgbClr val="1D405D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D405D"/>
                </a:solidFill>
                <a:latin typeface="Times New Roman"/>
                <a:cs typeface="Times New Roman"/>
              </a:rPr>
              <a:t>(BES-</a:t>
            </a:r>
            <a:r>
              <a:rPr spc="-20" dirty="0">
                <a:solidFill>
                  <a:srgbClr val="1D405D"/>
                </a:solidFill>
                <a:latin typeface="Times New Roman"/>
                <a:cs typeface="Times New Roman"/>
              </a:rPr>
              <a:t>103)</a:t>
            </a:r>
            <a:endParaRPr sz="4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1576" y="3700017"/>
            <a:ext cx="290068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2085C5"/>
                </a:solidFill>
                <a:latin typeface="Trebuchet MS"/>
                <a:cs typeface="Trebuchet MS"/>
              </a:rPr>
              <a:t>Lecture</a:t>
            </a:r>
            <a:r>
              <a:rPr sz="2000" b="1" spc="55" dirty="0">
                <a:solidFill>
                  <a:srgbClr val="2085C5"/>
                </a:solidFill>
                <a:latin typeface="Trebuchet MS"/>
                <a:cs typeface="Trebuchet MS"/>
              </a:rPr>
              <a:t> </a:t>
            </a:r>
            <a:r>
              <a:rPr sz="2000" b="1" spc="-50" dirty="0">
                <a:solidFill>
                  <a:srgbClr val="2085C5"/>
                </a:solidFill>
                <a:latin typeface="Trebuchet MS"/>
                <a:cs typeface="Trebuchet MS"/>
              </a:rPr>
              <a:t>3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2085C5"/>
                </a:solidFill>
                <a:latin typeface="Trebuchet MS"/>
                <a:cs typeface="Trebuchet MS"/>
              </a:rPr>
              <a:t>Critical</a:t>
            </a:r>
            <a:r>
              <a:rPr sz="2000" b="1" spc="-40" dirty="0">
                <a:solidFill>
                  <a:srgbClr val="2085C5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085C5"/>
                </a:solidFill>
                <a:latin typeface="Trebuchet MS"/>
                <a:cs typeface="Trebuchet MS"/>
              </a:rPr>
              <a:t>Thinking</a:t>
            </a:r>
            <a:r>
              <a:rPr sz="2000" b="1" spc="-5" dirty="0">
                <a:solidFill>
                  <a:srgbClr val="2085C5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2085C5"/>
                </a:solidFill>
                <a:latin typeface="Trebuchet MS"/>
                <a:cs typeface="Trebuchet MS"/>
              </a:rPr>
              <a:t>Barrier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39866" y="5544108"/>
            <a:ext cx="2765934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41655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 err="1" smtClean="0">
                <a:solidFill>
                  <a:srgbClr val="F10152"/>
                </a:solidFill>
                <a:latin typeface="Trebuchet MS"/>
                <a:cs typeface="Trebuchet MS"/>
              </a:rPr>
              <a:t>Hadiqua</a:t>
            </a:r>
            <a:r>
              <a:rPr lang="en-US" sz="1800" b="1" dirty="0" smtClean="0">
                <a:solidFill>
                  <a:srgbClr val="F10152"/>
                </a:solidFill>
                <a:latin typeface="Trebuchet MS"/>
                <a:cs typeface="Trebuchet MS"/>
              </a:rPr>
              <a:t> </a:t>
            </a:r>
            <a:r>
              <a:rPr lang="en-US" sz="1800" b="1" dirty="0" err="1" smtClean="0">
                <a:solidFill>
                  <a:srgbClr val="F10152"/>
                </a:solidFill>
                <a:latin typeface="Trebuchet MS"/>
                <a:cs typeface="Trebuchet MS"/>
              </a:rPr>
              <a:t>Fazal</a:t>
            </a:r>
            <a:endParaRPr lang="en-US" sz="1800" b="1" dirty="0" smtClean="0">
              <a:solidFill>
                <a:srgbClr val="F10152"/>
              </a:solidFill>
              <a:latin typeface="Trebuchet MS"/>
              <a:cs typeface="Trebuchet MS"/>
            </a:endParaRPr>
          </a:p>
          <a:p>
            <a:pPr marL="12700" marR="541655">
              <a:lnSpc>
                <a:spcPct val="100000"/>
              </a:lnSpc>
              <a:spcBef>
                <a:spcPts val="100"/>
              </a:spcBef>
            </a:pPr>
            <a:r>
              <a:rPr lang="en-US" b="1" dirty="0" smtClean="0">
                <a:solidFill>
                  <a:srgbClr val="F10152"/>
                </a:solidFill>
                <a:latin typeface="Trebuchet MS"/>
                <a:cs typeface="Trebuchet MS"/>
              </a:rPr>
              <a:t>Assistant Professor </a:t>
            </a:r>
            <a:endParaRPr sz="18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1800" b="1" spc="50" dirty="0">
                <a:solidFill>
                  <a:srgbClr val="F10152"/>
                </a:solidFill>
                <a:latin typeface="Trebuchet MS"/>
                <a:cs typeface="Trebuchet MS"/>
              </a:rPr>
              <a:t>Computer</a:t>
            </a:r>
            <a:r>
              <a:rPr sz="1800" b="1" spc="-120" dirty="0">
                <a:solidFill>
                  <a:srgbClr val="F10152"/>
                </a:solidFill>
                <a:latin typeface="Trebuchet MS"/>
                <a:cs typeface="Trebuchet MS"/>
              </a:rPr>
              <a:t> </a:t>
            </a:r>
            <a:r>
              <a:rPr sz="1800" b="1" spc="45" dirty="0">
                <a:solidFill>
                  <a:srgbClr val="F10152"/>
                </a:solidFill>
                <a:latin typeface="Trebuchet MS"/>
                <a:cs typeface="Trebuchet MS"/>
              </a:rPr>
              <a:t>Science </a:t>
            </a:r>
            <a:r>
              <a:rPr sz="1800" b="1" spc="-10" dirty="0">
                <a:solidFill>
                  <a:srgbClr val="F10152"/>
                </a:solidFill>
                <a:latin typeface="Trebuchet MS"/>
                <a:cs typeface="Trebuchet MS"/>
              </a:rPr>
              <a:t>Department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981B9"/>
                </a:solidFill>
              </a:rPr>
              <a:t>Lecture</a:t>
            </a:r>
            <a:r>
              <a:rPr spc="35" dirty="0">
                <a:solidFill>
                  <a:srgbClr val="3981B9"/>
                </a:solidFill>
              </a:rPr>
              <a:t> </a:t>
            </a:r>
            <a:r>
              <a:rPr spc="-10" dirty="0">
                <a:solidFill>
                  <a:srgbClr val="3981B9"/>
                </a:solidFill>
              </a:rPr>
              <a:t>Outline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0273" rIns="0" bIns="0" rtlCol="0">
            <a:spAutoFit/>
          </a:bodyPr>
          <a:lstStyle/>
          <a:p>
            <a:pPr marL="417195">
              <a:lnSpc>
                <a:spcPts val="3540"/>
              </a:lnSpc>
              <a:spcBef>
                <a:spcPts val="100"/>
              </a:spcBef>
            </a:pPr>
            <a:r>
              <a:rPr sz="3000" dirty="0">
                <a:latin typeface="Cambria Math"/>
                <a:cs typeface="Cambria Math"/>
              </a:rPr>
              <a:t>▷</a:t>
            </a:r>
            <a:r>
              <a:rPr sz="3000" spc="130" dirty="0">
                <a:latin typeface="Cambria Math"/>
                <a:cs typeface="Cambria Math"/>
              </a:rPr>
              <a:t> </a:t>
            </a:r>
            <a:r>
              <a:rPr sz="2400" spc="-10" dirty="0"/>
              <a:t>Egocentrism</a:t>
            </a:r>
            <a:endParaRPr sz="2400">
              <a:latin typeface="Cambria Math"/>
              <a:cs typeface="Cambria Math"/>
            </a:endParaRPr>
          </a:p>
          <a:p>
            <a:pPr marL="417195">
              <a:lnSpc>
                <a:spcPts val="3479"/>
              </a:lnSpc>
            </a:pPr>
            <a:r>
              <a:rPr sz="3000" dirty="0">
                <a:latin typeface="Cambria Math"/>
                <a:cs typeface="Cambria Math"/>
              </a:rPr>
              <a:t>▷</a:t>
            </a:r>
            <a:r>
              <a:rPr sz="3000" spc="130" dirty="0">
                <a:latin typeface="Cambria Math"/>
                <a:cs typeface="Cambria Math"/>
              </a:rPr>
              <a:t> </a:t>
            </a:r>
            <a:r>
              <a:rPr sz="2400" spc="-10" dirty="0"/>
              <a:t>Sociocentrism</a:t>
            </a:r>
            <a:endParaRPr sz="2400">
              <a:latin typeface="Cambria Math"/>
              <a:cs typeface="Cambria Math"/>
            </a:endParaRPr>
          </a:p>
          <a:p>
            <a:pPr marL="417195">
              <a:lnSpc>
                <a:spcPts val="3479"/>
              </a:lnSpc>
            </a:pPr>
            <a:r>
              <a:rPr sz="3000" dirty="0">
                <a:latin typeface="Cambria Math"/>
                <a:cs typeface="Cambria Math"/>
              </a:rPr>
              <a:t>▷</a:t>
            </a:r>
            <a:r>
              <a:rPr sz="3000" spc="225" dirty="0">
                <a:latin typeface="Cambria Math"/>
                <a:cs typeface="Cambria Math"/>
              </a:rPr>
              <a:t> </a:t>
            </a:r>
            <a:r>
              <a:rPr sz="2400" dirty="0"/>
              <a:t>Unwarranted</a:t>
            </a:r>
            <a:r>
              <a:rPr sz="2400" spc="-85" dirty="0"/>
              <a:t> </a:t>
            </a:r>
            <a:r>
              <a:rPr sz="2400" spc="-10" dirty="0"/>
              <a:t>Assumptions</a:t>
            </a:r>
            <a:endParaRPr sz="2400">
              <a:latin typeface="Cambria Math"/>
              <a:cs typeface="Cambria Math"/>
            </a:endParaRPr>
          </a:p>
          <a:p>
            <a:pPr marL="417195">
              <a:lnSpc>
                <a:spcPts val="3479"/>
              </a:lnSpc>
            </a:pPr>
            <a:r>
              <a:rPr sz="3000" dirty="0">
                <a:latin typeface="Cambria Math"/>
                <a:cs typeface="Cambria Math"/>
              </a:rPr>
              <a:t>▷</a:t>
            </a:r>
            <a:r>
              <a:rPr sz="3000" spc="204" dirty="0">
                <a:latin typeface="Cambria Math"/>
                <a:cs typeface="Cambria Math"/>
              </a:rPr>
              <a:t> </a:t>
            </a:r>
            <a:r>
              <a:rPr sz="2400" dirty="0"/>
              <a:t>Relativistic</a:t>
            </a:r>
            <a:r>
              <a:rPr sz="2400" spc="-95" dirty="0"/>
              <a:t> </a:t>
            </a:r>
            <a:r>
              <a:rPr sz="2400" spc="-10" dirty="0"/>
              <a:t>Thinking</a:t>
            </a:r>
            <a:endParaRPr sz="2400">
              <a:latin typeface="Cambria Math"/>
              <a:cs typeface="Cambria Math"/>
            </a:endParaRPr>
          </a:p>
          <a:p>
            <a:pPr marL="417195">
              <a:lnSpc>
                <a:spcPts val="3540"/>
              </a:lnSpc>
            </a:pPr>
            <a:r>
              <a:rPr sz="3000" dirty="0">
                <a:latin typeface="Cambria Math"/>
                <a:cs typeface="Cambria Math"/>
              </a:rPr>
              <a:t>▷</a:t>
            </a:r>
            <a:r>
              <a:rPr sz="3000" spc="130" dirty="0">
                <a:latin typeface="Cambria Math"/>
                <a:cs typeface="Cambria Math"/>
              </a:rPr>
              <a:t> </a:t>
            </a:r>
            <a:r>
              <a:rPr sz="2400" spc="50" dirty="0"/>
              <a:t>Wishful</a:t>
            </a:r>
            <a:r>
              <a:rPr sz="2400" spc="-165" dirty="0"/>
              <a:t> </a:t>
            </a:r>
            <a:r>
              <a:rPr sz="2400" spc="-10" dirty="0"/>
              <a:t>Thinking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Egocentrism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818" y="1906015"/>
            <a:ext cx="7041515" cy="371411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431165" marR="657860" indent="-419100">
              <a:lnSpc>
                <a:spcPts val="2880"/>
              </a:lnSpc>
              <a:spcBef>
                <a:spcPts val="79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6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Egocentrism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tendency</a:t>
            </a:r>
            <a:r>
              <a:rPr sz="2400" spc="-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see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reality</a:t>
            </a:r>
            <a:r>
              <a:rPr sz="24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as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centered</a:t>
            </a:r>
            <a:r>
              <a:rPr sz="24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on</a:t>
            </a:r>
            <a:r>
              <a:rPr sz="2400" spc="-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oneself.</a:t>
            </a:r>
            <a:endParaRPr sz="2400" dirty="0">
              <a:latin typeface="Tahoma"/>
              <a:cs typeface="Tahoma"/>
            </a:endParaRPr>
          </a:p>
          <a:p>
            <a:pPr marL="431165" marR="5080" indent="-419100">
              <a:lnSpc>
                <a:spcPct val="96000"/>
              </a:lnSpc>
              <a:spcBef>
                <a:spcPts val="5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9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Egocentrics</a:t>
            </a:r>
            <a:r>
              <a:rPr sz="24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selfish,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self-absorbed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people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who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view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their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interests,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677480"/>
                </a:solidFill>
                <a:latin typeface="Tahoma"/>
                <a:cs typeface="Tahoma"/>
              </a:rPr>
              <a:t>ideas,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values</a:t>
            </a:r>
            <a:r>
              <a:rPr sz="24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677480"/>
                </a:solidFill>
                <a:latin typeface="Tahoma"/>
                <a:cs typeface="Tahoma"/>
              </a:rPr>
              <a:t>as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superior</a:t>
            </a:r>
            <a:endParaRPr sz="2400" dirty="0">
              <a:latin typeface="Tahoma"/>
              <a:cs typeface="Tahoma"/>
            </a:endParaRPr>
          </a:p>
          <a:p>
            <a:pPr marL="431165">
              <a:lnSpc>
                <a:spcPct val="100000"/>
              </a:lnSpc>
            </a:pP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-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everyone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else’s.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ts val="3540"/>
              </a:lnSpc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7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Egocentrism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can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manifest</a:t>
            </a:r>
            <a:r>
              <a:rPr sz="24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itself</a:t>
            </a:r>
            <a:r>
              <a:rPr sz="24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85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4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variety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2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endParaRPr sz="2400" dirty="0">
              <a:latin typeface="Tahoma"/>
              <a:cs typeface="Tahoma"/>
            </a:endParaRPr>
          </a:p>
          <a:p>
            <a:pPr marL="431165">
              <a:lnSpc>
                <a:spcPts val="2820"/>
              </a:lnSpc>
            </a:pPr>
            <a:r>
              <a:rPr sz="2400" spc="-30" dirty="0">
                <a:solidFill>
                  <a:srgbClr val="677480"/>
                </a:solidFill>
                <a:latin typeface="Tahoma"/>
                <a:cs typeface="Tahoma"/>
              </a:rPr>
              <a:t>ways.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Two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common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forms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are: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ts val="3540"/>
              </a:lnSpc>
              <a:tabLst>
                <a:tab pos="509270" algn="l"/>
              </a:tabLst>
            </a:pPr>
            <a:r>
              <a:rPr sz="3000" spc="-50" dirty="0" smtClean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lang="en-US" sz="300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 smtClean="0">
                <a:solidFill>
                  <a:srgbClr val="FF0000"/>
                </a:solidFill>
                <a:latin typeface="Tahoma"/>
                <a:cs typeface="Tahoma"/>
              </a:rPr>
              <a:t>self-interested</a:t>
            </a:r>
            <a:r>
              <a:rPr sz="2400" spc="-25" dirty="0" smtClean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thinking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ts val="3540"/>
              </a:lnSpc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7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self-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serving</a:t>
            </a:r>
            <a:r>
              <a:rPr sz="2400" spc="-1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ahoma"/>
                <a:cs typeface="Tahoma"/>
              </a:rPr>
              <a:t>bias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557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95"/>
              </a:spcBef>
            </a:pPr>
            <a:r>
              <a:rPr sz="2800" spc="80" dirty="0"/>
              <a:t>Egocentrism-</a:t>
            </a:r>
            <a:r>
              <a:rPr sz="2800" spc="100" dirty="0">
                <a:solidFill>
                  <a:srgbClr val="FF0000"/>
                </a:solidFill>
              </a:rPr>
              <a:t>Self-</a:t>
            </a:r>
            <a:r>
              <a:rPr sz="2800" dirty="0">
                <a:solidFill>
                  <a:srgbClr val="FF0000"/>
                </a:solidFill>
              </a:rPr>
              <a:t>Interested</a:t>
            </a:r>
            <a:r>
              <a:rPr sz="2800" spc="265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Thinking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010818" y="1659382"/>
            <a:ext cx="6804659" cy="273875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431165" marR="179070" indent="-419100">
              <a:lnSpc>
                <a:spcPts val="2880"/>
              </a:lnSpc>
              <a:spcBef>
                <a:spcPts val="79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20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Self-interested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thinking</a:t>
            </a:r>
            <a:r>
              <a:rPr sz="24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tendency</a:t>
            </a:r>
            <a:r>
              <a:rPr sz="24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25" dirty="0">
                <a:solidFill>
                  <a:srgbClr val="677480"/>
                </a:solidFill>
                <a:latin typeface="Tahoma"/>
                <a:cs typeface="Tahoma"/>
              </a:rPr>
              <a:t>to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accept</a:t>
            </a:r>
            <a:r>
              <a:rPr sz="24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defend</a:t>
            </a:r>
            <a:r>
              <a:rPr sz="24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beliefs</a:t>
            </a:r>
            <a:r>
              <a:rPr sz="24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harmonize</a:t>
            </a:r>
            <a:r>
              <a:rPr sz="24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with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one’s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self-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interest.</a:t>
            </a:r>
            <a:endParaRPr sz="2400">
              <a:latin typeface="Tahoma"/>
              <a:cs typeface="Tahoma"/>
            </a:endParaRPr>
          </a:p>
          <a:p>
            <a:pPr marL="431165" marR="5080" indent="-419100">
              <a:lnSpc>
                <a:spcPts val="2880"/>
              </a:lnSpc>
              <a:spcBef>
                <a:spcPts val="6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9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Self-interest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defined</a:t>
            </a:r>
            <a:r>
              <a:rPr sz="24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677480"/>
                </a:solidFill>
                <a:latin typeface="Tahoma"/>
                <a:cs typeface="Tahoma"/>
              </a:rPr>
              <a:t>as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being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focused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on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yourself</a:t>
            </a:r>
            <a:r>
              <a:rPr sz="24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putting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yourself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at</a:t>
            </a:r>
            <a:r>
              <a:rPr sz="2400" spc="-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677480"/>
                </a:solidFill>
                <a:latin typeface="Tahoma"/>
                <a:cs typeface="Tahoma"/>
              </a:rPr>
              <a:t>an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677480"/>
                </a:solidFill>
                <a:latin typeface="Tahoma"/>
                <a:cs typeface="Tahoma"/>
              </a:rPr>
              <a:t>advantage.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An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example</a:t>
            </a:r>
            <a:r>
              <a:rPr sz="2400" spc="-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self-interest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thinking</a:t>
            </a:r>
            <a:r>
              <a:rPr sz="24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about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your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needs</a:t>
            </a:r>
            <a:r>
              <a:rPr sz="24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above</a:t>
            </a:r>
            <a:r>
              <a:rPr sz="24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needs</a:t>
            </a:r>
            <a:r>
              <a:rPr sz="24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others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around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you.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Example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0753" rIns="0" bIns="0" rtlCol="0">
            <a:spAutoFit/>
          </a:bodyPr>
          <a:lstStyle/>
          <a:p>
            <a:pPr marL="835660" marR="5080" indent="-419100">
              <a:lnSpc>
                <a:spcPts val="3360"/>
              </a:lnSpc>
              <a:spcBef>
                <a:spcPts val="409"/>
              </a:spcBef>
            </a:pPr>
            <a:r>
              <a:rPr sz="3000" dirty="0">
                <a:latin typeface="Cambria Math"/>
                <a:cs typeface="Cambria Math"/>
              </a:rPr>
              <a:t>▷</a:t>
            </a:r>
            <a:r>
              <a:rPr sz="3000" spc="160" dirty="0">
                <a:latin typeface="Cambria Math"/>
                <a:cs typeface="Cambria Math"/>
              </a:rPr>
              <a:t> </a:t>
            </a:r>
            <a:r>
              <a:rPr spc="55" dirty="0"/>
              <a:t>You</a:t>
            </a:r>
            <a:r>
              <a:rPr spc="-125" dirty="0"/>
              <a:t> </a:t>
            </a:r>
            <a:r>
              <a:rPr spc="-20" dirty="0"/>
              <a:t>are</a:t>
            </a:r>
            <a:r>
              <a:rPr spc="-130" dirty="0"/>
              <a:t> </a:t>
            </a:r>
            <a:r>
              <a:rPr dirty="0"/>
              <a:t>on</a:t>
            </a:r>
            <a:r>
              <a:rPr spc="-135" dirty="0"/>
              <a:t> </a:t>
            </a:r>
            <a:r>
              <a:rPr spc="-95" dirty="0"/>
              <a:t>a</a:t>
            </a:r>
            <a:r>
              <a:rPr spc="-130" dirty="0"/>
              <a:t> </a:t>
            </a:r>
            <a:r>
              <a:rPr dirty="0"/>
              <a:t>committee</a:t>
            </a:r>
            <a:r>
              <a:rPr spc="-155" dirty="0"/>
              <a:t> </a:t>
            </a:r>
            <a:r>
              <a:rPr spc="60" dirty="0"/>
              <a:t>to</a:t>
            </a:r>
            <a:r>
              <a:rPr spc="-130" dirty="0"/>
              <a:t> </a:t>
            </a:r>
            <a:r>
              <a:rPr dirty="0"/>
              <a:t>decide</a:t>
            </a:r>
            <a:r>
              <a:rPr spc="-135" dirty="0"/>
              <a:t> </a:t>
            </a:r>
            <a:r>
              <a:rPr spc="50" dirty="0"/>
              <a:t>if</a:t>
            </a:r>
            <a:r>
              <a:rPr spc="-120" dirty="0"/>
              <a:t> </a:t>
            </a:r>
            <a:r>
              <a:rPr spc="-10" dirty="0"/>
              <a:t>classes </a:t>
            </a:r>
            <a:r>
              <a:rPr dirty="0"/>
              <a:t>should</a:t>
            </a:r>
            <a:r>
              <a:rPr spc="-145" dirty="0"/>
              <a:t> </a:t>
            </a:r>
            <a:r>
              <a:rPr dirty="0"/>
              <a:t>start</a:t>
            </a:r>
            <a:r>
              <a:rPr spc="-170" dirty="0"/>
              <a:t> </a:t>
            </a:r>
            <a:r>
              <a:rPr dirty="0"/>
              <a:t>at</a:t>
            </a:r>
            <a:r>
              <a:rPr spc="-165" dirty="0"/>
              <a:t> </a:t>
            </a:r>
            <a:r>
              <a:rPr spc="-10" dirty="0"/>
              <a:t>8am</a:t>
            </a:r>
            <a:r>
              <a:rPr spc="-150" dirty="0"/>
              <a:t> </a:t>
            </a:r>
            <a:r>
              <a:rPr spc="-20" dirty="0"/>
              <a:t>and</a:t>
            </a:r>
            <a:r>
              <a:rPr spc="-150" dirty="0"/>
              <a:t> </a:t>
            </a:r>
            <a:r>
              <a:rPr dirty="0"/>
              <a:t>finish</a:t>
            </a:r>
            <a:r>
              <a:rPr spc="-150" dirty="0"/>
              <a:t> </a:t>
            </a:r>
            <a:r>
              <a:rPr dirty="0"/>
              <a:t>at</a:t>
            </a:r>
            <a:r>
              <a:rPr spc="-165" dirty="0"/>
              <a:t> </a:t>
            </a:r>
            <a:r>
              <a:rPr dirty="0"/>
              <a:t>3pm</a:t>
            </a:r>
            <a:r>
              <a:rPr spc="-145" dirty="0"/>
              <a:t> </a:t>
            </a:r>
            <a:r>
              <a:rPr dirty="0"/>
              <a:t>or</a:t>
            </a:r>
            <a:r>
              <a:rPr spc="-150" dirty="0"/>
              <a:t> </a:t>
            </a:r>
            <a:r>
              <a:rPr spc="-10" dirty="0"/>
              <a:t>start </a:t>
            </a:r>
            <a:r>
              <a:rPr dirty="0"/>
              <a:t>at</a:t>
            </a:r>
            <a:r>
              <a:rPr spc="-185" dirty="0"/>
              <a:t> </a:t>
            </a:r>
            <a:r>
              <a:rPr spc="-10" dirty="0"/>
              <a:t>9am</a:t>
            </a:r>
            <a:r>
              <a:rPr spc="-165" dirty="0"/>
              <a:t> </a:t>
            </a:r>
            <a:r>
              <a:rPr spc="-20" dirty="0"/>
              <a:t>and</a:t>
            </a:r>
            <a:r>
              <a:rPr spc="-165" dirty="0"/>
              <a:t> </a:t>
            </a:r>
            <a:r>
              <a:rPr dirty="0"/>
              <a:t>finish</a:t>
            </a:r>
            <a:r>
              <a:rPr spc="-170" dirty="0"/>
              <a:t> </a:t>
            </a:r>
            <a:r>
              <a:rPr dirty="0"/>
              <a:t>at</a:t>
            </a:r>
            <a:r>
              <a:rPr spc="-165" dirty="0"/>
              <a:t> </a:t>
            </a:r>
            <a:r>
              <a:rPr spc="-20" dirty="0"/>
              <a:t>4pm.</a:t>
            </a:r>
            <a:endParaRPr sz="3000">
              <a:latin typeface="Cambria Math"/>
              <a:cs typeface="Cambria Math"/>
            </a:endParaRPr>
          </a:p>
          <a:p>
            <a:pPr marL="835660" marR="338455" indent="-419100">
              <a:lnSpc>
                <a:spcPts val="3360"/>
              </a:lnSpc>
              <a:spcBef>
                <a:spcPts val="605"/>
              </a:spcBef>
            </a:pPr>
            <a:r>
              <a:rPr sz="3000" dirty="0">
                <a:latin typeface="Cambria Math"/>
                <a:cs typeface="Cambria Math"/>
              </a:rPr>
              <a:t>▷</a:t>
            </a:r>
            <a:r>
              <a:rPr sz="3000" spc="155" dirty="0">
                <a:latin typeface="Cambria Math"/>
                <a:cs typeface="Cambria Math"/>
              </a:rPr>
              <a:t> </a:t>
            </a:r>
            <a:r>
              <a:rPr spc="55" dirty="0"/>
              <a:t>You</a:t>
            </a:r>
            <a:r>
              <a:rPr spc="-125" dirty="0"/>
              <a:t> </a:t>
            </a:r>
            <a:r>
              <a:rPr dirty="0"/>
              <a:t>do</a:t>
            </a:r>
            <a:r>
              <a:rPr spc="-135" dirty="0"/>
              <a:t> </a:t>
            </a:r>
            <a:r>
              <a:rPr spc="-95" dirty="0"/>
              <a:t>a</a:t>
            </a:r>
            <a:r>
              <a:rPr spc="-135" dirty="0"/>
              <a:t> </a:t>
            </a:r>
            <a:r>
              <a:rPr dirty="0"/>
              <a:t>survey</a:t>
            </a:r>
            <a:r>
              <a:rPr spc="-145" dirty="0"/>
              <a:t> </a:t>
            </a:r>
            <a:r>
              <a:rPr spc="-20" dirty="0"/>
              <a:t>and</a:t>
            </a:r>
            <a:r>
              <a:rPr spc="-130" dirty="0"/>
              <a:t> </a:t>
            </a:r>
            <a:r>
              <a:rPr dirty="0"/>
              <a:t>find</a:t>
            </a:r>
            <a:r>
              <a:rPr spc="-135" dirty="0"/>
              <a:t> </a:t>
            </a:r>
            <a:r>
              <a:rPr dirty="0"/>
              <a:t>that</a:t>
            </a:r>
            <a:r>
              <a:rPr spc="-150" dirty="0"/>
              <a:t> </a:t>
            </a:r>
            <a:r>
              <a:rPr spc="-35" dirty="0"/>
              <a:t>many</a:t>
            </a:r>
            <a:r>
              <a:rPr spc="-150" dirty="0"/>
              <a:t> </a:t>
            </a:r>
            <a:r>
              <a:rPr spc="-10" dirty="0"/>
              <a:t>people </a:t>
            </a:r>
            <a:r>
              <a:rPr dirty="0"/>
              <a:t>want</a:t>
            </a:r>
            <a:r>
              <a:rPr spc="-145" dirty="0"/>
              <a:t> </a:t>
            </a:r>
            <a:r>
              <a:rPr spc="60" dirty="0"/>
              <a:t>to</a:t>
            </a:r>
            <a:r>
              <a:rPr spc="-140" dirty="0"/>
              <a:t> </a:t>
            </a:r>
            <a:r>
              <a:rPr dirty="0"/>
              <a:t>finish</a:t>
            </a:r>
            <a:r>
              <a:rPr spc="-130" dirty="0"/>
              <a:t> </a:t>
            </a:r>
            <a:r>
              <a:rPr dirty="0"/>
              <a:t>early</a:t>
            </a:r>
            <a:r>
              <a:rPr spc="-145" dirty="0"/>
              <a:t> </a:t>
            </a:r>
            <a:r>
              <a:rPr spc="-45" dirty="0"/>
              <a:t>(they</a:t>
            </a:r>
            <a:r>
              <a:rPr spc="-140" dirty="0"/>
              <a:t> </a:t>
            </a:r>
            <a:r>
              <a:rPr dirty="0"/>
              <a:t>travel</a:t>
            </a:r>
            <a:r>
              <a:rPr spc="-140" dirty="0"/>
              <a:t> </a:t>
            </a:r>
            <a:r>
              <a:rPr spc="-20" dirty="0"/>
              <a:t>long </a:t>
            </a:r>
            <a:r>
              <a:rPr spc="-10" dirty="0"/>
              <a:t>distances).</a:t>
            </a:r>
            <a:endParaRPr sz="3000">
              <a:latin typeface="Cambria Math"/>
              <a:cs typeface="Cambria Math"/>
            </a:endParaRPr>
          </a:p>
          <a:p>
            <a:pPr marL="835660" marR="704850" indent="-419100">
              <a:lnSpc>
                <a:spcPts val="3360"/>
              </a:lnSpc>
              <a:spcBef>
                <a:spcPts val="590"/>
              </a:spcBef>
            </a:pPr>
            <a:r>
              <a:rPr sz="3000" dirty="0">
                <a:latin typeface="Cambria Math"/>
                <a:cs typeface="Cambria Math"/>
              </a:rPr>
              <a:t>▷</a:t>
            </a:r>
            <a:r>
              <a:rPr sz="3000" spc="170" dirty="0">
                <a:latin typeface="Cambria Math"/>
                <a:cs typeface="Cambria Math"/>
              </a:rPr>
              <a:t> </a:t>
            </a:r>
            <a:r>
              <a:rPr b="1" spc="-100" dirty="0">
                <a:latin typeface="Tahoma"/>
                <a:cs typeface="Tahoma"/>
              </a:rPr>
              <a:t>BUT</a:t>
            </a:r>
            <a:r>
              <a:rPr spc="-100" dirty="0"/>
              <a:t>,</a:t>
            </a:r>
            <a:r>
              <a:rPr spc="-114" dirty="0"/>
              <a:t> </a:t>
            </a:r>
            <a:r>
              <a:rPr dirty="0"/>
              <a:t>you</a:t>
            </a:r>
            <a:r>
              <a:rPr spc="-120" dirty="0"/>
              <a:t> </a:t>
            </a:r>
            <a:r>
              <a:rPr dirty="0"/>
              <a:t>vote</a:t>
            </a:r>
            <a:r>
              <a:rPr spc="-120" dirty="0"/>
              <a:t> </a:t>
            </a:r>
            <a:r>
              <a:rPr spc="60" dirty="0"/>
              <a:t>to</a:t>
            </a:r>
            <a:r>
              <a:rPr spc="-120" dirty="0"/>
              <a:t> </a:t>
            </a:r>
            <a:r>
              <a:rPr dirty="0"/>
              <a:t>start</a:t>
            </a:r>
            <a:r>
              <a:rPr spc="-135" dirty="0"/>
              <a:t> </a:t>
            </a:r>
            <a:r>
              <a:rPr dirty="0"/>
              <a:t>later</a:t>
            </a:r>
            <a:r>
              <a:rPr spc="-114" dirty="0"/>
              <a:t> </a:t>
            </a:r>
            <a:r>
              <a:rPr spc="-20" dirty="0"/>
              <a:t>because</a:t>
            </a:r>
            <a:r>
              <a:rPr spc="-135" dirty="0"/>
              <a:t> </a:t>
            </a:r>
            <a:r>
              <a:rPr spc="-25" dirty="0"/>
              <a:t>you </a:t>
            </a:r>
            <a:r>
              <a:rPr dirty="0"/>
              <a:t>want</a:t>
            </a:r>
            <a:r>
              <a:rPr spc="-145" dirty="0"/>
              <a:t> </a:t>
            </a:r>
            <a:r>
              <a:rPr spc="60" dirty="0"/>
              <a:t>to</a:t>
            </a:r>
            <a:r>
              <a:rPr spc="-145" dirty="0"/>
              <a:t> </a:t>
            </a:r>
            <a:r>
              <a:rPr dirty="0"/>
              <a:t>sleep</a:t>
            </a:r>
            <a:r>
              <a:rPr spc="-140" dirty="0"/>
              <a:t> </a:t>
            </a:r>
            <a:r>
              <a:rPr spc="-25" dirty="0"/>
              <a:t>in.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spc="130" dirty="0">
                <a:solidFill>
                  <a:srgbClr val="FF0000"/>
                </a:solidFill>
              </a:rPr>
              <a:t>Self-</a:t>
            </a:r>
            <a:r>
              <a:rPr spc="105" dirty="0">
                <a:solidFill>
                  <a:srgbClr val="FF0000"/>
                </a:solidFill>
              </a:rPr>
              <a:t>Serving</a:t>
            </a:r>
            <a:r>
              <a:rPr spc="-200" dirty="0">
                <a:solidFill>
                  <a:srgbClr val="FF0000"/>
                </a:solidFill>
              </a:rPr>
              <a:t> </a:t>
            </a:r>
            <a:r>
              <a:rPr spc="100" dirty="0">
                <a:solidFill>
                  <a:srgbClr val="FF0000"/>
                </a:solidFill>
              </a:rPr>
              <a:t>Bias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4656" y="1568322"/>
            <a:ext cx="4100829" cy="420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93395">
              <a:lnSpc>
                <a:spcPct val="100000"/>
              </a:lnSpc>
              <a:spcBef>
                <a:spcPts val="100"/>
              </a:spcBef>
            </a:pPr>
            <a:r>
              <a:rPr sz="2400" spc="17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self-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serving</a:t>
            </a:r>
            <a:r>
              <a:rPr sz="24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bias</a:t>
            </a:r>
            <a:r>
              <a:rPr sz="24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the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common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habit</a:t>
            </a:r>
            <a:r>
              <a:rPr sz="24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-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85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person taking</a:t>
            </a:r>
            <a:r>
              <a:rPr sz="2400" spc="-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credit</a:t>
            </a:r>
            <a:r>
              <a:rPr sz="2400" spc="-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2400" spc="-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positive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events</a:t>
            </a:r>
            <a:r>
              <a:rPr sz="24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2400" spc="-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outcomes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but </a:t>
            </a:r>
            <a:r>
              <a:rPr sz="2400" spc="-30" dirty="0">
                <a:solidFill>
                  <a:srgbClr val="677480"/>
                </a:solidFill>
                <a:latin typeface="Tahoma"/>
                <a:cs typeface="Tahoma"/>
              </a:rPr>
              <a:t>blaming</a:t>
            </a:r>
            <a:r>
              <a:rPr sz="2400" spc="-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outside</a:t>
            </a:r>
            <a:r>
              <a:rPr sz="2400" spc="-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factors</a:t>
            </a:r>
            <a:r>
              <a:rPr sz="2400" spc="-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for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negative</a:t>
            </a:r>
            <a:r>
              <a:rPr sz="2400" spc="-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events.</a:t>
            </a:r>
            <a:endParaRPr sz="2400">
              <a:latin typeface="Tahoma"/>
              <a:cs typeface="Tahoma"/>
            </a:endParaRPr>
          </a:p>
          <a:p>
            <a:pPr marL="12700" marR="14224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can</a:t>
            </a:r>
            <a:r>
              <a:rPr sz="24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affected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by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age, culture,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clinical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677480"/>
                </a:solidFill>
                <a:latin typeface="Tahoma"/>
                <a:cs typeface="Tahoma"/>
              </a:rPr>
              <a:t>diagnosis,</a:t>
            </a:r>
            <a:r>
              <a:rPr sz="2400" spc="-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and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more.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It</a:t>
            </a:r>
            <a:r>
              <a:rPr sz="2400" spc="-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tends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occur</a:t>
            </a:r>
            <a:r>
              <a:rPr sz="2400" spc="-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widely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across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populations.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5588" y="1588008"/>
            <a:ext cx="3665219" cy="4511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818" y="1621282"/>
            <a:ext cx="7316470" cy="1931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31165" marR="5080" indent="-419100" algn="just">
              <a:lnSpc>
                <a:spcPct val="99000"/>
              </a:lnSpc>
              <a:spcBef>
                <a:spcPts val="13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2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A</a:t>
            </a:r>
            <a:r>
              <a:rPr sz="2400" spc="41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student</a:t>
            </a:r>
            <a:r>
              <a:rPr sz="2400" spc="40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gets</a:t>
            </a:r>
            <a:r>
              <a:rPr sz="2400" spc="42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a</a:t>
            </a:r>
            <a:r>
              <a:rPr sz="2400" spc="40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good</a:t>
            </a:r>
            <a:r>
              <a:rPr sz="2400" spc="409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grade</a:t>
            </a:r>
            <a:r>
              <a:rPr sz="2400" spc="40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on</a:t>
            </a:r>
            <a:r>
              <a:rPr sz="2400" spc="42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a</a:t>
            </a:r>
            <a:r>
              <a:rPr sz="2400" spc="40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test</a:t>
            </a:r>
            <a:r>
              <a:rPr sz="2400" spc="42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and</a:t>
            </a:r>
            <a:r>
              <a:rPr sz="2400" spc="41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Tahoma"/>
                <a:cs typeface="Tahoma"/>
              </a:rPr>
              <a:t>tells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herself</a:t>
            </a:r>
            <a:r>
              <a:rPr sz="2400" spc="57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that</a:t>
            </a:r>
            <a:r>
              <a:rPr sz="2400" spc="59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she</a:t>
            </a:r>
            <a:r>
              <a:rPr sz="2400" spc="58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studied</a:t>
            </a:r>
            <a:r>
              <a:rPr sz="2400" spc="58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hard</a:t>
            </a:r>
            <a:r>
              <a:rPr sz="2400" spc="58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or</a:t>
            </a:r>
            <a:r>
              <a:rPr sz="2400" spc="58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is</a:t>
            </a:r>
            <a:r>
              <a:rPr sz="2400" spc="58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good</a:t>
            </a:r>
            <a:r>
              <a:rPr sz="2400" spc="59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at</a:t>
            </a:r>
            <a:r>
              <a:rPr sz="2400" spc="59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7E7E7E"/>
                </a:solidFill>
                <a:latin typeface="Tahoma"/>
                <a:cs typeface="Tahoma"/>
              </a:rPr>
              <a:t>the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material.</a:t>
            </a:r>
            <a:r>
              <a:rPr sz="2400" spc="54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She</a:t>
            </a:r>
            <a:r>
              <a:rPr sz="2400" spc="55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gets</a:t>
            </a:r>
            <a:r>
              <a:rPr sz="2400" spc="54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a</a:t>
            </a:r>
            <a:r>
              <a:rPr sz="2400" spc="54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bad</a:t>
            </a:r>
            <a:r>
              <a:rPr sz="2400" spc="55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grade</a:t>
            </a:r>
            <a:r>
              <a:rPr sz="2400" spc="53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on</a:t>
            </a:r>
            <a:r>
              <a:rPr sz="2400" spc="54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another</a:t>
            </a:r>
            <a:r>
              <a:rPr sz="2400" spc="55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7E7E7E"/>
                </a:solidFill>
                <a:latin typeface="Tahoma"/>
                <a:cs typeface="Tahoma"/>
              </a:rPr>
              <a:t>test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and</a:t>
            </a:r>
            <a:r>
              <a:rPr sz="2400" spc="37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says</a:t>
            </a:r>
            <a:r>
              <a:rPr sz="2400" spc="36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the</a:t>
            </a:r>
            <a:r>
              <a:rPr sz="2400" spc="37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teacher</a:t>
            </a:r>
            <a:r>
              <a:rPr sz="2400" spc="37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doesn’t</a:t>
            </a:r>
            <a:r>
              <a:rPr sz="2400" spc="36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like</a:t>
            </a:r>
            <a:r>
              <a:rPr sz="2400" spc="36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her</a:t>
            </a:r>
            <a:r>
              <a:rPr sz="2400" spc="36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or</a:t>
            </a:r>
            <a:r>
              <a:rPr sz="2400" spc="36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the</a:t>
            </a:r>
            <a:r>
              <a:rPr sz="2400" spc="37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7E7E7E"/>
                </a:solidFill>
                <a:latin typeface="Tahoma"/>
                <a:cs typeface="Tahoma"/>
              </a:rPr>
              <a:t>test </a:t>
            </a:r>
            <a:r>
              <a:rPr sz="2400" dirty="0">
                <a:solidFill>
                  <a:srgbClr val="7E7E7E"/>
                </a:solidFill>
                <a:latin typeface="Tahoma"/>
                <a:cs typeface="Tahoma"/>
              </a:rPr>
              <a:t>was </a:t>
            </a:r>
            <a:r>
              <a:rPr sz="2400" spc="-10" dirty="0">
                <a:solidFill>
                  <a:srgbClr val="7E7E7E"/>
                </a:solidFill>
                <a:latin typeface="Tahoma"/>
                <a:cs typeface="Tahoma"/>
              </a:rPr>
              <a:t>unfair.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Sociocentrism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8561" rIns="0" bIns="0" rtlCol="0">
            <a:spAutoFit/>
          </a:bodyPr>
          <a:lstStyle/>
          <a:p>
            <a:pPr marL="692150" marR="5080" indent="-419100">
              <a:lnSpc>
                <a:spcPct val="99700"/>
              </a:lnSpc>
              <a:spcBef>
                <a:spcPts val="110"/>
              </a:spcBef>
            </a:pPr>
            <a:r>
              <a:rPr sz="3000" dirty="0">
                <a:latin typeface="Cambria Math"/>
                <a:cs typeface="Cambria Math"/>
              </a:rPr>
              <a:t>▷</a:t>
            </a:r>
            <a:r>
              <a:rPr sz="3000" spc="195" dirty="0">
                <a:latin typeface="Cambria Math"/>
                <a:cs typeface="Cambria Math"/>
              </a:rPr>
              <a:t> </a:t>
            </a:r>
            <a:r>
              <a:rPr dirty="0"/>
              <a:t>Sociocentrism</a:t>
            </a:r>
            <a:r>
              <a:rPr spc="-70" dirty="0"/>
              <a:t> </a:t>
            </a:r>
            <a:r>
              <a:rPr dirty="0"/>
              <a:t>is</a:t>
            </a:r>
            <a:r>
              <a:rPr spc="-100" dirty="0"/>
              <a:t> </a:t>
            </a:r>
            <a:r>
              <a:rPr spc="-10" dirty="0"/>
              <a:t>group-</a:t>
            </a:r>
            <a:r>
              <a:rPr dirty="0"/>
              <a:t>centered</a:t>
            </a:r>
            <a:r>
              <a:rPr spc="-100" dirty="0"/>
              <a:t> </a:t>
            </a:r>
            <a:r>
              <a:rPr spc="-25" dirty="0"/>
              <a:t>thinking.</a:t>
            </a:r>
            <a:r>
              <a:rPr spc="-90" dirty="0"/>
              <a:t> </a:t>
            </a:r>
            <a:r>
              <a:rPr spc="-20" dirty="0"/>
              <a:t>Just </a:t>
            </a:r>
            <a:r>
              <a:rPr spc="-75" dirty="0"/>
              <a:t>as</a:t>
            </a:r>
            <a:r>
              <a:rPr spc="-160" dirty="0"/>
              <a:t> </a:t>
            </a:r>
            <a:r>
              <a:rPr dirty="0"/>
              <a:t>egocentrism</a:t>
            </a:r>
            <a:r>
              <a:rPr spc="-185" dirty="0"/>
              <a:t> </a:t>
            </a:r>
            <a:r>
              <a:rPr dirty="0"/>
              <a:t>can</a:t>
            </a:r>
            <a:r>
              <a:rPr spc="-180" dirty="0"/>
              <a:t> </a:t>
            </a:r>
            <a:r>
              <a:rPr dirty="0"/>
              <a:t>hinder</a:t>
            </a:r>
            <a:r>
              <a:rPr spc="-160" dirty="0"/>
              <a:t> </a:t>
            </a:r>
            <a:r>
              <a:rPr dirty="0"/>
              <a:t>rational</a:t>
            </a:r>
            <a:r>
              <a:rPr spc="-180" dirty="0"/>
              <a:t> </a:t>
            </a:r>
            <a:r>
              <a:rPr dirty="0"/>
              <a:t>thinking</a:t>
            </a:r>
            <a:r>
              <a:rPr spc="-170" dirty="0"/>
              <a:t> </a:t>
            </a:r>
            <a:r>
              <a:rPr spc="-25" dirty="0"/>
              <a:t>by </a:t>
            </a:r>
            <a:r>
              <a:rPr dirty="0"/>
              <a:t>focusing</a:t>
            </a:r>
            <a:r>
              <a:rPr spc="-110" dirty="0"/>
              <a:t> </a:t>
            </a:r>
            <a:r>
              <a:rPr dirty="0"/>
              <a:t>excessively</a:t>
            </a:r>
            <a:r>
              <a:rPr spc="-114" dirty="0"/>
              <a:t> </a:t>
            </a:r>
            <a:r>
              <a:rPr dirty="0"/>
              <a:t>on</a:t>
            </a:r>
            <a:r>
              <a:rPr spc="-120" dirty="0"/>
              <a:t> </a:t>
            </a:r>
            <a:r>
              <a:rPr dirty="0"/>
              <a:t>the</a:t>
            </a:r>
            <a:r>
              <a:rPr spc="-120" dirty="0"/>
              <a:t> </a:t>
            </a:r>
            <a:r>
              <a:rPr spc="-30" dirty="0"/>
              <a:t>self,</a:t>
            </a:r>
            <a:r>
              <a:rPr spc="-120" dirty="0"/>
              <a:t> </a:t>
            </a:r>
            <a:r>
              <a:rPr spc="-25" dirty="0"/>
              <a:t>so </a:t>
            </a:r>
            <a:r>
              <a:rPr dirty="0"/>
              <a:t>sociocentrism</a:t>
            </a:r>
            <a:r>
              <a:rPr spc="-130" dirty="0"/>
              <a:t> </a:t>
            </a:r>
            <a:r>
              <a:rPr dirty="0"/>
              <a:t>can</a:t>
            </a:r>
            <a:r>
              <a:rPr spc="-145" dirty="0"/>
              <a:t> </a:t>
            </a:r>
            <a:r>
              <a:rPr dirty="0"/>
              <a:t>hinder</a:t>
            </a:r>
            <a:r>
              <a:rPr spc="-145" dirty="0"/>
              <a:t> </a:t>
            </a:r>
            <a:r>
              <a:rPr dirty="0"/>
              <a:t>rational</a:t>
            </a:r>
            <a:r>
              <a:rPr spc="-150" dirty="0"/>
              <a:t> </a:t>
            </a:r>
            <a:r>
              <a:rPr dirty="0"/>
              <a:t>thinking</a:t>
            </a:r>
            <a:r>
              <a:rPr spc="-155" dirty="0"/>
              <a:t> </a:t>
            </a:r>
            <a:r>
              <a:rPr spc="-25" dirty="0"/>
              <a:t>by </a:t>
            </a:r>
            <a:r>
              <a:rPr dirty="0"/>
              <a:t>focusing</a:t>
            </a:r>
            <a:r>
              <a:rPr spc="-95" dirty="0"/>
              <a:t> </a:t>
            </a:r>
            <a:r>
              <a:rPr dirty="0"/>
              <a:t>excessively</a:t>
            </a:r>
            <a:r>
              <a:rPr spc="-100" dirty="0"/>
              <a:t> </a:t>
            </a:r>
            <a:r>
              <a:rPr dirty="0"/>
              <a:t>on</a:t>
            </a:r>
            <a:r>
              <a:rPr spc="-100" dirty="0"/>
              <a:t> </a:t>
            </a:r>
            <a:r>
              <a:rPr dirty="0"/>
              <a:t>the</a:t>
            </a:r>
            <a:r>
              <a:rPr spc="-105" dirty="0"/>
              <a:t> </a:t>
            </a:r>
            <a:r>
              <a:rPr spc="-10" dirty="0"/>
              <a:t>group.</a:t>
            </a:r>
            <a:endParaRPr sz="3000">
              <a:latin typeface="Cambria Math"/>
              <a:cs typeface="Cambria Math"/>
            </a:endParaRPr>
          </a:p>
          <a:p>
            <a:pPr marL="692150" marR="46990" indent="-419100">
              <a:lnSpc>
                <a:spcPts val="3360"/>
              </a:lnSpc>
              <a:spcBef>
                <a:spcPts val="700"/>
              </a:spcBef>
            </a:pPr>
            <a:r>
              <a:rPr sz="3000" dirty="0">
                <a:latin typeface="Cambria Math"/>
                <a:cs typeface="Cambria Math"/>
              </a:rPr>
              <a:t>▷</a:t>
            </a:r>
            <a:r>
              <a:rPr sz="3000" spc="135" dirty="0">
                <a:latin typeface="Cambria Math"/>
                <a:cs typeface="Cambria Math"/>
              </a:rPr>
              <a:t> </a:t>
            </a:r>
            <a:r>
              <a:rPr spc="55" dirty="0"/>
              <a:t>Two</a:t>
            </a:r>
            <a:r>
              <a:rPr spc="-150" dirty="0"/>
              <a:t> </a:t>
            </a:r>
            <a:r>
              <a:rPr spc="65" dirty="0"/>
              <a:t>of</a:t>
            </a:r>
            <a:r>
              <a:rPr spc="-150" dirty="0"/>
              <a:t> </a:t>
            </a:r>
            <a:r>
              <a:rPr dirty="0"/>
              <a:t>the</a:t>
            </a:r>
            <a:r>
              <a:rPr spc="-150" dirty="0"/>
              <a:t> </a:t>
            </a:r>
            <a:r>
              <a:rPr dirty="0"/>
              <a:t>most</a:t>
            </a:r>
            <a:r>
              <a:rPr spc="-165" dirty="0"/>
              <a:t> </a:t>
            </a:r>
            <a:r>
              <a:rPr dirty="0"/>
              <a:t>important</a:t>
            </a:r>
            <a:r>
              <a:rPr spc="-150" dirty="0"/>
              <a:t> </a:t>
            </a:r>
            <a:r>
              <a:rPr spc="-20" dirty="0"/>
              <a:t>are</a:t>
            </a:r>
            <a:r>
              <a:rPr spc="-150" dirty="0"/>
              <a:t> </a:t>
            </a:r>
            <a:r>
              <a:rPr dirty="0"/>
              <a:t>group</a:t>
            </a:r>
            <a:r>
              <a:rPr spc="-155" dirty="0"/>
              <a:t> </a:t>
            </a:r>
            <a:r>
              <a:rPr spc="-20" dirty="0"/>
              <a:t>bias</a:t>
            </a:r>
            <a:r>
              <a:rPr spc="-150" dirty="0"/>
              <a:t> </a:t>
            </a:r>
            <a:r>
              <a:rPr spc="-25" dirty="0"/>
              <a:t>and </a:t>
            </a:r>
            <a:r>
              <a:rPr spc="-10" dirty="0"/>
              <a:t>conformism.</a:t>
            </a:r>
            <a:endParaRPr sz="3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spc="80" dirty="0">
                <a:solidFill>
                  <a:srgbClr val="FF0000"/>
                </a:solidFill>
              </a:rPr>
              <a:t>Group</a:t>
            </a:r>
            <a:r>
              <a:rPr spc="-210" dirty="0">
                <a:solidFill>
                  <a:srgbClr val="FF0000"/>
                </a:solidFill>
              </a:rPr>
              <a:t> </a:t>
            </a:r>
            <a:r>
              <a:rPr spc="95" dirty="0">
                <a:solidFill>
                  <a:srgbClr val="FF0000"/>
                </a:solidFill>
              </a:rPr>
              <a:t>Bias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5863" y="1499108"/>
            <a:ext cx="7575550" cy="435419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431800" marR="179070" indent="-419734">
              <a:lnSpc>
                <a:spcPts val="2880"/>
              </a:lnSpc>
              <a:spcBef>
                <a:spcPts val="79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20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Group</a:t>
            </a:r>
            <a:r>
              <a:rPr sz="24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bias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tendency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see</a:t>
            </a:r>
            <a:r>
              <a:rPr sz="24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one’s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own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group </a:t>
            </a:r>
            <a:r>
              <a:rPr sz="2400" spc="-55" dirty="0">
                <a:solidFill>
                  <a:srgbClr val="677480"/>
                </a:solidFill>
                <a:latin typeface="Tahoma"/>
                <a:cs typeface="Tahoma"/>
              </a:rPr>
              <a:t>(nation,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tribe,</a:t>
            </a:r>
            <a:r>
              <a:rPr sz="24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sect,</a:t>
            </a:r>
            <a:r>
              <a:rPr sz="24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peer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677480"/>
                </a:solidFill>
                <a:latin typeface="Tahoma"/>
                <a:cs typeface="Tahoma"/>
              </a:rPr>
              <a:t>group,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677480"/>
                </a:solidFill>
                <a:latin typeface="Tahoma"/>
                <a:cs typeface="Tahoma"/>
              </a:rPr>
              <a:t>like)</a:t>
            </a:r>
            <a:r>
              <a:rPr sz="24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677480"/>
                </a:solidFill>
                <a:latin typeface="Tahoma"/>
                <a:cs typeface="Tahoma"/>
              </a:rPr>
              <a:t>as</a:t>
            </a:r>
            <a:r>
              <a:rPr sz="24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being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inherently</a:t>
            </a:r>
            <a:r>
              <a:rPr sz="24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better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than</a:t>
            </a:r>
            <a:r>
              <a:rPr sz="2400" spc="-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others.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ts val="3445"/>
              </a:lnSpc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6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Social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scientists</a:t>
            </a:r>
            <a:r>
              <a:rPr sz="24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tell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us</a:t>
            </a:r>
            <a:r>
              <a:rPr sz="24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4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such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thinking</a:t>
            </a:r>
            <a:r>
              <a:rPr sz="24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-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extremely</a:t>
            </a:r>
            <a:endParaRPr sz="2400">
              <a:latin typeface="Tahoma"/>
              <a:cs typeface="Tahoma"/>
            </a:endParaRPr>
          </a:p>
          <a:p>
            <a:pPr marL="431800" marR="88900">
              <a:lnSpc>
                <a:spcPts val="2880"/>
              </a:lnSpc>
              <a:spcBef>
                <a:spcPts val="35"/>
              </a:spcBef>
            </a:pP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common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throughout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677480"/>
                </a:solidFill>
                <a:latin typeface="Tahoma"/>
                <a:cs typeface="Tahoma"/>
              </a:rPr>
              <a:t>human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history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across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cultures.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Just</a:t>
            </a:r>
            <a:r>
              <a:rPr sz="24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677480"/>
                </a:solidFill>
                <a:latin typeface="Tahoma"/>
                <a:cs typeface="Tahoma"/>
              </a:rPr>
              <a:t>as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we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seem</a:t>
            </a:r>
            <a:r>
              <a:rPr sz="24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naturally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inclined</a:t>
            </a:r>
            <a:r>
              <a:rPr sz="24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hold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inflated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views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ourselves,</a:t>
            </a:r>
            <a:r>
              <a:rPr sz="24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so</a:t>
            </a:r>
            <a:r>
              <a:rPr sz="2400" spc="-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we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find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it</a:t>
            </a:r>
            <a:r>
              <a:rPr sz="2400" spc="-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easy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hold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inflated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views</a:t>
            </a:r>
            <a:r>
              <a:rPr sz="24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our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family,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our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community,</a:t>
            </a:r>
            <a:r>
              <a:rPr sz="24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our</a:t>
            </a:r>
            <a:endParaRPr sz="2400">
              <a:latin typeface="Tahoma"/>
              <a:cs typeface="Tahoma"/>
            </a:endParaRPr>
          </a:p>
          <a:p>
            <a:pPr marL="431800">
              <a:lnSpc>
                <a:spcPts val="2785"/>
              </a:lnSpc>
            </a:pP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nation.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350">
              <a:latin typeface="Tahoma"/>
              <a:cs typeface="Tahoma"/>
            </a:endParaRPr>
          </a:p>
          <a:p>
            <a:pPr marL="187325" algn="ctr">
              <a:lnSpc>
                <a:spcPct val="100000"/>
              </a:lnSpc>
              <a:spcBef>
                <a:spcPts val="5"/>
              </a:spcBef>
            </a:pPr>
            <a:r>
              <a:rPr sz="2400" spc="-145" dirty="0">
                <a:solidFill>
                  <a:srgbClr val="677480"/>
                </a:solidFill>
                <a:latin typeface="Tahoma"/>
                <a:cs typeface="Tahoma"/>
              </a:rPr>
              <a:t>“</a:t>
            </a:r>
            <a:r>
              <a:rPr sz="2400" b="1" spc="-145" dirty="0">
                <a:solidFill>
                  <a:srgbClr val="677480"/>
                </a:solidFill>
                <a:latin typeface="Tahoma"/>
                <a:cs typeface="Tahoma"/>
              </a:rPr>
              <a:t>Karachi</a:t>
            </a:r>
            <a:r>
              <a:rPr sz="2400" b="1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b="1" spc="-145" dirty="0">
                <a:solidFill>
                  <a:srgbClr val="677480"/>
                </a:solidFill>
                <a:latin typeface="Tahoma"/>
                <a:cs typeface="Tahoma"/>
              </a:rPr>
              <a:t>Biryani</a:t>
            </a:r>
            <a:r>
              <a:rPr sz="2400" b="1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b="1" spc="-16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b="1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b="1" spc="-165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b="1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b="1" spc="-160" dirty="0">
                <a:solidFill>
                  <a:srgbClr val="677480"/>
                </a:solidFill>
                <a:latin typeface="Tahoma"/>
                <a:cs typeface="Tahoma"/>
              </a:rPr>
              <a:t>best</a:t>
            </a:r>
            <a:r>
              <a:rPr sz="2400" b="1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b="1" spc="-165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400" b="1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b="1" spc="-155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b="1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677480"/>
                </a:solidFill>
                <a:latin typeface="Tahoma"/>
                <a:cs typeface="Tahoma"/>
              </a:rPr>
              <a:t>world”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384" y="329184"/>
            <a:ext cx="8333232" cy="58902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Conformism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34314" rIns="0" bIns="0" rtlCol="0">
            <a:spAutoFit/>
          </a:bodyPr>
          <a:lstStyle/>
          <a:p>
            <a:pPr marL="835660" marR="100965" indent="-419100">
              <a:lnSpc>
                <a:spcPct val="99800"/>
              </a:lnSpc>
              <a:spcBef>
                <a:spcPts val="105"/>
              </a:spcBef>
            </a:pPr>
            <a:r>
              <a:rPr sz="3000" dirty="0">
                <a:latin typeface="Cambria Math"/>
                <a:cs typeface="Cambria Math"/>
              </a:rPr>
              <a:t>▷</a:t>
            </a:r>
            <a:r>
              <a:rPr sz="3000" spc="200" dirty="0">
                <a:latin typeface="Cambria Math"/>
                <a:cs typeface="Cambria Math"/>
              </a:rPr>
              <a:t> </a:t>
            </a:r>
            <a:r>
              <a:rPr dirty="0"/>
              <a:t>Conformism</a:t>
            </a:r>
            <a:r>
              <a:rPr spc="-75" dirty="0"/>
              <a:t> </a:t>
            </a:r>
            <a:r>
              <a:rPr dirty="0"/>
              <a:t>refers</a:t>
            </a:r>
            <a:r>
              <a:rPr spc="-90" dirty="0"/>
              <a:t> </a:t>
            </a:r>
            <a:r>
              <a:rPr spc="60" dirty="0"/>
              <a:t>to</a:t>
            </a:r>
            <a:r>
              <a:rPr spc="-95" dirty="0"/>
              <a:t> </a:t>
            </a:r>
            <a:r>
              <a:rPr dirty="0"/>
              <a:t>our</a:t>
            </a:r>
            <a:r>
              <a:rPr spc="-100" dirty="0"/>
              <a:t> </a:t>
            </a:r>
            <a:r>
              <a:rPr dirty="0"/>
              <a:t>tendency</a:t>
            </a:r>
            <a:r>
              <a:rPr spc="-105" dirty="0"/>
              <a:t> </a:t>
            </a:r>
            <a:r>
              <a:rPr spc="65" dirty="0"/>
              <a:t>to</a:t>
            </a:r>
            <a:r>
              <a:rPr spc="-105" dirty="0"/>
              <a:t> </a:t>
            </a:r>
            <a:r>
              <a:rPr spc="40" dirty="0"/>
              <a:t>follow </a:t>
            </a:r>
            <a:r>
              <a:rPr dirty="0"/>
              <a:t>the</a:t>
            </a:r>
            <a:r>
              <a:rPr spc="-95" dirty="0"/>
              <a:t> </a:t>
            </a:r>
            <a:r>
              <a:rPr spc="-30" dirty="0"/>
              <a:t>crowd—</a:t>
            </a:r>
            <a:r>
              <a:rPr dirty="0"/>
              <a:t>that</a:t>
            </a:r>
            <a:r>
              <a:rPr spc="-85" dirty="0"/>
              <a:t> </a:t>
            </a:r>
            <a:r>
              <a:rPr spc="-90" dirty="0"/>
              <a:t>is, </a:t>
            </a:r>
            <a:r>
              <a:rPr spc="60" dirty="0"/>
              <a:t>to</a:t>
            </a:r>
            <a:r>
              <a:rPr spc="-95" dirty="0"/>
              <a:t> </a:t>
            </a:r>
            <a:r>
              <a:rPr dirty="0"/>
              <a:t>conform</a:t>
            </a:r>
            <a:r>
              <a:rPr spc="-75" dirty="0"/>
              <a:t> </a:t>
            </a:r>
            <a:r>
              <a:rPr spc="-10" dirty="0"/>
              <a:t>(often </a:t>
            </a:r>
            <a:r>
              <a:rPr spc="-20" dirty="0"/>
              <a:t>unthinkingly)</a:t>
            </a:r>
            <a:r>
              <a:rPr spc="-114" dirty="0"/>
              <a:t> </a:t>
            </a:r>
            <a:r>
              <a:rPr spc="60" dirty="0"/>
              <a:t>to</a:t>
            </a:r>
            <a:r>
              <a:rPr spc="-114" dirty="0"/>
              <a:t> </a:t>
            </a:r>
            <a:r>
              <a:rPr dirty="0"/>
              <a:t>authority</a:t>
            </a:r>
            <a:r>
              <a:rPr spc="-114" dirty="0"/>
              <a:t> </a:t>
            </a:r>
            <a:r>
              <a:rPr dirty="0"/>
              <a:t>or</a:t>
            </a:r>
            <a:r>
              <a:rPr spc="-120" dirty="0"/>
              <a:t> </a:t>
            </a:r>
            <a:r>
              <a:rPr spc="60" dirty="0"/>
              <a:t>to</a:t>
            </a:r>
            <a:r>
              <a:rPr spc="-114" dirty="0"/>
              <a:t> </a:t>
            </a:r>
            <a:r>
              <a:rPr spc="-10" dirty="0"/>
              <a:t>group </a:t>
            </a:r>
            <a:r>
              <a:rPr spc="-20" dirty="0"/>
              <a:t>standards</a:t>
            </a:r>
            <a:r>
              <a:rPr spc="-150" dirty="0"/>
              <a:t> </a:t>
            </a:r>
            <a:r>
              <a:rPr spc="70" dirty="0"/>
              <a:t>of</a:t>
            </a:r>
            <a:r>
              <a:rPr spc="-150" dirty="0"/>
              <a:t> </a:t>
            </a:r>
            <a:r>
              <a:rPr dirty="0"/>
              <a:t>conduct</a:t>
            </a:r>
            <a:r>
              <a:rPr spc="-130" dirty="0"/>
              <a:t> </a:t>
            </a:r>
            <a:r>
              <a:rPr spc="-25" dirty="0"/>
              <a:t>and</a:t>
            </a:r>
            <a:r>
              <a:rPr spc="-165" dirty="0"/>
              <a:t> </a:t>
            </a:r>
            <a:r>
              <a:rPr dirty="0"/>
              <a:t>belief.</a:t>
            </a:r>
            <a:r>
              <a:rPr spc="-150" dirty="0"/>
              <a:t> </a:t>
            </a:r>
            <a:r>
              <a:rPr dirty="0"/>
              <a:t>The</a:t>
            </a:r>
            <a:r>
              <a:rPr spc="-145" dirty="0"/>
              <a:t> </a:t>
            </a:r>
            <a:r>
              <a:rPr spc="-10" dirty="0"/>
              <a:t>desire </a:t>
            </a:r>
            <a:r>
              <a:rPr spc="60" dirty="0"/>
              <a:t>to</a:t>
            </a:r>
            <a:r>
              <a:rPr spc="-155" dirty="0"/>
              <a:t> </a:t>
            </a:r>
            <a:r>
              <a:rPr spc="-30" dirty="0"/>
              <a:t>belong,</a:t>
            </a:r>
            <a:r>
              <a:rPr spc="-155" dirty="0"/>
              <a:t> </a:t>
            </a:r>
            <a:r>
              <a:rPr spc="60" dirty="0"/>
              <a:t>to</a:t>
            </a:r>
            <a:r>
              <a:rPr spc="-155" dirty="0"/>
              <a:t> </a:t>
            </a:r>
            <a:r>
              <a:rPr dirty="0"/>
              <a:t>be</a:t>
            </a:r>
            <a:r>
              <a:rPr spc="-155" dirty="0"/>
              <a:t> </a:t>
            </a:r>
            <a:r>
              <a:rPr dirty="0"/>
              <a:t>part</a:t>
            </a:r>
            <a:r>
              <a:rPr spc="-150" dirty="0"/>
              <a:t> </a:t>
            </a:r>
            <a:r>
              <a:rPr spc="70" dirty="0"/>
              <a:t>of</a:t>
            </a:r>
            <a:r>
              <a:rPr spc="-155" dirty="0"/>
              <a:t> </a:t>
            </a:r>
            <a:r>
              <a:rPr dirty="0"/>
              <a:t>the</a:t>
            </a:r>
            <a:r>
              <a:rPr spc="-175" dirty="0"/>
              <a:t> </a:t>
            </a:r>
            <a:r>
              <a:rPr dirty="0"/>
              <a:t>in-</a:t>
            </a:r>
            <a:r>
              <a:rPr spc="-40" dirty="0"/>
              <a:t>group,</a:t>
            </a:r>
            <a:r>
              <a:rPr spc="-140" dirty="0"/>
              <a:t> </a:t>
            </a:r>
            <a:r>
              <a:rPr dirty="0"/>
              <a:t>can</a:t>
            </a:r>
            <a:r>
              <a:rPr spc="-155" dirty="0"/>
              <a:t> </a:t>
            </a:r>
            <a:r>
              <a:rPr spc="-25" dirty="0"/>
              <a:t>be </a:t>
            </a:r>
            <a:r>
              <a:rPr spc="-45" dirty="0"/>
              <a:t>among</a:t>
            </a:r>
            <a:r>
              <a:rPr spc="-90" dirty="0"/>
              <a:t> </a:t>
            </a:r>
            <a:r>
              <a:rPr dirty="0"/>
              <a:t>the</a:t>
            </a:r>
            <a:r>
              <a:rPr spc="-105" dirty="0"/>
              <a:t> </a:t>
            </a:r>
            <a:r>
              <a:rPr dirty="0"/>
              <a:t>most</a:t>
            </a:r>
            <a:r>
              <a:rPr spc="-90" dirty="0"/>
              <a:t> </a:t>
            </a:r>
            <a:r>
              <a:rPr dirty="0"/>
              <a:t>powerful</a:t>
            </a:r>
            <a:r>
              <a:rPr spc="-75" dirty="0"/>
              <a:t> </a:t>
            </a:r>
            <a:r>
              <a:rPr spc="70" dirty="0"/>
              <a:t>of</a:t>
            </a:r>
            <a:r>
              <a:rPr spc="-90" dirty="0"/>
              <a:t> </a:t>
            </a:r>
            <a:r>
              <a:rPr spc="-10" dirty="0"/>
              <a:t>human motivations.</a:t>
            </a:r>
            <a:endParaRPr sz="3000">
              <a:latin typeface="Cambria Math"/>
              <a:cs typeface="Cambria Math"/>
            </a:endParaRPr>
          </a:p>
          <a:p>
            <a:pPr marL="835660" marR="5080" indent="-419100">
              <a:lnSpc>
                <a:spcPts val="3360"/>
              </a:lnSpc>
              <a:spcBef>
                <a:spcPts val="705"/>
              </a:spcBef>
            </a:pPr>
            <a:r>
              <a:rPr sz="3000" dirty="0">
                <a:latin typeface="Cambria Math"/>
                <a:cs typeface="Cambria Math"/>
              </a:rPr>
              <a:t>▷</a:t>
            </a:r>
            <a:r>
              <a:rPr sz="3000" spc="150" dirty="0">
                <a:latin typeface="Cambria Math"/>
                <a:cs typeface="Cambria Math"/>
              </a:rPr>
              <a:t> </a:t>
            </a:r>
            <a:r>
              <a:rPr dirty="0"/>
              <a:t>The</a:t>
            </a:r>
            <a:r>
              <a:rPr spc="-135" dirty="0"/>
              <a:t> </a:t>
            </a:r>
            <a:r>
              <a:rPr dirty="0"/>
              <a:t>desire</a:t>
            </a:r>
            <a:r>
              <a:rPr spc="-140" dirty="0"/>
              <a:t> </a:t>
            </a:r>
            <a:r>
              <a:rPr spc="65" dirty="0"/>
              <a:t>to</a:t>
            </a:r>
            <a:r>
              <a:rPr spc="-145" dirty="0"/>
              <a:t> </a:t>
            </a:r>
            <a:r>
              <a:rPr dirty="0"/>
              <a:t>conform</a:t>
            </a:r>
            <a:r>
              <a:rPr spc="-125" dirty="0"/>
              <a:t> </a:t>
            </a:r>
            <a:r>
              <a:rPr dirty="0"/>
              <a:t>can</a:t>
            </a:r>
            <a:r>
              <a:rPr spc="-135" dirty="0"/>
              <a:t> </a:t>
            </a:r>
            <a:r>
              <a:rPr dirty="0"/>
              <a:t>seriously</a:t>
            </a:r>
            <a:r>
              <a:rPr spc="-140" dirty="0"/>
              <a:t> </a:t>
            </a:r>
            <a:r>
              <a:rPr spc="-10" dirty="0"/>
              <a:t>cripple </a:t>
            </a:r>
            <a:r>
              <a:rPr dirty="0"/>
              <a:t>our</a:t>
            </a:r>
            <a:r>
              <a:rPr spc="-105" dirty="0"/>
              <a:t> </a:t>
            </a:r>
            <a:r>
              <a:rPr dirty="0"/>
              <a:t>powers</a:t>
            </a:r>
            <a:r>
              <a:rPr spc="-95" dirty="0"/>
              <a:t> </a:t>
            </a:r>
            <a:r>
              <a:rPr spc="70" dirty="0"/>
              <a:t>of</a:t>
            </a:r>
            <a:r>
              <a:rPr spc="-105" dirty="0"/>
              <a:t> </a:t>
            </a:r>
            <a:r>
              <a:rPr dirty="0"/>
              <a:t>critical</a:t>
            </a:r>
            <a:r>
              <a:rPr spc="-105" dirty="0"/>
              <a:t> </a:t>
            </a:r>
            <a:r>
              <a:rPr spc="-20" dirty="0"/>
              <a:t>reasoning</a:t>
            </a:r>
            <a:r>
              <a:rPr spc="-105" dirty="0"/>
              <a:t> </a:t>
            </a:r>
            <a:r>
              <a:rPr spc="-20" dirty="0"/>
              <a:t>and</a:t>
            </a:r>
            <a:r>
              <a:rPr spc="-105" dirty="0"/>
              <a:t> </a:t>
            </a:r>
            <a:r>
              <a:rPr spc="-10" dirty="0"/>
              <a:t>decision- making.</a:t>
            </a:r>
            <a:endParaRPr sz="3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/>
              <a:t>Relativistic</a:t>
            </a:r>
            <a:r>
              <a:rPr spc="50" dirty="0"/>
              <a:t> </a:t>
            </a:r>
            <a:r>
              <a:rPr spc="-10" dirty="0"/>
              <a:t>Thinking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818" y="1982215"/>
            <a:ext cx="722503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marR="5080" indent="-419100">
              <a:lnSpc>
                <a:spcPct val="100000"/>
              </a:lnSpc>
              <a:spcBef>
                <a:spcPts val="100"/>
              </a:spcBef>
              <a:tabLst>
                <a:tab pos="2362835" algn="l"/>
                <a:tab pos="2835275" algn="l"/>
                <a:tab pos="3601720" algn="l"/>
                <a:tab pos="4606290" algn="l"/>
                <a:tab pos="5497830" algn="l"/>
                <a:tab pos="6551295" algn="l"/>
                <a:tab pos="7021830" algn="l"/>
              </a:tabLst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3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Relativism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3000" spc="-25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3000" spc="-25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3000" spc="-20" dirty="0">
                <a:solidFill>
                  <a:srgbClr val="677480"/>
                </a:solidFill>
                <a:latin typeface="Tahoma"/>
                <a:cs typeface="Tahoma"/>
              </a:rPr>
              <a:t>view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3000" spc="-2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truth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3000" spc="-25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3000" spc="-120" dirty="0">
                <a:solidFill>
                  <a:srgbClr val="677480"/>
                </a:solidFill>
                <a:latin typeface="Tahoma"/>
                <a:cs typeface="Tahoma"/>
              </a:rPr>
              <a:t>a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matter</a:t>
            </a:r>
            <a:r>
              <a:rPr sz="3000" spc="-2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8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3000" spc="-1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opinion.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0818" y="2973070"/>
            <a:ext cx="235902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marR="5080" indent="-419100">
              <a:lnSpc>
                <a:spcPct val="100000"/>
              </a:lnSpc>
              <a:spcBef>
                <a:spcPts val="100"/>
              </a:spcBef>
              <a:tabLst>
                <a:tab pos="1816735" algn="l"/>
              </a:tabLst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3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3000" spc="-20" dirty="0">
                <a:solidFill>
                  <a:srgbClr val="677480"/>
                </a:solidFill>
                <a:latin typeface="Tahoma"/>
                <a:cs typeface="Tahoma"/>
              </a:rPr>
              <a:t>There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3000" spc="-35" dirty="0">
                <a:solidFill>
                  <a:srgbClr val="677480"/>
                </a:solidFill>
                <a:latin typeface="Tahoma"/>
                <a:cs typeface="Tahoma"/>
              </a:rPr>
              <a:t>are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relativism: </a:t>
            </a:r>
            <a:r>
              <a:rPr sz="3000" spc="-10" dirty="0">
                <a:solidFill>
                  <a:srgbClr val="FF0000"/>
                </a:solidFill>
                <a:latin typeface="Tahoma"/>
                <a:cs typeface="Tahoma"/>
              </a:rPr>
              <a:t>relativism.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9802" y="2973070"/>
            <a:ext cx="44850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9975" algn="l"/>
                <a:tab pos="2749550" algn="l"/>
                <a:tab pos="4121785" algn="l"/>
              </a:tabLst>
            </a:pPr>
            <a:r>
              <a:rPr sz="3000" spc="60" dirty="0">
                <a:solidFill>
                  <a:srgbClr val="677480"/>
                </a:solidFill>
                <a:latin typeface="Tahoma"/>
                <a:cs typeface="Tahoma"/>
              </a:rPr>
              <a:t>two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popular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forms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30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21202" y="3430270"/>
            <a:ext cx="47129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52370" algn="l"/>
                <a:tab pos="3447415" algn="l"/>
              </a:tabLst>
            </a:pPr>
            <a:r>
              <a:rPr sz="3000" spc="-10" dirty="0">
                <a:solidFill>
                  <a:srgbClr val="FF0000"/>
                </a:solidFill>
                <a:latin typeface="Tahoma"/>
                <a:cs typeface="Tahoma"/>
              </a:rPr>
              <a:t>subjectivism</a:t>
            </a:r>
            <a:r>
              <a:rPr sz="3000" dirty="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sz="3000" spc="-25" dirty="0">
                <a:solidFill>
                  <a:srgbClr val="FF0000"/>
                </a:solidFill>
                <a:latin typeface="Tahoma"/>
                <a:cs typeface="Tahoma"/>
              </a:rPr>
              <a:t>and</a:t>
            </a:r>
            <a:r>
              <a:rPr sz="3000" dirty="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sz="3000" spc="-10" dirty="0">
                <a:solidFill>
                  <a:srgbClr val="FF0000"/>
                </a:solidFill>
                <a:latin typeface="Tahoma"/>
                <a:cs typeface="Tahoma"/>
              </a:rPr>
              <a:t>cultural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2718" y="873379"/>
            <a:ext cx="7221855" cy="4519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430655" algn="r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6FC0"/>
                </a:solidFill>
                <a:latin typeface="Trebuchet MS"/>
                <a:cs typeface="Trebuchet MS"/>
              </a:rPr>
              <a:t>Relativistic</a:t>
            </a:r>
            <a:r>
              <a:rPr sz="2800" b="1" spc="40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006FC0"/>
                </a:solidFill>
                <a:latin typeface="Trebuchet MS"/>
                <a:cs typeface="Trebuchet MS"/>
              </a:rPr>
              <a:t>Thinking-</a:t>
            </a:r>
            <a:r>
              <a:rPr sz="2800" b="1" spc="-10" dirty="0">
                <a:solidFill>
                  <a:srgbClr val="006FC0"/>
                </a:solidFill>
                <a:latin typeface="Trebuchet MS"/>
                <a:cs typeface="Trebuchet MS"/>
              </a:rPr>
              <a:t>Subjectivism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50">
              <a:latin typeface="Trebuchet MS"/>
              <a:cs typeface="Trebuchet MS"/>
            </a:endParaRPr>
          </a:p>
          <a:p>
            <a:pPr marL="29845" marR="6350" algn="just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Subjectivism is</a:t>
            </a:r>
            <a:r>
              <a:rPr sz="28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view</a:t>
            </a:r>
            <a:r>
              <a:rPr sz="28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truth</a:t>
            </a:r>
            <a:r>
              <a:rPr sz="28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800" spc="-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8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matter </a:t>
            </a:r>
            <a:r>
              <a:rPr sz="2800" spc="6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8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individual</a:t>
            </a:r>
            <a:r>
              <a:rPr sz="28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opinion.</a:t>
            </a:r>
            <a:endParaRPr sz="2800">
              <a:latin typeface="Tahoma"/>
              <a:cs typeface="Tahoma"/>
            </a:endParaRPr>
          </a:p>
          <a:p>
            <a:pPr marL="29845" marR="5080" algn="just">
              <a:lnSpc>
                <a:spcPct val="100000"/>
              </a:lnSpc>
              <a:spcBef>
                <a:spcPts val="600"/>
              </a:spcBef>
            </a:pPr>
            <a:r>
              <a:rPr sz="2800" spc="-50" dirty="0">
                <a:solidFill>
                  <a:srgbClr val="677480"/>
                </a:solidFill>
                <a:latin typeface="Tahoma"/>
                <a:cs typeface="Tahoma"/>
              </a:rPr>
              <a:t>It</a:t>
            </a:r>
            <a:r>
              <a:rPr sz="28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8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because</a:t>
            </a:r>
            <a:r>
              <a:rPr sz="28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each</a:t>
            </a:r>
            <a:r>
              <a:rPr sz="28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person</a:t>
            </a:r>
            <a:r>
              <a:rPr sz="2800" spc="-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has</a:t>
            </a:r>
            <a:r>
              <a:rPr sz="28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different</a:t>
            </a:r>
            <a:r>
              <a:rPr sz="28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beliefs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800" spc="185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perceptions</a:t>
            </a:r>
            <a:r>
              <a:rPr sz="2800" spc="200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about</a:t>
            </a:r>
            <a:r>
              <a:rPr sz="2800" spc="180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knowledge</a:t>
            </a:r>
            <a:r>
              <a:rPr sz="2800" spc="185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and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morality.</a:t>
            </a:r>
            <a:r>
              <a:rPr sz="2800" spc="2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So,</a:t>
            </a:r>
            <a:r>
              <a:rPr sz="2800" spc="3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what</a:t>
            </a:r>
            <a:r>
              <a:rPr sz="2800" spc="3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800" spc="2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right</a:t>
            </a:r>
            <a:r>
              <a:rPr sz="2800" spc="2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2800" spc="3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wrong</a:t>
            </a:r>
            <a:r>
              <a:rPr sz="2800" spc="3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2800" spc="3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one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person</a:t>
            </a:r>
            <a:r>
              <a:rPr sz="28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677480"/>
                </a:solidFill>
                <a:latin typeface="Tahoma"/>
                <a:cs typeface="Tahoma"/>
              </a:rPr>
              <a:t>may</a:t>
            </a:r>
            <a:r>
              <a:rPr sz="28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not</a:t>
            </a:r>
            <a:r>
              <a:rPr sz="28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be</a:t>
            </a:r>
            <a:r>
              <a:rPr sz="28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right</a:t>
            </a:r>
            <a:r>
              <a:rPr sz="2800" spc="-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28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wrong</a:t>
            </a:r>
            <a:r>
              <a:rPr sz="28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28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another.</a:t>
            </a:r>
            <a:endParaRPr sz="2800">
              <a:latin typeface="Tahoma"/>
              <a:cs typeface="Tahoma"/>
            </a:endParaRPr>
          </a:p>
          <a:p>
            <a:pPr marR="1403350" algn="r">
              <a:lnSpc>
                <a:spcPct val="100000"/>
              </a:lnSpc>
              <a:spcBef>
                <a:spcPts val="605"/>
              </a:spcBef>
            </a:pPr>
            <a:r>
              <a:rPr sz="2800" i="1" spc="-120" dirty="0">
                <a:solidFill>
                  <a:srgbClr val="FF0000"/>
                </a:solidFill>
                <a:latin typeface="Trebuchet MS"/>
                <a:cs typeface="Trebuchet MS"/>
              </a:rPr>
              <a:t>“Hanging</a:t>
            </a:r>
            <a:r>
              <a:rPr sz="2800" i="1" spc="-1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i="1" spc="-165" dirty="0">
                <a:solidFill>
                  <a:srgbClr val="FF0000"/>
                </a:solidFill>
                <a:latin typeface="Trebuchet MS"/>
                <a:cs typeface="Trebuchet MS"/>
              </a:rPr>
              <a:t>the </a:t>
            </a:r>
            <a:r>
              <a:rPr sz="2800" i="1" spc="-150" dirty="0">
                <a:solidFill>
                  <a:srgbClr val="FF0000"/>
                </a:solidFill>
                <a:latin typeface="Trebuchet MS"/>
                <a:cs typeface="Trebuchet MS"/>
              </a:rPr>
              <a:t>criminal</a:t>
            </a:r>
            <a:r>
              <a:rPr sz="2800" i="1" spc="-1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i="1" spc="-125" dirty="0">
                <a:solidFill>
                  <a:srgbClr val="FF0000"/>
                </a:solidFill>
                <a:latin typeface="Trebuchet MS"/>
                <a:cs typeface="Trebuchet MS"/>
              </a:rPr>
              <a:t>is</a:t>
            </a:r>
            <a:r>
              <a:rPr sz="2800" i="1" spc="-1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i="1" spc="-25" dirty="0">
                <a:solidFill>
                  <a:srgbClr val="FF0000"/>
                </a:solidFill>
                <a:latin typeface="Trebuchet MS"/>
                <a:cs typeface="Trebuchet MS"/>
              </a:rPr>
              <a:t>right”</a:t>
            </a:r>
            <a:endParaRPr sz="2800">
              <a:latin typeface="Trebuchet MS"/>
              <a:cs typeface="Trebuchet MS"/>
            </a:endParaRPr>
          </a:p>
          <a:p>
            <a:pPr marL="13335" algn="ctr">
              <a:lnSpc>
                <a:spcPct val="100000"/>
              </a:lnSpc>
              <a:spcBef>
                <a:spcPts val="600"/>
              </a:spcBef>
            </a:pP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28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8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what</a:t>
            </a:r>
            <a:r>
              <a:rPr sz="2800" spc="-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65" dirty="0">
                <a:solidFill>
                  <a:srgbClr val="677480"/>
                </a:solidFill>
                <a:latin typeface="Tahoma"/>
                <a:cs typeface="Tahoma"/>
              </a:rPr>
              <a:t>I</a:t>
            </a:r>
            <a:r>
              <a:rPr sz="28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think.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Relativistic</a:t>
            </a:r>
            <a:r>
              <a:rPr sz="2800" spc="400" dirty="0"/>
              <a:t> </a:t>
            </a:r>
            <a:r>
              <a:rPr sz="2800" dirty="0"/>
              <a:t>Thinking-</a:t>
            </a:r>
            <a:r>
              <a:rPr sz="2800" spc="-10" dirty="0"/>
              <a:t>Subjectivism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7983" y="1901951"/>
            <a:ext cx="4828032" cy="37703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557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Relativistic</a:t>
            </a:r>
            <a:r>
              <a:rPr sz="2800" spc="140" dirty="0"/>
              <a:t> </a:t>
            </a:r>
            <a:r>
              <a:rPr sz="2800" dirty="0"/>
              <a:t>Thinking-</a:t>
            </a:r>
            <a:r>
              <a:rPr sz="2800" spc="50" dirty="0"/>
              <a:t>Cultural</a:t>
            </a:r>
            <a:r>
              <a:rPr sz="2800" spc="140" dirty="0"/>
              <a:t> </a:t>
            </a:r>
            <a:r>
              <a:rPr sz="2800" spc="-10" dirty="0"/>
              <a:t>Relativism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010818" y="1982215"/>
            <a:ext cx="7203440" cy="376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2400" spc="4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4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3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view</a:t>
            </a:r>
            <a:r>
              <a:rPr sz="2400" spc="4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400" spc="3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truth</a:t>
            </a:r>
            <a:r>
              <a:rPr sz="2400" spc="4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4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400" spc="3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matter</a:t>
            </a:r>
            <a:r>
              <a:rPr sz="2400" spc="4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3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social</a:t>
            </a:r>
            <a:r>
              <a:rPr sz="2400" spc="3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or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cultural</a:t>
            </a:r>
            <a:r>
              <a:rPr sz="24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opinion.</a:t>
            </a:r>
            <a:endParaRPr sz="2400">
              <a:latin typeface="Tahoma"/>
              <a:cs typeface="Tahoma"/>
            </a:endParaRPr>
          </a:p>
          <a:p>
            <a:pPr marL="12700" marR="5080" indent="77470" algn="just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400" spc="3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other</a:t>
            </a:r>
            <a:r>
              <a:rPr sz="2400" spc="3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words,</a:t>
            </a:r>
            <a:r>
              <a:rPr sz="2400" spc="3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cultural</a:t>
            </a:r>
            <a:r>
              <a:rPr sz="2400" spc="3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relativism</a:t>
            </a:r>
            <a:r>
              <a:rPr sz="2400" spc="3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3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3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view</a:t>
            </a:r>
            <a:r>
              <a:rPr sz="2400" spc="3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that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what</a:t>
            </a:r>
            <a:r>
              <a:rPr sz="24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true</a:t>
            </a:r>
            <a:r>
              <a:rPr sz="24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24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person</a:t>
            </a:r>
            <a:r>
              <a:rPr sz="2400" spc="170" dirty="0">
                <a:solidFill>
                  <a:srgbClr val="677480"/>
                </a:solidFill>
                <a:latin typeface="Tahoma"/>
                <a:cs typeface="Tahoma"/>
              </a:rPr>
              <a:t> A</a:t>
            </a:r>
            <a:r>
              <a:rPr sz="2400" spc="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what</a:t>
            </a:r>
            <a:r>
              <a:rPr sz="2400" spc="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person</a:t>
            </a:r>
            <a:r>
              <a:rPr sz="24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A’s</a:t>
            </a:r>
            <a:r>
              <a:rPr sz="24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culture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2400" spc="26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society</a:t>
            </a:r>
            <a:r>
              <a:rPr sz="2400" spc="26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believes</a:t>
            </a:r>
            <a:r>
              <a:rPr sz="2400" spc="26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26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true.</a:t>
            </a:r>
            <a:r>
              <a:rPr sz="2400" spc="26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Drinking</a:t>
            </a:r>
            <a:r>
              <a:rPr sz="2400" spc="26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wine,</a:t>
            </a:r>
            <a:r>
              <a:rPr sz="2400" spc="26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for </a:t>
            </a:r>
            <a:r>
              <a:rPr sz="2400" spc="-30" dirty="0">
                <a:solidFill>
                  <a:srgbClr val="677480"/>
                </a:solidFill>
                <a:latin typeface="Tahoma"/>
                <a:cs typeface="Tahoma"/>
              </a:rPr>
              <a:t>example,</a:t>
            </a:r>
            <a:r>
              <a:rPr sz="2400" spc="-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-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widely</a:t>
            </a:r>
            <a:r>
              <a:rPr sz="2400" spc="-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considered</a:t>
            </a:r>
            <a:r>
              <a:rPr sz="2400" spc="-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-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</a:t>
            </a:r>
            <a:r>
              <a:rPr sz="2400" spc="-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wrong</a:t>
            </a:r>
            <a:r>
              <a:rPr sz="2400" spc="-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400" spc="-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75" dirty="0">
                <a:solidFill>
                  <a:srgbClr val="677480"/>
                </a:solidFill>
                <a:latin typeface="Tahoma"/>
                <a:cs typeface="Tahoma"/>
              </a:rPr>
              <a:t>Iran</a:t>
            </a:r>
            <a:r>
              <a:rPr sz="2400" spc="-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but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3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not</a:t>
            </a:r>
            <a:r>
              <a:rPr sz="2400" spc="3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generally</a:t>
            </a:r>
            <a:r>
              <a:rPr sz="2400" spc="3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considered</a:t>
            </a:r>
            <a:r>
              <a:rPr sz="2400" spc="3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3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</a:t>
            </a:r>
            <a:r>
              <a:rPr sz="2400" spc="3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wrong</a:t>
            </a:r>
            <a:r>
              <a:rPr sz="2400" spc="3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400" spc="3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France.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According</a:t>
            </a:r>
            <a:r>
              <a:rPr sz="2400" spc="4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4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cultural</a:t>
            </a:r>
            <a:r>
              <a:rPr sz="2400" spc="4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relativism,</a:t>
            </a:r>
            <a:r>
              <a:rPr sz="2400" spc="4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therefore,</a:t>
            </a:r>
            <a:r>
              <a:rPr sz="2400" spc="4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drinking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wine</a:t>
            </a:r>
            <a:r>
              <a:rPr sz="2400" spc="1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immoral</a:t>
            </a:r>
            <a:r>
              <a:rPr sz="2400" spc="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4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Iran</a:t>
            </a:r>
            <a:r>
              <a:rPr sz="2400" spc="1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but</a:t>
            </a:r>
            <a:r>
              <a:rPr sz="2400" spc="1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morally</a:t>
            </a:r>
            <a:r>
              <a:rPr sz="24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permissible</a:t>
            </a:r>
            <a:r>
              <a:rPr sz="2400" spc="1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in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France.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Unwarranted</a:t>
            </a:r>
            <a:r>
              <a:rPr spc="-220" dirty="0"/>
              <a:t> </a:t>
            </a:r>
            <a:r>
              <a:rPr spc="95" dirty="0"/>
              <a:t>Assumptions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818" y="1735582"/>
            <a:ext cx="7336790" cy="3561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Unwarranted</a:t>
            </a:r>
            <a:r>
              <a:rPr sz="2400" spc="4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assumptions</a:t>
            </a:r>
            <a:r>
              <a:rPr sz="2400" spc="459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400" spc="4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claims</a:t>
            </a:r>
            <a:r>
              <a:rPr sz="2400" spc="4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2400" spc="4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beliefs</a:t>
            </a:r>
            <a:r>
              <a:rPr sz="2400" spc="4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that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possess</a:t>
            </a:r>
            <a:r>
              <a:rPr sz="2400" spc="5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little</a:t>
            </a:r>
            <a:r>
              <a:rPr sz="2400" spc="5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5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no</a:t>
            </a:r>
            <a:r>
              <a:rPr sz="2400" spc="5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supporting</a:t>
            </a:r>
            <a:r>
              <a:rPr sz="2400" spc="5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evidence,</a:t>
            </a:r>
            <a:r>
              <a:rPr sz="2400" spc="5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things</a:t>
            </a:r>
            <a:r>
              <a:rPr sz="2400" spc="5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we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might</a:t>
            </a:r>
            <a:r>
              <a:rPr sz="2400" spc="-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take</a:t>
            </a:r>
            <a:r>
              <a:rPr sz="24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2400" spc="-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granted</a:t>
            </a:r>
            <a:r>
              <a:rPr sz="24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as</a:t>
            </a:r>
            <a:r>
              <a:rPr sz="2400" spc="-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true,</a:t>
            </a:r>
            <a:r>
              <a:rPr sz="24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2400" spc="-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just</a:t>
            </a:r>
            <a:r>
              <a:rPr sz="2400" spc="-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completely</a:t>
            </a:r>
            <a:r>
              <a:rPr sz="2400" spc="-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false ideas</a:t>
            </a:r>
            <a:r>
              <a:rPr sz="2400" spc="-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we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inherited</a:t>
            </a:r>
            <a:r>
              <a:rPr sz="2400" spc="-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without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reflection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.</a:t>
            </a:r>
            <a:endParaRPr sz="3000">
              <a:latin typeface="Tahoma"/>
              <a:cs typeface="Tahoma"/>
            </a:endParaRPr>
          </a:p>
          <a:p>
            <a:pPr marL="12700" marR="6350" algn="just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Prejudices</a:t>
            </a:r>
            <a:r>
              <a:rPr sz="2400" spc="-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-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stereotypes</a:t>
            </a:r>
            <a:r>
              <a:rPr sz="2400" spc="-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400" spc="-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some</a:t>
            </a:r>
            <a:r>
              <a:rPr sz="2400" spc="-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common</a:t>
            </a:r>
            <a:r>
              <a:rPr sz="2400" spc="-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ways</a:t>
            </a:r>
            <a:r>
              <a:rPr sz="2400" spc="-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in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which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we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677480"/>
                </a:solidFill>
                <a:latin typeface="Tahoma"/>
                <a:cs typeface="Tahoma"/>
              </a:rPr>
              <a:t>make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unwarranted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assumptions.</a:t>
            </a:r>
            <a:endParaRPr sz="2400">
              <a:latin typeface="Tahoma"/>
              <a:cs typeface="Tahoma"/>
            </a:endParaRPr>
          </a:p>
          <a:p>
            <a:pPr marL="12700" marR="5080" algn="just">
              <a:lnSpc>
                <a:spcPct val="100000"/>
              </a:lnSpc>
              <a:spcBef>
                <a:spcPts val="605"/>
              </a:spcBef>
            </a:pP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2400" spc="-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example,</a:t>
            </a:r>
            <a:r>
              <a:rPr sz="2400" spc="-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all</a:t>
            </a:r>
            <a:r>
              <a:rPr sz="2400" spc="-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ahoma"/>
                <a:cs typeface="Tahoma"/>
              </a:rPr>
              <a:t>Irish</a:t>
            </a:r>
            <a:r>
              <a:rPr sz="2400" spc="-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are</a:t>
            </a:r>
            <a:r>
              <a:rPr sz="2400" spc="-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alcoholic</a:t>
            </a:r>
            <a:r>
              <a:rPr sz="2400" spc="-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bar‐fighting</a:t>
            </a:r>
            <a:r>
              <a:rPr sz="2400" spc="-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people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;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sz="2400" spc="225" dirty="0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only</a:t>
            </a:r>
            <a:r>
              <a:rPr sz="2400" spc="210" dirty="0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food</a:t>
            </a:r>
            <a:r>
              <a:rPr sz="2400" spc="225" dirty="0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in</a:t>
            </a:r>
            <a:r>
              <a:rPr sz="2400" spc="225" dirty="0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America</a:t>
            </a:r>
            <a:r>
              <a:rPr sz="2400" spc="225" dirty="0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is</a:t>
            </a:r>
            <a:r>
              <a:rPr sz="2400" spc="215" dirty="0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McDonald's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;</a:t>
            </a:r>
            <a:r>
              <a:rPr sz="2400" spc="22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or</a:t>
            </a:r>
            <a:r>
              <a:rPr sz="2400" spc="225" dirty="0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sz="2400" spc="-25" dirty="0">
                <a:solidFill>
                  <a:srgbClr val="FF0000"/>
                </a:solidFill>
                <a:latin typeface="Tahoma"/>
                <a:cs typeface="Tahoma"/>
              </a:rPr>
              <a:t>all </a:t>
            </a:r>
            <a:r>
              <a:rPr sz="2400" spc="-20" dirty="0">
                <a:solidFill>
                  <a:srgbClr val="FF0000"/>
                </a:solidFill>
                <a:latin typeface="Tahoma"/>
                <a:cs typeface="Tahoma"/>
              </a:rPr>
              <a:t>Canadians</a:t>
            </a:r>
            <a:r>
              <a:rPr sz="2400" spc="-1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drink</a:t>
            </a:r>
            <a:r>
              <a:rPr sz="2400" spc="-10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ahoma"/>
                <a:cs typeface="Tahoma"/>
              </a:rPr>
              <a:t>maple</a:t>
            </a:r>
            <a:r>
              <a:rPr sz="2400" spc="-1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syrup</a:t>
            </a:r>
            <a:r>
              <a:rPr sz="2400" spc="-114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instead</a:t>
            </a:r>
            <a:r>
              <a:rPr sz="2400" spc="-1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sz="2400" spc="-114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water.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408" y="513587"/>
            <a:ext cx="7949183" cy="56037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Wishful</a:t>
            </a:r>
            <a:r>
              <a:rPr spc="-210" dirty="0"/>
              <a:t> </a:t>
            </a:r>
            <a:r>
              <a:rPr spc="-10" dirty="0"/>
              <a:t>Thinking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818" y="1982215"/>
            <a:ext cx="7274559" cy="2738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0"/>
              </a:spcBef>
            </a:pPr>
            <a:r>
              <a:rPr sz="2400" spc="45" dirty="0">
                <a:solidFill>
                  <a:srgbClr val="677480"/>
                </a:solidFill>
                <a:latin typeface="Tahoma"/>
                <a:cs typeface="Tahoma"/>
              </a:rPr>
              <a:t>Wishful</a:t>
            </a:r>
            <a:r>
              <a:rPr sz="2400" spc="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thinking</a:t>
            </a:r>
            <a:r>
              <a:rPr sz="2400" spc="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formation</a:t>
            </a:r>
            <a:r>
              <a:rPr sz="2400" spc="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beliefs</a:t>
            </a:r>
            <a:r>
              <a:rPr sz="2400" spc="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based</a:t>
            </a:r>
            <a:r>
              <a:rPr sz="2400" spc="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on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what</a:t>
            </a:r>
            <a:r>
              <a:rPr sz="2400" spc="409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might</a:t>
            </a:r>
            <a:r>
              <a:rPr sz="2400" spc="4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</a:t>
            </a:r>
            <a:r>
              <a:rPr sz="2400" spc="4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pleasing</a:t>
            </a:r>
            <a:r>
              <a:rPr sz="2400" spc="4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4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imagine,</a:t>
            </a:r>
            <a:r>
              <a:rPr sz="2400" spc="4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rather</a:t>
            </a:r>
            <a:r>
              <a:rPr sz="2400" spc="409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than</a:t>
            </a:r>
            <a:r>
              <a:rPr sz="2400" spc="4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on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evidence,</a:t>
            </a:r>
            <a:r>
              <a:rPr sz="24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rationality,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24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reality.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10" dirty="0">
                <a:solidFill>
                  <a:srgbClr val="3981B9"/>
                </a:solidFill>
                <a:latin typeface="Tahoma"/>
                <a:cs typeface="Tahoma"/>
              </a:rPr>
              <a:t>Example</a:t>
            </a:r>
            <a:endParaRPr sz="2400">
              <a:latin typeface="Tahoma"/>
              <a:cs typeface="Tahoma"/>
            </a:endParaRPr>
          </a:p>
          <a:p>
            <a:pPr marL="12700" marR="5080" algn="just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There</a:t>
            </a:r>
            <a:r>
              <a:rPr sz="2400" spc="4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must</a:t>
            </a:r>
            <a:r>
              <a:rPr sz="2400" spc="4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</a:t>
            </a:r>
            <a:r>
              <a:rPr sz="2400" spc="5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life</a:t>
            </a:r>
            <a:r>
              <a:rPr sz="2400" spc="4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on</a:t>
            </a:r>
            <a:r>
              <a:rPr sz="2400" spc="4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other</a:t>
            </a:r>
            <a:r>
              <a:rPr sz="2400" spc="5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planets.</a:t>
            </a:r>
            <a:r>
              <a:rPr sz="2400" spc="4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Imagine</a:t>
            </a:r>
            <a:r>
              <a:rPr sz="2400" spc="4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how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lonely</a:t>
            </a:r>
            <a:r>
              <a:rPr sz="2400" spc="3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we’ll</a:t>
            </a:r>
            <a:r>
              <a:rPr sz="2400" spc="3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find</a:t>
            </a:r>
            <a:r>
              <a:rPr sz="2400" spc="3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4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universe</a:t>
            </a:r>
            <a:r>
              <a:rPr sz="2400" spc="4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if</a:t>
            </a:r>
            <a:r>
              <a:rPr sz="2400" spc="3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we</a:t>
            </a:r>
            <a:r>
              <a:rPr sz="2400" spc="4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discover</a:t>
            </a:r>
            <a:r>
              <a:rPr sz="2400" spc="4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we</a:t>
            </a:r>
            <a:r>
              <a:rPr sz="2400" spc="4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are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only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ones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here.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804</Words>
  <Application>Microsoft Office PowerPoint</Application>
  <PresentationFormat>On-screen Show (4:3)</PresentationFormat>
  <Paragraphs>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Cambria Math</vt:lpstr>
      <vt:lpstr>Tahoma</vt:lpstr>
      <vt:lpstr>Times New Roman</vt:lpstr>
      <vt:lpstr>Trebuchet MS</vt:lpstr>
      <vt:lpstr>Office Theme</vt:lpstr>
      <vt:lpstr>Critical Thinking (BES-103)</vt:lpstr>
      <vt:lpstr>Lecture Outline</vt:lpstr>
      <vt:lpstr>Egocentrism</vt:lpstr>
      <vt:lpstr>Egocentrism-Self-Interested Thinking</vt:lpstr>
      <vt:lpstr>Example</vt:lpstr>
      <vt:lpstr>Self-Serving Bias</vt:lpstr>
      <vt:lpstr>Example</vt:lpstr>
      <vt:lpstr>Sociocentrism</vt:lpstr>
      <vt:lpstr>Group Bias</vt:lpstr>
      <vt:lpstr>PowerPoint Presentation</vt:lpstr>
      <vt:lpstr>Conformism</vt:lpstr>
      <vt:lpstr>Relativistic Thinking</vt:lpstr>
      <vt:lpstr>PowerPoint Presentation</vt:lpstr>
      <vt:lpstr>Relativistic Thinking-Subjectivism</vt:lpstr>
      <vt:lpstr>Relativistic Thinking-Cultural Relativism</vt:lpstr>
      <vt:lpstr>Unwarranted Assumptions</vt:lpstr>
      <vt:lpstr>PowerPoint Presentation</vt:lpstr>
      <vt:lpstr>Wishful Thinking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Sarmad Soomro</dc:creator>
  <cp:lastModifiedBy>Bahria</cp:lastModifiedBy>
  <cp:revision>3</cp:revision>
  <dcterms:created xsi:type="dcterms:W3CDTF">2023-03-06T06:55:09Z</dcterms:created>
  <dcterms:modified xsi:type="dcterms:W3CDTF">2023-03-06T07:03:32Z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2023-03-03T00:00:00Z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2023-03-06T00:00:00Z</vt:filetime>
  </property>
  <property fmtid="{D5CDD505-2E9C-101B-9397-08002B2CF9AE}" pid="5" name="Producer">
    <vt:lpwstr>Microsoft® PowerPoint® for Microsoft 365</vt:lpwstr>
  </property>
</Properties>
</file>