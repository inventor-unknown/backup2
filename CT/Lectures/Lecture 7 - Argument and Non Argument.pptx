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06FC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67748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6FC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67748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6FC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6FC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356347" y="6754367"/>
            <a:ext cx="893444" cy="104139"/>
          </a:xfrm>
          <a:custGeom>
            <a:avLst/>
            <a:gdLst/>
            <a:ahLst/>
            <a:cxnLst/>
            <a:rect l="l" t="t" r="r" b="b"/>
            <a:pathLst>
              <a:path w="893445" h="104140">
                <a:moveTo>
                  <a:pt x="893063" y="0"/>
                </a:moveTo>
                <a:lnTo>
                  <a:pt x="0" y="0"/>
                </a:lnTo>
                <a:lnTo>
                  <a:pt x="0" y="103632"/>
                </a:lnTo>
                <a:lnTo>
                  <a:pt x="893063" y="103632"/>
                </a:lnTo>
                <a:lnTo>
                  <a:pt x="893063" y="0"/>
                </a:lnTo>
                <a:close/>
              </a:path>
            </a:pathLst>
          </a:custGeom>
          <a:solidFill>
            <a:srgbClr val="FF96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250935" y="6754367"/>
            <a:ext cx="893444" cy="104139"/>
          </a:xfrm>
          <a:custGeom>
            <a:avLst/>
            <a:gdLst/>
            <a:ahLst/>
            <a:cxnLst/>
            <a:rect l="l" t="t" r="r" b="b"/>
            <a:pathLst>
              <a:path w="893445" h="104140">
                <a:moveTo>
                  <a:pt x="893064" y="0"/>
                </a:moveTo>
                <a:lnTo>
                  <a:pt x="0" y="0"/>
                </a:lnTo>
                <a:lnTo>
                  <a:pt x="0" y="103632"/>
                </a:lnTo>
                <a:lnTo>
                  <a:pt x="893064" y="103632"/>
                </a:lnTo>
                <a:lnTo>
                  <a:pt x="893064" y="0"/>
                </a:lnTo>
                <a:close/>
              </a:path>
            </a:pathLst>
          </a:custGeom>
          <a:solidFill>
            <a:srgbClr val="F101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6754367"/>
            <a:ext cx="893444" cy="104139"/>
          </a:xfrm>
          <a:custGeom>
            <a:avLst/>
            <a:gdLst/>
            <a:ahLst/>
            <a:cxnLst/>
            <a:rect l="l" t="t" r="r" b="b"/>
            <a:pathLst>
              <a:path w="893444" h="104140">
                <a:moveTo>
                  <a:pt x="893063" y="0"/>
                </a:moveTo>
                <a:lnTo>
                  <a:pt x="0" y="0"/>
                </a:lnTo>
                <a:lnTo>
                  <a:pt x="0" y="103632"/>
                </a:lnTo>
                <a:lnTo>
                  <a:pt x="893063" y="103632"/>
                </a:lnTo>
                <a:lnTo>
                  <a:pt x="893063" y="0"/>
                </a:lnTo>
                <a:close/>
              </a:path>
            </a:pathLst>
          </a:custGeom>
          <a:solidFill>
            <a:srgbClr val="7DCE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93063" y="6754367"/>
            <a:ext cx="6463665" cy="104139"/>
          </a:xfrm>
          <a:custGeom>
            <a:avLst/>
            <a:gdLst/>
            <a:ahLst/>
            <a:cxnLst/>
            <a:rect l="l" t="t" r="r" b="b"/>
            <a:pathLst>
              <a:path w="6463665" h="104140">
                <a:moveTo>
                  <a:pt x="6463284" y="0"/>
                </a:moveTo>
                <a:lnTo>
                  <a:pt x="0" y="0"/>
                </a:lnTo>
                <a:lnTo>
                  <a:pt x="0" y="103632"/>
                </a:lnTo>
                <a:lnTo>
                  <a:pt x="6463284" y="103632"/>
                </a:lnTo>
                <a:lnTo>
                  <a:pt x="6463284" y="0"/>
                </a:lnTo>
                <a:close/>
              </a:path>
            </a:pathLst>
          </a:custGeom>
          <a:solidFill>
            <a:srgbClr val="2085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2718" y="198246"/>
            <a:ext cx="7198563" cy="1122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06FC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0818" y="1652981"/>
            <a:ext cx="7429500" cy="2922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67748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37503" y="3377184"/>
            <a:ext cx="1445260" cy="104139"/>
            <a:chOff x="5937503" y="3377184"/>
            <a:chExt cx="1445260" cy="104139"/>
          </a:xfrm>
        </p:grpSpPr>
        <p:sp>
          <p:nvSpPr>
            <p:cNvPr id="3" name="object 3"/>
            <p:cNvSpPr/>
            <p:nvPr/>
          </p:nvSpPr>
          <p:spPr>
            <a:xfrm>
              <a:off x="5937503" y="3377184"/>
              <a:ext cx="722630" cy="104139"/>
            </a:xfrm>
            <a:custGeom>
              <a:avLst/>
              <a:gdLst/>
              <a:ahLst/>
              <a:cxnLst/>
              <a:rect l="l" t="t" r="r" b="b"/>
              <a:pathLst>
                <a:path w="722629" h="104139">
                  <a:moveTo>
                    <a:pt x="722376" y="0"/>
                  </a:moveTo>
                  <a:lnTo>
                    <a:pt x="0" y="0"/>
                  </a:lnTo>
                  <a:lnTo>
                    <a:pt x="0" y="103632"/>
                  </a:lnTo>
                  <a:lnTo>
                    <a:pt x="722376" y="103632"/>
                  </a:lnTo>
                  <a:lnTo>
                    <a:pt x="722376" y="0"/>
                  </a:lnTo>
                  <a:close/>
                </a:path>
              </a:pathLst>
            </a:custGeom>
            <a:solidFill>
              <a:srgbClr val="FF96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659879" y="3377184"/>
              <a:ext cx="722630" cy="104139"/>
            </a:xfrm>
            <a:custGeom>
              <a:avLst/>
              <a:gdLst/>
              <a:ahLst/>
              <a:cxnLst/>
              <a:rect l="l" t="t" r="r" b="b"/>
              <a:pathLst>
                <a:path w="722629" h="104139">
                  <a:moveTo>
                    <a:pt x="722376" y="0"/>
                  </a:moveTo>
                  <a:lnTo>
                    <a:pt x="0" y="0"/>
                  </a:lnTo>
                  <a:lnTo>
                    <a:pt x="0" y="103632"/>
                  </a:lnTo>
                  <a:lnTo>
                    <a:pt x="722376" y="103632"/>
                  </a:lnTo>
                  <a:lnTo>
                    <a:pt x="722376" y="0"/>
                  </a:lnTo>
                  <a:close/>
                </a:path>
              </a:pathLst>
            </a:custGeom>
            <a:solidFill>
              <a:srgbClr val="F101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0" y="2388107"/>
            <a:ext cx="7139305" cy="1203325"/>
            <a:chOff x="0" y="2388107"/>
            <a:chExt cx="7139305" cy="1203325"/>
          </a:xfrm>
        </p:grpSpPr>
        <p:sp>
          <p:nvSpPr>
            <p:cNvPr id="6" name="object 6"/>
            <p:cNvSpPr/>
            <p:nvPr/>
          </p:nvSpPr>
          <p:spPr>
            <a:xfrm>
              <a:off x="0" y="3377183"/>
              <a:ext cx="722630" cy="104139"/>
            </a:xfrm>
            <a:custGeom>
              <a:avLst/>
              <a:gdLst/>
              <a:ahLst/>
              <a:cxnLst/>
              <a:rect l="l" t="t" r="r" b="b"/>
              <a:pathLst>
                <a:path w="722630" h="104139">
                  <a:moveTo>
                    <a:pt x="722376" y="0"/>
                  </a:moveTo>
                  <a:lnTo>
                    <a:pt x="0" y="0"/>
                  </a:lnTo>
                  <a:lnTo>
                    <a:pt x="0" y="103632"/>
                  </a:lnTo>
                  <a:lnTo>
                    <a:pt x="722376" y="103632"/>
                  </a:lnTo>
                  <a:lnTo>
                    <a:pt x="722376" y="0"/>
                  </a:lnTo>
                  <a:close/>
                </a:path>
              </a:pathLst>
            </a:custGeom>
            <a:solidFill>
              <a:srgbClr val="7DCE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0851" y="3377183"/>
              <a:ext cx="5217160" cy="104139"/>
            </a:xfrm>
            <a:custGeom>
              <a:avLst/>
              <a:gdLst/>
              <a:ahLst/>
              <a:cxnLst/>
              <a:rect l="l" t="t" r="r" b="b"/>
              <a:pathLst>
                <a:path w="5217160" h="104139">
                  <a:moveTo>
                    <a:pt x="5216652" y="0"/>
                  </a:moveTo>
                  <a:lnTo>
                    <a:pt x="0" y="0"/>
                  </a:lnTo>
                  <a:lnTo>
                    <a:pt x="0" y="103632"/>
                  </a:lnTo>
                  <a:lnTo>
                    <a:pt x="5216652" y="103632"/>
                  </a:lnTo>
                  <a:lnTo>
                    <a:pt x="5216652" y="0"/>
                  </a:lnTo>
                  <a:close/>
                </a:path>
              </a:pathLst>
            </a:custGeom>
            <a:solidFill>
              <a:srgbClr val="208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207" y="2388107"/>
              <a:ext cx="4930902" cy="120319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3503" y="2500883"/>
              <a:ext cx="1620774" cy="101574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30011" y="2500883"/>
              <a:ext cx="756665" cy="101574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82411" y="2500883"/>
              <a:ext cx="1556765" cy="1015746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465226" y="2532633"/>
            <a:ext cx="625348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b="1" dirty="0">
                <a:solidFill>
                  <a:srgbClr val="1D405D"/>
                </a:solidFill>
                <a:latin typeface="Times New Roman"/>
                <a:cs typeface="Times New Roman"/>
              </a:rPr>
              <a:t>Critical</a:t>
            </a:r>
            <a:r>
              <a:rPr sz="4300" b="1" spc="-100" dirty="0">
                <a:solidFill>
                  <a:srgbClr val="1D405D"/>
                </a:solidFill>
                <a:latin typeface="Times New Roman"/>
                <a:cs typeface="Times New Roman"/>
              </a:rPr>
              <a:t> </a:t>
            </a:r>
            <a:r>
              <a:rPr sz="4300" b="1" dirty="0">
                <a:solidFill>
                  <a:srgbClr val="1D405D"/>
                </a:solidFill>
                <a:latin typeface="Times New Roman"/>
                <a:cs typeface="Times New Roman"/>
              </a:rPr>
              <a:t>Thinking</a:t>
            </a:r>
            <a:r>
              <a:rPr sz="4300" b="1" spc="-85" dirty="0">
                <a:solidFill>
                  <a:srgbClr val="1D405D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srgbClr val="1D405D"/>
                </a:solidFill>
                <a:latin typeface="Times New Roman"/>
                <a:cs typeface="Times New Roman"/>
              </a:rPr>
              <a:t>(BES-</a:t>
            </a:r>
            <a:r>
              <a:rPr b="1" spc="-20" dirty="0">
                <a:solidFill>
                  <a:srgbClr val="1D405D"/>
                </a:solidFill>
                <a:latin typeface="Times New Roman"/>
                <a:cs typeface="Times New Roman"/>
              </a:rPr>
              <a:t>103)</a:t>
            </a:r>
            <a:endParaRPr sz="43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1576" y="3700017"/>
            <a:ext cx="352171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2085C5"/>
                </a:solidFill>
                <a:latin typeface="Trebuchet MS"/>
                <a:cs typeface="Trebuchet MS"/>
              </a:rPr>
              <a:t>Lecture</a:t>
            </a:r>
            <a:r>
              <a:rPr sz="2000" b="1" spc="55" dirty="0">
                <a:solidFill>
                  <a:srgbClr val="2085C5"/>
                </a:solidFill>
                <a:latin typeface="Trebuchet MS"/>
                <a:cs typeface="Trebuchet MS"/>
              </a:rPr>
              <a:t> </a:t>
            </a:r>
            <a:r>
              <a:rPr sz="2000" b="1" spc="-50" dirty="0">
                <a:solidFill>
                  <a:srgbClr val="2085C5"/>
                </a:solidFill>
                <a:latin typeface="Trebuchet MS"/>
                <a:cs typeface="Trebuchet MS"/>
              </a:rPr>
              <a:t>6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b="1" spc="120" dirty="0">
                <a:solidFill>
                  <a:srgbClr val="2085C5"/>
                </a:solidFill>
                <a:latin typeface="Trebuchet MS"/>
                <a:cs typeface="Trebuchet MS"/>
              </a:rPr>
              <a:t>Arguments/Non-</a:t>
            </a:r>
            <a:r>
              <a:rPr sz="2000" b="1" spc="55" dirty="0">
                <a:solidFill>
                  <a:srgbClr val="2085C5"/>
                </a:solidFill>
                <a:latin typeface="Trebuchet MS"/>
                <a:cs typeface="Trebuchet MS"/>
              </a:rPr>
              <a:t>Arguments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39866" y="5544108"/>
            <a:ext cx="3146934" cy="1133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41655">
              <a:lnSpc>
                <a:spcPct val="100000"/>
              </a:lnSpc>
              <a:spcBef>
                <a:spcPts val="100"/>
              </a:spcBef>
            </a:pPr>
            <a:r>
              <a:rPr lang="en-US" sz="1800" b="1" dirty="0" err="1" smtClean="0">
                <a:solidFill>
                  <a:srgbClr val="F10152"/>
                </a:solidFill>
                <a:latin typeface="Trebuchet MS"/>
                <a:cs typeface="Trebuchet MS"/>
              </a:rPr>
              <a:t>Hadiqua</a:t>
            </a:r>
            <a:r>
              <a:rPr lang="en-US" sz="1800" b="1" dirty="0" smtClean="0">
                <a:solidFill>
                  <a:srgbClr val="F10152"/>
                </a:solidFill>
                <a:latin typeface="Trebuchet MS"/>
                <a:cs typeface="Trebuchet MS"/>
              </a:rPr>
              <a:t> </a:t>
            </a:r>
            <a:r>
              <a:rPr lang="en-US" sz="1800" b="1" dirty="0" err="1" smtClean="0">
                <a:solidFill>
                  <a:srgbClr val="F10152"/>
                </a:solidFill>
                <a:latin typeface="Trebuchet MS"/>
                <a:cs typeface="Trebuchet MS"/>
              </a:rPr>
              <a:t>Fazal</a:t>
            </a:r>
            <a:endParaRPr lang="en-US" sz="1800" b="1" dirty="0" smtClean="0">
              <a:solidFill>
                <a:srgbClr val="F10152"/>
              </a:solidFill>
              <a:latin typeface="Trebuchet MS"/>
              <a:cs typeface="Trebuchet MS"/>
            </a:endParaRPr>
          </a:p>
          <a:p>
            <a:pPr marL="12700" marR="541655">
              <a:lnSpc>
                <a:spcPct val="100000"/>
              </a:lnSpc>
              <a:spcBef>
                <a:spcPts val="100"/>
              </a:spcBef>
            </a:pPr>
            <a:r>
              <a:rPr lang="en-US" b="1" dirty="0" smtClean="0">
                <a:solidFill>
                  <a:srgbClr val="F10152"/>
                </a:solidFill>
                <a:latin typeface="Trebuchet MS"/>
                <a:cs typeface="Trebuchet MS"/>
              </a:rPr>
              <a:t>Assistant Professor</a:t>
            </a:r>
            <a:endParaRPr sz="1800" dirty="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</a:pPr>
            <a:r>
              <a:rPr sz="1800" b="1" dirty="0">
                <a:solidFill>
                  <a:srgbClr val="F10152"/>
                </a:solidFill>
                <a:latin typeface="Trebuchet MS"/>
                <a:cs typeface="Trebuchet MS"/>
              </a:rPr>
              <a:t>Computer</a:t>
            </a:r>
            <a:r>
              <a:rPr sz="1800" b="1" spc="260" dirty="0">
                <a:solidFill>
                  <a:srgbClr val="F10152"/>
                </a:solidFill>
                <a:latin typeface="Trebuchet MS"/>
                <a:cs typeface="Trebuchet MS"/>
              </a:rPr>
              <a:t> </a:t>
            </a:r>
            <a:r>
              <a:rPr sz="1800" b="1" spc="40" dirty="0">
                <a:solidFill>
                  <a:srgbClr val="F10152"/>
                </a:solidFill>
                <a:latin typeface="Trebuchet MS"/>
                <a:cs typeface="Trebuchet MS"/>
              </a:rPr>
              <a:t>Science </a:t>
            </a:r>
            <a:r>
              <a:rPr sz="1800" b="1" spc="-10" dirty="0">
                <a:solidFill>
                  <a:srgbClr val="F10152"/>
                </a:solidFill>
                <a:latin typeface="Trebuchet MS"/>
                <a:cs typeface="Trebuchet MS"/>
              </a:rPr>
              <a:t>Department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1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3981B9"/>
                </a:solidFill>
                <a:latin typeface="Trebuchet MS"/>
                <a:cs typeface="Trebuchet MS"/>
              </a:rPr>
              <a:t>Lecture</a:t>
            </a:r>
            <a:r>
              <a:rPr b="1" spc="35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b="1" spc="-10" dirty="0">
                <a:solidFill>
                  <a:srgbClr val="3981B9"/>
                </a:solidFill>
                <a:latin typeface="Trebuchet MS"/>
                <a:cs typeface="Trebuchet MS"/>
              </a:rPr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2718" y="1643633"/>
            <a:ext cx="5935980" cy="23418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SzPct val="150000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677480"/>
                </a:solidFill>
                <a:latin typeface="Arial"/>
                <a:cs typeface="Arial"/>
              </a:rPr>
              <a:t>Agreement</a:t>
            </a:r>
            <a:r>
              <a:rPr sz="2000" spc="-65" dirty="0">
                <a:solidFill>
                  <a:srgbClr val="67748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677480"/>
                </a:solidFill>
                <a:latin typeface="Arial"/>
                <a:cs typeface="Arial"/>
              </a:rPr>
              <a:t>and</a:t>
            </a:r>
            <a:r>
              <a:rPr sz="2000" spc="-30" dirty="0">
                <a:solidFill>
                  <a:srgbClr val="67748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677480"/>
                </a:solidFill>
                <a:latin typeface="Arial"/>
                <a:cs typeface="Arial"/>
              </a:rPr>
              <a:t>Disagreement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ts val="2390"/>
              </a:lnSpc>
              <a:buSzPct val="150000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677480"/>
                </a:solidFill>
                <a:latin typeface="Arial"/>
                <a:cs typeface="Arial"/>
              </a:rPr>
              <a:t>Activity:</a:t>
            </a:r>
            <a:r>
              <a:rPr sz="2000" spc="-20" dirty="0">
                <a:solidFill>
                  <a:srgbClr val="67748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677480"/>
                </a:solidFill>
                <a:latin typeface="Arial"/>
                <a:cs typeface="Arial"/>
              </a:rPr>
              <a:t>Argument</a:t>
            </a:r>
            <a:r>
              <a:rPr sz="2000" spc="-50" dirty="0">
                <a:solidFill>
                  <a:srgbClr val="67748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677480"/>
                </a:solidFill>
                <a:latin typeface="Arial"/>
                <a:cs typeface="Arial"/>
              </a:rPr>
              <a:t>and</a:t>
            </a:r>
            <a:r>
              <a:rPr sz="2000" spc="-40" dirty="0">
                <a:solidFill>
                  <a:srgbClr val="67748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677480"/>
                </a:solidFill>
                <a:latin typeface="Arial"/>
                <a:cs typeface="Arial"/>
              </a:rPr>
              <a:t>Disagreement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ts val="3350"/>
              </a:lnSpc>
              <a:buSzPct val="107142"/>
              <a:buChar char="•"/>
              <a:tabLst>
                <a:tab pos="354965" algn="l"/>
              </a:tabLst>
            </a:pPr>
            <a:r>
              <a:rPr sz="2800" spc="-25" dirty="0">
                <a:solidFill>
                  <a:srgbClr val="677480"/>
                </a:solidFill>
                <a:latin typeface="Arial"/>
                <a:cs typeface="Arial"/>
              </a:rPr>
              <a:t>Non-</a:t>
            </a:r>
            <a:r>
              <a:rPr sz="2800" dirty="0">
                <a:solidFill>
                  <a:srgbClr val="677480"/>
                </a:solidFill>
                <a:latin typeface="Arial"/>
                <a:cs typeface="Arial"/>
              </a:rPr>
              <a:t>Arguments:</a:t>
            </a:r>
            <a:r>
              <a:rPr sz="2800" spc="-90" dirty="0">
                <a:solidFill>
                  <a:srgbClr val="67748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Arial"/>
                <a:cs typeface="Arial"/>
              </a:rPr>
              <a:t>Descriptions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SzPct val="107142"/>
              <a:buChar char="•"/>
              <a:tabLst>
                <a:tab pos="354965" algn="l"/>
              </a:tabLst>
            </a:pPr>
            <a:r>
              <a:rPr sz="2800" spc="-25" dirty="0">
                <a:solidFill>
                  <a:srgbClr val="677480"/>
                </a:solidFill>
                <a:latin typeface="Arial"/>
                <a:cs typeface="Arial"/>
              </a:rPr>
              <a:t>Non-</a:t>
            </a:r>
            <a:r>
              <a:rPr sz="2800" dirty="0">
                <a:solidFill>
                  <a:srgbClr val="677480"/>
                </a:solidFill>
                <a:latin typeface="Arial"/>
                <a:cs typeface="Arial"/>
              </a:rPr>
              <a:t>Arguments:</a:t>
            </a:r>
            <a:r>
              <a:rPr sz="2800" spc="-90" dirty="0">
                <a:solidFill>
                  <a:srgbClr val="67748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Arial"/>
                <a:cs typeface="Arial"/>
              </a:rPr>
              <a:t>Explanation</a:t>
            </a:r>
            <a:endParaRPr sz="2800">
              <a:latin typeface="Arial"/>
              <a:cs typeface="Arial"/>
            </a:endParaRPr>
          </a:p>
          <a:p>
            <a:pPr marL="354965" marR="5080" indent="-342900">
              <a:lnSpc>
                <a:spcPts val="3340"/>
              </a:lnSpc>
              <a:spcBef>
                <a:spcPts val="150"/>
              </a:spcBef>
              <a:buSzPct val="107142"/>
              <a:buFont typeface="Arial"/>
              <a:buChar char="•"/>
              <a:tabLst>
                <a:tab pos="354965" algn="l"/>
              </a:tabLst>
            </a:pP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Distinguishing</a:t>
            </a:r>
            <a:r>
              <a:rPr sz="2800" spc="-1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677480"/>
                </a:solidFill>
                <a:latin typeface="Tahoma"/>
                <a:cs typeface="Tahoma"/>
              </a:rPr>
              <a:t>argument</a:t>
            </a:r>
            <a:r>
              <a:rPr sz="2800" spc="-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from</a:t>
            </a:r>
            <a:r>
              <a:rPr sz="2800" spc="-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other material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44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90" dirty="0">
                <a:solidFill>
                  <a:srgbClr val="3981B9"/>
                </a:solidFill>
                <a:latin typeface="Trebuchet MS"/>
                <a:cs typeface="Trebuchet MS"/>
              </a:rPr>
              <a:t>Agreement</a:t>
            </a:r>
            <a:r>
              <a:rPr sz="3200" b="1" spc="-225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3200" b="1" spc="125" dirty="0">
                <a:solidFill>
                  <a:srgbClr val="3981B9"/>
                </a:solidFill>
                <a:latin typeface="Trebuchet MS"/>
                <a:cs typeface="Trebuchet MS"/>
              </a:rPr>
              <a:t>and</a:t>
            </a:r>
            <a:r>
              <a:rPr sz="3200" b="1" spc="-185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3200" b="1" spc="85" dirty="0">
                <a:solidFill>
                  <a:srgbClr val="3981B9"/>
                </a:solidFill>
                <a:latin typeface="Trebuchet MS"/>
                <a:cs typeface="Trebuchet MS"/>
              </a:rPr>
              <a:t>Disagreement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0902" y="1936826"/>
            <a:ext cx="6657975" cy="4217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165" marR="5080" indent="-419100" algn="just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3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Argument</a:t>
            </a:r>
            <a:r>
              <a:rPr sz="3000" spc="60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3000" spc="59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not</a:t>
            </a:r>
            <a:r>
              <a:rPr sz="3000" spc="59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3000" spc="60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same</a:t>
            </a:r>
            <a:r>
              <a:rPr sz="3000" spc="59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spc="-25" dirty="0">
                <a:solidFill>
                  <a:srgbClr val="677480"/>
                </a:solidFill>
                <a:latin typeface="Tahoma"/>
                <a:cs typeface="Tahoma"/>
              </a:rPr>
              <a:t>as disagreement.</a:t>
            </a:r>
            <a:r>
              <a:rPr sz="3000" spc="-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60" dirty="0">
                <a:solidFill>
                  <a:srgbClr val="677480"/>
                </a:solidFill>
                <a:latin typeface="Tahoma"/>
                <a:cs typeface="Tahoma"/>
              </a:rPr>
              <a:t>You</a:t>
            </a:r>
            <a:r>
              <a:rPr sz="3000" spc="-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can</a:t>
            </a:r>
            <a:r>
              <a:rPr sz="30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-10" dirty="0">
                <a:solidFill>
                  <a:srgbClr val="677480"/>
                </a:solidFill>
                <a:latin typeface="Tahoma"/>
                <a:cs typeface="Tahoma"/>
              </a:rPr>
              <a:t>disagree</a:t>
            </a:r>
            <a:r>
              <a:rPr sz="3000" spc="-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35" dirty="0">
                <a:solidFill>
                  <a:srgbClr val="677480"/>
                </a:solidFill>
                <a:latin typeface="Tahoma"/>
                <a:cs typeface="Tahoma"/>
              </a:rPr>
              <a:t>with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someone</a:t>
            </a:r>
            <a:r>
              <a:rPr sz="3000" spc="56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else's</a:t>
            </a:r>
            <a:r>
              <a:rPr sz="3000" spc="57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position</a:t>
            </a:r>
            <a:r>
              <a:rPr sz="3000" spc="58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spc="35" dirty="0">
                <a:solidFill>
                  <a:srgbClr val="677480"/>
                </a:solidFill>
                <a:latin typeface="Tahoma"/>
                <a:cs typeface="Tahoma"/>
              </a:rPr>
              <a:t>without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pointing</a:t>
            </a:r>
            <a:r>
              <a:rPr sz="3000" spc="1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out</a:t>
            </a:r>
            <a:r>
              <a:rPr sz="3000" spc="1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spc="50" dirty="0">
                <a:solidFill>
                  <a:srgbClr val="677480"/>
                </a:solidFill>
                <a:latin typeface="Tahoma"/>
                <a:cs typeface="Tahoma"/>
              </a:rPr>
              <a:t>why</a:t>
            </a:r>
            <a:r>
              <a:rPr sz="3000" spc="1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you</a:t>
            </a:r>
            <a:r>
              <a:rPr sz="3000" spc="1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disagree</a:t>
            </a:r>
            <a:r>
              <a:rPr sz="3000" spc="1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spc="-25" dirty="0">
                <a:solidFill>
                  <a:srgbClr val="677480"/>
                </a:solidFill>
                <a:latin typeface="Tahoma"/>
                <a:cs typeface="Tahoma"/>
              </a:rPr>
              <a:t>or </a:t>
            </a:r>
            <a:r>
              <a:rPr sz="3000" spc="-10" dirty="0">
                <a:solidFill>
                  <a:srgbClr val="677480"/>
                </a:solidFill>
                <a:latin typeface="Tahoma"/>
                <a:cs typeface="Tahoma"/>
              </a:rPr>
              <a:t>persuading</a:t>
            </a:r>
            <a:r>
              <a:rPr sz="3000" spc="-1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them</a:t>
            </a:r>
            <a:r>
              <a:rPr sz="3000" spc="-1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65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3000" spc="-1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think</a:t>
            </a:r>
            <a:r>
              <a:rPr sz="3000" spc="-1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-10" dirty="0">
                <a:solidFill>
                  <a:srgbClr val="677480"/>
                </a:solidFill>
                <a:latin typeface="Tahoma"/>
                <a:cs typeface="Tahoma"/>
              </a:rPr>
              <a:t>differently.</a:t>
            </a:r>
            <a:endParaRPr sz="3000">
              <a:latin typeface="Tahoma"/>
              <a:cs typeface="Tahoma"/>
            </a:endParaRPr>
          </a:p>
          <a:p>
            <a:pPr marL="431165" marR="7620" indent="-419100" algn="just">
              <a:lnSpc>
                <a:spcPct val="100000"/>
              </a:lnSpc>
              <a:spcBef>
                <a:spcPts val="605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1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In</a:t>
            </a:r>
            <a:r>
              <a:rPr sz="3000" spc="62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critical</a:t>
            </a:r>
            <a:r>
              <a:rPr sz="3000" spc="62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thinking,</a:t>
            </a:r>
            <a:r>
              <a:rPr sz="3000" spc="61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there</a:t>
            </a:r>
            <a:r>
              <a:rPr sz="3000" spc="62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3000" spc="61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spc="-50" dirty="0">
                <a:solidFill>
                  <a:srgbClr val="677480"/>
                </a:solidFill>
                <a:latin typeface="Tahoma"/>
                <a:cs typeface="Tahoma"/>
              </a:rPr>
              <a:t>a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distinction</a:t>
            </a:r>
            <a:r>
              <a:rPr sz="3000" spc="6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between</a:t>
            </a:r>
            <a:r>
              <a:rPr sz="3000" spc="6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3000" spc="6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position,</a:t>
            </a:r>
            <a:r>
              <a:rPr sz="3000" spc="6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spc="-25" dirty="0">
                <a:solidFill>
                  <a:srgbClr val="677480"/>
                </a:solidFill>
                <a:latin typeface="Tahoma"/>
                <a:cs typeface="Tahoma"/>
              </a:rPr>
              <a:t>an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agreement,</a:t>
            </a:r>
            <a:r>
              <a:rPr sz="3000" spc="3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3000" spc="3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disagreement,</a:t>
            </a:r>
            <a:r>
              <a:rPr sz="3000" spc="3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3000" spc="3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-25" dirty="0">
                <a:solidFill>
                  <a:srgbClr val="677480"/>
                </a:solidFill>
                <a:latin typeface="Tahoma"/>
                <a:cs typeface="Tahoma"/>
              </a:rPr>
              <a:t>an </a:t>
            </a:r>
            <a:r>
              <a:rPr sz="3000" spc="-10" dirty="0">
                <a:solidFill>
                  <a:srgbClr val="677480"/>
                </a:solidFill>
                <a:latin typeface="Tahoma"/>
                <a:cs typeface="Tahoma"/>
              </a:rPr>
              <a:t>argument.</a:t>
            </a:r>
            <a:endParaRPr sz="3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1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100" dirty="0">
                <a:solidFill>
                  <a:srgbClr val="3981B9"/>
                </a:solidFill>
                <a:latin typeface="Trebuchet MS"/>
                <a:cs typeface="Trebuchet MS"/>
              </a:rPr>
              <a:t>Agreement</a:t>
            </a:r>
            <a:r>
              <a:rPr b="1" spc="-185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b="1" spc="140" dirty="0">
                <a:solidFill>
                  <a:srgbClr val="3981B9"/>
                </a:solidFill>
                <a:latin typeface="Trebuchet MS"/>
                <a:cs typeface="Trebuchet MS"/>
              </a:rPr>
              <a:t>and</a:t>
            </a:r>
            <a:r>
              <a:rPr b="1" spc="-210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b="1" spc="85" dirty="0">
                <a:solidFill>
                  <a:srgbClr val="3981B9"/>
                </a:solidFill>
                <a:latin typeface="Trebuchet MS"/>
                <a:cs typeface="Trebuchet MS"/>
              </a:rPr>
              <a:t>Disagreement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2555" y="1604517"/>
            <a:ext cx="7517765" cy="3256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540"/>
              </a:lnSpc>
              <a:spcBef>
                <a:spcPts val="100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6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400" b="1" spc="-135" dirty="0">
                <a:solidFill>
                  <a:srgbClr val="677480"/>
                </a:solidFill>
                <a:latin typeface="Tahoma"/>
                <a:cs typeface="Tahoma"/>
              </a:rPr>
              <a:t>Position</a:t>
            </a:r>
            <a:r>
              <a:rPr sz="2400" b="1" spc="-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185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2400" spc="-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point</a:t>
            </a:r>
            <a:r>
              <a:rPr sz="2400" spc="-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5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400" spc="-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view.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ts val="3479"/>
              </a:lnSpc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85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400" b="1" spc="-160" dirty="0">
                <a:solidFill>
                  <a:srgbClr val="677480"/>
                </a:solidFill>
                <a:latin typeface="Tahoma"/>
                <a:cs typeface="Tahoma"/>
              </a:rPr>
              <a:t>Agreement</a:t>
            </a:r>
            <a:r>
              <a:rPr sz="2400" b="1" spc="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concur</a:t>
            </a:r>
            <a:r>
              <a:rPr sz="2400" spc="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with</a:t>
            </a:r>
            <a:r>
              <a:rPr sz="2400" spc="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some-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one</a:t>
            </a:r>
            <a:r>
              <a:rPr sz="2400" spc="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else's</a:t>
            </a:r>
            <a:r>
              <a:rPr sz="2400" spc="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point</a:t>
            </a:r>
            <a:r>
              <a:rPr sz="2400" spc="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30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endParaRPr sz="2400">
              <a:latin typeface="Tahoma"/>
              <a:cs typeface="Tahoma"/>
            </a:endParaRPr>
          </a:p>
          <a:p>
            <a:pPr marL="431800">
              <a:lnSpc>
                <a:spcPts val="2820"/>
              </a:lnSpc>
            </a:pP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view.</a:t>
            </a:r>
            <a:endParaRPr sz="2400">
              <a:latin typeface="Tahoma"/>
              <a:cs typeface="Tahoma"/>
            </a:endParaRPr>
          </a:p>
          <a:p>
            <a:pPr marL="431800" marR="6350" indent="-419100" algn="just">
              <a:lnSpc>
                <a:spcPts val="2880"/>
              </a:lnSpc>
              <a:spcBef>
                <a:spcPts val="695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225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400" b="1" spc="-170" dirty="0">
                <a:solidFill>
                  <a:srgbClr val="677480"/>
                </a:solidFill>
                <a:latin typeface="Tahoma"/>
                <a:cs typeface="Tahoma"/>
              </a:rPr>
              <a:t>Disagreement</a:t>
            </a:r>
            <a:r>
              <a:rPr sz="2400" b="1" spc="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400" spc="-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hold</a:t>
            </a:r>
            <a:r>
              <a:rPr sz="2400" spc="-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2400" spc="-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different</a:t>
            </a:r>
            <a:r>
              <a:rPr sz="2400" spc="-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point</a:t>
            </a:r>
            <a:r>
              <a:rPr sz="2400" spc="-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5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400" spc="-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view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 from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someone</a:t>
            </a:r>
            <a:r>
              <a:rPr sz="2400" spc="-1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else.</a:t>
            </a:r>
            <a:endParaRPr sz="2400">
              <a:latin typeface="Tahoma"/>
              <a:cs typeface="Tahoma"/>
            </a:endParaRPr>
          </a:p>
          <a:p>
            <a:pPr marL="431800" marR="5080" indent="-419100" algn="just">
              <a:lnSpc>
                <a:spcPts val="2880"/>
              </a:lnSpc>
              <a:spcBef>
                <a:spcPts val="600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35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400" b="1" spc="-165" dirty="0">
                <a:solidFill>
                  <a:srgbClr val="677480"/>
                </a:solidFill>
                <a:latin typeface="Tahoma"/>
                <a:cs typeface="Tahoma"/>
              </a:rPr>
              <a:t>Argument</a:t>
            </a:r>
            <a:r>
              <a:rPr sz="2400" b="1" spc="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Using</a:t>
            </a:r>
            <a:r>
              <a:rPr sz="2400" spc="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reasons</a:t>
            </a:r>
            <a:r>
              <a:rPr sz="2400" spc="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400" spc="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support</a:t>
            </a:r>
            <a:r>
              <a:rPr sz="2400" spc="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2400" spc="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point</a:t>
            </a:r>
            <a:r>
              <a:rPr sz="2400" spc="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5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400" spc="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view,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so</a:t>
            </a:r>
            <a:r>
              <a:rPr sz="2400" spc="13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that</a:t>
            </a:r>
            <a:r>
              <a:rPr sz="2400" spc="13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known</a:t>
            </a:r>
            <a:r>
              <a:rPr sz="2400" spc="14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or</a:t>
            </a:r>
            <a:r>
              <a:rPr sz="2400" spc="14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unknown</a:t>
            </a:r>
            <a:r>
              <a:rPr sz="2400" spc="14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audiences</a:t>
            </a:r>
            <a:r>
              <a:rPr sz="2400" spc="13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may</a:t>
            </a:r>
            <a:r>
              <a:rPr sz="2400" spc="13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be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persuaded</a:t>
            </a:r>
            <a:r>
              <a:rPr sz="2400" spc="-1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4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agree.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027" y="2699385"/>
            <a:ext cx="268224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1" spc="75" dirty="0">
                <a:solidFill>
                  <a:srgbClr val="3981B9"/>
                </a:solidFill>
                <a:latin typeface="Trebuchet MS"/>
                <a:cs typeface="Trebuchet MS"/>
              </a:rPr>
              <a:t>Agreement</a:t>
            </a:r>
            <a:r>
              <a:rPr sz="2800" b="1" spc="-170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2800" b="1" spc="75" dirty="0">
                <a:solidFill>
                  <a:srgbClr val="3981B9"/>
                </a:solidFill>
                <a:latin typeface="Trebuchet MS"/>
                <a:cs typeface="Trebuchet MS"/>
              </a:rPr>
              <a:t>and </a:t>
            </a:r>
            <a:r>
              <a:rPr sz="2800" b="1" spc="60" dirty="0">
                <a:solidFill>
                  <a:srgbClr val="3981B9"/>
                </a:solidFill>
                <a:latin typeface="Trebuchet MS"/>
                <a:cs typeface="Trebuchet MS"/>
              </a:rPr>
              <a:t>Disagreement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26664" y="277368"/>
            <a:ext cx="5993892" cy="59224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719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45" dirty="0">
                <a:solidFill>
                  <a:srgbClr val="3981B9"/>
                </a:solidFill>
                <a:latin typeface="Trebuchet MS"/>
                <a:cs typeface="Trebuchet MS"/>
              </a:rPr>
              <a:t>Activity:</a:t>
            </a:r>
            <a:r>
              <a:rPr sz="2800" b="1" spc="-135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2800" b="1" spc="70" dirty="0">
                <a:solidFill>
                  <a:srgbClr val="3981B9"/>
                </a:solidFill>
                <a:latin typeface="Trebuchet MS"/>
                <a:cs typeface="Trebuchet MS"/>
              </a:rPr>
              <a:t>Argument</a:t>
            </a:r>
            <a:r>
              <a:rPr sz="2800" b="1" spc="-150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2800" b="1" spc="110" dirty="0">
                <a:solidFill>
                  <a:srgbClr val="3981B9"/>
                </a:solidFill>
                <a:latin typeface="Trebuchet MS"/>
                <a:cs typeface="Trebuchet MS"/>
              </a:rPr>
              <a:t>and</a:t>
            </a:r>
            <a:r>
              <a:rPr sz="2800" b="1" spc="-160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2800" b="1" spc="65" dirty="0">
                <a:solidFill>
                  <a:srgbClr val="3981B9"/>
                </a:solidFill>
                <a:latin typeface="Trebuchet MS"/>
                <a:cs typeface="Trebuchet MS"/>
              </a:rPr>
              <a:t>Disagreement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41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pc="-10" dirty="0"/>
              <a:t>Identify</a:t>
            </a: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>
                <a:latin typeface="Cambria Math"/>
                <a:cs typeface="Cambria Math"/>
              </a:rPr>
              <a:t>▷</a:t>
            </a:r>
            <a:r>
              <a:rPr spc="135" dirty="0">
                <a:latin typeface="Cambria Math"/>
                <a:cs typeface="Cambria Math"/>
              </a:rPr>
              <a:t> </a:t>
            </a:r>
            <a:r>
              <a:rPr dirty="0"/>
              <a:t>A.</a:t>
            </a:r>
            <a:r>
              <a:rPr spc="-160" dirty="0"/>
              <a:t> </a:t>
            </a:r>
            <a:r>
              <a:rPr spc="-20" dirty="0"/>
              <a:t>Argument,</a:t>
            </a:r>
            <a:r>
              <a:rPr spc="-195" dirty="0"/>
              <a:t> </a:t>
            </a:r>
            <a:r>
              <a:rPr spc="65" dirty="0"/>
              <a:t>if</a:t>
            </a:r>
            <a:r>
              <a:rPr spc="-160" dirty="0"/>
              <a:t> </a:t>
            </a:r>
            <a:r>
              <a:rPr spc="-80" dirty="0"/>
              <a:t>so,</a:t>
            </a:r>
            <a:r>
              <a:rPr spc="-160" dirty="0"/>
              <a:t> </a:t>
            </a:r>
            <a:r>
              <a:rPr spc="-20" dirty="0"/>
              <a:t>why?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>
                <a:latin typeface="Cambria Math"/>
                <a:cs typeface="Cambria Math"/>
              </a:rPr>
              <a:t>▷</a:t>
            </a:r>
            <a:r>
              <a:rPr spc="85" dirty="0">
                <a:latin typeface="Cambria Math"/>
                <a:cs typeface="Cambria Math"/>
              </a:rPr>
              <a:t> </a:t>
            </a:r>
            <a:r>
              <a:rPr dirty="0"/>
              <a:t>B.</a:t>
            </a:r>
            <a:r>
              <a:rPr spc="-215" dirty="0"/>
              <a:t> </a:t>
            </a:r>
            <a:r>
              <a:rPr spc="-10" dirty="0"/>
              <a:t>Disagreement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2718" y="873379"/>
            <a:ext cx="6426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45" dirty="0">
                <a:solidFill>
                  <a:srgbClr val="3981B9"/>
                </a:solidFill>
                <a:latin typeface="Trebuchet MS"/>
                <a:cs typeface="Trebuchet MS"/>
              </a:rPr>
              <a:t>Activity:</a:t>
            </a:r>
            <a:r>
              <a:rPr sz="2800" b="1" spc="-135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2800" b="1" spc="70" dirty="0">
                <a:solidFill>
                  <a:srgbClr val="3981B9"/>
                </a:solidFill>
                <a:latin typeface="Trebuchet MS"/>
                <a:cs typeface="Trebuchet MS"/>
              </a:rPr>
              <a:t>Argument</a:t>
            </a:r>
            <a:r>
              <a:rPr sz="2800" b="1" spc="-150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2800" b="1" spc="110" dirty="0">
                <a:solidFill>
                  <a:srgbClr val="3981B9"/>
                </a:solidFill>
                <a:latin typeface="Trebuchet MS"/>
                <a:cs typeface="Trebuchet MS"/>
              </a:rPr>
              <a:t>and</a:t>
            </a:r>
            <a:r>
              <a:rPr sz="2800" b="1" spc="-160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2800" b="1" spc="65" dirty="0">
                <a:solidFill>
                  <a:srgbClr val="3981B9"/>
                </a:solidFill>
                <a:latin typeface="Trebuchet MS"/>
                <a:cs typeface="Trebuchet MS"/>
              </a:rPr>
              <a:t>Disagreement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0818" y="1627073"/>
            <a:ext cx="200787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45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800" b="1" spc="-229" dirty="0">
                <a:solidFill>
                  <a:srgbClr val="677480"/>
                </a:solidFill>
                <a:latin typeface="Tahoma"/>
                <a:cs typeface="Tahoma"/>
              </a:rPr>
              <a:t>Passage</a:t>
            </a:r>
            <a:r>
              <a:rPr sz="2800" b="1" spc="-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b="1" spc="-50" dirty="0">
                <a:solidFill>
                  <a:srgbClr val="677480"/>
                </a:solidFill>
                <a:latin typeface="Tahoma"/>
                <a:cs typeface="Tahoma"/>
              </a:rPr>
              <a:t>1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0818" y="2130678"/>
            <a:ext cx="7276465" cy="4318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165" marR="5080" indent="-419100" algn="just">
              <a:lnSpc>
                <a:spcPct val="99900"/>
              </a:lnSpc>
              <a:spcBef>
                <a:spcPts val="100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95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Bilingualism</a:t>
            </a:r>
            <a:r>
              <a:rPr sz="2800" spc="459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2800" spc="45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multilingualism</a:t>
            </a:r>
            <a:r>
              <a:rPr sz="2800" spc="45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confer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many</a:t>
            </a:r>
            <a:r>
              <a:rPr sz="2800" spc="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benefits.</a:t>
            </a:r>
            <a:r>
              <a:rPr sz="2800" spc="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Speakers</a:t>
            </a:r>
            <a:r>
              <a:rPr sz="2800" spc="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800" spc="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more</a:t>
            </a:r>
            <a:r>
              <a:rPr sz="2800" spc="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than</a:t>
            </a:r>
            <a:r>
              <a:rPr sz="2800" spc="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677480"/>
                </a:solidFill>
                <a:latin typeface="Tahoma"/>
                <a:cs typeface="Tahoma"/>
              </a:rPr>
              <a:t>one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language</a:t>
            </a:r>
            <a:r>
              <a:rPr sz="2800" spc="5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have</a:t>
            </a:r>
            <a:r>
              <a:rPr sz="2800" spc="5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2800" spc="5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better</a:t>
            </a:r>
            <a:r>
              <a:rPr sz="2800" spc="5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understanding</a:t>
            </a:r>
            <a:r>
              <a:rPr sz="2800" spc="5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45" dirty="0">
                <a:solidFill>
                  <a:srgbClr val="677480"/>
                </a:solidFill>
                <a:latin typeface="Tahoma"/>
                <a:cs typeface="Tahoma"/>
              </a:rPr>
              <a:t>of </a:t>
            </a:r>
            <a:r>
              <a:rPr sz="2800" spc="50" dirty="0">
                <a:solidFill>
                  <a:srgbClr val="677480"/>
                </a:solidFill>
                <a:latin typeface="Tahoma"/>
                <a:cs typeface="Tahoma"/>
              </a:rPr>
              <a:t>how</a:t>
            </a:r>
            <a:r>
              <a:rPr sz="2800" spc="-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677480"/>
                </a:solidFill>
                <a:latin typeface="Tahoma"/>
                <a:cs typeface="Tahoma"/>
              </a:rPr>
              <a:t>languages</a:t>
            </a:r>
            <a:r>
              <a:rPr sz="28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are</a:t>
            </a:r>
            <a:r>
              <a:rPr sz="2800" spc="-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structured</a:t>
            </a:r>
            <a:r>
              <a:rPr sz="28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because</a:t>
            </a:r>
            <a:r>
              <a:rPr sz="2800" spc="-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677480"/>
                </a:solidFill>
                <a:latin typeface="Tahoma"/>
                <a:cs typeface="Tahoma"/>
              </a:rPr>
              <a:t>they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can</a:t>
            </a:r>
            <a:r>
              <a:rPr sz="2800" spc="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compare</a:t>
            </a:r>
            <a:r>
              <a:rPr sz="2800" spc="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across</a:t>
            </a:r>
            <a:r>
              <a:rPr sz="2800" spc="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75" dirty="0">
                <a:solidFill>
                  <a:srgbClr val="677480"/>
                </a:solidFill>
                <a:latin typeface="Tahoma"/>
                <a:cs typeface="Tahoma"/>
              </a:rPr>
              <a:t>two</a:t>
            </a:r>
            <a:r>
              <a:rPr sz="2800" spc="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different</a:t>
            </a:r>
            <a:r>
              <a:rPr sz="2800" spc="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systems.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People</a:t>
            </a:r>
            <a:r>
              <a:rPr sz="2800" spc="3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who</a:t>
            </a:r>
            <a:r>
              <a:rPr sz="2800" spc="3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speak</a:t>
            </a:r>
            <a:r>
              <a:rPr sz="2800" spc="3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only</a:t>
            </a:r>
            <a:r>
              <a:rPr sz="2800" spc="3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one</a:t>
            </a:r>
            <a:r>
              <a:rPr sz="2800" spc="3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language</a:t>
            </a:r>
            <a:r>
              <a:rPr sz="2800" spc="3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677480"/>
                </a:solidFill>
                <a:latin typeface="Tahoma"/>
                <a:cs typeface="Tahoma"/>
              </a:rPr>
              <a:t>lack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this</a:t>
            </a:r>
            <a:r>
              <a:rPr sz="2800" spc="4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essential</a:t>
            </a:r>
            <a:r>
              <a:rPr sz="2800" spc="4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point</a:t>
            </a:r>
            <a:r>
              <a:rPr sz="2800" spc="4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800" spc="4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reference.</a:t>
            </a:r>
            <a:r>
              <a:rPr sz="2800" spc="4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In</a:t>
            </a:r>
            <a:r>
              <a:rPr sz="2800" spc="43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677480"/>
                </a:solidFill>
                <a:latin typeface="Tahoma"/>
                <a:cs typeface="Tahoma"/>
              </a:rPr>
              <a:t>many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cases,</a:t>
            </a:r>
            <a:r>
              <a:rPr sz="2800" spc="2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2800" spc="2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second</a:t>
            </a:r>
            <a:r>
              <a:rPr sz="2800" spc="2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language</a:t>
            </a:r>
            <a:r>
              <a:rPr sz="2800" spc="2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can</a:t>
            </a:r>
            <a:r>
              <a:rPr sz="2800" spc="2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help</a:t>
            </a:r>
            <a:r>
              <a:rPr sz="2800" spc="2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people </a:t>
            </a:r>
            <a:r>
              <a:rPr sz="2800" spc="6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800" spc="53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have</a:t>
            </a:r>
            <a:r>
              <a:rPr sz="2800" spc="53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2800" spc="53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better</a:t>
            </a:r>
            <a:r>
              <a:rPr sz="2800" spc="53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understanding</a:t>
            </a:r>
            <a:r>
              <a:rPr sz="2800" spc="53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spc="-25" dirty="0">
                <a:solidFill>
                  <a:srgbClr val="677480"/>
                </a:solidFill>
                <a:latin typeface="Tahoma"/>
                <a:cs typeface="Tahoma"/>
              </a:rPr>
              <a:t>and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appreciation</a:t>
            </a:r>
            <a:r>
              <a:rPr sz="28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800" spc="-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their</a:t>
            </a:r>
            <a:r>
              <a:rPr sz="2800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first</a:t>
            </a:r>
            <a:r>
              <a:rPr sz="2800" spc="-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language.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2718" y="873379"/>
            <a:ext cx="6426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45" dirty="0">
                <a:solidFill>
                  <a:srgbClr val="3981B9"/>
                </a:solidFill>
                <a:latin typeface="Trebuchet MS"/>
                <a:cs typeface="Trebuchet MS"/>
              </a:rPr>
              <a:t>Activity:</a:t>
            </a:r>
            <a:r>
              <a:rPr sz="2800" b="1" spc="-135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2800" b="1" spc="70" dirty="0">
                <a:solidFill>
                  <a:srgbClr val="3981B9"/>
                </a:solidFill>
                <a:latin typeface="Trebuchet MS"/>
                <a:cs typeface="Trebuchet MS"/>
              </a:rPr>
              <a:t>Argument</a:t>
            </a:r>
            <a:r>
              <a:rPr sz="2800" b="1" spc="-150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2800" b="1" spc="110" dirty="0">
                <a:solidFill>
                  <a:srgbClr val="3981B9"/>
                </a:solidFill>
                <a:latin typeface="Trebuchet MS"/>
                <a:cs typeface="Trebuchet MS"/>
              </a:rPr>
              <a:t>and</a:t>
            </a:r>
            <a:r>
              <a:rPr sz="2800" b="1" spc="-160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2800" b="1" spc="65" dirty="0">
                <a:solidFill>
                  <a:srgbClr val="3981B9"/>
                </a:solidFill>
                <a:latin typeface="Trebuchet MS"/>
                <a:cs typeface="Trebuchet MS"/>
              </a:rPr>
              <a:t>Disagreement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0818" y="1592412"/>
            <a:ext cx="2087880" cy="103124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4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800" b="1" spc="-229" dirty="0">
                <a:solidFill>
                  <a:srgbClr val="677480"/>
                </a:solidFill>
                <a:latin typeface="Tahoma"/>
                <a:cs typeface="Tahoma"/>
              </a:rPr>
              <a:t>Passage</a:t>
            </a:r>
            <a:r>
              <a:rPr sz="2800" b="1" spc="-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b="1" spc="-50" dirty="0">
                <a:solidFill>
                  <a:srgbClr val="677480"/>
                </a:solidFill>
                <a:latin typeface="Tahoma"/>
                <a:cs typeface="Tahoma"/>
              </a:rPr>
              <a:t>1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0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Tahoma"/>
                <a:cs typeface="Tahoma"/>
              </a:rPr>
              <a:t>Argument.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30346" y="2166315"/>
            <a:ext cx="485775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6845" marR="5080" indent="-144780">
              <a:lnSpc>
                <a:spcPct val="100000"/>
              </a:lnSpc>
              <a:spcBef>
                <a:spcPts val="95"/>
              </a:spcBef>
              <a:tabLst>
                <a:tab pos="1063625" algn="l"/>
                <a:tab pos="1115695" algn="l"/>
                <a:tab pos="2566670" algn="l"/>
                <a:tab pos="3832225" algn="l"/>
                <a:tab pos="4516120" algn="l"/>
              </a:tabLst>
            </a:pPr>
            <a:r>
              <a:rPr sz="2800" spc="-25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	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overall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	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argument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	</a:t>
            </a:r>
            <a:r>
              <a:rPr sz="2800" spc="-114" dirty="0">
                <a:solidFill>
                  <a:srgbClr val="677480"/>
                </a:solidFill>
                <a:latin typeface="Tahoma"/>
                <a:cs typeface="Tahoma"/>
              </a:rPr>
              <a:t>is: </a:t>
            </a:r>
            <a:r>
              <a:rPr sz="2800" spc="-25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		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multilingualism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	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confer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29892" y="2593593"/>
            <a:ext cx="6960234" cy="3012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Bilingualism</a:t>
            </a:r>
            <a:endParaRPr sz="2800">
              <a:latin typeface="Tahoma"/>
              <a:cs typeface="Tahoma"/>
            </a:endParaRPr>
          </a:p>
          <a:p>
            <a:pPr marL="12700" marR="5080" algn="just">
              <a:lnSpc>
                <a:spcPct val="100000"/>
              </a:lnSpc>
            </a:pP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many</a:t>
            </a:r>
            <a:r>
              <a:rPr sz="2800" spc="4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benefits.</a:t>
            </a:r>
            <a:r>
              <a:rPr sz="2800" spc="4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800" spc="4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reasons</a:t>
            </a:r>
            <a:r>
              <a:rPr sz="2800" spc="459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given</a:t>
            </a:r>
            <a:r>
              <a:rPr sz="2800" spc="4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are:</a:t>
            </a:r>
            <a:r>
              <a:rPr sz="2800" spc="4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5" dirty="0">
                <a:solidFill>
                  <a:srgbClr val="677480"/>
                </a:solidFill>
                <a:latin typeface="Tahoma"/>
                <a:cs typeface="Tahoma"/>
              </a:rPr>
              <a:t>(1)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that</a:t>
            </a:r>
            <a:r>
              <a:rPr sz="2800" spc="5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speakers</a:t>
            </a:r>
            <a:r>
              <a:rPr sz="2800" spc="5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800" spc="5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more</a:t>
            </a:r>
            <a:r>
              <a:rPr sz="2800" spc="5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than</a:t>
            </a:r>
            <a:r>
              <a:rPr sz="2800" spc="5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one</a:t>
            </a:r>
            <a:r>
              <a:rPr sz="2800" spc="5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677480"/>
                </a:solidFill>
                <a:latin typeface="Tahoma"/>
                <a:cs typeface="Tahoma"/>
              </a:rPr>
              <a:t>language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have</a:t>
            </a:r>
            <a:r>
              <a:rPr sz="2800" spc="53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2800" spc="54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better</a:t>
            </a:r>
            <a:r>
              <a:rPr sz="2800" spc="53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understanding</a:t>
            </a:r>
            <a:r>
              <a:rPr sz="2800" spc="53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spc="70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800" spc="53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spc="25" dirty="0">
                <a:solidFill>
                  <a:srgbClr val="677480"/>
                </a:solidFill>
                <a:latin typeface="Tahoma"/>
                <a:cs typeface="Tahoma"/>
              </a:rPr>
              <a:t>how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languages</a:t>
            </a:r>
            <a:r>
              <a:rPr sz="2800" spc="15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are</a:t>
            </a:r>
            <a:r>
              <a:rPr sz="2800" spc="16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structured;</a:t>
            </a:r>
            <a:r>
              <a:rPr sz="2800" spc="16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(2)</a:t>
            </a:r>
            <a:r>
              <a:rPr sz="2800" spc="16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2800" spc="16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second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language  can</a:t>
            </a:r>
            <a:r>
              <a:rPr sz="2800" spc="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help</a:t>
            </a:r>
            <a:r>
              <a:rPr sz="2800" spc="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spc="6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800" spc="1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understand</a:t>
            </a:r>
            <a:r>
              <a:rPr sz="2800" spc="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2800" spc="1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first language.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719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45" dirty="0">
                <a:solidFill>
                  <a:srgbClr val="3981B9"/>
                </a:solidFill>
                <a:latin typeface="Trebuchet MS"/>
                <a:cs typeface="Trebuchet MS"/>
              </a:rPr>
              <a:t>Activity:</a:t>
            </a:r>
            <a:r>
              <a:rPr sz="2800" b="1" spc="-135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2800" b="1" spc="70" dirty="0">
                <a:solidFill>
                  <a:srgbClr val="3981B9"/>
                </a:solidFill>
                <a:latin typeface="Trebuchet MS"/>
                <a:cs typeface="Trebuchet MS"/>
              </a:rPr>
              <a:t>Argument</a:t>
            </a:r>
            <a:r>
              <a:rPr sz="2800" b="1" spc="-150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2800" b="1" spc="110" dirty="0">
                <a:solidFill>
                  <a:srgbClr val="3981B9"/>
                </a:solidFill>
                <a:latin typeface="Trebuchet MS"/>
                <a:cs typeface="Trebuchet MS"/>
              </a:rPr>
              <a:t>and</a:t>
            </a:r>
            <a:r>
              <a:rPr sz="2800" b="1" spc="-160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2800" b="1" spc="65" dirty="0">
                <a:solidFill>
                  <a:srgbClr val="3981B9"/>
                </a:solidFill>
                <a:latin typeface="Trebuchet MS"/>
                <a:cs typeface="Trebuchet MS"/>
              </a:rPr>
              <a:t>Disagreement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0818" y="1443354"/>
            <a:ext cx="7348855" cy="4556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ts val="3495"/>
              </a:lnSpc>
              <a:spcBef>
                <a:spcPts val="100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3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000" b="1" spc="-160" dirty="0">
                <a:solidFill>
                  <a:srgbClr val="677480"/>
                </a:solidFill>
                <a:latin typeface="Tahoma"/>
                <a:cs typeface="Tahoma"/>
              </a:rPr>
              <a:t>Passage</a:t>
            </a:r>
            <a:r>
              <a:rPr sz="2000" b="1" spc="-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b="1" spc="-60" dirty="0">
                <a:solidFill>
                  <a:srgbClr val="677480"/>
                </a:solidFill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  <a:p>
            <a:pPr marL="431165" marR="5715" indent="-419100" algn="just">
              <a:lnSpc>
                <a:spcPct val="96000"/>
              </a:lnSpc>
              <a:spcBef>
                <a:spcPts val="35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2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Complementary</a:t>
            </a:r>
            <a:r>
              <a:rPr sz="2400" spc="42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therapies</a:t>
            </a:r>
            <a:r>
              <a:rPr sz="2400" spc="43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are</a:t>
            </a:r>
            <a:r>
              <a:rPr sz="2400" spc="42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an</a:t>
            </a:r>
            <a:r>
              <a:rPr sz="2400" spc="42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increasingly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popular</a:t>
            </a:r>
            <a:r>
              <a:rPr sz="2400" spc="4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supplement</a:t>
            </a:r>
            <a:r>
              <a:rPr sz="2400" spc="4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400" spc="4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other</a:t>
            </a:r>
            <a:r>
              <a:rPr sz="2400" spc="4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forms</a:t>
            </a:r>
            <a:r>
              <a:rPr sz="2400" spc="4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5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400" spc="4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treatment.</a:t>
            </a:r>
            <a:endParaRPr sz="2400">
              <a:latin typeface="Tahoma"/>
              <a:cs typeface="Tahoma"/>
            </a:endParaRPr>
          </a:p>
          <a:p>
            <a:pPr marL="431165" marR="5080" algn="just">
              <a:lnSpc>
                <a:spcPct val="100000"/>
              </a:lnSpc>
            </a:pP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Those</a:t>
            </a:r>
            <a:r>
              <a:rPr sz="2400" spc="409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who</a:t>
            </a:r>
            <a:r>
              <a:rPr sz="2400" spc="40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use</a:t>
            </a:r>
            <a:r>
              <a:rPr sz="2400" spc="40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these</a:t>
            </a:r>
            <a:r>
              <a:rPr sz="2400" spc="409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therapies</a:t>
            </a:r>
            <a:r>
              <a:rPr sz="2400" spc="41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argue</a:t>
            </a:r>
            <a:r>
              <a:rPr sz="2400" spc="409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that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treatments</a:t>
            </a:r>
            <a:r>
              <a:rPr sz="2400" spc="459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such</a:t>
            </a:r>
            <a:r>
              <a:rPr sz="2400" spc="4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as</a:t>
            </a:r>
            <a:r>
              <a:rPr sz="2400" spc="4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reflexology,</a:t>
            </a:r>
            <a:r>
              <a:rPr sz="2400" spc="4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homeopathy</a:t>
            </a:r>
            <a:r>
              <a:rPr sz="2400" spc="4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and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shiatsu</a:t>
            </a:r>
            <a:r>
              <a:rPr sz="2400" spc="13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complement</a:t>
            </a:r>
            <a:r>
              <a:rPr sz="2400" spc="13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400" spc="13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care</a:t>
            </a:r>
            <a:r>
              <a:rPr sz="2400" spc="13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provided</a:t>
            </a:r>
            <a:r>
              <a:rPr sz="2400" spc="13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by</a:t>
            </a:r>
            <a:r>
              <a:rPr sz="2400" spc="13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the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medical</a:t>
            </a:r>
            <a:r>
              <a:rPr sz="2400" spc="-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profession.</a:t>
            </a:r>
            <a:r>
              <a:rPr sz="2400" spc="-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45" dirty="0">
                <a:solidFill>
                  <a:srgbClr val="677480"/>
                </a:solidFill>
                <a:latin typeface="Tahoma"/>
                <a:cs typeface="Tahoma"/>
              </a:rPr>
              <a:t>Indeed,</a:t>
            </a:r>
            <a:r>
              <a:rPr sz="2400" spc="-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some</a:t>
            </a:r>
            <a:r>
              <a:rPr sz="2400" spc="-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people</a:t>
            </a:r>
            <a:r>
              <a:rPr sz="2400" spc="-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claim</a:t>
            </a:r>
            <a:r>
              <a:rPr sz="2400" spc="-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that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these</a:t>
            </a:r>
            <a:r>
              <a:rPr sz="2400" spc="1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therapies</a:t>
            </a:r>
            <a:r>
              <a:rPr sz="2400" spc="1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are</a:t>
            </a:r>
            <a:r>
              <a:rPr sz="2400" spc="1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more</a:t>
            </a:r>
            <a:r>
              <a:rPr sz="2400" spc="1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effective</a:t>
            </a:r>
            <a:r>
              <a:rPr sz="2400" spc="1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than</a:t>
            </a:r>
            <a:r>
              <a:rPr sz="2400" spc="1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traditional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medicines.</a:t>
            </a:r>
            <a:r>
              <a:rPr sz="2400" spc="-1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Anecdotal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cases</a:t>
            </a:r>
            <a:r>
              <a:rPr sz="2400" spc="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spc="55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400" spc="-1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miraculous 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cures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abound</a:t>
            </a:r>
            <a:r>
              <a:rPr sz="2400" spc="2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2400" spc="3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there</a:t>
            </a:r>
            <a:r>
              <a:rPr sz="2400" spc="3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are</a:t>
            </a:r>
            <a:r>
              <a:rPr sz="2400" spc="3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those</a:t>
            </a:r>
            <a:r>
              <a:rPr sz="2400" spc="3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who</a:t>
            </a:r>
            <a:r>
              <a:rPr sz="2400" spc="2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believe</a:t>
            </a:r>
            <a:r>
              <a:rPr sz="2400" spc="2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such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methods</a:t>
            </a:r>
            <a:r>
              <a:rPr sz="2400" spc="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can</a:t>
            </a:r>
            <a:r>
              <a:rPr sz="2400" spc="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compete on</a:t>
            </a:r>
            <a:r>
              <a:rPr sz="2400" spc="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equal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terms</a:t>
            </a:r>
            <a:r>
              <a:rPr sz="2400" spc="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with</a:t>
            </a:r>
            <a:r>
              <a:rPr sz="2400" spc="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medical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approaches.</a:t>
            </a:r>
            <a:r>
              <a:rPr sz="2400" spc="-1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This</a:t>
            </a:r>
            <a:r>
              <a:rPr sz="2400" spc="-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just</a:t>
            </a:r>
            <a:r>
              <a:rPr sz="2400" spc="-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isn't</a:t>
            </a:r>
            <a:r>
              <a:rPr sz="2400" spc="-1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convincing</a:t>
            </a:r>
            <a:r>
              <a:rPr sz="2400" b="1" spc="-10" dirty="0">
                <a:solidFill>
                  <a:srgbClr val="677480"/>
                </a:solidFill>
                <a:latin typeface="Tahoma"/>
                <a:cs typeface="Tahoma"/>
              </a:rPr>
              <a:t>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719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45" dirty="0">
                <a:solidFill>
                  <a:srgbClr val="3981B9"/>
                </a:solidFill>
                <a:latin typeface="Trebuchet MS"/>
                <a:cs typeface="Trebuchet MS"/>
              </a:rPr>
              <a:t>Activity:</a:t>
            </a:r>
            <a:r>
              <a:rPr sz="2800" b="1" spc="-135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2800" b="1" spc="70" dirty="0">
                <a:solidFill>
                  <a:srgbClr val="3981B9"/>
                </a:solidFill>
                <a:latin typeface="Trebuchet MS"/>
                <a:cs typeface="Trebuchet MS"/>
              </a:rPr>
              <a:t>Argument</a:t>
            </a:r>
            <a:r>
              <a:rPr sz="2800" b="1" spc="-150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2800" b="1" spc="110" dirty="0">
                <a:solidFill>
                  <a:srgbClr val="3981B9"/>
                </a:solidFill>
                <a:latin typeface="Trebuchet MS"/>
                <a:cs typeface="Trebuchet MS"/>
              </a:rPr>
              <a:t>and</a:t>
            </a:r>
            <a:r>
              <a:rPr sz="2800" b="1" spc="-160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2800" b="1" spc="65" dirty="0">
                <a:solidFill>
                  <a:srgbClr val="3981B9"/>
                </a:solidFill>
                <a:latin typeface="Trebuchet MS"/>
                <a:cs typeface="Trebuchet MS"/>
              </a:rPr>
              <a:t>Disagreement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6421" y="1710944"/>
            <a:ext cx="7113905" cy="29216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00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45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3000" b="1" spc="-254" dirty="0">
                <a:solidFill>
                  <a:srgbClr val="677480"/>
                </a:solidFill>
                <a:latin typeface="Tahoma"/>
                <a:cs typeface="Tahoma"/>
              </a:rPr>
              <a:t>Passage</a:t>
            </a:r>
            <a:r>
              <a:rPr sz="3000" b="1" spc="-1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b="1" spc="-50" dirty="0">
                <a:solidFill>
                  <a:srgbClr val="677480"/>
                </a:solidFill>
                <a:latin typeface="Tahoma"/>
                <a:cs typeface="Tahoma"/>
              </a:rPr>
              <a:t>2</a:t>
            </a:r>
            <a:endParaRPr sz="3000">
              <a:latin typeface="Tahoma"/>
              <a:cs typeface="Tahoma"/>
            </a:endParaRPr>
          </a:p>
          <a:p>
            <a:pPr marL="431800" marR="5080" indent="-419734" algn="just">
              <a:lnSpc>
                <a:spcPct val="100000"/>
              </a:lnSpc>
              <a:spcBef>
                <a:spcPts val="600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25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3000" spc="6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final</a:t>
            </a:r>
            <a:r>
              <a:rPr sz="3000" spc="6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line</a:t>
            </a:r>
            <a:r>
              <a:rPr sz="3000" spc="6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expresses</a:t>
            </a:r>
            <a:r>
              <a:rPr sz="3000" spc="6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ahoma"/>
                <a:cs typeface="Tahoma"/>
              </a:rPr>
              <a:t>disagreement </a:t>
            </a:r>
            <a:r>
              <a:rPr sz="3000" spc="55" dirty="0">
                <a:solidFill>
                  <a:srgbClr val="677480"/>
                </a:solidFill>
                <a:latin typeface="Tahoma"/>
                <a:cs typeface="Tahoma"/>
              </a:rPr>
              <a:t>with</a:t>
            </a:r>
            <a:r>
              <a:rPr sz="3000" spc="44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3000" spc="44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idea</a:t>
            </a:r>
            <a:r>
              <a:rPr sz="3000" spc="44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that</a:t>
            </a:r>
            <a:r>
              <a:rPr sz="3000" spc="44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spc="-10" dirty="0">
                <a:solidFill>
                  <a:srgbClr val="677480"/>
                </a:solidFill>
                <a:latin typeface="Tahoma"/>
                <a:cs typeface="Tahoma"/>
              </a:rPr>
              <a:t>complementary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therapies</a:t>
            </a:r>
            <a:r>
              <a:rPr sz="3000" spc="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are</a:t>
            </a:r>
            <a:r>
              <a:rPr sz="3000" spc="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3000" spc="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equivalent</a:t>
            </a:r>
            <a:r>
              <a:rPr sz="3000" spc="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75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3000" spc="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-10" dirty="0">
                <a:solidFill>
                  <a:srgbClr val="677480"/>
                </a:solidFill>
                <a:latin typeface="Tahoma"/>
                <a:cs typeface="Tahoma"/>
              </a:rPr>
              <a:t>medical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treatments.</a:t>
            </a:r>
            <a:r>
              <a:rPr sz="3000" spc="8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spc="180" dirty="0">
                <a:solidFill>
                  <a:srgbClr val="677480"/>
                </a:solidFill>
                <a:latin typeface="Tahoma"/>
                <a:cs typeface="Tahoma"/>
              </a:rPr>
              <a:t>No</a:t>
            </a:r>
            <a:r>
              <a:rPr sz="3000" spc="7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reasons</a:t>
            </a:r>
            <a:r>
              <a:rPr sz="3000" spc="7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spc="60" dirty="0">
                <a:solidFill>
                  <a:srgbClr val="677480"/>
                </a:solidFill>
                <a:latin typeface="Tahoma"/>
                <a:cs typeface="Tahoma"/>
              </a:rPr>
              <a:t>for</a:t>
            </a:r>
            <a:r>
              <a:rPr sz="3000" spc="7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this</a:t>
            </a:r>
            <a:r>
              <a:rPr sz="3000" spc="8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spc="-25" dirty="0">
                <a:solidFill>
                  <a:srgbClr val="677480"/>
                </a:solidFill>
                <a:latin typeface="Tahoma"/>
                <a:cs typeface="Tahoma"/>
              </a:rPr>
              <a:t>are </a:t>
            </a:r>
            <a:r>
              <a:rPr sz="3000" spc="-10" dirty="0">
                <a:solidFill>
                  <a:srgbClr val="677480"/>
                </a:solidFill>
                <a:latin typeface="Tahoma"/>
                <a:cs typeface="Tahoma"/>
              </a:rPr>
              <a:t>given</a:t>
            </a:r>
            <a:r>
              <a:rPr sz="3000" spc="-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so</a:t>
            </a:r>
            <a:r>
              <a:rPr sz="3000" spc="-1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this</a:t>
            </a:r>
            <a:r>
              <a:rPr sz="3000" spc="-1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3000" spc="-1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not</a:t>
            </a:r>
            <a:r>
              <a:rPr sz="3000" spc="-1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-50" dirty="0">
                <a:solidFill>
                  <a:srgbClr val="677480"/>
                </a:solidFill>
                <a:latin typeface="Tahoma"/>
                <a:cs typeface="Tahoma"/>
              </a:rPr>
              <a:t>an</a:t>
            </a:r>
            <a:r>
              <a:rPr sz="3000" spc="-1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-10" dirty="0">
                <a:solidFill>
                  <a:srgbClr val="677480"/>
                </a:solidFill>
                <a:latin typeface="Tahoma"/>
                <a:cs typeface="Tahoma"/>
              </a:rPr>
              <a:t>argument.</a:t>
            </a:r>
            <a:endParaRPr sz="3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2718" y="935863"/>
            <a:ext cx="5516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35" dirty="0">
                <a:solidFill>
                  <a:srgbClr val="3981B9"/>
                </a:solidFill>
                <a:latin typeface="Trebuchet MS"/>
                <a:cs typeface="Trebuchet MS"/>
              </a:rPr>
              <a:t>Activity:</a:t>
            </a:r>
            <a:r>
              <a:rPr sz="2400" b="1" spc="-120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2400" b="1" spc="70" dirty="0">
                <a:solidFill>
                  <a:srgbClr val="3981B9"/>
                </a:solidFill>
                <a:latin typeface="Trebuchet MS"/>
                <a:cs typeface="Trebuchet MS"/>
              </a:rPr>
              <a:t>Argument</a:t>
            </a:r>
            <a:r>
              <a:rPr sz="2400" b="1" spc="-125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2400" b="1" spc="95" dirty="0">
                <a:solidFill>
                  <a:srgbClr val="3981B9"/>
                </a:solidFill>
                <a:latin typeface="Trebuchet MS"/>
                <a:cs typeface="Trebuchet MS"/>
              </a:rPr>
              <a:t>and</a:t>
            </a:r>
            <a:r>
              <a:rPr sz="2400" b="1" spc="-125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2400" b="1" spc="55" dirty="0">
                <a:solidFill>
                  <a:srgbClr val="3981B9"/>
                </a:solidFill>
                <a:latin typeface="Trebuchet MS"/>
                <a:cs typeface="Trebuchet MS"/>
              </a:rPr>
              <a:t>Disagreement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0818" y="1690242"/>
            <a:ext cx="7287259" cy="9251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540"/>
              </a:lnSpc>
              <a:spcBef>
                <a:spcPts val="100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2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400" b="1" spc="-190" dirty="0">
                <a:solidFill>
                  <a:srgbClr val="677480"/>
                </a:solidFill>
                <a:latin typeface="Tahoma"/>
                <a:cs typeface="Tahoma"/>
              </a:rPr>
              <a:t>Passage</a:t>
            </a:r>
            <a:r>
              <a:rPr sz="2400" b="1" spc="-1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b="1" spc="-50" dirty="0">
                <a:solidFill>
                  <a:srgbClr val="677480"/>
                </a:solidFill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ts val="3540"/>
              </a:lnSpc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3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Several</a:t>
            </a:r>
            <a:r>
              <a:rPr sz="2400" spc="-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young</a:t>
            </a:r>
            <a:r>
              <a:rPr sz="24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people</a:t>
            </a:r>
            <a:r>
              <a:rPr sz="2400" spc="-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die</a:t>
            </a:r>
            <a:r>
              <a:rPr sz="2400" spc="-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each</a:t>
            </a:r>
            <a:r>
              <a:rPr sz="24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year</a:t>
            </a:r>
            <a:r>
              <a:rPr sz="24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training</a:t>
            </a:r>
            <a:r>
              <a:rPr sz="2400" spc="-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for</a:t>
            </a:r>
            <a:r>
              <a:rPr sz="24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29892" y="2574416"/>
            <a:ext cx="6866890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construction</a:t>
            </a:r>
            <a:r>
              <a:rPr sz="2400" spc="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trades.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 Legislation</a:t>
            </a:r>
            <a:r>
              <a:rPr sz="2400" spc="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400" spc="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in</a:t>
            </a:r>
            <a:r>
              <a:rPr sz="2400" spc="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place</a:t>
            </a:r>
            <a:r>
              <a:rPr sz="2400" spc="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to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cover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health</a:t>
            </a:r>
            <a:r>
              <a:rPr sz="2400" spc="5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2400" spc="5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safety</a:t>
            </a:r>
            <a:r>
              <a:rPr sz="2400" spc="5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at</a:t>
            </a:r>
            <a:r>
              <a:rPr sz="2400" spc="5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work,</a:t>
            </a:r>
            <a:r>
              <a:rPr sz="2400" spc="5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but</a:t>
            </a:r>
            <a:r>
              <a:rPr sz="2400" spc="5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some</a:t>
            </a:r>
            <a:r>
              <a:rPr sz="2400" spc="5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employers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argue</a:t>
            </a:r>
            <a:r>
              <a:rPr sz="2400" spc="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that</a:t>
            </a:r>
            <a:r>
              <a:rPr sz="2400" spc="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this</a:t>
            </a:r>
            <a:r>
              <a:rPr sz="2400" spc="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400" spc="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5" dirty="0">
                <a:solidFill>
                  <a:srgbClr val="677480"/>
                </a:solidFill>
                <a:latin typeface="Tahoma"/>
                <a:cs typeface="Tahoma"/>
              </a:rPr>
              <a:t>too</a:t>
            </a:r>
            <a:r>
              <a:rPr sz="2400" spc="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expensive</a:t>
            </a:r>
            <a:r>
              <a:rPr sz="2400" spc="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400" spc="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implement</a:t>
            </a:r>
            <a:r>
              <a:rPr sz="2400" spc="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and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onerous</a:t>
            </a:r>
            <a:r>
              <a:rPr sz="2400" spc="3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400" spc="3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monitor.</a:t>
            </a:r>
            <a:r>
              <a:rPr sz="2400" spc="3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They</a:t>
            </a:r>
            <a:r>
              <a:rPr sz="2400" spc="3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say</a:t>
            </a:r>
            <a:r>
              <a:rPr sz="2400" spc="3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that</a:t>
            </a:r>
            <a:r>
              <a:rPr sz="2400" spc="3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young</a:t>
            </a:r>
            <a:r>
              <a:rPr sz="2400" spc="3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people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are</a:t>
            </a:r>
            <a:r>
              <a:rPr sz="2400" spc="-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not responsible</a:t>
            </a:r>
            <a:r>
              <a:rPr sz="2400" spc="-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enough at</a:t>
            </a:r>
            <a:r>
              <a:rPr sz="2400" spc="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work and</a:t>
            </a:r>
            <a:r>
              <a:rPr sz="2400" spc="-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that</a:t>
            </a:r>
            <a:r>
              <a:rPr sz="2400" spc="-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there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400" spc="5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nothing</a:t>
            </a:r>
            <a:r>
              <a:rPr sz="2400" spc="5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further</a:t>
            </a:r>
            <a:r>
              <a:rPr sz="2400" spc="-7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they</a:t>
            </a:r>
            <a:r>
              <a:rPr sz="2400" spc="5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can</a:t>
            </a:r>
            <a:r>
              <a:rPr sz="2400" spc="5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do</a:t>
            </a:r>
            <a:r>
              <a:rPr sz="2400" spc="5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400" spc="5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prevent</a:t>
            </a:r>
            <a:r>
              <a:rPr sz="2400" spc="5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their </a:t>
            </a:r>
            <a:r>
              <a:rPr sz="2400" spc="-35" dirty="0">
                <a:solidFill>
                  <a:srgbClr val="677480"/>
                </a:solidFill>
                <a:latin typeface="Tahoma"/>
                <a:cs typeface="Tahoma"/>
              </a:rPr>
              <a:t>deaths.</a:t>
            </a:r>
            <a:r>
              <a:rPr sz="2400" spc="-1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That</a:t>
            </a:r>
            <a:r>
              <a:rPr sz="24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cannot</a:t>
            </a:r>
            <a:r>
              <a:rPr sz="24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be</a:t>
            </a:r>
            <a:r>
              <a:rPr sz="24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85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2400" spc="-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good</a:t>
            </a:r>
            <a:r>
              <a:rPr sz="24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argument</a:t>
            </a:r>
            <a:r>
              <a:rPr sz="2400" b="1" spc="-10" dirty="0">
                <a:solidFill>
                  <a:srgbClr val="677480"/>
                </a:solidFill>
                <a:latin typeface="Tahoma"/>
                <a:cs typeface="Tahoma"/>
              </a:rPr>
              <a:t>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718" y="809370"/>
            <a:ext cx="73386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45" dirty="0">
                <a:solidFill>
                  <a:srgbClr val="3981B9"/>
                </a:solidFill>
                <a:latin typeface="Trebuchet MS"/>
                <a:cs typeface="Trebuchet MS"/>
              </a:rPr>
              <a:t>Activity:</a:t>
            </a:r>
            <a:r>
              <a:rPr sz="3200" b="1" spc="-215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3200" b="1" spc="95" dirty="0">
                <a:solidFill>
                  <a:srgbClr val="3981B9"/>
                </a:solidFill>
                <a:latin typeface="Trebuchet MS"/>
                <a:cs typeface="Trebuchet MS"/>
              </a:rPr>
              <a:t>Argument</a:t>
            </a:r>
            <a:r>
              <a:rPr sz="3200" b="1" spc="-204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3200" b="1" spc="125" dirty="0">
                <a:solidFill>
                  <a:srgbClr val="3981B9"/>
                </a:solidFill>
                <a:latin typeface="Trebuchet MS"/>
                <a:cs typeface="Trebuchet MS"/>
              </a:rPr>
              <a:t>and</a:t>
            </a:r>
            <a:r>
              <a:rPr sz="3200" b="1" spc="-185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3200" b="1" spc="80" dirty="0">
                <a:solidFill>
                  <a:srgbClr val="3981B9"/>
                </a:solidFill>
                <a:latin typeface="Trebuchet MS"/>
                <a:cs typeface="Trebuchet MS"/>
              </a:rPr>
              <a:t>Disagreement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0818" y="1592412"/>
            <a:ext cx="6844665" cy="273304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55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4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800" b="1" spc="-229" dirty="0">
                <a:solidFill>
                  <a:srgbClr val="677480"/>
                </a:solidFill>
                <a:latin typeface="Tahoma"/>
                <a:cs typeface="Tahoma"/>
              </a:rPr>
              <a:t>Passage</a:t>
            </a:r>
            <a:r>
              <a:rPr sz="2800" b="1" spc="-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b="1" spc="-50" dirty="0">
                <a:solidFill>
                  <a:srgbClr val="677480"/>
                </a:solidFill>
                <a:latin typeface="Tahoma"/>
                <a:cs typeface="Tahoma"/>
              </a:rPr>
              <a:t>3</a:t>
            </a:r>
            <a:endParaRPr sz="2800">
              <a:latin typeface="Tahoma"/>
              <a:cs typeface="Tahoma"/>
            </a:endParaRPr>
          </a:p>
          <a:p>
            <a:pPr marL="431165" marR="5080" indent="-419100" algn="just">
              <a:lnSpc>
                <a:spcPct val="99700"/>
              </a:lnSpc>
              <a:spcBef>
                <a:spcPts val="370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25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800" spc="4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final</a:t>
            </a:r>
            <a:r>
              <a:rPr sz="2800" spc="4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line</a:t>
            </a:r>
            <a:r>
              <a:rPr sz="2800" spc="4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expresses</a:t>
            </a:r>
            <a:r>
              <a:rPr sz="2800" spc="4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spc="-10" dirty="0">
                <a:solidFill>
                  <a:srgbClr val="FF0000"/>
                </a:solidFill>
                <a:latin typeface="Tahoma"/>
                <a:cs typeface="Tahoma"/>
              </a:rPr>
              <a:t>disagreement </a:t>
            </a:r>
            <a:r>
              <a:rPr sz="2800" spc="50" dirty="0">
                <a:solidFill>
                  <a:srgbClr val="677480"/>
                </a:solidFill>
                <a:latin typeface="Tahoma"/>
                <a:cs typeface="Tahoma"/>
              </a:rPr>
              <a:t>with</a:t>
            </a:r>
            <a:r>
              <a:rPr sz="2800" spc="2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800" spc="1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idea</a:t>
            </a:r>
            <a:r>
              <a:rPr sz="2800" spc="2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that</a:t>
            </a:r>
            <a:r>
              <a:rPr sz="2800" spc="1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employers</a:t>
            </a:r>
            <a:r>
              <a:rPr sz="2800" spc="2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cannot</a:t>
            </a:r>
            <a:r>
              <a:rPr sz="2800" spc="2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677480"/>
                </a:solidFill>
                <a:latin typeface="Tahoma"/>
                <a:cs typeface="Tahoma"/>
              </a:rPr>
              <a:t>do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more</a:t>
            </a:r>
            <a:r>
              <a:rPr sz="28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6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800" spc="-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help</a:t>
            </a:r>
            <a:r>
              <a:rPr sz="2800" spc="-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save</a:t>
            </a:r>
            <a:r>
              <a:rPr sz="2800" spc="-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lives</a:t>
            </a:r>
            <a:r>
              <a:rPr sz="2800" spc="-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in</a:t>
            </a:r>
            <a:r>
              <a:rPr sz="28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8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workplace. </a:t>
            </a:r>
            <a:r>
              <a:rPr sz="2800" spc="150" dirty="0">
                <a:solidFill>
                  <a:srgbClr val="677480"/>
                </a:solidFill>
                <a:latin typeface="Tahoma"/>
                <a:cs typeface="Tahoma"/>
              </a:rPr>
              <a:t>No</a:t>
            </a:r>
            <a:r>
              <a:rPr sz="2800" spc="3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reasons</a:t>
            </a:r>
            <a:r>
              <a:rPr sz="2800" spc="3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for</a:t>
            </a:r>
            <a:r>
              <a:rPr sz="2800" spc="3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this</a:t>
            </a:r>
            <a:r>
              <a:rPr sz="2800" spc="3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are</a:t>
            </a:r>
            <a:r>
              <a:rPr sz="2800" spc="3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given</a:t>
            </a:r>
            <a:r>
              <a:rPr sz="2800" spc="3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so</a:t>
            </a:r>
            <a:r>
              <a:rPr sz="2800" spc="2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this</a:t>
            </a:r>
            <a:r>
              <a:rPr sz="2800" spc="3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677480"/>
                </a:solidFill>
                <a:latin typeface="Tahoma"/>
                <a:cs typeface="Tahoma"/>
              </a:rPr>
              <a:t>is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not</a:t>
            </a:r>
            <a:r>
              <a:rPr sz="2800" spc="-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677480"/>
                </a:solidFill>
                <a:latin typeface="Tahoma"/>
                <a:cs typeface="Tahoma"/>
              </a:rPr>
              <a:t>an</a:t>
            </a:r>
            <a:r>
              <a:rPr sz="2800" spc="-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argument.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719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45" dirty="0">
                <a:solidFill>
                  <a:srgbClr val="3981B9"/>
                </a:solidFill>
                <a:latin typeface="Trebuchet MS"/>
                <a:cs typeface="Trebuchet MS"/>
              </a:rPr>
              <a:t>Activity:</a:t>
            </a:r>
            <a:r>
              <a:rPr sz="2800" b="1" spc="-135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2800" b="1" spc="70" dirty="0">
                <a:solidFill>
                  <a:srgbClr val="3981B9"/>
                </a:solidFill>
                <a:latin typeface="Trebuchet MS"/>
                <a:cs typeface="Trebuchet MS"/>
              </a:rPr>
              <a:t>Argument</a:t>
            </a:r>
            <a:r>
              <a:rPr sz="2800" b="1" spc="-150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2800" b="1" spc="110" dirty="0">
                <a:solidFill>
                  <a:srgbClr val="3981B9"/>
                </a:solidFill>
                <a:latin typeface="Trebuchet MS"/>
                <a:cs typeface="Trebuchet MS"/>
              </a:rPr>
              <a:t>and</a:t>
            </a:r>
            <a:r>
              <a:rPr sz="2800" b="1" spc="-160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2800" b="1" spc="65" dirty="0">
                <a:solidFill>
                  <a:srgbClr val="3981B9"/>
                </a:solidFill>
                <a:latin typeface="Trebuchet MS"/>
                <a:cs typeface="Trebuchet MS"/>
              </a:rPr>
              <a:t>Disagreement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0818" y="1745996"/>
            <a:ext cx="7338059" cy="3668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410"/>
              </a:lnSpc>
              <a:spcBef>
                <a:spcPts val="100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45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3000" b="1" spc="-254" dirty="0">
                <a:solidFill>
                  <a:srgbClr val="677480"/>
                </a:solidFill>
                <a:latin typeface="Tahoma"/>
                <a:cs typeface="Tahoma"/>
              </a:rPr>
              <a:t>Passage</a:t>
            </a:r>
            <a:r>
              <a:rPr sz="3000" b="1" spc="-1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b="1" spc="-50" dirty="0">
                <a:solidFill>
                  <a:srgbClr val="677480"/>
                </a:solidFill>
                <a:latin typeface="Tahoma"/>
                <a:cs typeface="Tahoma"/>
              </a:rPr>
              <a:t>4</a:t>
            </a:r>
            <a:endParaRPr sz="3000">
              <a:latin typeface="Tahoma"/>
              <a:cs typeface="Tahoma"/>
            </a:endParaRPr>
          </a:p>
          <a:p>
            <a:pPr marL="431165" marR="5715" indent="-419100" algn="just">
              <a:lnSpc>
                <a:spcPct val="92300"/>
              </a:lnSpc>
              <a:spcBef>
                <a:spcPts val="85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5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People</a:t>
            </a:r>
            <a:r>
              <a:rPr sz="2000" spc="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are</a:t>
            </a:r>
            <a:r>
              <a:rPr sz="2000" spc="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less</a:t>
            </a:r>
            <a:r>
              <a:rPr sz="2000" spc="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politically</a:t>
            </a:r>
            <a:r>
              <a:rPr sz="2000" spc="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aware</a:t>
            </a:r>
            <a:r>
              <a:rPr sz="2000" spc="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now</a:t>
            </a:r>
            <a:r>
              <a:rPr sz="2000" spc="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than</a:t>
            </a:r>
            <a:r>
              <a:rPr sz="2000" spc="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they</a:t>
            </a:r>
            <a:r>
              <a:rPr sz="2000" spc="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have</a:t>
            </a:r>
            <a:r>
              <a:rPr sz="2000" spc="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been</a:t>
            </a:r>
            <a:r>
              <a:rPr sz="2000" spc="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677480"/>
                </a:solidFill>
                <a:latin typeface="Tahoma"/>
                <a:cs typeface="Tahoma"/>
              </a:rPr>
              <a:t>at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any</a:t>
            </a:r>
            <a:r>
              <a:rPr sz="2000" spc="-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time</a:t>
            </a:r>
            <a:r>
              <a:rPr sz="2000" spc="-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in</a:t>
            </a:r>
            <a:r>
              <a:rPr sz="2000" spc="-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000" spc="-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677480"/>
                </a:solidFill>
                <a:latin typeface="Tahoma"/>
                <a:cs typeface="Tahoma"/>
              </a:rPr>
              <a:t>past.</a:t>
            </a:r>
            <a:r>
              <a:rPr sz="2000" spc="-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For</a:t>
            </a:r>
            <a:r>
              <a:rPr sz="2000" spc="-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hundreds</a:t>
            </a:r>
            <a:r>
              <a:rPr sz="2000" spc="-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000" spc="-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677480"/>
                </a:solidFill>
                <a:latin typeface="Tahoma"/>
                <a:cs typeface="Tahoma"/>
              </a:rPr>
              <a:t>years,</a:t>
            </a:r>
            <a:r>
              <a:rPr sz="2000" spc="-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people</a:t>
            </a:r>
            <a:r>
              <a:rPr sz="2000" spc="-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took</a:t>
            </a:r>
            <a:r>
              <a:rPr sz="2000" spc="-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677480"/>
                </a:solidFill>
                <a:latin typeface="Tahoma"/>
                <a:cs typeface="Tahoma"/>
              </a:rPr>
              <a:t>great</a:t>
            </a:r>
            <a:endParaRPr sz="2000">
              <a:latin typeface="Tahoma"/>
              <a:cs typeface="Tahoma"/>
            </a:endParaRPr>
          </a:p>
          <a:p>
            <a:pPr marL="431165" marR="5080" algn="just">
              <a:lnSpc>
                <a:spcPct val="99900"/>
              </a:lnSpc>
            </a:pP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personal</a:t>
            </a:r>
            <a:r>
              <a:rPr sz="2000" spc="3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risks</a:t>
            </a:r>
            <a:r>
              <a:rPr sz="2000" spc="3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000" spc="3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fight</a:t>
            </a:r>
            <a:r>
              <a:rPr sz="2000" spc="3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for</a:t>
            </a:r>
            <a:r>
              <a:rPr sz="2000" spc="3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causes</a:t>
            </a:r>
            <a:r>
              <a:rPr sz="2000" spc="3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that</a:t>
            </a:r>
            <a:r>
              <a:rPr sz="2000" spc="3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would</a:t>
            </a:r>
            <a:r>
              <a:rPr sz="2000" spc="3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benefit</a:t>
            </a:r>
            <a:r>
              <a:rPr sz="2000" spc="3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677480"/>
                </a:solidFill>
                <a:latin typeface="Tahoma"/>
                <a:cs typeface="Tahoma"/>
              </a:rPr>
              <a:t>other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people</a:t>
            </a:r>
            <a:r>
              <a:rPr sz="2000" spc="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more</a:t>
            </a:r>
            <a:r>
              <a:rPr sz="2000" spc="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than</a:t>
            </a:r>
            <a:r>
              <a:rPr sz="2000" spc="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themselves.</a:t>
            </a:r>
            <a:r>
              <a:rPr sz="2000" spc="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This</a:t>
            </a:r>
            <a:r>
              <a:rPr sz="2000" spc="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rarely</a:t>
            </a:r>
            <a:r>
              <a:rPr sz="2000" spc="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happens</a:t>
            </a:r>
            <a:r>
              <a:rPr sz="2000" spc="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today.</a:t>
            </a:r>
            <a:r>
              <a:rPr sz="2000" spc="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30" dirty="0">
                <a:solidFill>
                  <a:srgbClr val="677480"/>
                </a:solidFill>
                <a:latin typeface="Tahoma"/>
                <a:cs typeface="Tahoma"/>
              </a:rPr>
              <a:t>As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late</a:t>
            </a:r>
            <a:r>
              <a:rPr sz="2000" spc="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as</a:t>
            </a:r>
            <a:r>
              <a:rPr sz="2000" spc="1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000" spc="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1980s,</a:t>
            </a:r>
            <a:r>
              <a:rPr sz="2000" spc="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there</a:t>
            </a:r>
            <a:r>
              <a:rPr sz="2000" spc="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were</a:t>
            </a:r>
            <a:r>
              <a:rPr sz="2000" spc="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frequent</a:t>
            </a:r>
            <a:r>
              <a:rPr sz="2000" spc="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rallies</a:t>
            </a:r>
            <a:r>
              <a:rPr sz="2000" spc="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with</a:t>
            </a:r>
            <a:r>
              <a:rPr sz="2000" spc="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people</a:t>
            </a:r>
            <a:r>
              <a:rPr sz="2000" spc="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677480"/>
                </a:solidFill>
                <a:latin typeface="Tahoma"/>
                <a:cs typeface="Tahoma"/>
              </a:rPr>
              <a:t>in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one</a:t>
            </a:r>
            <a:r>
              <a:rPr sz="2000" spc="4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country</a:t>
            </a:r>
            <a:r>
              <a:rPr sz="2000" spc="4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demonstrating</a:t>
            </a:r>
            <a:r>
              <a:rPr sz="2000" spc="4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000" spc="4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show</a:t>
            </a:r>
            <a:r>
              <a:rPr sz="2000" spc="4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solidarity</a:t>
            </a:r>
            <a:r>
              <a:rPr sz="2000" spc="4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with</a:t>
            </a:r>
            <a:r>
              <a:rPr sz="2000" spc="43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677480"/>
                </a:solidFill>
                <a:latin typeface="Tahoma"/>
                <a:cs typeface="Tahoma"/>
              </a:rPr>
              <a:t>people elsewhere.</a:t>
            </a:r>
            <a:r>
              <a:rPr sz="2000" spc="-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Now,</a:t>
            </a:r>
            <a:r>
              <a:rPr sz="2000" spc="-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rallies</a:t>
            </a:r>
            <a:r>
              <a:rPr sz="2000" spc="-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are</a:t>
            </a:r>
            <a:r>
              <a:rPr sz="2000" spc="-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more</a:t>
            </a:r>
            <a:r>
              <a:rPr sz="2000" spc="-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likely</a:t>
            </a:r>
            <a:r>
              <a:rPr sz="2000" spc="-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000" spc="-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be</a:t>
            </a:r>
            <a:r>
              <a:rPr sz="2000" spc="-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for</a:t>
            </a:r>
            <a:r>
              <a:rPr sz="2000" spc="-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personal</a:t>
            </a:r>
            <a:r>
              <a:rPr sz="2000" spc="-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677480"/>
                </a:solidFill>
                <a:latin typeface="Tahoma"/>
                <a:cs typeface="Tahoma"/>
              </a:rPr>
              <a:t>gain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such</a:t>
            </a:r>
            <a:r>
              <a:rPr sz="2000" spc="-5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as</a:t>
            </a:r>
            <a:r>
              <a:rPr sz="2000" spc="-5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better</a:t>
            </a:r>
            <a:r>
              <a:rPr sz="2000" spc="-4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salaries</a:t>
            </a:r>
            <a:r>
              <a:rPr sz="2000" spc="-5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or</a:t>
            </a:r>
            <a:r>
              <a:rPr sz="2000" spc="-5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student</a:t>
            </a:r>
            <a:r>
              <a:rPr sz="2000" spc="-5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grants</a:t>
            </a:r>
            <a:r>
              <a:rPr sz="2000" spc="-5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rather</a:t>
            </a:r>
            <a:r>
              <a:rPr sz="2000" spc="-4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than</a:t>
            </a:r>
            <a:r>
              <a:rPr sz="2000" spc="-5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000" spc="-25" dirty="0">
                <a:solidFill>
                  <a:srgbClr val="677480"/>
                </a:solidFill>
                <a:latin typeface="Tahoma"/>
                <a:cs typeface="Tahoma"/>
              </a:rPr>
              <a:t>for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political</a:t>
            </a:r>
            <a:r>
              <a:rPr sz="2000" spc="2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issues</a:t>
            </a:r>
            <a:r>
              <a:rPr sz="2000" spc="2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000" spc="2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wider</a:t>
            </a:r>
            <a:r>
              <a:rPr sz="2000" spc="2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application.</a:t>
            </a:r>
            <a:r>
              <a:rPr sz="2000" spc="2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Even</a:t>
            </a:r>
            <a:r>
              <a:rPr sz="2000" spc="2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low</a:t>
            </a:r>
            <a:r>
              <a:rPr sz="2000" spc="2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risk</a:t>
            </a:r>
            <a:r>
              <a:rPr sz="2000" spc="25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677480"/>
                </a:solidFill>
                <a:latin typeface="Tahoma"/>
                <a:cs typeface="Tahoma"/>
              </a:rPr>
              <a:t>activities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such</a:t>
            </a:r>
            <a:r>
              <a:rPr sz="20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677480"/>
                </a:solidFill>
                <a:latin typeface="Tahoma"/>
                <a:cs typeface="Tahoma"/>
              </a:rPr>
              <a:t>as</a:t>
            </a:r>
            <a:r>
              <a:rPr sz="2000" spc="-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voting</a:t>
            </a:r>
            <a:r>
              <a:rPr sz="2000" spc="-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in</a:t>
            </a:r>
            <a:r>
              <a:rPr sz="2000" spc="-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elections</a:t>
            </a:r>
            <a:r>
              <a:rPr sz="2000" spc="-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attract</a:t>
            </a:r>
            <a:r>
              <a:rPr sz="20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low</a:t>
            </a:r>
            <a:r>
              <a:rPr sz="2000" spc="-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turn-</a:t>
            </a:r>
            <a:r>
              <a:rPr sz="2000" spc="-10" dirty="0">
                <a:solidFill>
                  <a:srgbClr val="677480"/>
                </a:solidFill>
                <a:latin typeface="Tahoma"/>
                <a:cs typeface="Tahoma"/>
              </a:rPr>
              <a:t>outs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719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45" dirty="0">
                <a:solidFill>
                  <a:srgbClr val="3981B9"/>
                </a:solidFill>
                <a:latin typeface="Trebuchet MS"/>
                <a:cs typeface="Trebuchet MS"/>
              </a:rPr>
              <a:t>Activity:</a:t>
            </a:r>
            <a:r>
              <a:rPr sz="2800" b="1" spc="-135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2800" b="1" spc="70" dirty="0">
                <a:solidFill>
                  <a:srgbClr val="3981B9"/>
                </a:solidFill>
                <a:latin typeface="Trebuchet MS"/>
                <a:cs typeface="Trebuchet MS"/>
              </a:rPr>
              <a:t>Argument</a:t>
            </a:r>
            <a:r>
              <a:rPr sz="2800" b="1" spc="-150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2800" b="1" spc="110" dirty="0">
                <a:solidFill>
                  <a:srgbClr val="3981B9"/>
                </a:solidFill>
                <a:latin typeface="Trebuchet MS"/>
                <a:cs typeface="Trebuchet MS"/>
              </a:rPr>
              <a:t>and</a:t>
            </a:r>
            <a:r>
              <a:rPr sz="2800" b="1" spc="-160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2800" b="1" spc="65" dirty="0">
                <a:solidFill>
                  <a:srgbClr val="3981B9"/>
                </a:solidFill>
                <a:latin typeface="Trebuchet MS"/>
                <a:cs typeface="Trebuchet MS"/>
              </a:rPr>
              <a:t>Disagreement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0818" y="1623822"/>
            <a:ext cx="7411084" cy="445008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95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45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3000" b="1" spc="-254" dirty="0">
                <a:solidFill>
                  <a:srgbClr val="677480"/>
                </a:solidFill>
                <a:latin typeface="Tahoma"/>
                <a:cs typeface="Tahoma"/>
              </a:rPr>
              <a:t>Passage</a:t>
            </a:r>
            <a:r>
              <a:rPr sz="3000" b="1" spc="-1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b="1" spc="-50" dirty="0">
                <a:solidFill>
                  <a:srgbClr val="677480"/>
                </a:solidFill>
                <a:latin typeface="Tahoma"/>
                <a:cs typeface="Tahoma"/>
              </a:rPr>
              <a:t>4</a:t>
            </a:r>
            <a:endParaRPr sz="3000">
              <a:latin typeface="Tahoma"/>
              <a:cs typeface="Tahoma"/>
            </a:endParaRPr>
          </a:p>
          <a:p>
            <a:pPr marL="431165" marR="5080" indent="-419100" algn="just">
              <a:lnSpc>
                <a:spcPct val="99900"/>
              </a:lnSpc>
              <a:spcBef>
                <a:spcPts val="400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2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This</a:t>
            </a:r>
            <a:r>
              <a:rPr sz="2800" spc="-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800" spc="-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an</a:t>
            </a:r>
            <a:r>
              <a:rPr sz="2800" spc="-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FF0000"/>
                </a:solidFill>
                <a:latin typeface="Tahoma"/>
                <a:cs typeface="Tahoma"/>
              </a:rPr>
              <a:t>argument.</a:t>
            </a:r>
            <a:r>
              <a:rPr sz="2800" spc="-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800" spc="-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conclusion</a:t>
            </a:r>
            <a:r>
              <a:rPr sz="2800" spc="-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800" spc="-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in</a:t>
            </a:r>
            <a:r>
              <a:rPr sz="2800" spc="-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677480"/>
                </a:solidFill>
                <a:latin typeface="Tahoma"/>
                <a:cs typeface="Tahoma"/>
              </a:rPr>
              <a:t>the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first</a:t>
            </a:r>
            <a:r>
              <a:rPr sz="2800" spc="6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line:</a:t>
            </a:r>
            <a:r>
              <a:rPr sz="2800" spc="6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People</a:t>
            </a:r>
            <a:r>
              <a:rPr sz="2800" spc="6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are</a:t>
            </a:r>
            <a:r>
              <a:rPr sz="2800" spc="6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less</a:t>
            </a:r>
            <a:r>
              <a:rPr sz="2800" spc="6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politically</a:t>
            </a:r>
            <a:r>
              <a:rPr sz="2800" spc="6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aware </a:t>
            </a:r>
            <a:r>
              <a:rPr sz="2800" spc="50" dirty="0">
                <a:solidFill>
                  <a:srgbClr val="677480"/>
                </a:solidFill>
                <a:latin typeface="Tahoma"/>
                <a:cs typeface="Tahoma"/>
              </a:rPr>
              <a:t>now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 than</a:t>
            </a:r>
            <a:r>
              <a:rPr sz="2800" spc="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they</a:t>
            </a:r>
            <a:r>
              <a:rPr sz="2800" spc="-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have</a:t>
            </a:r>
            <a:r>
              <a:rPr sz="2800" spc="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been at any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time</a:t>
            </a:r>
            <a:r>
              <a:rPr sz="2800" spc="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in </a:t>
            </a:r>
            <a:r>
              <a:rPr sz="2800" spc="-25" dirty="0">
                <a:solidFill>
                  <a:srgbClr val="677480"/>
                </a:solidFill>
                <a:latin typeface="Tahoma"/>
                <a:cs typeface="Tahoma"/>
              </a:rPr>
              <a:t>the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past.</a:t>
            </a:r>
            <a:r>
              <a:rPr sz="28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800" spc="-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reasons</a:t>
            </a:r>
            <a:r>
              <a:rPr sz="2800" spc="-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given</a:t>
            </a:r>
            <a:r>
              <a:rPr sz="2800" spc="-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677480"/>
                </a:solidFill>
                <a:latin typeface="Tahoma"/>
                <a:cs typeface="Tahoma"/>
              </a:rPr>
              <a:t>are:</a:t>
            </a:r>
            <a:r>
              <a:rPr sz="2800" spc="-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70" dirty="0">
                <a:solidFill>
                  <a:srgbClr val="677480"/>
                </a:solidFill>
                <a:latin typeface="Tahoma"/>
                <a:cs typeface="Tahoma"/>
              </a:rPr>
              <a:t>(1)</a:t>
            </a:r>
            <a:r>
              <a:rPr sz="2800" spc="-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people</a:t>
            </a:r>
            <a:r>
              <a:rPr sz="2800" spc="-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677480"/>
                </a:solidFill>
                <a:latin typeface="Tahoma"/>
                <a:cs typeface="Tahoma"/>
              </a:rPr>
              <a:t>used </a:t>
            </a:r>
            <a:r>
              <a:rPr sz="2800" spc="6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800" spc="4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fight</a:t>
            </a:r>
            <a:r>
              <a:rPr sz="2800" spc="4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for</a:t>
            </a:r>
            <a:r>
              <a:rPr sz="2800" spc="4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causes</a:t>
            </a:r>
            <a:r>
              <a:rPr sz="2800" spc="48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from</a:t>
            </a:r>
            <a:r>
              <a:rPr sz="2800" spc="4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which</a:t>
            </a:r>
            <a:r>
              <a:rPr sz="2800" spc="4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they</a:t>
            </a:r>
            <a:r>
              <a:rPr sz="2800" spc="459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didn't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gain</a:t>
            </a:r>
            <a:r>
              <a:rPr sz="2800" spc="2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personally;</a:t>
            </a:r>
            <a:r>
              <a:rPr sz="2800" spc="2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(2)</a:t>
            </a:r>
            <a:r>
              <a:rPr sz="2800" spc="2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people</a:t>
            </a:r>
            <a:r>
              <a:rPr sz="2800" spc="2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took</a:t>
            </a:r>
            <a:r>
              <a:rPr sz="2800" spc="2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more</a:t>
            </a:r>
            <a:r>
              <a:rPr sz="2800" spc="2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risks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for</a:t>
            </a:r>
            <a:r>
              <a:rPr sz="2800" spc="5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political</a:t>
            </a:r>
            <a:r>
              <a:rPr sz="2800" spc="5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issues;</a:t>
            </a:r>
            <a:r>
              <a:rPr sz="2800" spc="5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(3)</a:t>
            </a:r>
            <a:r>
              <a:rPr sz="2800" spc="5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rallies</a:t>
            </a:r>
            <a:r>
              <a:rPr sz="2800" spc="5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had</a:t>
            </a:r>
            <a:r>
              <a:rPr sz="2800" spc="5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2800" spc="5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677480"/>
                </a:solidFill>
                <a:latin typeface="Tahoma"/>
                <a:cs typeface="Tahoma"/>
              </a:rPr>
              <a:t>more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international</a:t>
            </a:r>
            <a:r>
              <a:rPr sz="2800" spc="4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perspective;</a:t>
            </a:r>
            <a:r>
              <a:rPr sz="2800" spc="4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(4)</a:t>
            </a:r>
            <a:r>
              <a:rPr sz="2800" spc="43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fewer</a:t>
            </a:r>
            <a:r>
              <a:rPr sz="2800" spc="43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people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vote</a:t>
            </a:r>
            <a:r>
              <a:rPr sz="2800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50" dirty="0">
                <a:solidFill>
                  <a:srgbClr val="677480"/>
                </a:solidFill>
                <a:latin typeface="Tahoma"/>
                <a:cs typeface="Tahoma"/>
              </a:rPr>
              <a:t>now</a:t>
            </a:r>
            <a:r>
              <a:rPr sz="2800" spc="-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in</a:t>
            </a:r>
            <a:r>
              <a:rPr sz="2800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elections.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582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45" dirty="0">
                <a:solidFill>
                  <a:srgbClr val="3981B9"/>
                </a:solidFill>
                <a:latin typeface="Trebuchet MS"/>
                <a:cs typeface="Trebuchet MS"/>
              </a:rPr>
              <a:t>Activity:</a:t>
            </a:r>
            <a:r>
              <a:rPr sz="3000" b="1" spc="-185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3000" b="1" spc="90" dirty="0">
                <a:solidFill>
                  <a:srgbClr val="3981B9"/>
                </a:solidFill>
                <a:latin typeface="Trebuchet MS"/>
                <a:cs typeface="Trebuchet MS"/>
              </a:rPr>
              <a:t>Argument</a:t>
            </a:r>
            <a:r>
              <a:rPr sz="3000" b="1" spc="-170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3000" b="1" spc="100" dirty="0">
                <a:solidFill>
                  <a:srgbClr val="3981B9"/>
                </a:solidFill>
                <a:latin typeface="Trebuchet MS"/>
                <a:cs typeface="Trebuchet MS"/>
              </a:rPr>
              <a:t>and</a:t>
            </a:r>
            <a:r>
              <a:rPr sz="3000" b="1" spc="-155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3000" b="1" spc="75" dirty="0">
                <a:solidFill>
                  <a:srgbClr val="3981B9"/>
                </a:solidFill>
                <a:latin typeface="Trebuchet MS"/>
                <a:cs typeface="Trebuchet MS"/>
              </a:rPr>
              <a:t>Disagreement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8885" y="1897760"/>
            <a:ext cx="7131050" cy="3836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ts val="3540"/>
              </a:lnSpc>
              <a:spcBef>
                <a:spcPts val="100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2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400" b="1" spc="-190" dirty="0">
                <a:solidFill>
                  <a:srgbClr val="677480"/>
                </a:solidFill>
                <a:latin typeface="Tahoma"/>
                <a:cs typeface="Tahoma"/>
              </a:rPr>
              <a:t>Passage</a:t>
            </a:r>
            <a:r>
              <a:rPr sz="2400" b="1" spc="-1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b="1" spc="-50" dirty="0">
                <a:solidFill>
                  <a:srgbClr val="677480"/>
                </a:solidFill>
                <a:latin typeface="Tahoma"/>
                <a:cs typeface="Tahoma"/>
              </a:rPr>
              <a:t>5</a:t>
            </a:r>
            <a:endParaRPr sz="2400">
              <a:latin typeface="Tahoma"/>
              <a:cs typeface="Tahoma"/>
            </a:endParaRPr>
          </a:p>
          <a:p>
            <a:pPr marL="431800" marR="5080" indent="-419734" algn="just">
              <a:lnSpc>
                <a:spcPct val="98000"/>
              </a:lnSpc>
              <a:spcBef>
                <a:spcPts val="10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25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400" spc="-40" dirty="0">
                <a:solidFill>
                  <a:srgbClr val="677480"/>
                </a:solidFill>
                <a:latin typeface="Tahoma"/>
                <a:cs typeface="Tahoma"/>
              </a:rPr>
              <a:t>Sea-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levels</a:t>
            </a:r>
            <a:r>
              <a:rPr sz="2400" spc="3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have</a:t>
            </a:r>
            <a:r>
              <a:rPr sz="2400" spc="3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risen</a:t>
            </a:r>
            <a:r>
              <a:rPr sz="2400" spc="2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2400" spc="3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fallen</a:t>
            </a:r>
            <a:r>
              <a:rPr sz="2400" spc="3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for</a:t>
            </a:r>
            <a:r>
              <a:rPr sz="2400" spc="3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generations,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as</a:t>
            </a:r>
            <a:r>
              <a:rPr sz="2400" spc="-5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have</a:t>
            </a:r>
            <a:r>
              <a:rPr sz="2400" spc="-4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temperatures.</a:t>
            </a:r>
            <a:r>
              <a:rPr sz="2400" spc="-4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Research</a:t>
            </a:r>
            <a:r>
              <a:rPr sz="2400" spc="-5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suggests</a:t>
            </a:r>
            <a:r>
              <a:rPr sz="2400" spc="-4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that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global</a:t>
            </a:r>
            <a:r>
              <a:rPr sz="2400" spc="16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warming,</a:t>
            </a:r>
            <a:r>
              <a:rPr sz="2400" spc="15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if</a:t>
            </a:r>
            <a:r>
              <a:rPr sz="2400" spc="16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it</a:t>
            </a:r>
            <a:r>
              <a:rPr sz="2400" spc="16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400" spc="16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indeed</a:t>
            </a:r>
            <a:r>
              <a:rPr sz="2400" spc="16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occurring,</a:t>
            </a:r>
            <a:r>
              <a:rPr sz="2400" spc="15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endParaRPr sz="2400">
              <a:latin typeface="Tahoma"/>
              <a:cs typeface="Tahoma"/>
            </a:endParaRPr>
          </a:p>
          <a:p>
            <a:pPr marL="431800" marR="5080" algn="just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primarily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result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spc="55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400" spc="-1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natural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changes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in</a:t>
            </a:r>
            <a:r>
              <a:rPr sz="2400" spc="-1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the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earth's</a:t>
            </a:r>
            <a:r>
              <a:rPr sz="2400" spc="13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temperature</a:t>
            </a:r>
            <a:r>
              <a:rPr sz="2400" spc="13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2400" spc="14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400" spc="13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effects</a:t>
            </a:r>
            <a:r>
              <a:rPr sz="2400" spc="14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spc="55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400" spc="13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solar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winds.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It</a:t>
            </a:r>
            <a:r>
              <a:rPr sz="2400" spc="-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400" spc="-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now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claimed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that</a:t>
            </a:r>
            <a:r>
              <a:rPr sz="2400" spc="-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industrialisation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and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400" spc="5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burning</a:t>
            </a:r>
            <a:r>
              <a:rPr sz="2400" spc="5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5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400" spc="5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hydro-carbons</a:t>
            </a:r>
            <a:r>
              <a:rPr sz="2400" spc="5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have</a:t>
            </a:r>
            <a:r>
              <a:rPr sz="2400" spc="5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little</a:t>
            </a:r>
            <a:r>
              <a:rPr sz="2400" spc="5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effect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upon</a:t>
            </a:r>
            <a:r>
              <a:rPr sz="2400" spc="11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climatic</a:t>
            </a:r>
            <a:r>
              <a:rPr sz="2400" spc="12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change.</a:t>
            </a:r>
            <a:r>
              <a:rPr sz="2400" spc="10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spc="200" dirty="0">
                <a:solidFill>
                  <a:srgbClr val="677480"/>
                </a:solidFill>
                <a:latin typeface="Tahoma"/>
                <a:cs typeface="Tahoma"/>
              </a:rPr>
              <a:t>My</a:t>
            </a:r>
            <a:r>
              <a:rPr sz="2400" spc="11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contention</a:t>
            </a:r>
            <a:r>
              <a:rPr sz="2400" spc="11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400" spc="11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that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arguments</a:t>
            </a:r>
            <a:r>
              <a:rPr sz="2400" spc="-1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30" dirty="0">
                <a:solidFill>
                  <a:srgbClr val="677480"/>
                </a:solidFill>
                <a:latin typeface="Tahoma"/>
                <a:cs typeface="Tahoma"/>
              </a:rPr>
              <a:t>against</a:t>
            </a:r>
            <a:r>
              <a:rPr sz="2400" spc="-1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global</a:t>
            </a:r>
            <a:r>
              <a:rPr sz="2400" spc="-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warming</a:t>
            </a:r>
            <a:r>
              <a:rPr sz="2400" spc="-1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are</a:t>
            </a:r>
            <a:r>
              <a:rPr sz="2400" spc="-1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dangerous</a:t>
            </a:r>
            <a:r>
              <a:rPr sz="2400" b="1" spc="-10" dirty="0">
                <a:solidFill>
                  <a:srgbClr val="677480"/>
                </a:solidFill>
                <a:latin typeface="Tahoma"/>
                <a:cs typeface="Tahoma"/>
              </a:rPr>
              <a:t>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2718" y="841375"/>
            <a:ext cx="7436484" cy="3426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3000" b="1" spc="-45" dirty="0">
                <a:solidFill>
                  <a:srgbClr val="3981B9"/>
                </a:solidFill>
                <a:latin typeface="Trebuchet MS"/>
                <a:cs typeface="Trebuchet MS"/>
              </a:rPr>
              <a:t>Activity:</a:t>
            </a:r>
            <a:r>
              <a:rPr sz="3000" b="1" spc="-185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3000" b="1" spc="90" dirty="0">
                <a:solidFill>
                  <a:srgbClr val="3981B9"/>
                </a:solidFill>
                <a:latin typeface="Trebuchet MS"/>
                <a:cs typeface="Trebuchet MS"/>
              </a:rPr>
              <a:t>Argument</a:t>
            </a:r>
            <a:r>
              <a:rPr sz="3000" b="1" spc="-170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3000" b="1" spc="100" dirty="0">
                <a:solidFill>
                  <a:srgbClr val="3981B9"/>
                </a:solidFill>
                <a:latin typeface="Trebuchet MS"/>
                <a:cs typeface="Trebuchet MS"/>
              </a:rPr>
              <a:t>and</a:t>
            </a:r>
            <a:r>
              <a:rPr sz="3000" b="1" spc="-155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3000" b="1" spc="75" dirty="0">
                <a:solidFill>
                  <a:srgbClr val="3981B9"/>
                </a:solidFill>
                <a:latin typeface="Trebuchet MS"/>
                <a:cs typeface="Trebuchet MS"/>
              </a:rPr>
              <a:t>Disagreement</a:t>
            </a:r>
            <a:endParaRPr sz="3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3000">
              <a:latin typeface="Trebuchet MS"/>
              <a:cs typeface="Trebuchet MS"/>
            </a:endParaRPr>
          </a:p>
          <a:p>
            <a:pPr marL="50800" algn="just">
              <a:lnSpc>
                <a:spcPct val="100000"/>
              </a:lnSpc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1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3000" spc="-35" dirty="0">
                <a:solidFill>
                  <a:srgbClr val="677480"/>
                </a:solidFill>
                <a:latin typeface="Tahoma"/>
                <a:cs typeface="Tahoma"/>
              </a:rPr>
              <a:t>Passage</a:t>
            </a:r>
            <a:r>
              <a:rPr sz="3000" spc="-1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b="1" spc="-50" dirty="0">
                <a:solidFill>
                  <a:srgbClr val="677480"/>
                </a:solidFill>
                <a:latin typeface="Tahoma"/>
                <a:cs typeface="Tahoma"/>
              </a:rPr>
              <a:t>5</a:t>
            </a:r>
            <a:endParaRPr sz="3000">
              <a:latin typeface="Tahoma"/>
              <a:cs typeface="Tahoma"/>
            </a:endParaRPr>
          </a:p>
          <a:p>
            <a:pPr marL="469265" marR="5080" indent="-419100" algn="just">
              <a:lnSpc>
                <a:spcPct val="100000"/>
              </a:lnSpc>
              <a:spcBef>
                <a:spcPts val="600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2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3000" spc="13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final</a:t>
            </a:r>
            <a:r>
              <a:rPr sz="3000" spc="13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line</a:t>
            </a:r>
            <a:r>
              <a:rPr sz="3000" spc="13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expresses</a:t>
            </a:r>
            <a:r>
              <a:rPr sz="3000" spc="14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spc="-10" dirty="0">
                <a:solidFill>
                  <a:srgbClr val="FF0000"/>
                </a:solidFill>
                <a:latin typeface="Tahoma"/>
                <a:cs typeface="Tahoma"/>
              </a:rPr>
              <a:t>disagreement </a:t>
            </a:r>
            <a:r>
              <a:rPr sz="3000" spc="55" dirty="0">
                <a:solidFill>
                  <a:srgbClr val="677480"/>
                </a:solidFill>
                <a:latin typeface="Tahoma"/>
                <a:cs typeface="Tahoma"/>
              </a:rPr>
              <a:t>with</a:t>
            </a:r>
            <a:r>
              <a:rPr sz="3000" spc="3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arguments</a:t>
            </a:r>
            <a:r>
              <a:rPr sz="3000" spc="3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against</a:t>
            </a:r>
            <a:r>
              <a:rPr sz="3000" spc="3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global</a:t>
            </a:r>
            <a:r>
              <a:rPr sz="3000" spc="3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-20" dirty="0">
                <a:solidFill>
                  <a:srgbClr val="677480"/>
                </a:solidFill>
                <a:latin typeface="Tahoma"/>
                <a:cs typeface="Tahoma"/>
              </a:rPr>
              <a:t>warming. </a:t>
            </a:r>
            <a:r>
              <a:rPr sz="3000" spc="180" dirty="0">
                <a:solidFill>
                  <a:srgbClr val="677480"/>
                </a:solidFill>
                <a:latin typeface="Tahoma"/>
                <a:cs typeface="Tahoma"/>
              </a:rPr>
              <a:t>No</a:t>
            </a:r>
            <a:r>
              <a:rPr sz="3000" spc="4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reasons</a:t>
            </a:r>
            <a:r>
              <a:rPr sz="3000" spc="4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60" dirty="0">
                <a:solidFill>
                  <a:srgbClr val="677480"/>
                </a:solidFill>
                <a:latin typeface="Tahoma"/>
                <a:cs typeface="Tahoma"/>
              </a:rPr>
              <a:t>for</a:t>
            </a:r>
            <a:r>
              <a:rPr sz="3000" spc="3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this</a:t>
            </a:r>
            <a:r>
              <a:rPr sz="3000" spc="4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are</a:t>
            </a:r>
            <a:r>
              <a:rPr sz="3000" spc="4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given</a:t>
            </a:r>
            <a:r>
              <a:rPr sz="3000" spc="4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so</a:t>
            </a:r>
            <a:r>
              <a:rPr sz="3000" spc="43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this</a:t>
            </a:r>
            <a:r>
              <a:rPr sz="3000" spc="4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-25" dirty="0">
                <a:solidFill>
                  <a:srgbClr val="677480"/>
                </a:solidFill>
                <a:latin typeface="Tahoma"/>
                <a:cs typeface="Tahoma"/>
              </a:rPr>
              <a:t>is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not</a:t>
            </a:r>
            <a:r>
              <a:rPr sz="3000" spc="-1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-50" dirty="0">
                <a:solidFill>
                  <a:srgbClr val="677480"/>
                </a:solidFill>
                <a:latin typeface="Tahoma"/>
                <a:cs typeface="Tahoma"/>
              </a:rPr>
              <a:t>an</a:t>
            </a:r>
            <a:r>
              <a:rPr sz="3000" spc="-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-10" dirty="0">
                <a:solidFill>
                  <a:srgbClr val="677480"/>
                </a:solidFill>
                <a:latin typeface="Tahoma"/>
                <a:cs typeface="Tahoma"/>
              </a:rPr>
              <a:t>argument.</a:t>
            </a:r>
            <a:endParaRPr sz="3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582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45" dirty="0">
                <a:solidFill>
                  <a:srgbClr val="3981B9"/>
                </a:solidFill>
                <a:latin typeface="Trebuchet MS"/>
                <a:cs typeface="Trebuchet MS"/>
              </a:rPr>
              <a:t>Activity:</a:t>
            </a:r>
            <a:r>
              <a:rPr sz="3000" b="1" spc="-185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3000" b="1" spc="90" dirty="0">
                <a:solidFill>
                  <a:srgbClr val="3981B9"/>
                </a:solidFill>
                <a:latin typeface="Trebuchet MS"/>
                <a:cs typeface="Trebuchet MS"/>
              </a:rPr>
              <a:t>Argument</a:t>
            </a:r>
            <a:r>
              <a:rPr sz="3000" b="1" spc="-170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3000" b="1" spc="100" dirty="0">
                <a:solidFill>
                  <a:srgbClr val="3981B9"/>
                </a:solidFill>
                <a:latin typeface="Trebuchet MS"/>
                <a:cs typeface="Trebuchet MS"/>
              </a:rPr>
              <a:t>and</a:t>
            </a:r>
            <a:r>
              <a:rPr sz="3000" b="1" spc="-155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3000" b="1" spc="75" dirty="0">
                <a:solidFill>
                  <a:srgbClr val="3981B9"/>
                </a:solidFill>
                <a:latin typeface="Trebuchet MS"/>
                <a:cs typeface="Trebuchet MS"/>
              </a:rPr>
              <a:t>Disagreement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0818" y="1720977"/>
            <a:ext cx="7296784" cy="420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ts val="3540"/>
              </a:lnSpc>
              <a:spcBef>
                <a:spcPts val="100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2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400" b="1" spc="-190" dirty="0">
                <a:solidFill>
                  <a:srgbClr val="677480"/>
                </a:solidFill>
                <a:latin typeface="Tahoma"/>
                <a:cs typeface="Tahoma"/>
              </a:rPr>
              <a:t>Passage</a:t>
            </a:r>
            <a:r>
              <a:rPr sz="2400" b="1" spc="-1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b="1" spc="-50" dirty="0">
                <a:solidFill>
                  <a:srgbClr val="677480"/>
                </a:solidFill>
                <a:latin typeface="Tahoma"/>
                <a:cs typeface="Tahoma"/>
              </a:rPr>
              <a:t>6</a:t>
            </a:r>
            <a:endParaRPr sz="2400">
              <a:latin typeface="Tahoma"/>
              <a:cs typeface="Tahoma"/>
            </a:endParaRPr>
          </a:p>
          <a:p>
            <a:pPr marL="431165" marR="6985" indent="-419100" algn="just">
              <a:lnSpc>
                <a:spcPts val="2880"/>
              </a:lnSpc>
              <a:spcBef>
                <a:spcPts val="635"/>
              </a:spcBef>
            </a:pPr>
            <a:r>
              <a:rPr sz="3000" spc="-3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3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400" spc="-235" dirty="0">
                <a:solidFill>
                  <a:srgbClr val="677480"/>
                </a:solidFill>
                <a:latin typeface="Tahoma"/>
                <a:cs typeface="Tahoma"/>
              </a:rPr>
              <a:t>I</a:t>
            </a:r>
            <a:r>
              <a:rPr sz="2400" spc="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" dirty="0">
                <a:solidFill>
                  <a:srgbClr val="677480"/>
                </a:solidFill>
                <a:latin typeface="Tahoma"/>
                <a:cs typeface="Tahoma"/>
              </a:rPr>
              <a:t>cannot</a:t>
            </a:r>
            <a:r>
              <a:rPr sz="2400" spc="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35" dirty="0">
                <a:solidFill>
                  <a:srgbClr val="677480"/>
                </a:solidFill>
                <a:latin typeface="Tahoma"/>
                <a:cs typeface="Tahoma"/>
              </a:rPr>
              <a:t>agree</a:t>
            </a:r>
            <a:r>
              <a:rPr sz="2400" spc="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40" dirty="0">
                <a:solidFill>
                  <a:srgbClr val="677480"/>
                </a:solidFill>
                <a:latin typeface="Tahoma"/>
                <a:cs typeface="Tahoma"/>
              </a:rPr>
              <a:t>with</a:t>
            </a:r>
            <a:r>
              <a:rPr sz="2400" spc="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10" dirty="0">
                <a:solidFill>
                  <a:srgbClr val="677480"/>
                </a:solidFill>
                <a:latin typeface="Tahoma"/>
                <a:cs typeface="Tahoma"/>
              </a:rPr>
              <a:t>people</a:t>
            </a:r>
            <a:r>
              <a:rPr sz="2400" spc="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40" dirty="0">
                <a:solidFill>
                  <a:srgbClr val="677480"/>
                </a:solidFill>
                <a:latin typeface="Tahoma"/>
                <a:cs typeface="Tahoma"/>
              </a:rPr>
              <a:t>who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say</a:t>
            </a:r>
            <a:r>
              <a:rPr sz="2400" spc="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10" dirty="0">
                <a:solidFill>
                  <a:srgbClr val="677480"/>
                </a:solidFill>
                <a:latin typeface="Tahoma"/>
                <a:cs typeface="Tahoma"/>
              </a:rPr>
              <a:t>that</a:t>
            </a:r>
            <a:r>
              <a:rPr sz="2400" spc="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smacking</a:t>
            </a:r>
            <a:r>
              <a:rPr sz="2400" spc="-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" dirty="0">
                <a:solidFill>
                  <a:srgbClr val="677480"/>
                </a:solidFill>
                <a:latin typeface="Tahoma"/>
                <a:cs typeface="Tahoma"/>
              </a:rPr>
              <a:t>children</a:t>
            </a:r>
            <a:r>
              <a:rPr sz="2400" spc="3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does</a:t>
            </a:r>
            <a:r>
              <a:rPr sz="2400" spc="3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them</a:t>
            </a:r>
            <a:r>
              <a:rPr sz="2400" spc="3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20" dirty="0">
                <a:solidFill>
                  <a:srgbClr val="677480"/>
                </a:solidFill>
                <a:latin typeface="Tahoma"/>
                <a:cs typeface="Tahoma"/>
              </a:rPr>
              <a:t>no</a:t>
            </a:r>
            <a:r>
              <a:rPr sz="2400" spc="3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55" dirty="0">
                <a:solidFill>
                  <a:srgbClr val="677480"/>
                </a:solidFill>
                <a:latin typeface="Tahoma"/>
                <a:cs typeface="Tahoma"/>
              </a:rPr>
              <a:t>harm.</a:t>
            </a:r>
            <a:r>
              <a:rPr sz="2400" spc="3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145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400" spc="3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" dirty="0">
                <a:solidFill>
                  <a:srgbClr val="677480"/>
                </a:solidFill>
                <a:latin typeface="Tahoma"/>
                <a:cs typeface="Tahoma"/>
              </a:rPr>
              <a:t>course</a:t>
            </a:r>
            <a:r>
              <a:rPr sz="2400" spc="3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40" dirty="0">
                <a:solidFill>
                  <a:srgbClr val="677480"/>
                </a:solidFill>
                <a:latin typeface="Tahoma"/>
                <a:cs typeface="Tahoma"/>
              </a:rPr>
              <a:t>it</a:t>
            </a:r>
            <a:r>
              <a:rPr sz="2400" spc="3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40" dirty="0">
                <a:solidFill>
                  <a:srgbClr val="677480"/>
                </a:solidFill>
                <a:latin typeface="Tahoma"/>
                <a:cs typeface="Tahoma"/>
              </a:rPr>
              <a:t>harms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40" dirty="0">
                <a:solidFill>
                  <a:srgbClr val="677480"/>
                </a:solidFill>
                <a:latin typeface="Tahoma"/>
                <a:cs typeface="Tahoma"/>
              </a:rPr>
              <a:t>them,</a:t>
            </a:r>
            <a:r>
              <a:rPr sz="2400" spc="10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35" dirty="0">
                <a:solidFill>
                  <a:srgbClr val="677480"/>
                </a:solidFill>
                <a:latin typeface="Tahoma"/>
                <a:cs typeface="Tahoma"/>
              </a:rPr>
              <a:t>both</a:t>
            </a:r>
            <a:r>
              <a:rPr sz="2400" spc="10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physically</a:t>
            </a:r>
            <a:r>
              <a:rPr sz="2400" spc="99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30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2400" spc="10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emotionally.</a:t>
            </a:r>
            <a:r>
              <a:rPr sz="2400" spc="99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40" dirty="0">
                <a:solidFill>
                  <a:srgbClr val="677480"/>
                </a:solidFill>
                <a:latin typeface="Tahoma"/>
                <a:cs typeface="Tahoma"/>
              </a:rPr>
              <a:t>Hitting</a:t>
            </a:r>
            <a:r>
              <a:rPr sz="2400" spc="-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anot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h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er</a:t>
            </a:r>
            <a:r>
              <a:rPr sz="2400" spc="7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" dirty="0">
                <a:solidFill>
                  <a:srgbClr val="677480"/>
                </a:solidFill>
                <a:latin typeface="Tahoma"/>
                <a:cs typeface="Tahoma"/>
              </a:rPr>
              <a:t>person</a:t>
            </a:r>
            <a:r>
              <a:rPr sz="2400" spc="7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400" spc="7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30" dirty="0">
                <a:solidFill>
                  <a:srgbClr val="677480"/>
                </a:solidFill>
                <a:latin typeface="Tahoma"/>
                <a:cs typeface="Tahoma"/>
              </a:rPr>
              <a:t>assault</a:t>
            </a:r>
            <a:r>
              <a:rPr sz="2400" spc="7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30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2400" spc="6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40" dirty="0">
                <a:solidFill>
                  <a:srgbClr val="677480"/>
                </a:solidFill>
                <a:latin typeface="Tahoma"/>
                <a:cs typeface="Tahoma"/>
              </a:rPr>
              <a:t>it</a:t>
            </a:r>
            <a:r>
              <a:rPr sz="2400" spc="7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35" dirty="0">
                <a:solidFill>
                  <a:srgbClr val="677480"/>
                </a:solidFill>
                <a:latin typeface="Tahoma"/>
                <a:cs typeface="Tahoma"/>
              </a:rPr>
              <a:t>would</a:t>
            </a:r>
            <a:r>
              <a:rPr sz="2400" spc="7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30" dirty="0">
                <a:solidFill>
                  <a:srgbClr val="677480"/>
                </a:solidFill>
                <a:latin typeface="Tahoma"/>
                <a:cs typeface="Tahoma"/>
              </a:rPr>
              <a:t>not</a:t>
            </a:r>
            <a:r>
              <a:rPr sz="2400" spc="7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10" dirty="0">
                <a:solidFill>
                  <a:srgbClr val="677480"/>
                </a:solidFill>
                <a:latin typeface="Tahoma"/>
                <a:cs typeface="Tahoma"/>
              </a:rPr>
              <a:t>be</a:t>
            </a:r>
            <a:endParaRPr sz="2400">
              <a:latin typeface="Tahoma"/>
              <a:cs typeface="Tahoma"/>
            </a:endParaRPr>
          </a:p>
          <a:p>
            <a:pPr marL="431165" marR="5080" algn="just">
              <a:lnSpc>
                <a:spcPts val="2880"/>
              </a:lnSpc>
              <a:spcBef>
                <a:spcPts val="5"/>
              </a:spcBef>
            </a:pP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tolerated</a:t>
            </a:r>
            <a:r>
              <a:rPr sz="2400" spc="3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against</a:t>
            </a:r>
            <a:r>
              <a:rPr sz="2400" spc="4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an</a:t>
            </a:r>
            <a:r>
              <a:rPr sz="2400" spc="3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adult.</a:t>
            </a:r>
            <a:r>
              <a:rPr sz="2400" spc="3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70" dirty="0">
                <a:solidFill>
                  <a:srgbClr val="677480"/>
                </a:solidFill>
                <a:latin typeface="Tahoma"/>
                <a:cs typeface="Tahoma"/>
              </a:rPr>
              <a:t>Many</a:t>
            </a:r>
            <a:r>
              <a:rPr sz="2400" spc="3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adults</a:t>
            </a:r>
            <a:r>
              <a:rPr sz="2400" spc="3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have</a:t>
            </a:r>
            <a:r>
              <a:rPr sz="2400" spc="3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35" dirty="0">
                <a:solidFill>
                  <a:srgbClr val="677480"/>
                </a:solidFill>
                <a:latin typeface="Tahoma"/>
                <a:cs typeface="Tahoma"/>
              </a:rPr>
              <a:t>no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sense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5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400" spc="-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cruelty</a:t>
            </a:r>
            <a:r>
              <a:rPr sz="2400" spc="-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5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smacking</a:t>
            </a:r>
            <a:r>
              <a:rPr sz="2400" spc="-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precisely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because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they</a:t>
            </a:r>
            <a:r>
              <a:rPr sz="2400" spc="-6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were</a:t>
            </a:r>
            <a:r>
              <a:rPr sz="2400" spc="-7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smacked</a:t>
            </a:r>
            <a:r>
              <a:rPr sz="2400" spc="-6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themselves</a:t>
            </a:r>
            <a:r>
              <a:rPr sz="2400" spc="-6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as</a:t>
            </a:r>
            <a:r>
              <a:rPr sz="2400" spc="-6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children</a:t>
            </a:r>
            <a:r>
              <a:rPr sz="2400" spc="-5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and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erroneously</a:t>
            </a:r>
            <a:r>
              <a:rPr sz="2400" spc="-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regard</a:t>
            </a:r>
            <a:r>
              <a:rPr sz="24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this</a:t>
            </a:r>
            <a:r>
              <a:rPr sz="2400" spc="-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as</a:t>
            </a:r>
            <a:r>
              <a:rPr sz="2400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normal.</a:t>
            </a:r>
            <a:r>
              <a:rPr sz="2400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They</a:t>
            </a:r>
            <a:r>
              <a:rPr sz="2400" spc="-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then</a:t>
            </a:r>
            <a:r>
              <a:rPr sz="24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go</a:t>
            </a:r>
            <a:r>
              <a:rPr sz="2400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on 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400" spc="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assault</a:t>
            </a:r>
            <a:r>
              <a:rPr sz="2400" spc="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other</a:t>
            </a:r>
            <a:r>
              <a:rPr sz="2400" spc="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vulnerable</a:t>
            </a:r>
            <a:r>
              <a:rPr sz="2400" spc="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people,</a:t>
            </a:r>
            <a:r>
              <a:rPr sz="2400" spc="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perpetuating</a:t>
            </a:r>
            <a:r>
              <a:rPr sz="2400" spc="1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50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  <a:p>
            <a:pPr marL="431165" algn="just">
              <a:lnSpc>
                <a:spcPts val="2785"/>
              </a:lnSpc>
            </a:pP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vicious</a:t>
            </a:r>
            <a:r>
              <a:rPr sz="2400" spc="-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cycle.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0785" y="892302"/>
            <a:ext cx="68865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45" dirty="0">
                <a:solidFill>
                  <a:srgbClr val="3981B9"/>
                </a:solidFill>
                <a:latin typeface="Trebuchet MS"/>
                <a:cs typeface="Trebuchet MS"/>
              </a:rPr>
              <a:t>Activity:</a:t>
            </a:r>
            <a:r>
              <a:rPr sz="3000" b="1" spc="-185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3000" b="1" spc="90" dirty="0">
                <a:solidFill>
                  <a:srgbClr val="3981B9"/>
                </a:solidFill>
                <a:latin typeface="Trebuchet MS"/>
                <a:cs typeface="Trebuchet MS"/>
              </a:rPr>
              <a:t>Argument</a:t>
            </a:r>
            <a:r>
              <a:rPr sz="3000" b="1" spc="-170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3000" b="1" spc="100" dirty="0">
                <a:solidFill>
                  <a:srgbClr val="3981B9"/>
                </a:solidFill>
                <a:latin typeface="Trebuchet MS"/>
                <a:cs typeface="Trebuchet MS"/>
              </a:rPr>
              <a:t>and</a:t>
            </a:r>
            <a:r>
              <a:rPr sz="3000" b="1" spc="-155" dirty="0">
                <a:solidFill>
                  <a:srgbClr val="3981B9"/>
                </a:solidFill>
                <a:latin typeface="Trebuchet MS"/>
                <a:cs typeface="Trebuchet MS"/>
              </a:rPr>
              <a:t> </a:t>
            </a:r>
            <a:r>
              <a:rPr sz="3000" b="1" spc="75" dirty="0">
                <a:solidFill>
                  <a:srgbClr val="3981B9"/>
                </a:solidFill>
                <a:latin typeface="Trebuchet MS"/>
                <a:cs typeface="Trebuchet MS"/>
              </a:rPr>
              <a:t>Disagreement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0818" y="1715515"/>
            <a:ext cx="7306309" cy="401383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59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4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800" b="1" spc="-229" dirty="0">
                <a:solidFill>
                  <a:srgbClr val="677480"/>
                </a:solidFill>
                <a:latin typeface="Tahoma"/>
                <a:cs typeface="Tahoma"/>
              </a:rPr>
              <a:t>Passage</a:t>
            </a:r>
            <a:r>
              <a:rPr sz="2800" b="1" spc="-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b="1" spc="-50" dirty="0">
                <a:solidFill>
                  <a:srgbClr val="677480"/>
                </a:solidFill>
                <a:latin typeface="Tahoma"/>
                <a:cs typeface="Tahoma"/>
              </a:rPr>
              <a:t>6</a:t>
            </a:r>
            <a:endParaRPr sz="2800">
              <a:latin typeface="Tahoma"/>
              <a:cs typeface="Tahoma"/>
            </a:endParaRPr>
          </a:p>
          <a:p>
            <a:pPr marL="431165" marR="5080" indent="-419100" algn="just">
              <a:lnSpc>
                <a:spcPct val="99900"/>
              </a:lnSpc>
              <a:spcBef>
                <a:spcPts val="360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45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FF0000"/>
                </a:solidFill>
                <a:latin typeface="Tahoma"/>
                <a:cs typeface="Tahoma"/>
              </a:rPr>
              <a:t>Argument.</a:t>
            </a:r>
            <a:r>
              <a:rPr sz="2800" spc="2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800" spc="2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conclusion</a:t>
            </a:r>
            <a:r>
              <a:rPr sz="2800" spc="2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800" spc="229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in</a:t>
            </a:r>
            <a:r>
              <a:rPr sz="2800" spc="2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800" spc="2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second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line:</a:t>
            </a:r>
            <a:r>
              <a:rPr sz="2800" spc="31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spc="170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800" spc="32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course,</a:t>
            </a:r>
            <a:r>
              <a:rPr sz="2800" spc="32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it</a:t>
            </a:r>
            <a:r>
              <a:rPr sz="2800" spc="31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harms</a:t>
            </a:r>
            <a:r>
              <a:rPr sz="2800" spc="31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them,</a:t>
            </a:r>
            <a:r>
              <a:rPr sz="2800" spc="31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spc="-20" dirty="0">
                <a:solidFill>
                  <a:srgbClr val="677480"/>
                </a:solidFill>
                <a:latin typeface="Tahoma"/>
                <a:cs typeface="Tahoma"/>
              </a:rPr>
              <a:t>both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physically</a:t>
            </a:r>
            <a:r>
              <a:rPr sz="2800" spc="-1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2800" spc="-1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emotionally,</a:t>
            </a:r>
            <a:r>
              <a:rPr sz="2800" spc="-1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referring</a:t>
            </a:r>
            <a:r>
              <a:rPr sz="2800" spc="-1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back</a:t>
            </a:r>
            <a:r>
              <a:rPr sz="2800" spc="-1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35" dirty="0">
                <a:solidFill>
                  <a:srgbClr val="677480"/>
                </a:solidFill>
                <a:latin typeface="Tahoma"/>
                <a:cs typeface="Tahoma"/>
              </a:rPr>
              <a:t>to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800" spc="4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issue</a:t>
            </a:r>
            <a:r>
              <a:rPr sz="2800" spc="4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in</a:t>
            </a:r>
            <a:r>
              <a:rPr sz="2800" spc="459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800" spc="4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first</a:t>
            </a:r>
            <a:r>
              <a:rPr sz="2800" spc="4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line</a:t>
            </a:r>
            <a:r>
              <a:rPr sz="2800" spc="4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about</a:t>
            </a:r>
            <a:r>
              <a:rPr sz="2800" spc="4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677480"/>
                </a:solidFill>
                <a:latin typeface="Tahoma"/>
                <a:cs typeface="Tahoma"/>
              </a:rPr>
              <a:t>smacking.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800" spc="4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reasons</a:t>
            </a:r>
            <a:r>
              <a:rPr sz="2800" spc="4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given</a:t>
            </a:r>
            <a:r>
              <a:rPr sz="2800" spc="4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6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800" spc="4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persuade</a:t>
            </a:r>
            <a:r>
              <a:rPr sz="2800" spc="4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us</a:t>
            </a:r>
            <a:r>
              <a:rPr sz="2800" spc="4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are</a:t>
            </a:r>
            <a:r>
              <a:rPr sz="2800" spc="4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14" dirty="0">
                <a:solidFill>
                  <a:srgbClr val="677480"/>
                </a:solidFill>
                <a:latin typeface="Tahoma"/>
                <a:cs typeface="Tahoma"/>
              </a:rPr>
              <a:t>(1)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that</a:t>
            </a:r>
            <a:r>
              <a:rPr sz="2800" spc="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it</a:t>
            </a:r>
            <a:r>
              <a:rPr sz="2800" spc="1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800" spc="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assault;</a:t>
            </a:r>
            <a:r>
              <a:rPr sz="2800" spc="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55" dirty="0">
                <a:solidFill>
                  <a:srgbClr val="677480"/>
                </a:solidFill>
                <a:latin typeface="Tahoma"/>
                <a:cs typeface="Tahoma"/>
              </a:rPr>
              <a:t>(2)</a:t>
            </a:r>
            <a:r>
              <a:rPr sz="2800" spc="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assaults</a:t>
            </a:r>
            <a:r>
              <a:rPr sz="2800" spc="1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on</a:t>
            </a:r>
            <a:r>
              <a:rPr sz="2800" spc="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adults</a:t>
            </a:r>
            <a:r>
              <a:rPr sz="2800" spc="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677480"/>
                </a:solidFill>
                <a:latin typeface="Tahoma"/>
                <a:cs typeface="Tahoma"/>
              </a:rPr>
              <a:t>are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not</a:t>
            </a:r>
            <a:r>
              <a:rPr sz="2800" spc="409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accepted;</a:t>
            </a:r>
            <a:r>
              <a:rPr sz="2800" spc="409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(3)</a:t>
            </a:r>
            <a:r>
              <a:rPr sz="2800" spc="4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smacking</a:t>
            </a:r>
            <a:r>
              <a:rPr sz="2800" spc="409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perpetuates</a:t>
            </a:r>
            <a:r>
              <a:rPr sz="2800" spc="4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677480"/>
                </a:solidFill>
                <a:latin typeface="Tahoma"/>
                <a:cs typeface="Tahoma"/>
              </a:rPr>
              <a:t>a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cycle</a:t>
            </a:r>
            <a:r>
              <a:rPr sz="2800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800" spc="-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violence.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44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150" dirty="0">
                <a:solidFill>
                  <a:srgbClr val="3981B9"/>
                </a:solidFill>
                <a:latin typeface="Trebuchet MS"/>
                <a:cs typeface="Trebuchet MS"/>
              </a:rPr>
              <a:t>Non-</a:t>
            </a:r>
            <a:r>
              <a:rPr sz="3200" b="1" spc="105" dirty="0">
                <a:solidFill>
                  <a:srgbClr val="3981B9"/>
                </a:solidFill>
                <a:latin typeface="Trebuchet MS"/>
                <a:cs typeface="Trebuchet MS"/>
              </a:rPr>
              <a:t>Arguments-</a:t>
            </a:r>
            <a:r>
              <a:rPr sz="3200" b="1" spc="45" dirty="0">
                <a:solidFill>
                  <a:srgbClr val="3981B9"/>
                </a:solidFill>
                <a:latin typeface="Trebuchet MS"/>
                <a:cs typeface="Trebuchet MS"/>
              </a:rPr>
              <a:t>Descriptions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8159" y="1727453"/>
            <a:ext cx="7645400" cy="3912235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431800" marR="5080" indent="-419734" algn="just">
              <a:lnSpc>
                <a:spcPct val="98700"/>
              </a:lnSpc>
              <a:spcBef>
                <a:spcPts val="145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5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Descriptions</a:t>
            </a:r>
            <a:r>
              <a:rPr sz="2400" spc="5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give</a:t>
            </a:r>
            <a:r>
              <a:rPr sz="2400" spc="5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an</a:t>
            </a:r>
            <a:r>
              <a:rPr sz="2400" spc="5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account</a:t>
            </a:r>
            <a:r>
              <a:rPr sz="2400" spc="5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5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400" spc="5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how</a:t>
            </a:r>
            <a:r>
              <a:rPr sz="2400" spc="5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something</a:t>
            </a:r>
            <a:r>
              <a:rPr sz="2400" spc="5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is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done,</a:t>
            </a:r>
            <a:r>
              <a:rPr sz="2400" spc="4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or</a:t>
            </a:r>
            <a:r>
              <a:rPr sz="2400" spc="4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what</a:t>
            </a:r>
            <a:r>
              <a:rPr sz="2400" spc="4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something</a:t>
            </a:r>
            <a:r>
              <a:rPr sz="2400" spc="4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400" spc="4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like.</a:t>
            </a:r>
            <a:r>
              <a:rPr sz="2400" spc="4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They</a:t>
            </a:r>
            <a:r>
              <a:rPr sz="2400" spc="4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do</a:t>
            </a:r>
            <a:r>
              <a:rPr sz="2400" spc="4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not</a:t>
            </a:r>
            <a:r>
              <a:rPr sz="2400" spc="4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give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reasoned</a:t>
            </a:r>
            <a:r>
              <a:rPr sz="2400" spc="36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accounts</a:t>
            </a:r>
            <a:r>
              <a:rPr sz="2400" spc="36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spc="55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400" spc="36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how</a:t>
            </a:r>
            <a:r>
              <a:rPr sz="2400" spc="36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or</a:t>
            </a:r>
            <a:r>
              <a:rPr sz="2400" spc="36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why</a:t>
            </a:r>
            <a:r>
              <a:rPr sz="2400" spc="36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something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occurred</a:t>
            </a:r>
            <a:r>
              <a:rPr sz="24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nor</a:t>
            </a:r>
            <a:r>
              <a:rPr sz="2400" spc="-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do</a:t>
            </a:r>
            <a:r>
              <a:rPr sz="2400" spc="-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they</a:t>
            </a:r>
            <a:r>
              <a:rPr sz="2400" spc="-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evaluate</a:t>
            </a:r>
            <a:r>
              <a:rPr sz="2400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outcomes.</a:t>
            </a:r>
            <a:endParaRPr sz="2400">
              <a:latin typeface="Tahoma"/>
              <a:cs typeface="Tahoma"/>
            </a:endParaRPr>
          </a:p>
          <a:p>
            <a:pPr marL="431800" marR="6985" indent="-419734" algn="just">
              <a:lnSpc>
                <a:spcPct val="96000"/>
              </a:lnSpc>
              <a:spcBef>
                <a:spcPts val="145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95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In</a:t>
            </a:r>
            <a:r>
              <a:rPr sz="2400" spc="3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reports</a:t>
            </a:r>
            <a:r>
              <a:rPr sz="2400" spc="3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2400" spc="3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academic</a:t>
            </a:r>
            <a:r>
              <a:rPr sz="2400" spc="3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writing,</a:t>
            </a:r>
            <a:r>
              <a:rPr sz="2400" spc="3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description</a:t>
            </a:r>
            <a:r>
              <a:rPr sz="2400" spc="3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should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be</a:t>
            </a:r>
            <a:r>
              <a:rPr sz="2400" spc="-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factual,</a:t>
            </a:r>
            <a:r>
              <a:rPr sz="2400" spc="-1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accurate</a:t>
            </a:r>
            <a:r>
              <a:rPr sz="2400" spc="-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2400" spc="-1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free</a:t>
            </a:r>
            <a:r>
              <a:rPr sz="2400" spc="-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5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4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value</a:t>
            </a:r>
            <a:r>
              <a:rPr sz="2400" spc="-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judgements.</a:t>
            </a:r>
            <a:endParaRPr sz="2400">
              <a:latin typeface="Tahoma"/>
              <a:cs typeface="Tahoma"/>
            </a:endParaRPr>
          </a:p>
          <a:p>
            <a:pPr marL="431800" marR="5715" indent="-419734" algn="just">
              <a:lnSpc>
                <a:spcPts val="2880"/>
              </a:lnSpc>
              <a:spcBef>
                <a:spcPts val="695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6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Descriptive</a:t>
            </a:r>
            <a:r>
              <a:rPr sz="2400" spc="4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detail</a:t>
            </a:r>
            <a:r>
              <a:rPr sz="2400" spc="4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400" spc="4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not</a:t>
            </a:r>
            <a:r>
              <a:rPr sz="2400" spc="4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intended</a:t>
            </a:r>
            <a:r>
              <a:rPr sz="2400" spc="4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400" spc="4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persuade</a:t>
            </a:r>
            <a:r>
              <a:rPr sz="2400" spc="4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400" spc="4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50" dirty="0">
                <a:solidFill>
                  <a:srgbClr val="677480"/>
                </a:solidFill>
                <a:latin typeface="Tahoma"/>
                <a:cs typeface="Tahoma"/>
              </a:rPr>
              <a:t>a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point</a:t>
            </a:r>
            <a:r>
              <a:rPr sz="2400" spc="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5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400" spc="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view</a:t>
            </a:r>
            <a:r>
              <a:rPr sz="2400" spc="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but</a:t>
            </a:r>
            <a:r>
              <a:rPr sz="2400" spc="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40" dirty="0">
                <a:solidFill>
                  <a:srgbClr val="677480"/>
                </a:solidFill>
                <a:latin typeface="Tahoma"/>
                <a:cs typeface="Tahoma"/>
              </a:rPr>
              <a:t>aims,</a:t>
            </a:r>
            <a:r>
              <a:rPr sz="2400" spc="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rather,</a:t>
            </a:r>
            <a:r>
              <a:rPr sz="2400" spc="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400" spc="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give</a:t>
            </a:r>
            <a:r>
              <a:rPr sz="2400" spc="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400" spc="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audience</a:t>
            </a:r>
            <a:r>
              <a:rPr sz="2400" spc="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50" dirty="0">
                <a:solidFill>
                  <a:srgbClr val="677480"/>
                </a:solidFill>
                <a:latin typeface="Tahoma"/>
                <a:cs typeface="Tahoma"/>
              </a:rPr>
              <a:t>a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more</a:t>
            </a:r>
            <a:r>
              <a:rPr sz="2400" spc="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thorough</a:t>
            </a:r>
            <a:r>
              <a:rPr sz="2400" spc="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impression</a:t>
            </a:r>
            <a:r>
              <a:rPr sz="2400" spc="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5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400" spc="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400" spc="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item</a:t>
            </a:r>
            <a:r>
              <a:rPr sz="2400" spc="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or</a:t>
            </a:r>
            <a:r>
              <a:rPr sz="2400" spc="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issue</a:t>
            </a:r>
            <a:r>
              <a:rPr sz="2400" spc="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being described.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44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150" dirty="0">
                <a:solidFill>
                  <a:srgbClr val="3981B9"/>
                </a:solidFill>
                <a:latin typeface="Trebuchet MS"/>
                <a:cs typeface="Trebuchet MS"/>
              </a:rPr>
              <a:t>Non-</a:t>
            </a:r>
            <a:r>
              <a:rPr sz="3200" b="1" spc="105" dirty="0">
                <a:solidFill>
                  <a:srgbClr val="3981B9"/>
                </a:solidFill>
                <a:latin typeface="Trebuchet MS"/>
                <a:cs typeface="Trebuchet MS"/>
              </a:rPr>
              <a:t>Arguments-</a:t>
            </a:r>
            <a:r>
              <a:rPr sz="3200" b="1" spc="45" dirty="0">
                <a:solidFill>
                  <a:srgbClr val="3981B9"/>
                </a:solidFill>
                <a:latin typeface="Trebuchet MS"/>
                <a:cs typeface="Trebuchet MS"/>
              </a:rPr>
              <a:t>Descriptions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0818" y="1593926"/>
            <a:ext cx="7307580" cy="456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ts val="3540"/>
              </a:lnSpc>
              <a:spcBef>
                <a:spcPts val="100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0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400" b="1" spc="-70" dirty="0">
                <a:solidFill>
                  <a:srgbClr val="677480"/>
                </a:solidFill>
                <a:latin typeface="Tahoma"/>
                <a:cs typeface="Tahoma"/>
              </a:rPr>
              <a:t>Example:</a:t>
            </a:r>
            <a:endParaRPr sz="2400">
              <a:latin typeface="Tahoma"/>
              <a:cs typeface="Tahoma"/>
            </a:endParaRPr>
          </a:p>
          <a:p>
            <a:pPr marL="431165" marR="5080" indent="-419100" algn="just">
              <a:lnSpc>
                <a:spcPts val="2880"/>
              </a:lnSpc>
              <a:spcBef>
                <a:spcPts val="640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25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400" spc="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solution</a:t>
            </a:r>
            <a:r>
              <a:rPr sz="2400" spc="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was</a:t>
            </a:r>
            <a:r>
              <a:rPr sz="2400" spc="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placed</a:t>
            </a:r>
            <a:r>
              <a:rPr sz="2400" spc="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in</a:t>
            </a:r>
            <a:r>
              <a:rPr sz="2400" spc="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2400" spc="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test-tube</a:t>
            </a:r>
            <a:r>
              <a:rPr sz="2400" spc="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2400" spc="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heated 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400" spc="1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35"</a:t>
            </a:r>
            <a:r>
              <a:rPr sz="2400" spc="1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centigrade.</a:t>
            </a:r>
            <a:r>
              <a:rPr sz="2400" spc="1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Small</a:t>
            </a:r>
            <a:r>
              <a:rPr sz="2400" spc="1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amounts</a:t>
            </a:r>
            <a:r>
              <a:rPr sz="2400" spc="1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5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400" spc="1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yellow</a:t>
            </a:r>
            <a:r>
              <a:rPr sz="2400" spc="1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vapor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were</a:t>
            </a:r>
            <a:r>
              <a:rPr sz="2400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emitted.</a:t>
            </a:r>
            <a:r>
              <a:rPr sz="2400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These</a:t>
            </a:r>
            <a:r>
              <a:rPr sz="2400" spc="-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were</a:t>
            </a:r>
            <a:r>
              <a:rPr sz="2400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odorless.</a:t>
            </a:r>
            <a:r>
              <a:rPr sz="2400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Forty</a:t>
            </a:r>
            <a:r>
              <a:rPr sz="2400" spc="-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milliliters</a:t>
            </a:r>
            <a:endParaRPr sz="2400">
              <a:latin typeface="Tahoma"/>
              <a:cs typeface="Tahoma"/>
            </a:endParaRPr>
          </a:p>
          <a:p>
            <a:pPr marL="431165" algn="just">
              <a:lnSpc>
                <a:spcPts val="2785"/>
              </a:lnSpc>
            </a:pPr>
            <a:r>
              <a:rPr sz="2400" spc="55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400" spc="3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water</a:t>
            </a:r>
            <a:r>
              <a:rPr sz="2400" spc="4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were</a:t>
            </a:r>
            <a:r>
              <a:rPr sz="2400" spc="4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added</a:t>
            </a:r>
            <a:r>
              <a:rPr sz="2400" spc="3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400" spc="4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400" spc="4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solution,</a:t>
            </a:r>
            <a:r>
              <a:rPr sz="2400" spc="3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which</a:t>
            </a:r>
            <a:r>
              <a:rPr sz="2400" spc="409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was</a:t>
            </a:r>
            <a:endParaRPr sz="2400">
              <a:latin typeface="Tahoma"/>
              <a:cs typeface="Tahoma"/>
            </a:endParaRPr>
          </a:p>
          <a:p>
            <a:pPr marL="431165" marR="5080" algn="just">
              <a:lnSpc>
                <a:spcPct val="100000"/>
              </a:lnSpc>
            </a:pP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then</a:t>
            </a:r>
            <a:r>
              <a:rPr sz="2400" spc="1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heated</a:t>
            </a:r>
            <a:r>
              <a:rPr sz="2400" spc="1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until</a:t>
            </a:r>
            <a:r>
              <a:rPr sz="2400" spc="1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it</a:t>
            </a:r>
            <a:r>
              <a:rPr sz="2400" spc="1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began</a:t>
            </a:r>
            <a:r>
              <a:rPr sz="2400" spc="1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400" spc="1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boil.</a:t>
            </a:r>
            <a:r>
              <a:rPr sz="2400" spc="1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This</a:t>
            </a:r>
            <a:r>
              <a:rPr sz="2400" spc="1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time,</a:t>
            </a:r>
            <a:r>
              <a:rPr sz="2400" spc="1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grey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steam</a:t>
            </a:r>
            <a:r>
              <a:rPr sz="2400" spc="43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was</a:t>
            </a:r>
            <a:r>
              <a:rPr sz="2400" spc="43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emitted.</a:t>
            </a:r>
            <a:r>
              <a:rPr sz="2400" spc="43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677480"/>
                </a:solidFill>
                <a:latin typeface="Tahoma"/>
                <a:cs typeface="Tahoma"/>
              </a:rPr>
              <a:t>Water</a:t>
            </a:r>
            <a:r>
              <a:rPr sz="2400" spc="4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droplets</a:t>
            </a:r>
            <a:r>
              <a:rPr sz="2400" spc="4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gathered</a:t>
            </a:r>
            <a:r>
              <a:rPr sz="2400" spc="4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on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400" spc="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side</a:t>
            </a:r>
            <a:r>
              <a:rPr sz="2400" spc="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5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400" spc="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400" spc="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test-tube.</a:t>
            </a:r>
            <a:r>
              <a:rPr sz="2400" spc="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i="1" spc="-45" dirty="0">
                <a:solidFill>
                  <a:srgbClr val="00AF50"/>
                </a:solidFill>
                <a:latin typeface="Trebuchet MS"/>
                <a:cs typeface="Trebuchet MS"/>
              </a:rPr>
              <a:t>[This</a:t>
            </a:r>
            <a:r>
              <a:rPr sz="2400" i="1" spc="12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spc="-60" dirty="0">
                <a:solidFill>
                  <a:srgbClr val="00AF50"/>
                </a:solidFill>
                <a:latin typeface="Trebuchet MS"/>
                <a:cs typeface="Trebuchet MS"/>
              </a:rPr>
              <a:t>describes</a:t>
            </a:r>
            <a:r>
              <a:rPr sz="2400" i="1" spc="13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rebuchet MS"/>
                <a:cs typeface="Trebuchet MS"/>
              </a:rPr>
              <a:t>the</a:t>
            </a:r>
            <a:r>
              <a:rPr sz="2400" i="1" spc="12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spc="-20" dirty="0">
                <a:solidFill>
                  <a:srgbClr val="00AF50"/>
                </a:solidFill>
                <a:latin typeface="Trebuchet MS"/>
                <a:cs typeface="Trebuchet MS"/>
              </a:rPr>
              <a:t>steps </a:t>
            </a:r>
            <a:r>
              <a:rPr sz="2400" i="1" dirty="0">
                <a:solidFill>
                  <a:srgbClr val="00AF50"/>
                </a:solidFill>
                <a:latin typeface="Trebuchet MS"/>
                <a:cs typeface="Trebuchet MS"/>
              </a:rPr>
              <a:t>taken</a:t>
            </a:r>
            <a:r>
              <a:rPr sz="2400" i="1" spc="58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rebuchet MS"/>
                <a:cs typeface="Trebuchet MS"/>
              </a:rPr>
              <a:t>in</a:t>
            </a:r>
            <a:r>
              <a:rPr sz="2400" i="1" spc="57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rebuchet MS"/>
                <a:cs typeface="Trebuchet MS"/>
              </a:rPr>
              <a:t>an</a:t>
            </a:r>
            <a:r>
              <a:rPr sz="2400" i="1" spc="58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spc="-20" dirty="0">
                <a:solidFill>
                  <a:srgbClr val="00AF50"/>
                </a:solidFill>
                <a:latin typeface="Trebuchet MS"/>
                <a:cs typeface="Trebuchet MS"/>
              </a:rPr>
              <a:t>experiment.</a:t>
            </a:r>
            <a:r>
              <a:rPr sz="2400" i="1" spc="58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rebuchet MS"/>
                <a:cs typeface="Trebuchet MS"/>
              </a:rPr>
              <a:t>Careful</a:t>
            </a:r>
            <a:r>
              <a:rPr sz="2400" i="1" spc="58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rebuchet MS"/>
                <a:cs typeface="Trebuchet MS"/>
              </a:rPr>
              <a:t>description</a:t>
            </a:r>
            <a:r>
              <a:rPr sz="2400" i="1" spc="58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spc="-55" dirty="0">
                <a:solidFill>
                  <a:srgbClr val="00AF50"/>
                </a:solidFill>
                <a:latin typeface="Trebuchet MS"/>
                <a:cs typeface="Trebuchet MS"/>
              </a:rPr>
              <a:t>of </a:t>
            </a:r>
            <a:r>
              <a:rPr sz="2400" i="1" spc="-60" dirty="0">
                <a:solidFill>
                  <a:srgbClr val="00AF50"/>
                </a:solidFill>
                <a:latin typeface="Trebuchet MS"/>
                <a:cs typeface="Trebuchet MS"/>
              </a:rPr>
              <a:t>methodological</a:t>
            </a:r>
            <a:r>
              <a:rPr sz="2400" i="1" spc="9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spc="-30" dirty="0">
                <a:solidFill>
                  <a:srgbClr val="00AF50"/>
                </a:solidFill>
                <a:latin typeface="Trebuchet MS"/>
                <a:cs typeface="Trebuchet MS"/>
              </a:rPr>
              <a:t>procedures</a:t>
            </a:r>
            <a:r>
              <a:rPr sz="2400" i="1" spc="8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rebuchet MS"/>
                <a:cs typeface="Trebuchet MS"/>
              </a:rPr>
              <a:t>is</a:t>
            </a:r>
            <a:r>
              <a:rPr sz="2400" i="1" spc="8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rebuchet MS"/>
                <a:cs typeface="Trebuchet MS"/>
              </a:rPr>
              <a:t>an</a:t>
            </a:r>
            <a:r>
              <a:rPr sz="2400" i="1" spc="9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spc="-40" dirty="0">
                <a:solidFill>
                  <a:srgbClr val="00AF50"/>
                </a:solidFill>
                <a:latin typeface="Trebuchet MS"/>
                <a:cs typeface="Trebuchet MS"/>
              </a:rPr>
              <a:t>important</a:t>
            </a:r>
            <a:r>
              <a:rPr sz="2400" i="1" spc="9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rebuchet MS"/>
                <a:cs typeface="Trebuchet MS"/>
              </a:rPr>
              <a:t>part</a:t>
            </a:r>
            <a:r>
              <a:rPr sz="2400" i="1" spc="8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spc="-55" dirty="0">
                <a:solidFill>
                  <a:srgbClr val="00AF50"/>
                </a:solidFill>
                <a:latin typeface="Trebuchet MS"/>
                <a:cs typeface="Trebuchet MS"/>
              </a:rPr>
              <a:t>of </a:t>
            </a:r>
            <a:r>
              <a:rPr sz="2400" i="1" spc="-10" dirty="0">
                <a:solidFill>
                  <a:srgbClr val="00AF50"/>
                </a:solidFill>
                <a:latin typeface="Trebuchet MS"/>
                <a:cs typeface="Trebuchet MS"/>
              </a:rPr>
              <a:t>writing</a:t>
            </a:r>
            <a:r>
              <a:rPr sz="2400" i="1" spc="19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rebuchet MS"/>
                <a:cs typeface="Trebuchet MS"/>
              </a:rPr>
              <a:t>up</a:t>
            </a:r>
            <a:r>
              <a:rPr sz="2400" i="1" spc="18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rebuchet MS"/>
                <a:cs typeface="Trebuchet MS"/>
              </a:rPr>
              <a:t>any</a:t>
            </a:r>
            <a:r>
              <a:rPr sz="2400" i="1" spc="19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rebuchet MS"/>
                <a:cs typeface="Trebuchet MS"/>
              </a:rPr>
              <a:t>kind</a:t>
            </a:r>
            <a:r>
              <a:rPr sz="2400" i="1" spc="19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rebuchet MS"/>
                <a:cs typeface="Trebuchet MS"/>
              </a:rPr>
              <a:t>of</a:t>
            </a:r>
            <a:r>
              <a:rPr sz="2400" i="1" spc="19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spc="-70" dirty="0">
                <a:solidFill>
                  <a:srgbClr val="00AF50"/>
                </a:solidFill>
                <a:latin typeface="Trebuchet MS"/>
                <a:cs typeface="Trebuchet MS"/>
              </a:rPr>
              <a:t>experimental</a:t>
            </a:r>
            <a:r>
              <a:rPr sz="2400" i="1" spc="19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spc="-45" dirty="0">
                <a:solidFill>
                  <a:srgbClr val="00AF50"/>
                </a:solidFill>
                <a:latin typeface="Trebuchet MS"/>
                <a:cs typeface="Trebuchet MS"/>
              </a:rPr>
              <a:t>research.</a:t>
            </a:r>
            <a:r>
              <a:rPr sz="2400" i="1" spc="19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spc="30" dirty="0">
                <a:solidFill>
                  <a:srgbClr val="00AF50"/>
                </a:solidFill>
                <a:latin typeface="Trebuchet MS"/>
                <a:cs typeface="Trebuchet MS"/>
              </a:rPr>
              <a:t>No </a:t>
            </a:r>
            <a:r>
              <a:rPr sz="2400" i="1" spc="-75" dirty="0">
                <a:solidFill>
                  <a:srgbClr val="00AF50"/>
                </a:solidFill>
                <a:latin typeface="Trebuchet MS"/>
                <a:cs typeface="Trebuchet MS"/>
              </a:rPr>
              <a:t>reasons</a:t>
            </a:r>
            <a:r>
              <a:rPr sz="2400" i="1" spc="-125" dirty="0">
                <a:solidFill>
                  <a:srgbClr val="00AF50"/>
                </a:solidFill>
                <a:latin typeface="Trebuchet MS"/>
                <a:cs typeface="Trebuchet MS"/>
              </a:rPr>
              <a:t> are </a:t>
            </a:r>
            <a:r>
              <a:rPr sz="2400" i="1" spc="-95" dirty="0">
                <a:solidFill>
                  <a:srgbClr val="00AF50"/>
                </a:solidFill>
                <a:latin typeface="Trebuchet MS"/>
                <a:cs typeface="Trebuchet MS"/>
              </a:rPr>
              <a:t>given</a:t>
            </a:r>
            <a:r>
              <a:rPr sz="2400" i="1" spc="-150" dirty="0">
                <a:solidFill>
                  <a:srgbClr val="00AF50"/>
                </a:solidFill>
                <a:latin typeface="Trebuchet MS"/>
                <a:cs typeface="Trebuchet MS"/>
              </a:rPr>
              <a:t> for</a:t>
            </a:r>
            <a:r>
              <a:rPr sz="2400" i="1" spc="-11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spc="-85" dirty="0">
                <a:solidFill>
                  <a:srgbClr val="00AF50"/>
                </a:solidFill>
                <a:latin typeface="Trebuchet MS"/>
                <a:cs typeface="Trebuchet MS"/>
              </a:rPr>
              <a:t>what</a:t>
            </a:r>
            <a:r>
              <a:rPr sz="2400" i="1" spc="-13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spc="-20" dirty="0">
                <a:solidFill>
                  <a:srgbClr val="00AF50"/>
                </a:solidFill>
                <a:latin typeface="Trebuchet MS"/>
                <a:cs typeface="Trebuchet MS"/>
              </a:rPr>
              <a:t>happened.]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1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170" dirty="0">
                <a:solidFill>
                  <a:srgbClr val="3981B9"/>
                </a:solidFill>
                <a:latin typeface="Trebuchet MS"/>
                <a:cs typeface="Trebuchet MS"/>
              </a:rPr>
              <a:t>Non-</a:t>
            </a:r>
            <a:r>
              <a:rPr b="1" spc="120" dirty="0">
                <a:solidFill>
                  <a:srgbClr val="3981B9"/>
                </a:solidFill>
                <a:latin typeface="Trebuchet MS"/>
                <a:cs typeface="Trebuchet MS"/>
              </a:rPr>
              <a:t>Arguments-</a:t>
            </a:r>
            <a:r>
              <a:rPr b="1" spc="55" dirty="0">
                <a:solidFill>
                  <a:srgbClr val="3981B9"/>
                </a:solidFill>
                <a:latin typeface="Trebuchet MS"/>
                <a:cs typeface="Trebuchet MS"/>
              </a:rPr>
              <a:t>Descriptions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0818" y="1802130"/>
            <a:ext cx="7470140" cy="39465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3650"/>
              </a:lnSpc>
              <a:spcBef>
                <a:spcPts val="105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0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3200" b="1" spc="-265" dirty="0">
                <a:solidFill>
                  <a:srgbClr val="677480"/>
                </a:solidFill>
                <a:latin typeface="Tahoma"/>
                <a:cs typeface="Tahoma"/>
              </a:rPr>
              <a:t>Example: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ts val="3315"/>
              </a:lnSpc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9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000" spc="-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painting</a:t>
            </a:r>
            <a:r>
              <a:rPr sz="2000" spc="-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depicts</a:t>
            </a:r>
            <a:r>
              <a:rPr sz="2000" spc="-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several</a:t>
            </a:r>
            <a:r>
              <a:rPr sz="2000" spc="-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figures</a:t>
            </a:r>
            <a:r>
              <a:rPr sz="2000" spc="-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gathered</a:t>
            </a:r>
            <a:r>
              <a:rPr sz="2000" spc="-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around</a:t>
            </a:r>
            <a:r>
              <a:rPr sz="2000" spc="-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2000" spc="-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677480"/>
                </a:solidFill>
                <a:latin typeface="Tahoma"/>
                <a:cs typeface="Tahoma"/>
              </a:rPr>
              <a:t>cottage</a:t>
            </a:r>
            <a:endParaRPr sz="2000">
              <a:latin typeface="Tahoma"/>
              <a:cs typeface="Tahoma"/>
            </a:endParaRPr>
          </a:p>
          <a:p>
            <a:pPr marL="431165" algn="just">
              <a:lnSpc>
                <a:spcPts val="2300"/>
              </a:lnSpc>
            </a:pP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2000" spc="-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in</a:t>
            </a:r>
            <a:r>
              <a:rPr sz="2000" spc="-1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0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677480"/>
                </a:solidFill>
                <a:latin typeface="Tahoma"/>
                <a:cs typeface="Tahoma"/>
              </a:rPr>
              <a:t>fields.</a:t>
            </a:r>
            <a:r>
              <a:rPr sz="20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These</a:t>
            </a:r>
            <a:r>
              <a:rPr sz="20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figures</a:t>
            </a:r>
            <a:r>
              <a:rPr sz="2000" spc="-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677480"/>
                </a:solidFill>
                <a:latin typeface="Tahoma"/>
                <a:cs typeface="Tahoma"/>
              </a:rPr>
              <a:t>are</a:t>
            </a:r>
            <a:r>
              <a:rPr sz="2000" spc="-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dressed</a:t>
            </a:r>
            <a:r>
              <a:rPr sz="2000" spc="-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in</a:t>
            </a:r>
            <a:r>
              <a:rPr sz="2000" spc="-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677480"/>
                </a:solidFill>
                <a:latin typeface="Tahoma"/>
                <a:cs typeface="Tahoma"/>
              </a:rPr>
              <a:t>peasant</a:t>
            </a:r>
            <a:r>
              <a:rPr sz="2000" spc="-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677480"/>
                </a:solidFill>
                <a:latin typeface="Tahoma"/>
                <a:cs typeface="Tahoma"/>
              </a:rPr>
              <a:t>dress.</a:t>
            </a:r>
            <a:r>
              <a:rPr sz="2000" spc="-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30" dirty="0">
                <a:solidFill>
                  <a:srgbClr val="677480"/>
                </a:solidFill>
                <a:latin typeface="Tahoma"/>
                <a:cs typeface="Tahoma"/>
              </a:rPr>
              <a:t>All</a:t>
            </a:r>
            <a:endParaRPr sz="2000">
              <a:latin typeface="Tahoma"/>
              <a:cs typeface="Tahoma"/>
            </a:endParaRPr>
          </a:p>
          <a:p>
            <a:pPr marL="431165" marR="5080" algn="just">
              <a:lnSpc>
                <a:spcPct val="100000"/>
              </a:lnSpc>
            </a:pPr>
            <a:r>
              <a:rPr sz="2000" spc="50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000" spc="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them</a:t>
            </a:r>
            <a:r>
              <a:rPr sz="2000" spc="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are</a:t>
            </a:r>
            <a:r>
              <a:rPr sz="2000" spc="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located</a:t>
            </a:r>
            <a:r>
              <a:rPr sz="2000" spc="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in</a:t>
            </a:r>
            <a:r>
              <a:rPr sz="2000" spc="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000" spc="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shadows</a:t>
            </a:r>
            <a:r>
              <a:rPr sz="2000" spc="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either</a:t>
            </a:r>
            <a:r>
              <a:rPr sz="2000" spc="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000" spc="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000" spc="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house</a:t>
            </a:r>
            <a:r>
              <a:rPr sz="2000" spc="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or</a:t>
            </a:r>
            <a:r>
              <a:rPr sz="2000" spc="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677480"/>
                </a:solidFill>
                <a:latin typeface="Tahoma"/>
                <a:cs typeface="Tahoma"/>
              </a:rPr>
              <a:t>of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000" spc="-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677480"/>
                </a:solidFill>
                <a:latin typeface="Tahoma"/>
                <a:cs typeface="Tahoma"/>
              </a:rPr>
              <a:t>trees.</a:t>
            </a:r>
            <a:r>
              <a:rPr sz="2000" spc="-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677480"/>
                </a:solidFill>
                <a:latin typeface="Tahoma"/>
                <a:cs typeface="Tahoma"/>
              </a:rPr>
              <a:t>It</a:t>
            </a:r>
            <a:r>
              <a:rPr sz="2000" spc="-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000" spc="-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not</a:t>
            </a:r>
            <a:r>
              <a:rPr sz="2000" spc="-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possible</a:t>
            </a:r>
            <a:r>
              <a:rPr sz="2000" spc="-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000" spc="-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make</a:t>
            </a:r>
            <a:r>
              <a:rPr sz="2000" spc="-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out</a:t>
            </a:r>
            <a:r>
              <a:rPr sz="2000" spc="-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any</a:t>
            </a:r>
            <a:r>
              <a:rPr sz="2000" spc="-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individual</a:t>
            </a:r>
            <a:r>
              <a:rPr sz="2000" spc="-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677480"/>
                </a:solidFill>
                <a:latin typeface="Tahoma"/>
                <a:cs typeface="Tahoma"/>
              </a:rPr>
              <a:t>features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on</a:t>
            </a:r>
            <a:r>
              <a:rPr sz="2000" spc="1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their</a:t>
            </a:r>
            <a:r>
              <a:rPr sz="2000" spc="1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faces</a:t>
            </a:r>
            <a:r>
              <a:rPr sz="2000" spc="1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or</a:t>
            </a:r>
            <a:r>
              <a:rPr sz="2000" spc="1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in</a:t>
            </a:r>
            <a:r>
              <a:rPr sz="2000" spc="1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their</a:t>
            </a:r>
            <a:r>
              <a:rPr sz="2000" spc="1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clothing.</a:t>
            </a:r>
            <a:r>
              <a:rPr sz="2000" spc="1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677480"/>
                </a:solidFill>
                <a:latin typeface="Tahoma"/>
                <a:cs typeface="Tahoma"/>
              </a:rPr>
              <a:t>By</a:t>
            </a:r>
            <a:r>
              <a:rPr sz="2000" spc="1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contrast,</a:t>
            </a:r>
            <a:r>
              <a:rPr sz="2000" spc="1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000" spc="1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figures</a:t>
            </a:r>
            <a:r>
              <a:rPr sz="2000" spc="1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677480"/>
                </a:solidFill>
                <a:latin typeface="Tahoma"/>
                <a:cs typeface="Tahoma"/>
              </a:rPr>
              <a:t>of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000" spc="1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noblemen</a:t>
            </a:r>
            <a:r>
              <a:rPr sz="2000" spc="1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who</a:t>
            </a:r>
            <a:r>
              <a:rPr sz="2000" spc="1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commissioned</a:t>
            </a:r>
            <a:r>
              <a:rPr sz="2000" spc="1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000" spc="1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painting</a:t>
            </a:r>
            <a:r>
              <a:rPr sz="2000" spc="1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are</a:t>
            </a:r>
            <a:r>
              <a:rPr sz="2000" spc="1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dressed</a:t>
            </a:r>
            <a:r>
              <a:rPr sz="2000" spc="1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677480"/>
                </a:solidFill>
                <a:latin typeface="Tahoma"/>
                <a:cs typeface="Tahoma"/>
              </a:rPr>
              <a:t>in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fine</a:t>
            </a:r>
            <a:r>
              <a:rPr sz="2000" spc="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and individualized</a:t>
            </a:r>
            <a:r>
              <a:rPr sz="2000" spc="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677480"/>
                </a:solidFill>
                <a:latin typeface="Tahoma"/>
                <a:cs typeface="Tahoma"/>
              </a:rPr>
              <a:t>apparel.</a:t>
            </a:r>
            <a:r>
              <a:rPr sz="2000" spc="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These</a:t>
            </a:r>
            <a:r>
              <a:rPr sz="2000" spc="-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figures</a:t>
            </a:r>
            <a:r>
              <a:rPr sz="2000" spc="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are</a:t>
            </a:r>
            <a:r>
              <a:rPr sz="2000" spc="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all</a:t>
            </a:r>
            <a:r>
              <a:rPr sz="2000" spc="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located</a:t>
            </a:r>
            <a:r>
              <a:rPr sz="2000" spc="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677480"/>
                </a:solidFill>
                <a:latin typeface="Tahoma"/>
                <a:cs typeface="Tahoma"/>
              </a:rPr>
              <a:t>in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000" spc="-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foreground</a:t>
            </a:r>
            <a:r>
              <a:rPr sz="2000" spc="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000" spc="-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000" spc="-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677480"/>
                </a:solidFill>
                <a:latin typeface="Tahoma"/>
                <a:cs typeface="Tahoma"/>
              </a:rPr>
              <a:t>painting,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in</a:t>
            </a:r>
            <a:r>
              <a:rPr sz="2000" spc="-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full</a:t>
            </a:r>
            <a:r>
              <a:rPr sz="2000" spc="-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677480"/>
                </a:solidFill>
                <a:latin typeface="Tahoma"/>
                <a:cs typeface="Tahoma"/>
              </a:rPr>
              <a:t>sunshine,</a:t>
            </a:r>
            <a:r>
              <a:rPr sz="2000" spc="-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2000" spc="-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their</a:t>
            </a:r>
            <a:r>
              <a:rPr sz="2000" spc="-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677480"/>
                </a:solidFill>
                <a:latin typeface="Tahoma"/>
                <a:cs typeface="Tahoma"/>
              </a:rPr>
              <a:t>facial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features</a:t>
            </a:r>
            <a:r>
              <a:rPr sz="2000" spc="4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are</a:t>
            </a:r>
            <a:r>
              <a:rPr sz="2000" spc="4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clearly</a:t>
            </a:r>
            <a:r>
              <a:rPr sz="2000" spc="48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distinguishable.</a:t>
            </a:r>
            <a:r>
              <a:rPr sz="2000" spc="4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i="1" dirty="0">
                <a:solidFill>
                  <a:srgbClr val="00AF50"/>
                </a:solidFill>
                <a:latin typeface="Trebuchet MS"/>
                <a:cs typeface="Trebuchet MS"/>
              </a:rPr>
              <a:t>[This</a:t>
            </a:r>
            <a:r>
              <a:rPr sz="2000" i="1" spc="-45" dirty="0">
                <a:solidFill>
                  <a:srgbClr val="00AF50"/>
                </a:solidFill>
                <a:latin typeface="Trebuchet MS"/>
                <a:cs typeface="Trebuchet MS"/>
              </a:rPr>
              <a:t>  </a:t>
            </a:r>
            <a:r>
              <a:rPr sz="2000" i="1" dirty="0">
                <a:solidFill>
                  <a:srgbClr val="00AF50"/>
                </a:solidFill>
                <a:latin typeface="Trebuchet MS"/>
                <a:cs typeface="Trebuchet MS"/>
              </a:rPr>
              <a:t>passage</a:t>
            </a:r>
            <a:r>
              <a:rPr sz="2000" i="1" spc="-40" dirty="0">
                <a:solidFill>
                  <a:srgbClr val="00AF50"/>
                </a:solidFill>
                <a:latin typeface="Trebuchet MS"/>
                <a:cs typeface="Trebuchet MS"/>
              </a:rPr>
              <a:t>  </a:t>
            </a:r>
            <a:r>
              <a:rPr sz="2000" i="1" spc="-55" dirty="0">
                <a:solidFill>
                  <a:srgbClr val="00AF50"/>
                </a:solidFill>
                <a:latin typeface="Trebuchet MS"/>
                <a:cs typeface="Trebuchet MS"/>
              </a:rPr>
              <a:t>describes </a:t>
            </a:r>
            <a:r>
              <a:rPr sz="2000" i="1" spc="-70" dirty="0">
                <a:solidFill>
                  <a:srgbClr val="00AF50"/>
                </a:solidFill>
                <a:latin typeface="Trebuchet MS"/>
                <a:cs typeface="Trebuchet MS"/>
              </a:rPr>
              <a:t>some</a:t>
            </a:r>
            <a:r>
              <a:rPr sz="2000" i="1" spc="-6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000" i="1" spc="-105" dirty="0">
                <a:solidFill>
                  <a:srgbClr val="00AF50"/>
                </a:solidFill>
                <a:latin typeface="Trebuchet MS"/>
                <a:cs typeface="Trebuchet MS"/>
              </a:rPr>
              <a:t>salient</a:t>
            </a:r>
            <a:r>
              <a:rPr sz="2000" i="1" spc="-4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000" i="1" spc="-105" dirty="0">
                <a:solidFill>
                  <a:srgbClr val="00AF50"/>
                </a:solidFill>
                <a:latin typeface="Trebuchet MS"/>
                <a:cs typeface="Trebuchet MS"/>
              </a:rPr>
              <a:t>features</a:t>
            </a:r>
            <a:r>
              <a:rPr sz="2000" i="1" spc="-3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000" i="1" spc="-120" dirty="0">
                <a:solidFill>
                  <a:srgbClr val="00AF50"/>
                </a:solidFill>
                <a:latin typeface="Trebuchet MS"/>
                <a:cs typeface="Trebuchet MS"/>
              </a:rPr>
              <a:t>of</a:t>
            </a:r>
            <a:r>
              <a:rPr sz="2000" i="1" spc="-2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000" i="1" dirty="0">
                <a:solidFill>
                  <a:srgbClr val="00AF50"/>
                </a:solidFill>
                <a:latin typeface="Trebuchet MS"/>
                <a:cs typeface="Trebuchet MS"/>
              </a:rPr>
              <a:t>a</a:t>
            </a:r>
            <a:r>
              <a:rPr sz="2000" i="1" spc="-5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000" i="1" spc="-65" dirty="0">
                <a:solidFill>
                  <a:srgbClr val="00AF50"/>
                </a:solidFill>
                <a:latin typeface="Trebuchet MS"/>
                <a:cs typeface="Trebuchet MS"/>
              </a:rPr>
              <a:t>landscape</a:t>
            </a:r>
            <a:r>
              <a:rPr sz="2000" i="1" spc="-4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000" i="1" spc="-110" dirty="0">
                <a:solidFill>
                  <a:srgbClr val="00AF50"/>
                </a:solidFill>
                <a:latin typeface="Trebuchet MS"/>
                <a:cs typeface="Trebuchet MS"/>
              </a:rPr>
              <a:t>painting.</a:t>
            </a:r>
            <a:r>
              <a:rPr sz="2000" i="1" spc="-4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000" i="1" spc="-90" dirty="0">
                <a:solidFill>
                  <a:srgbClr val="00AF50"/>
                </a:solidFill>
                <a:latin typeface="Trebuchet MS"/>
                <a:cs typeface="Trebuchet MS"/>
              </a:rPr>
              <a:t>The</a:t>
            </a:r>
            <a:r>
              <a:rPr sz="2000" i="1" spc="-3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000" i="1" spc="-105" dirty="0">
                <a:solidFill>
                  <a:srgbClr val="00AF50"/>
                </a:solidFill>
                <a:latin typeface="Trebuchet MS"/>
                <a:cs typeface="Trebuchet MS"/>
              </a:rPr>
              <a:t>details</a:t>
            </a:r>
            <a:r>
              <a:rPr sz="2000" i="1" spc="-2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000" i="1" spc="-95" dirty="0">
                <a:solidFill>
                  <a:srgbClr val="00AF50"/>
                </a:solidFill>
                <a:latin typeface="Trebuchet MS"/>
                <a:cs typeface="Trebuchet MS"/>
              </a:rPr>
              <a:t>that</a:t>
            </a:r>
            <a:r>
              <a:rPr sz="2000" i="1" spc="-4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000" i="1" spc="-25" dirty="0">
                <a:solidFill>
                  <a:srgbClr val="00AF50"/>
                </a:solidFill>
                <a:latin typeface="Trebuchet MS"/>
                <a:cs typeface="Trebuchet MS"/>
              </a:rPr>
              <a:t>the </a:t>
            </a:r>
            <a:r>
              <a:rPr sz="2000" i="1" spc="-85" dirty="0">
                <a:solidFill>
                  <a:srgbClr val="00AF50"/>
                </a:solidFill>
                <a:latin typeface="Trebuchet MS"/>
                <a:cs typeface="Trebuchet MS"/>
              </a:rPr>
              <a:t>author</a:t>
            </a:r>
            <a:r>
              <a:rPr sz="2000" i="1" spc="-10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000" i="1" spc="-35" dirty="0">
                <a:solidFill>
                  <a:srgbClr val="00AF50"/>
                </a:solidFill>
                <a:latin typeface="Trebuchet MS"/>
                <a:cs typeface="Trebuchet MS"/>
              </a:rPr>
              <a:t>has</a:t>
            </a:r>
            <a:r>
              <a:rPr sz="2000" i="1" spc="-12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000" i="1" spc="-55" dirty="0">
                <a:solidFill>
                  <a:srgbClr val="00AF50"/>
                </a:solidFill>
                <a:latin typeface="Trebuchet MS"/>
                <a:cs typeface="Trebuchet MS"/>
              </a:rPr>
              <a:t>chosen</a:t>
            </a:r>
            <a:r>
              <a:rPr sz="2000" i="1" spc="-11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000" i="1" spc="-95" dirty="0">
                <a:solidFill>
                  <a:srgbClr val="00AF50"/>
                </a:solidFill>
                <a:latin typeface="Trebuchet MS"/>
                <a:cs typeface="Trebuchet MS"/>
              </a:rPr>
              <a:t>to</a:t>
            </a:r>
            <a:r>
              <a:rPr sz="2000" i="1" spc="-10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000" i="1" spc="-110" dirty="0">
                <a:solidFill>
                  <a:srgbClr val="00AF50"/>
                </a:solidFill>
                <a:latin typeface="Trebuchet MS"/>
                <a:cs typeface="Trebuchet MS"/>
              </a:rPr>
              <a:t>select</a:t>
            </a:r>
            <a:r>
              <a:rPr sz="2000" i="1" spc="-12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000" i="1" spc="-65" dirty="0">
                <a:solidFill>
                  <a:srgbClr val="00AF50"/>
                </a:solidFill>
                <a:latin typeface="Trebuchet MS"/>
                <a:cs typeface="Trebuchet MS"/>
              </a:rPr>
              <a:t>suggest</a:t>
            </a:r>
            <a:r>
              <a:rPr sz="2000" i="1" spc="-12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000" i="1" spc="-40" dirty="0">
                <a:solidFill>
                  <a:srgbClr val="00AF50"/>
                </a:solidFill>
                <a:latin typeface="Trebuchet MS"/>
                <a:cs typeface="Trebuchet MS"/>
              </a:rPr>
              <a:t>a</a:t>
            </a:r>
            <a:r>
              <a:rPr sz="2000" i="1" spc="-114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000" i="1" spc="-90" dirty="0">
                <a:solidFill>
                  <a:srgbClr val="00AF50"/>
                </a:solidFill>
                <a:latin typeface="Trebuchet MS"/>
                <a:cs typeface="Trebuchet MS"/>
              </a:rPr>
              <a:t>point</a:t>
            </a:r>
            <a:r>
              <a:rPr sz="2000" i="1" spc="-114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000" i="1" spc="-110" dirty="0">
                <a:solidFill>
                  <a:srgbClr val="00AF50"/>
                </a:solidFill>
                <a:latin typeface="Trebuchet MS"/>
                <a:cs typeface="Trebuchet MS"/>
              </a:rPr>
              <a:t>of</a:t>
            </a:r>
            <a:r>
              <a:rPr sz="2000" i="1" spc="-13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000" i="1" spc="-10" dirty="0">
                <a:solidFill>
                  <a:srgbClr val="00AF50"/>
                </a:solidFill>
                <a:latin typeface="Trebuchet MS"/>
                <a:cs typeface="Trebuchet MS"/>
              </a:rPr>
              <a:t>view.]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1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170" dirty="0">
                <a:solidFill>
                  <a:srgbClr val="3981B9"/>
                </a:solidFill>
                <a:latin typeface="Trebuchet MS"/>
                <a:cs typeface="Trebuchet MS"/>
              </a:rPr>
              <a:t>Non-</a:t>
            </a:r>
            <a:r>
              <a:rPr b="1" spc="120" dirty="0">
                <a:solidFill>
                  <a:srgbClr val="3981B9"/>
                </a:solidFill>
                <a:latin typeface="Trebuchet MS"/>
                <a:cs typeface="Trebuchet MS"/>
              </a:rPr>
              <a:t>Arguments-</a:t>
            </a:r>
            <a:r>
              <a:rPr b="1" spc="55" dirty="0">
                <a:solidFill>
                  <a:srgbClr val="3981B9"/>
                </a:solidFill>
                <a:latin typeface="Trebuchet MS"/>
                <a:cs typeface="Trebuchet MS"/>
              </a:rPr>
              <a:t>Descriptions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0818" y="1566494"/>
            <a:ext cx="7348855" cy="4617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135"/>
              </a:lnSpc>
              <a:spcBef>
                <a:spcPts val="100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0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3600" b="1" spc="-300" dirty="0">
                <a:solidFill>
                  <a:srgbClr val="677480"/>
                </a:solidFill>
                <a:latin typeface="Tahoma"/>
                <a:cs typeface="Tahoma"/>
              </a:rPr>
              <a:t>Example:</a:t>
            </a:r>
            <a:endParaRPr sz="3600">
              <a:latin typeface="Tahoma"/>
              <a:cs typeface="Tahoma"/>
            </a:endParaRPr>
          </a:p>
          <a:p>
            <a:pPr marL="431165" marR="5715" indent="-419100" algn="just">
              <a:lnSpc>
                <a:spcPct val="92300"/>
              </a:lnSpc>
              <a:spcBef>
                <a:spcPts val="95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3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Usually,</a:t>
            </a:r>
            <a:r>
              <a:rPr sz="2000" spc="1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when</a:t>
            </a:r>
            <a:r>
              <a:rPr sz="2000" spc="1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people</a:t>
            </a:r>
            <a:r>
              <a:rPr sz="2000" spc="1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see</a:t>
            </a:r>
            <a:r>
              <a:rPr sz="2000" spc="1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an</a:t>
            </a:r>
            <a:r>
              <a:rPr sz="2000" spc="1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object</a:t>
            </a:r>
            <a:r>
              <a:rPr sz="2000" spc="1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that</a:t>
            </a:r>
            <a:r>
              <a:rPr sz="2000" spc="1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000" spc="1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familiar</a:t>
            </a:r>
            <a:r>
              <a:rPr sz="2000" spc="1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000" spc="1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677480"/>
                </a:solidFill>
                <a:latin typeface="Tahoma"/>
                <a:cs typeface="Tahoma"/>
              </a:rPr>
              <a:t>them,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such</a:t>
            </a:r>
            <a:r>
              <a:rPr sz="2000" spc="1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as</a:t>
            </a:r>
            <a:r>
              <a:rPr sz="2000" spc="1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an</a:t>
            </a:r>
            <a:r>
              <a:rPr sz="2000" spc="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elephant,</a:t>
            </a:r>
            <a:r>
              <a:rPr sz="2000" spc="1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2000" spc="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tree,</a:t>
            </a:r>
            <a:r>
              <a:rPr sz="2000" spc="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2000" spc="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bowl,</a:t>
            </a:r>
            <a:r>
              <a:rPr sz="2000" spc="1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2000" spc="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computer,</a:t>
            </a:r>
            <a:r>
              <a:rPr sz="2000" spc="1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they</a:t>
            </a:r>
            <a:r>
              <a:rPr sz="2000" spc="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677480"/>
                </a:solidFill>
                <a:latin typeface="Tahoma"/>
                <a:cs typeface="Tahoma"/>
              </a:rPr>
              <a:t>grasp</a:t>
            </a:r>
            <a:endParaRPr sz="2000">
              <a:latin typeface="Tahoma"/>
              <a:cs typeface="Tahoma"/>
            </a:endParaRPr>
          </a:p>
          <a:p>
            <a:pPr marL="431165" marR="5080" algn="just">
              <a:lnSpc>
                <a:spcPct val="100000"/>
              </a:lnSpc>
            </a:pP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immediately</a:t>
            </a:r>
            <a:r>
              <a:rPr sz="2000" spc="-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what</a:t>
            </a:r>
            <a:r>
              <a:rPr sz="2000" spc="-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it</a:t>
            </a:r>
            <a:r>
              <a:rPr sz="20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65" dirty="0">
                <a:solidFill>
                  <a:srgbClr val="677480"/>
                </a:solidFill>
                <a:latin typeface="Tahoma"/>
                <a:cs typeface="Tahoma"/>
              </a:rPr>
              <a:t>is.</a:t>
            </a:r>
            <a:r>
              <a:rPr sz="20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They</a:t>
            </a:r>
            <a:r>
              <a:rPr sz="20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recognize</a:t>
            </a:r>
            <a:r>
              <a:rPr sz="2000" spc="-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0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overall</a:t>
            </a:r>
            <a:r>
              <a:rPr sz="2000" spc="-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pattern</a:t>
            </a:r>
            <a:r>
              <a:rPr sz="20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677480"/>
                </a:solidFill>
                <a:latin typeface="Tahoma"/>
                <a:cs typeface="Tahoma"/>
              </a:rPr>
              <a:t>that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000" spc="4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object</a:t>
            </a:r>
            <a:r>
              <a:rPr sz="2000" spc="4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makes</a:t>
            </a:r>
            <a:r>
              <a:rPr sz="2000" spc="4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2000" spc="4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don't</a:t>
            </a:r>
            <a:r>
              <a:rPr sz="2000" spc="4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need</a:t>
            </a:r>
            <a:r>
              <a:rPr sz="2000" spc="4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000" spc="4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work</a:t>
            </a:r>
            <a:r>
              <a:rPr sz="2000" spc="4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out</a:t>
            </a:r>
            <a:r>
              <a:rPr sz="2000" spc="409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from</a:t>
            </a:r>
            <a:r>
              <a:rPr sz="2000" spc="4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677480"/>
                </a:solidFill>
                <a:latin typeface="Tahoma"/>
                <a:cs typeface="Tahoma"/>
              </a:rPr>
              <a:t>other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sensory</a:t>
            </a:r>
            <a:r>
              <a:rPr sz="2000" spc="1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information</a:t>
            </a:r>
            <a:r>
              <a:rPr sz="2000" spc="1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such</a:t>
            </a:r>
            <a:r>
              <a:rPr sz="2000" spc="1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as</a:t>
            </a:r>
            <a:r>
              <a:rPr sz="2000" spc="1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sounds,</a:t>
            </a:r>
            <a:r>
              <a:rPr sz="2000" spc="1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smell</a:t>
            </a:r>
            <a:r>
              <a:rPr sz="2000" spc="1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2000" spc="1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colour,</a:t>
            </a:r>
            <a:r>
              <a:rPr sz="2000" spc="1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677480"/>
                </a:solidFill>
                <a:latin typeface="Tahoma"/>
                <a:cs typeface="Tahoma"/>
              </a:rPr>
              <a:t>what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000" spc="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whole</a:t>
            </a:r>
            <a:r>
              <a:rPr sz="2000" spc="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object</a:t>
            </a:r>
            <a:r>
              <a:rPr sz="2000" spc="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might be.</a:t>
            </a:r>
            <a:r>
              <a:rPr sz="2000" spc="-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However,</a:t>
            </a:r>
            <a:r>
              <a:rPr sz="2000" spc="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people</a:t>
            </a:r>
            <a:r>
              <a:rPr sz="2000" spc="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with</a:t>
            </a:r>
            <a:r>
              <a:rPr sz="2000" spc="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a </a:t>
            </a:r>
            <a:r>
              <a:rPr sz="2000" spc="-10" dirty="0">
                <a:solidFill>
                  <a:srgbClr val="677480"/>
                </a:solidFill>
                <a:latin typeface="Tahoma"/>
                <a:cs typeface="Tahoma"/>
              </a:rPr>
              <a:t>condition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known</a:t>
            </a:r>
            <a:r>
              <a:rPr sz="2000" spc="1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as</a:t>
            </a:r>
            <a:r>
              <a:rPr sz="2000" spc="2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visual</a:t>
            </a:r>
            <a:r>
              <a:rPr sz="2000" spc="2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agnosia</a:t>
            </a:r>
            <a:r>
              <a:rPr sz="2000" spc="2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cannot</a:t>
            </a:r>
            <a:r>
              <a:rPr sz="2000" spc="2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see</a:t>
            </a:r>
            <a:r>
              <a:rPr sz="2000" spc="2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2000" spc="1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whole</a:t>
            </a:r>
            <a:r>
              <a:rPr sz="2000" spc="2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pattern</a:t>
            </a:r>
            <a:r>
              <a:rPr sz="2000" spc="20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in</a:t>
            </a:r>
            <a:r>
              <a:rPr sz="2000" spc="2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677480"/>
                </a:solidFill>
                <a:latin typeface="Tahoma"/>
                <a:cs typeface="Tahoma"/>
              </a:rPr>
              <a:t>this </a:t>
            </a:r>
            <a:r>
              <a:rPr sz="2000" spc="-40" dirty="0">
                <a:solidFill>
                  <a:srgbClr val="677480"/>
                </a:solidFill>
                <a:latin typeface="Tahoma"/>
                <a:cs typeface="Tahoma"/>
              </a:rPr>
              <a:t>way:</a:t>
            </a:r>
            <a:r>
              <a:rPr sz="2000" spc="-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they</a:t>
            </a:r>
            <a:r>
              <a:rPr sz="20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cannot</a:t>
            </a:r>
            <a:r>
              <a:rPr sz="20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recognize</a:t>
            </a:r>
            <a:r>
              <a:rPr sz="20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objects</a:t>
            </a:r>
            <a:r>
              <a:rPr sz="20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677480"/>
                </a:solidFill>
                <a:latin typeface="Tahoma"/>
                <a:cs typeface="Tahoma"/>
              </a:rPr>
              <a:t>visually.</a:t>
            </a:r>
            <a:r>
              <a:rPr sz="2000" spc="-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677480"/>
                </a:solidFill>
                <a:latin typeface="Tahoma"/>
                <a:cs typeface="Tahoma"/>
              </a:rPr>
              <a:t>If</a:t>
            </a:r>
            <a:r>
              <a:rPr sz="2000" spc="-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they</a:t>
            </a:r>
            <a:r>
              <a:rPr sz="20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traced</a:t>
            </a:r>
            <a:r>
              <a:rPr sz="20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677480"/>
                </a:solidFill>
                <a:latin typeface="Tahoma"/>
                <a:cs typeface="Tahoma"/>
              </a:rPr>
              <a:t>the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outline</a:t>
            </a:r>
            <a:r>
              <a:rPr sz="2000" spc="-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000" spc="-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000" spc="-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object</a:t>
            </a:r>
            <a:r>
              <a:rPr sz="2000" spc="-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with</a:t>
            </a:r>
            <a:r>
              <a:rPr sz="2000" spc="-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their</a:t>
            </a:r>
            <a:r>
              <a:rPr sz="2000" spc="-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677480"/>
                </a:solidFill>
                <a:latin typeface="Tahoma"/>
                <a:cs typeface="Tahoma"/>
              </a:rPr>
              <a:t>hand,</a:t>
            </a:r>
            <a:r>
              <a:rPr sz="2000" spc="-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they</a:t>
            </a:r>
            <a:r>
              <a:rPr sz="2000" spc="-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might</a:t>
            </a:r>
            <a:r>
              <a:rPr sz="2000" spc="-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recognize</a:t>
            </a:r>
            <a:r>
              <a:rPr sz="2000" spc="-25" dirty="0">
                <a:solidFill>
                  <a:srgbClr val="677480"/>
                </a:solidFill>
                <a:latin typeface="Tahoma"/>
                <a:cs typeface="Tahoma"/>
              </a:rPr>
              <a:t> an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elephant,</a:t>
            </a:r>
            <a:r>
              <a:rPr sz="2000" spc="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but</a:t>
            </a:r>
            <a:r>
              <a:rPr sz="2000" spc="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they</a:t>
            </a:r>
            <a:r>
              <a:rPr sz="2000" spc="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can't</a:t>
            </a:r>
            <a:r>
              <a:rPr sz="2000" spc="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see</a:t>
            </a:r>
            <a:r>
              <a:rPr sz="2000" spc="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an</a:t>
            </a:r>
            <a:r>
              <a:rPr sz="2000" spc="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elephant.</a:t>
            </a:r>
            <a:r>
              <a:rPr sz="2000" spc="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They</a:t>
            </a:r>
            <a:r>
              <a:rPr sz="2000" spc="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can</a:t>
            </a:r>
            <a:r>
              <a:rPr sz="2000" spc="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see,</a:t>
            </a:r>
            <a:r>
              <a:rPr sz="2000" spc="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677480"/>
                </a:solidFill>
                <a:latin typeface="Tahoma"/>
                <a:cs typeface="Tahoma"/>
              </a:rPr>
              <a:t>and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they</a:t>
            </a:r>
            <a:r>
              <a:rPr sz="2000" spc="1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know</a:t>
            </a:r>
            <a:r>
              <a:rPr sz="2000" spc="1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they</a:t>
            </a:r>
            <a:r>
              <a:rPr sz="2000" spc="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are</a:t>
            </a:r>
            <a:r>
              <a:rPr sz="2000" spc="1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seeing</a:t>
            </a:r>
            <a:r>
              <a:rPr sz="2000" spc="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something,</a:t>
            </a:r>
            <a:r>
              <a:rPr sz="2000" spc="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but</a:t>
            </a:r>
            <a:r>
              <a:rPr sz="2000" spc="1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they</a:t>
            </a:r>
            <a:r>
              <a:rPr sz="2000" spc="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can't</a:t>
            </a:r>
            <a:r>
              <a:rPr sz="2000" spc="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see</a:t>
            </a:r>
            <a:r>
              <a:rPr sz="2000" spc="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677480"/>
                </a:solidFill>
                <a:latin typeface="Tahoma"/>
                <a:cs typeface="Tahoma"/>
              </a:rPr>
              <a:t>an </a:t>
            </a:r>
            <a:r>
              <a:rPr sz="2000" dirty="0">
                <a:solidFill>
                  <a:srgbClr val="677480"/>
                </a:solidFill>
                <a:latin typeface="Tahoma"/>
                <a:cs typeface="Tahoma"/>
              </a:rPr>
              <a:t>elephant. </a:t>
            </a:r>
            <a:r>
              <a:rPr sz="2000" i="1" dirty="0">
                <a:solidFill>
                  <a:srgbClr val="00AF50"/>
                </a:solidFill>
                <a:latin typeface="Trebuchet MS"/>
                <a:cs typeface="Trebuchet MS"/>
              </a:rPr>
              <a:t>[In</a:t>
            </a:r>
            <a:r>
              <a:rPr sz="2000" i="1" spc="3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000" i="1" dirty="0">
                <a:solidFill>
                  <a:srgbClr val="00AF50"/>
                </a:solidFill>
                <a:latin typeface="Trebuchet MS"/>
                <a:cs typeface="Trebuchet MS"/>
              </a:rPr>
              <a:t>this</a:t>
            </a:r>
            <a:r>
              <a:rPr sz="2000" i="1" spc="3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000" i="1" spc="-45" dirty="0">
                <a:solidFill>
                  <a:srgbClr val="00AF50"/>
                </a:solidFill>
                <a:latin typeface="Trebuchet MS"/>
                <a:cs typeface="Trebuchet MS"/>
              </a:rPr>
              <a:t>instance,</a:t>
            </a:r>
            <a:r>
              <a:rPr sz="2000" i="1" spc="3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000" i="1" dirty="0">
                <a:solidFill>
                  <a:srgbClr val="00AF50"/>
                </a:solidFill>
                <a:latin typeface="Trebuchet MS"/>
                <a:cs typeface="Trebuchet MS"/>
              </a:rPr>
              <a:t>the</a:t>
            </a:r>
            <a:r>
              <a:rPr sz="2000" i="1" spc="3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000" i="1" dirty="0">
                <a:solidFill>
                  <a:srgbClr val="00AF50"/>
                </a:solidFill>
                <a:latin typeface="Trebuchet MS"/>
                <a:cs typeface="Trebuchet MS"/>
              </a:rPr>
              <a:t>author</a:t>
            </a:r>
            <a:r>
              <a:rPr sz="2000" i="1" spc="3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000" i="1" dirty="0">
                <a:solidFill>
                  <a:srgbClr val="00AF50"/>
                </a:solidFill>
                <a:latin typeface="Trebuchet MS"/>
                <a:cs typeface="Trebuchet MS"/>
              </a:rPr>
              <a:t>is</a:t>
            </a:r>
            <a:r>
              <a:rPr sz="2000" i="1" spc="3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000" i="1" spc="-40" dirty="0">
                <a:solidFill>
                  <a:srgbClr val="00AF50"/>
                </a:solidFill>
                <a:latin typeface="Trebuchet MS"/>
                <a:cs typeface="Trebuchet MS"/>
              </a:rPr>
              <a:t>describing</a:t>
            </a:r>
            <a:r>
              <a:rPr sz="2000" i="1" spc="3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000" i="1" dirty="0">
                <a:solidFill>
                  <a:srgbClr val="00AF50"/>
                </a:solidFill>
                <a:latin typeface="Trebuchet MS"/>
                <a:cs typeface="Trebuchet MS"/>
              </a:rPr>
              <a:t>what</a:t>
            </a:r>
            <a:r>
              <a:rPr sz="2000" i="1" spc="3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000" i="1" spc="-25" dirty="0">
                <a:solidFill>
                  <a:srgbClr val="00AF50"/>
                </a:solidFill>
                <a:latin typeface="Trebuchet MS"/>
                <a:cs typeface="Trebuchet MS"/>
              </a:rPr>
              <a:t>the </a:t>
            </a:r>
            <a:r>
              <a:rPr sz="2000" i="1" spc="-80" dirty="0">
                <a:solidFill>
                  <a:srgbClr val="00AF50"/>
                </a:solidFill>
                <a:latin typeface="Trebuchet MS"/>
                <a:cs typeface="Trebuchet MS"/>
              </a:rPr>
              <a:t>condition</a:t>
            </a:r>
            <a:r>
              <a:rPr sz="2000" i="1" spc="-9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000" i="1" spc="-110" dirty="0">
                <a:solidFill>
                  <a:srgbClr val="00AF50"/>
                </a:solidFill>
                <a:latin typeface="Trebuchet MS"/>
                <a:cs typeface="Trebuchet MS"/>
              </a:rPr>
              <a:t>of</a:t>
            </a:r>
            <a:r>
              <a:rPr sz="2000" i="1" spc="-12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000" i="1" spc="-85" dirty="0">
                <a:solidFill>
                  <a:srgbClr val="00AF50"/>
                </a:solidFill>
                <a:latin typeface="Trebuchet MS"/>
                <a:cs typeface="Trebuchet MS"/>
              </a:rPr>
              <a:t>visual</a:t>
            </a:r>
            <a:r>
              <a:rPr sz="2000" i="1" spc="-10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000" i="1" spc="-55" dirty="0">
                <a:solidFill>
                  <a:srgbClr val="00AF50"/>
                </a:solidFill>
                <a:latin typeface="Trebuchet MS"/>
                <a:cs typeface="Trebuchet MS"/>
              </a:rPr>
              <a:t>agnosia</a:t>
            </a:r>
            <a:r>
              <a:rPr sz="2000" i="1" spc="-12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000" i="1" spc="-90" dirty="0">
                <a:solidFill>
                  <a:srgbClr val="00AF50"/>
                </a:solidFill>
                <a:latin typeface="Trebuchet MS"/>
                <a:cs typeface="Trebuchet MS"/>
              </a:rPr>
              <a:t>is</a:t>
            </a:r>
            <a:r>
              <a:rPr sz="2000" i="1" spc="-10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000" i="1" spc="-10" dirty="0">
                <a:solidFill>
                  <a:srgbClr val="00AF50"/>
                </a:solidFill>
                <a:latin typeface="Trebuchet MS"/>
                <a:cs typeface="Trebuchet MS"/>
              </a:rPr>
              <a:t>like.]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1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170" dirty="0">
                <a:solidFill>
                  <a:srgbClr val="3981B9"/>
                </a:solidFill>
                <a:latin typeface="Trebuchet MS"/>
                <a:cs typeface="Trebuchet MS"/>
              </a:rPr>
              <a:t>Non-</a:t>
            </a:r>
            <a:r>
              <a:rPr b="1" spc="120" dirty="0">
                <a:solidFill>
                  <a:srgbClr val="3981B9"/>
                </a:solidFill>
                <a:latin typeface="Trebuchet MS"/>
                <a:cs typeface="Trebuchet MS"/>
              </a:rPr>
              <a:t>Arguments-</a:t>
            </a:r>
            <a:r>
              <a:rPr b="1" spc="-10" dirty="0">
                <a:solidFill>
                  <a:srgbClr val="3981B9"/>
                </a:solidFill>
                <a:latin typeface="Trebuchet MS"/>
                <a:cs typeface="Trebuchet MS"/>
              </a:rPr>
              <a:t>Explanation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8522" y="1787144"/>
            <a:ext cx="7440930" cy="2312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165" marR="5080" indent="-419100" algn="just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6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3000" b="1" spc="-210" dirty="0">
                <a:solidFill>
                  <a:srgbClr val="677480"/>
                </a:solidFill>
                <a:latin typeface="Tahoma"/>
                <a:cs typeface="Tahoma"/>
              </a:rPr>
              <a:t>Explanations</a:t>
            </a:r>
            <a:r>
              <a:rPr sz="3000" b="1" spc="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do</a:t>
            </a:r>
            <a:r>
              <a:rPr sz="3000" spc="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not</a:t>
            </a:r>
            <a:r>
              <a:rPr sz="3000" spc="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attempt</a:t>
            </a:r>
            <a:r>
              <a:rPr sz="3000" spc="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6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3000" spc="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-10" dirty="0">
                <a:solidFill>
                  <a:srgbClr val="677480"/>
                </a:solidFill>
                <a:latin typeface="Tahoma"/>
                <a:cs typeface="Tahoma"/>
              </a:rPr>
              <a:t>persuade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3000" spc="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audience </a:t>
            </a:r>
            <a:r>
              <a:rPr sz="3000" spc="65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3000" spc="-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a point</a:t>
            </a:r>
            <a:r>
              <a:rPr sz="3000" spc="-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70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 view.</a:t>
            </a:r>
            <a:r>
              <a:rPr sz="3000" spc="-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They</a:t>
            </a:r>
            <a:r>
              <a:rPr sz="3000" spc="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-25" dirty="0">
                <a:solidFill>
                  <a:srgbClr val="677480"/>
                </a:solidFill>
                <a:latin typeface="Tahoma"/>
                <a:cs typeface="Tahoma"/>
              </a:rPr>
              <a:t>are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used</a:t>
            </a:r>
            <a:r>
              <a:rPr sz="3000" spc="54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spc="65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3000" spc="54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account</a:t>
            </a:r>
            <a:r>
              <a:rPr sz="3000" spc="53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spc="60" dirty="0">
                <a:solidFill>
                  <a:srgbClr val="677480"/>
                </a:solidFill>
                <a:latin typeface="Tahoma"/>
                <a:cs typeface="Tahoma"/>
              </a:rPr>
              <a:t>for</a:t>
            </a:r>
            <a:r>
              <a:rPr sz="3000" spc="53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spc="50" dirty="0">
                <a:solidFill>
                  <a:srgbClr val="677480"/>
                </a:solidFill>
                <a:latin typeface="Tahoma"/>
                <a:cs typeface="Tahoma"/>
              </a:rPr>
              <a:t>why</a:t>
            </a:r>
            <a:r>
              <a:rPr sz="3000" spc="54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or</a:t>
            </a:r>
            <a:r>
              <a:rPr sz="3000" spc="53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spc="35" dirty="0">
                <a:solidFill>
                  <a:srgbClr val="677480"/>
                </a:solidFill>
                <a:latin typeface="Tahoma"/>
                <a:cs typeface="Tahoma"/>
              </a:rPr>
              <a:t>how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something</a:t>
            </a:r>
            <a:r>
              <a:rPr sz="3000" spc="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occurs;</a:t>
            </a:r>
            <a:r>
              <a:rPr sz="3000" spc="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draw</a:t>
            </a:r>
            <a:r>
              <a:rPr sz="3000" spc="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out</a:t>
            </a:r>
            <a:r>
              <a:rPr sz="3000" spc="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3000" spc="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-10" dirty="0">
                <a:solidFill>
                  <a:srgbClr val="677480"/>
                </a:solidFill>
                <a:latin typeface="Tahoma"/>
                <a:cs typeface="Tahoma"/>
              </a:rPr>
              <a:t>meaning </a:t>
            </a:r>
            <a:r>
              <a:rPr sz="3000" spc="75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3000" spc="-1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-100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3000" spc="-1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-10" dirty="0">
                <a:solidFill>
                  <a:srgbClr val="677480"/>
                </a:solidFill>
                <a:latin typeface="Tahoma"/>
                <a:cs typeface="Tahoma"/>
              </a:rPr>
              <a:t>theory,</a:t>
            </a:r>
            <a:r>
              <a:rPr sz="3000" spc="-1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-25" dirty="0">
                <a:solidFill>
                  <a:srgbClr val="677480"/>
                </a:solidFill>
                <a:latin typeface="Tahoma"/>
                <a:cs typeface="Tahoma"/>
              </a:rPr>
              <a:t>argument</a:t>
            </a:r>
            <a:r>
              <a:rPr sz="3000" spc="-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or</a:t>
            </a:r>
            <a:r>
              <a:rPr sz="3000" spc="-1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other</a:t>
            </a:r>
            <a:r>
              <a:rPr sz="3000" spc="-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-10" dirty="0">
                <a:solidFill>
                  <a:srgbClr val="677480"/>
                </a:solidFill>
                <a:latin typeface="Tahoma"/>
                <a:cs typeface="Tahoma"/>
              </a:rPr>
              <a:t>message.</a:t>
            </a:r>
            <a:endParaRPr sz="3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1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170" dirty="0">
                <a:solidFill>
                  <a:srgbClr val="3981B9"/>
                </a:solidFill>
                <a:latin typeface="Trebuchet MS"/>
                <a:cs typeface="Trebuchet MS"/>
              </a:rPr>
              <a:t>Non-</a:t>
            </a:r>
            <a:r>
              <a:rPr b="1" spc="120" dirty="0">
                <a:solidFill>
                  <a:srgbClr val="3981B9"/>
                </a:solidFill>
                <a:latin typeface="Trebuchet MS"/>
                <a:cs typeface="Trebuchet MS"/>
              </a:rPr>
              <a:t>Arguments-</a:t>
            </a:r>
            <a:r>
              <a:rPr b="1" spc="-10" dirty="0">
                <a:solidFill>
                  <a:srgbClr val="3981B9"/>
                </a:solidFill>
                <a:latin typeface="Trebuchet MS"/>
                <a:cs typeface="Trebuchet MS"/>
              </a:rPr>
              <a:t>Explanation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0818" y="1492122"/>
            <a:ext cx="7265670" cy="456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ts val="3540"/>
              </a:lnSpc>
              <a:spcBef>
                <a:spcPts val="100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0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400" b="1" spc="-70" dirty="0">
                <a:solidFill>
                  <a:srgbClr val="677480"/>
                </a:solidFill>
                <a:latin typeface="Tahoma"/>
                <a:cs typeface="Tahoma"/>
              </a:rPr>
              <a:t>Example:</a:t>
            </a:r>
            <a:endParaRPr sz="2400">
              <a:latin typeface="Tahoma"/>
              <a:cs typeface="Tahoma"/>
            </a:endParaRPr>
          </a:p>
          <a:p>
            <a:pPr marL="431165" marR="5080" indent="-419100" algn="just">
              <a:lnSpc>
                <a:spcPts val="2880"/>
              </a:lnSpc>
              <a:spcBef>
                <a:spcPts val="635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2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It</a:t>
            </a:r>
            <a:r>
              <a:rPr sz="2400" spc="4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was</a:t>
            </a:r>
            <a:r>
              <a:rPr sz="2400" spc="4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found</a:t>
            </a:r>
            <a:r>
              <a:rPr sz="2400" spc="4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that</a:t>
            </a:r>
            <a:r>
              <a:rPr sz="2400" spc="4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many</a:t>
            </a:r>
            <a:r>
              <a:rPr sz="2400" spc="4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drivers</a:t>
            </a:r>
            <a:r>
              <a:rPr sz="2400" spc="4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become</a:t>
            </a:r>
            <a:r>
              <a:rPr sz="2400" spc="4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drowsy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when</a:t>
            </a:r>
            <a:r>
              <a:rPr sz="2400" spc="1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ingredients</a:t>
            </a:r>
            <a:r>
              <a:rPr sz="2400" spc="1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in</a:t>
            </a:r>
            <a:r>
              <a:rPr sz="2400" spc="1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2400" spc="1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bowl</a:t>
            </a:r>
            <a:r>
              <a:rPr sz="2400" spc="1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2400" spc="1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beat</a:t>
            </a:r>
            <a:r>
              <a:rPr sz="2400" spc="1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furiously</a:t>
            </a:r>
            <a:r>
              <a:rPr sz="2400" spc="1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for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three</a:t>
            </a:r>
            <a:r>
              <a:rPr sz="2400" spc="229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travelling</a:t>
            </a:r>
            <a:r>
              <a:rPr sz="2400" spc="2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2400" spc="2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that</a:t>
            </a:r>
            <a:r>
              <a:rPr sz="2400" spc="2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long</a:t>
            </a:r>
            <a:r>
              <a:rPr sz="2400" spc="2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hours</a:t>
            </a:r>
            <a:r>
              <a:rPr sz="2400" spc="2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at</a:t>
            </a:r>
            <a:r>
              <a:rPr sz="2400" spc="2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400" spc="2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wheel</a:t>
            </a:r>
            <a:endParaRPr sz="2400">
              <a:latin typeface="Tahoma"/>
              <a:cs typeface="Tahoma"/>
            </a:endParaRPr>
          </a:p>
          <a:p>
            <a:pPr marL="431165" algn="just">
              <a:lnSpc>
                <a:spcPts val="2785"/>
              </a:lnSpc>
            </a:pP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were</a:t>
            </a:r>
            <a:r>
              <a:rPr sz="2400" spc="2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2400" spc="2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minutes.</a:t>
            </a:r>
            <a:r>
              <a:rPr sz="2400" spc="2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Blend</a:t>
            </a:r>
            <a:r>
              <a:rPr sz="2400" spc="25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400" spc="2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ingredients</a:t>
            </a:r>
            <a:r>
              <a:rPr sz="2400" spc="2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well.</a:t>
            </a:r>
            <a:r>
              <a:rPr sz="2400" spc="2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Pour</a:t>
            </a:r>
            <a:endParaRPr sz="2400">
              <a:latin typeface="Tahoma"/>
              <a:cs typeface="Tahoma"/>
            </a:endParaRPr>
          </a:p>
          <a:p>
            <a:pPr marL="431165" marR="5715" algn="just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into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major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cause</a:t>
            </a:r>
            <a:r>
              <a:rPr sz="2400" spc="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5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400" spc="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accidents.</a:t>
            </a:r>
            <a:r>
              <a:rPr sz="2400" spc="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70" dirty="0">
                <a:solidFill>
                  <a:srgbClr val="677480"/>
                </a:solidFill>
                <a:latin typeface="Tahoma"/>
                <a:cs typeface="Tahoma"/>
              </a:rPr>
              <a:t>As</a:t>
            </a:r>
            <a:r>
              <a:rPr sz="2400" spc="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result,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more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stopping</a:t>
            </a:r>
            <a:r>
              <a:rPr sz="2400" spc="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greased</a:t>
            </a:r>
            <a:r>
              <a:rPr sz="2400" spc="1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tin</a:t>
            </a:r>
            <a:r>
              <a:rPr sz="2400" spc="-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2400" spc="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cook</a:t>
            </a:r>
            <a:r>
              <a:rPr sz="2400" spc="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in  the  oven</a:t>
            </a:r>
            <a:r>
              <a:rPr sz="2400" spc="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at 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190°C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for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75" dirty="0">
                <a:solidFill>
                  <a:srgbClr val="677480"/>
                </a:solidFill>
                <a:latin typeface="Tahoma"/>
                <a:cs typeface="Tahoma"/>
              </a:rPr>
              <a:t>20</a:t>
            </a:r>
            <a:r>
              <a:rPr sz="2400" spc="-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places</a:t>
            </a:r>
            <a:r>
              <a:rPr sz="2400" spc="-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were</a:t>
            </a:r>
            <a:r>
              <a:rPr sz="2400" spc="-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set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up</a:t>
            </a:r>
            <a:r>
              <a:rPr sz="2400" spc="-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along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 motorways 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enable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drivers</a:t>
            </a:r>
            <a:r>
              <a:rPr sz="2400" spc="-1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mins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until</a:t>
            </a:r>
            <a:r>
              <a:rPr sz="2400" spc="-1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it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risen,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golden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brown</a:t>
            </a:r>
            <a:r>
              <a:rPr sz="2400" spc="5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2400" spc="5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coming</a:t>
            </a:r>
            <a:r>
              <a:rPr sz="2400" spc="-7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away</a:t>
            </a:r>
            <a:r>
              <a:rPr sz="2400" spc="5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400" spc="5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take</a:t>
            </a:r>
            <a:r>
              <a:rPr sz="2400" spc="-7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2400" spc="5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break.</a:t>
            </a:r>
            <a:r>
              <a:rPr sz="2400" spc="5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i="1" spc="-80" dirty="0">
                <a:solidFill>
                  <a:srgbClr val="00AF50"/>
                </a:solidFill>
                <a:latin typeface="Trebuchet MS"/>
                <a:cs typeface="Trebuchet MS"/>
              </a:rPr>
              <a:t>[The </a:t>
            </a:r>
            <a:r>
              <a:rPr sz="2400" i="1" dirty="0">
                <a:solidFill>
                  <a:srgbClr val="00AF50"/>
                </a:solidFill>
                <a:latin typeface="Trebuchet MS"/>
                <a:cs typeface="Trebuchet MS"/>
              </a:rPr>
              <a:t>above</a:t>
            </a:r>
            <a:r>
              <a:rPr sz="2400" i="1" spc="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spc="-40" dirty="0">
                <a:solidFill>
                  <a:srgbClr val="00AF50"/>
                </a:solidFill>
                <a:latin typeface="Trebuchet MS"/>
                <a:cs typeface="Trebuchet MS"/>
              </a:rPr>
              <a:t>example</a:t>
            </a:r>
            <a:r>
              <a:rPr sz="2400" i="1" spc="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spc="-35" dirty="0">
                <a:solidFill>
                  <a:srgbClr val="00AF50"/>
                </a:solidFill>
                <a:latin typeface="Trebuchet MS"/>
                <a:cs typeface="Trebuchet MS"/>
              </a:rPr>
              <a:t>explains</a:t>
            </a:r>
            <a:r>
              <a:rPr sz="2400" i="1" spc="1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rebuchet MS"/>
                <a:cs typeface="Trebuchet MS"/>
              </a:rPr>
              <a:t>why</a:t>
            </a:r>
            <a:r>
              <a:rPr sz="2400" i="1" spc="1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rebuchet MS"/>
                <a:cs typeface="Trebuchet MS"/>
              </a:rPr>
              <a:t>more stopping </a:t>
            </a:r>
            <a:r>
              <a:rPr sz="2400" i="1" spc="-65" dirty="0">
                <a:solidFill>
                  <a:srgbClr val="00AF50"/>
                </a:solidFill>
                <a:latin typeface="Trebuchet MS"/>
                <a:cs typeface="Trebuchet MS"/>
              </a:rPr>
              <a:t>places </a:t>
            </a:r>
            <a:r>
              <a:rPr sz="2400" i="1" spc="-135" dirty="0">
                <a:solidFill>
                  <a:srgbClr val="00AF50"/>
                </a:solidFill>
                <a:latin typeface="Trebuchet MS"/>
                <a:cs typeface="Trebuchet MS"/>
              </a:rPr>
              <a:t>were</a:t>
            </a:r>
            <a:r>
              <a:rPr sz="2400" i="1" spc="-15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spc="-110" dirty="0">
                <a:solidFill>
                  <a:srgbClr val="00AF50"/>
                </a:solidFill>
                <a:latin typeface="Trebuchet MS"/>
                <a:cs typeface="Trebuchet MS"/>
              </a:rPr>
              <a:t>set</a:t>
            </a:r>
            <a:r>
              <a:rPr sz="2400" i="1" spc="-15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spc="-90" dirty="0">
                <a:solidFill>
                  <a:srgbClr val="00AF50"/>
                </a:solidFill>
                <a:latin typeface="Trebuchet MS"/>
                <a:cs typeface="Trebuchet MS"/>
              </a:rPr>
              <a:t>up</a:t>
            </a:r>
            <a:r>
              <a:rPr sz="2400" i="1" spc="-15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spc="-85" dirty="0">
                <a:solidFill>
                  <a:srgbClr val="00AF50"/>
                </a:solidFill>
                <a:latin typeface="Trebuchet MS"/>
                <a:cs typeface="Trebuchet MS"/>
              </a:rPr>
              <a:t>along</a:t>
            </a:r>
            <a:r>
              <a:rPr sz="2400" i="1" spc="-15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spc="-105" dirty="0">
                <a:solidFill>
                  <a:srgbClr val="00AF50"/>
                </a:solidFill>
                <a:latin typeface="Trebuchet MS"/>
                <a:cs typeface="Trebuchet MS"/>
              </a:rPr>
              <a:t>motorways.</a:t>
            </a:r>
            <a:r>
              <a:rPr sz="2400" i="1" spc="-13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spc="-50" dirty="0">
                <a:solidFill>
                  <a:srgbClr val="00AF50"/>
                </a:solidFill>
                <a:latin typeface="Trebuchet MS"/>
                <a:cs typeface="Trebuchet MS"/>
              </a:rPr>
              <a:t>]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1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170" dirty="0">
                <a:solidFill>
                  <a:srgbClr val="3981B9"/>
                </a:solidFill>
                <a:latin typeface="Trebuchet MS"/>
                <a:cs typeface="Trebuchet MS"/>
              </a:rPr>
              <a:t>Non-</a:t>
            </a:r>
            <a:r>
              <a:rPr b="1" spc="120" dirty="0">
                <a:solidFill>
                  <a:srgbClr val="3981B9"/>
                </a:solidFill>
                <a:latin typeface="Trebuchet MS"/>
                <a:cs typeface="Trebuchet MS"/>
              </a:rPr>
              <a:t>Arguments-</a:t>
            </a:r>
            <a:r>
              <a:rPr b="1" spc="-10" dirty="0">
                <a:solidFill>
                  <a:srgbClr val="3981B9"/>
                </a:solidFill>
                <a:latin typeface="Trebuchet MS"/>
                <a:cs typeface="Trebuchet MS"/>
              </a:rPr>
              <a:t>Explanation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9248" y="1655445"/>
            <a:ext cx="7286625" cy="456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ts val="3540"/>
              </a:lnSpc>
              <a:spcBef>
                <a:spcPts val="100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0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400" b="1" spc="-70" dirty="0">
                <a:solidFill>
                  <a:srgbClr val="677480"/>
                </a:solidFill>
                <a:latin typeface="Tahoma"/>
                <a:cs typeface="Tahoma"/>
              </a:rPr>
              <a:t>Example:</a:t>
            </a:r>
            <a:endParaRPr sz="2400">
              <a:latin typeface="Tahoma"/>
              <a:cs typeface="Tahoma"/>
            </a:endParaRPr>
          </a:p>
          <a:p>
            <a:pPr marL="12700" algn="just">
              <a:lnSpc>
                <a:spcPts val="3479"/>
              </a:lnSpc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14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400" spc="-1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children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ate</a:t>
            </a:r>
            <a:r>
              <a:rPr sz="2400" spc="-1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400" spc="-1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mushrooms</a:t>
            </a:r>
            <a:r>
              <a:rPr sz="2400" spc="-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because</a:t>
            </a:r>
            <a:r>
              <a:rPr sz="2400" spc="-1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they</a:t>
            </a:r>
            <a:endParaRPr sz="2400">
              <a:latin typeface="Tahoma"/>
              <a:cs typeface="Tahoma"/>
            </a:endParaRPr>
          </a:p>
          <a:p>
            <a:pPr marL="431165" marR="5080" algn="just">
              <a:lnSpc>
                <a:spcPts val="2880"/>
              </a:lnSpc>
              <a:spcBef>
                <a:spcPts val="35"/>
              </a:spcBef>
            </a:pP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looked</a:t>
            </a:r>
            <a:r>
              <a:rPr sz="2400" spc="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similar</a:t>
            </a:r>
            <a:r>
              <a:rPr sz="2400" spc="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to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those</a:t>
            </a:r>
            <a:r>
              <a:rPr sz="2400" spc="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found</a:t>
            </a:r>
            <a:r>
              <a:rPr sz="2400" spc="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in</a:t>
            </a:r>
            <a:r>
              <a:rPr sz="2400" spc="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supermarkets</a:t>
            </a:r>
            <a:r>
              <a:rPr sz="2400" spc="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and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on</a:t>
            </a:r>
            <a:r>
              <a:rPr sz="2400" spc="3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400" spc="3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dinner</a:t>
            </a:r>
            <a:r>
              <a:rPr sz="2400" spc="3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table.</a:t>
            </a:r>
            <a:r>
              <a:rPr sz="2400" spc="3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They</a:t>
            </a:r>
            <a:r>
              <a:rPr sz="2400" spc="3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hadn't</a:t>
            </a:r>
            <a:r>
              <a:rPr sz="2400" spc="3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been</a:t>
            </a:r>
            <a:r>
              <a:rPr sz="2400" spc="3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taught</a:t>
            </a:r>
            <a:r>
              <a:rPr sz="2400" spc="3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25" dirty="0">
                <a:solidFill>
                  <a:srgbClr val="677480"/>
                </a:solidFill>
                <a:latin typeface="Tahoma"/>
                <a:cs typeface="Tahoma"/>
              </a:rPr>
              <a:t>to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discriminate</a:t>
            </a:r>
            <a:r>
              <a:rPr sz="2400" spc="-3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between</a:t>
            </a:r>
            <a:r>
              <a:rPr sz="2400" spc="-3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safe</a:t>
            </a:r>
            <a:r>
              <a:rPr sz="2400" spc="-3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2400" spc="-3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dangerous</a:t>
            </a:r>
            <a:r>
              <a:rPr sz="2400" spc="-3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fungi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2400" spc="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hadn't</a:t>
            </a:r>
            <a:r>
              <a:rPr sz="2400" spc="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been</a:t>
            </a:r>
            <a:r>
              <a:rPr sz="2400" spc="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told</a:t>
            </a:r>
            <a:r>
              <a:rPr sz="2400" spc="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not</a:t>
            </a:r>
            <a:r>
              <a:rPr sz="2400" spc="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400" spc="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eat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mushrooms</a:t>
            </a:r>
            <a:r>
              <a:rPr sz="2400" spc="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found</a:t>
            </a:r>
            <a:endParaRPr sz="2400">
              <a:latin typeface="Tahoma"/>
              <a:cs typeface="Tahoma"/>
            </a:endParaRPr>
          </a:p>
          <a:p>
            <a:pPr marL="431165" marR="6350" algn="just">
              <a:lnSpc>
                <a:spcPts val="2880"/>
              </a:lnSpc>
              <a:spcBef>
                <a:spcPts val="5"/>
              </a:spcBef>
            </a:pP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in</a:t>
            </a:r>
            <a:r>
              <a:rPr sz="2400" spc="2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hedgerows.</a:t>
            </a:r>
            <a:r>
              <a:rPr sz="2400" spc="2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rebuchet MS"/>
                <a:cs typeface="Trebuchet MS"/>
              </a:rPr>
              <a:t>[The</a:t>
            </a:r>
            <a:r>
              <a:rPr sz="2400" i="1" spc="28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rebuchet MS"/>
                <a:cs typeface="Trebuchet MS"/>
              </a:rPr>
              <a:t>above</a:t>
            </a:r>
            <a:r>
              <a:rPr sz="2400" i="1" spc="29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rebuchet MS"/>
                <a:cs typeface="Trebuchet MS"/>
              </a:rPr>
              <a:t>example</a:t>
            </a:r>
            <a:r>
              <a:rPr sz="2400" i="1" spc="29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rebuchet MS"/>
                <a:cs typeface="Trebuchet MS"/>
              </a:rPr>
              <a:t>explains</a:t>
            </a:r>
            <a:r>
              <a:rPr sz="2400" i="1" spc="29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spc="-25" dirty="0">
                <a:solidFill>
                  <a:srgbClr val="00AF50"/>
                </a:solidFill>
                <a:latin typeface="Trebuchet MS"/>
                <a:cs typeface="Trebuchet MS"/>
              </a:rPr>
              <a:t>why </a:t>
            </a:r>
            <a:r>
              <a:rPr sz="2400" i="1" spc="-100" dirty="0">
                <a:solidFill>
                  <a:srgbClr val="00AF50"/>
                </a:solidFill>
                <a:latin typeface="Trebuchet MS"/>
                <a:cs typeface="Trebuchet MS"/>
              </a:rPr>
              <a:t>children</a:t>
            </a:r>
            <a:r>
              <a:rPr sz="2400" i="1" spc="-8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spc="-10" dirty="0">
                <a:solidFill>
                  <a:srgbClr val="00AF50"/>
                </a:solidFill>
                <a:latin typeface="Trebuchet MS"/>
                <a:cs typeface="Trebuchet MS"/>
              </a:rPr>
              <a:t>ate</a:t>
            </a:r>
            <a:r>
              <a:rPr sz="2400" i="1" spc="-8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spc="-40" dirty="0">
                <a:solidFill>
                  <a:srgbClr val="00AF50"/>
                </a:solidFill>
                <a:latin typeface="Trebuchet MS"/>
                <a:cs typeface="Trebuchet MS"/>
              </a:rPr>
              <a:t>dangerous</a:t>
            </a:r>
            <a:r>
              <a:rPr sz="2400" i="1" spc="-8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spc="-85" dirty="0">
                <a:solidFill>
                  <a:srgbClr val="00AF50"/>
                </a:solidFill>
                <a:latin typeface="Trebuchet MS"/>
                <a:cs typeface="Trebuchet MS"/>
              </a:rPr>
              <a:t>mushrooms.</a:t>
            </a:r>
            <a:r>
              <a:rPr sz="2400" i="1" spc="-8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rebuchet MS"/>
                <a:cs typeface="Trebuchet MS"/>
              </a:rPr>
              <a:t>If</a:t>
            </a:r>
            <a:r>
              <a:rPr sz="2400" i="1" spc="-9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spc="-100" dirty="0">
                <a:solidFill>
                  <a:srgbClr val="00AF50"/>
                </a:solidFill>
                <a:latin typeface="Trebuchet MS"/>
                <a:cs typeface="Trebuchet MS"/>
              </a:rPr>
              <a:t>there</a:t>
            </a:r>
            <a:r>
              <a:rPr sz="2400" i="1" spc="-8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spc="-75" dirty="0">
                <a:solidFill>
                  <a:srgbClr val="00AF50"/>
                </a:solidFill>
                <a:latin typeface="Trebuchet MS"/>
                <a:cs typeface="Trebuchet MS"/>
              </a:rPr>
              <a:t>were</a:t>
            </a:r>
            <a:r>
              <a:rPr sz="2400" i="1" spc="-8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spc="-25" dirty="0">
                <a:solidFill>
                  <a:srgbClr val="00AF50"/>
                </a:solidFill>
                <a:latin typeface="Trebuchet MS"/>
                <a:cs typeface="Trebuchet MS"/>
              </a:rPr>
              <a:t>an </a:t>
            </a:r>
            <a:r>
              <a:rPr sz="2400" i="1" spc="-55" dirty="0">
                <a:solidFill>
                  <a:srgbClr val="00AF50"/>
                </a:solidFill>
                <a:latin typeface="Trebuchet MS"/>
                <a:cs typeface="Trebuchet MS"/>
              </a:rPr>
              <a:t>additional</a:t>
            </a:r>
            <a:r>
              <a:rPr sz="2400" i="1" spc="8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spc="-55" dirty="0">
                <a:solidFill>
                  <a:srgbClr val="00AF50"/>
                </a:solidFill>
                <a:latin typeface="Trebuchet MS"/>
                <a:cs typeface="Trebuchet MS"/>
              </a:rPr>
              <a:t>sentence,</a:t>
            </a:r>
            <a:r>
              <a:rPr sz="2400" i="1" spc="9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rebuchet MS"/>
                <a:cs typeface="Trebuchet MS"/>
              </a:rPr>
              <a:t>such</a:t>
            </a:r>
            <a:r>
              <a:rPr sz="2400" i="1" spc="8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rebuchet MS"/>
                <a:cs typeface="Trebuchet MS"/>
              </a:rPr>
              <a:t>as</a:t>
            </a:r>
            <a:r>
              <a:rPr sz="2400" i="1" spc="8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spc="-75" dirty="0">
                <a:solidFill>
                  <a:srgbClr val="00AF50"/>
                </a:solidFill>
                <a:latin typeface="Trebuchet MS"/>
                <a:cs typeface="Trebuchet MS"/>
              </a:rPr>
              <a:t>'therefore</a:t>
            </a:r>
            <a:r>
              <a:rPr sz="2400" i="1" spc="8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rebuchet MS"/>
                <a:cs typeface="Trebuchet MS"/>
              </a:rPr>
              <a:t>we</a:t>
            </a:r>
            <a:r>
              <a:rPr sz="2400" i="1" spc="8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rebuchet MS"/>
                <a:cs typeface="Trebuchet MS"/>
              </a:rPr>
              <a:t>need</a:t>
            </a:r>
            <a:r>
              <a:rPr sz="2400" i="1" spc="9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spc="-25" dirty="0">
                <a:solidFill>
                  <a:srgbClr val="00AF50"/>
                </a:solidFill>
                <a:latin typeface="Trebuchet MS"/>
                <a:cs typeface="Trebuchet MS"/>
              </a:rPr>
              <a:t>to </a:t>
            </a:r>
            <a:r>
              <a:rPr sz="2400" i="1" spc="-70" dirty="0">
                <a:solidFill>
                  <a:srgbClr val="00AF50"/>
                </a:solidFill>
                <a:latin typeface="Trebuchet MS"/>
                <a:cs typeface="Trebuchet MS"/>
              </a:rPr>
              <a:t>educate</a:t>
            </a:r>
            <a:r>
              <a:rPr sz="2400" i="1" spc="-9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spc="-100" dirty="0">
                <a:solidFill>
                  <a:srgbClr val="00AF50"/>
                </a:solidFill>
                <a:latin typeface="Trebuchet MS"/>
                <a:cs typeface="Trebuchet MS"/>
              </a:rPr>
              <a:t>children</a:t>
            </a:r>
            <a:r>
              <a:rPr sz="2400" i="1" spc="-8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spc="-35" dirty="0">
                <a:solidFill>
                  <a:srgbClr val="00AF50"/>
                </a:solidFill>
                <a:latin typeface="Trebuchet MS"/>
                <a:cs typeface="Trebuchet MS"/>
              </a:rPr>
              <a:t>about</a:t>
            </a:r>
            <a:r>
              <a:rPr sz="2400" i="1" spc="-90" dirty="0">
                <a:solidFill>
                  <a:srgbClr val="00AF50"/>
                </a:solidFill>
                <a:latin typeface="Trebuchet MS"/>
                <a:cs typeface="Trebuchet MS"/>
              </a:rPr>
              <a:t> fungi', </a:t>
            </a:r>
            <a:r>
              <a:rPr sz="2400" i="1" spc="-50" dirty="0">
                <a:solidFill>
                  <a:srgbClr val="00AF50"/>
                </a:solidFill>
                <a:latin typeface="Trebuchet MS"/>
                <a:cs typeface="Trebuchet MS"/>
              </a:rPr>
              <a:t>this</a:t>
            </a:r>
            <a:r>
              <a:rPr sz="2400" i="1" spc="-8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spc="-60" dirty="0">
                <a:solidFill>
                  <a:srgbClr val="00AF50"/>
                </a:solidFill>
                <a:latin typeface="Trebuchet MS"/>
                <a:cs typeface="Trebuchet MS"/>
              </a:rPr>
              <a:t>would</a:t>
            </a:r>
            <a:r>
              <a:rPr sz="2400" i="1" spc="-8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spc="-60" dirty="0">
                <a:solidFill>
                  <a:srgbClr val="00AF50"/>
                </a:solidFill>
                <a:latin typeface="Trebuchet MS"/>
                <a:cs typeface="Trebuchet MS"/>
              </a:rPr>
              <a:t>become</a:t>
            </a:r>
            <a:r>
              <a:rPr sz="2400" i="1" spc="-8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spc="-25" dirty="0">
                <a:solidFill>
                  <a:srgbClr val="00AF50"/>
                </a:solidFill>
                <a:latin typeface="Trebuchet MS"/>
                <a:cs typeface="Trebuchet MS"/>
              </a:rPr>
              <a:t>an </a:t>
            </a:r>
            <a:r>
              <a:rPr sz="2400" i="1" spc="-75" dirty="0">
                <a:solidFill>
                  <a:srgbClr val="00AF50"/>
                </a:solidFill>
                <a:latin typeface="Trebuchet MS"/>
                <a:cs typeface="Trebuchet MS"/>
              </a:rPr>
              <a:t>argument,</a:t>
            </a:r>
            <a:r>
              <a:rPr sz="2400" i="1" spc="47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rebuchet MS"/>
                <a:cs typeface="Trebuchet MS"/>
              </a:rPr>
              <a:t>and</a:t>
            </a:r>
            <a:r>
              <a:rPr sz="2400" i="1" spc="47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rebuchet MS"/>
                <a:cs typeface="Trebuchet MS"/>
              </a:rPr>
              <a:t>the</a:t>
            </a:r>
            <a:r>
              <a:rPr sz="2400" i="1" spc="47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spc="-60" dirty="0">
                <a:solidFill>
                  <a:srgbClr val="00AF50"/>
                </a:solidFill>
                <a:latin typeface="Trebuchet MS"/>
                <a:cs typeface="Trebuchet MS"/>
              </a:rPr>
              <a:t>explanation</a:t>
            </a:r>
            <a:r>
              <a:rPr sz="2400" i="1" spc="46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rebuchet MS"/>
                <a:cs typeface="Trebuchet MS"/>
              </a:rPr>
              <a:t>would</a:t>
            </a:r>
            <a:r>
              <a:rPr sz="2400" i="1" spc="48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00AF50"/>
                </a:solidFill>
                <a:latin typeface="Trebuchet MS"/>
                <a:cs typeface="Trebuchet MS"/>
              </a:rPr>
              <a:t>become</a:t>
            </a:r>
            <a:r>
              <a:rPr sz="2400" i="1" spc="47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spc="-50" dirty="0">
                <a:solidFill>
                  <a:srgbClr val="00AF50"/>
                </a:solidFill>
                <a:latin typeface="Trebuchet MS"/>
                <a:cs typeface="Trebuchet MS"/>
              </a:rPr>
              <a:t>a</a:t>
            </a:r>
            <a:endParaRPr sz="2400">
              <a:latin typeface="Trebuchet MS"/>
              <a:cs typeface="Trebuchet MS"/>
            </a:endParaRPr>
          </a:p>
          <a:p>
            <a:pPr marL="431165" algn="just">
              <a:lnSpc>
                <a:spcPts val="2785"/>
              </a:lnSpc>
            </a:pPr>
            <a:r>
              <a:rPr sz="2400" i="1" spc="-120" dirty="0">
                <a:solidFill>
                  <a:srgbClr val="00AF50"/>
                </a:solidFill>
                <a:latin typeface="Trebuchet MS"/>
                <a:cs typeface="Trebuchet MS"/>
              </a:rPr>
              <a:t>reason.</a:t>
            </a:r>
            <a:r>
              <a:rPr sz="2400" i="1" spc="-14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i="1" spc="-50" dirty="0">
                <a:solidFill>
                  <a:srgbClr val="00AF50"/>
                </a:solidFill>
                <a:latin typeface="Trebuchet MS"/>
                <a:cs typeface="Trebuchet MS"/>
              </a:rPr>
              <a:t>]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0031" y="1186383"/>
            <a:ext cx="298323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60" dirty="0">
                <a:solidFill>
                  <a:srgbClr val="3981B9"/>
                </a:solidFill>
              </a:rPr>
              <a:t>Distinguishing </a:t>
            </a:r>
            <a:r>
              <a:rPr spc="95" dirty="0">
                <a:solidFill>
                  <a:srgbClr val="3981B9"/>
                </a:solidFill>
              </a:rPr>
              <a:t>argument </a:t>
            </a:r>
            <a:r>
              <a:rPr spc="55" dirty="0">
                <a:solidFill>
                  <a:srgbClr val="3981B9"/>
                </a:solidFill>
              </a:rPr>
              <a:t>from</a:t>
            </a:r>
            <a:r>
              <a:rPr spc="-170" dirty="0">
                <a:solidFill>
                  <a:srgbClr val="3981B9"/>
                </a:solidFill>
              </a:rPr>
              <a:t> </a:t>
            </a:r>
            <a:r>
              <a:rPr spc="-10" dirty="0">
                <a:solidFill>
                  <a:srgbClr val="3981B9"/>
                </a:solidFill>
              </a:rPr>
              <a:t>other material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0850" y="1030189"/>
            <a:ext cx="5287645" cy="4985385"/>
            <a:chOff x="3720850" y="1030189"/>
            <a:chExt cx="5287645" cy="49853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20850" y="1030189"/>
              <a:ext cx="5109393" cy="484483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823709" y="5119877"/>
              <a:ext cx="2171700" cy="882650"/>
            </a:xfrm>
            <a:custGeom>
              <a:avLst/>
              <a:gdLst/>
              <a:ahLst/>
              <a:cxnLst/>
              <a:rect l="l" t="t" r="r" b="b"/>
              <a:pathLst>
                <a:path w="2171700" h="882650">
                  <a:moveTo>
                    <a:pt x="2171700" y="0"/>
                  </a:moveTo>
                  <a:lnTo>
                    <a:pt x="0" y="0"/>
                  </a:lnTo>
                  <a:lnTo>
                    <a:pt x="0" y="882396"/>
                  </a:lnTo>
                  <a:lnTo>
                    <a:pt x="2171700" y="882396"/>
                  </a:lnTo>
                  <a:lnTo>
                    <a:pt x="2171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23709" y="5119877"/>
              <a:ext cx="2171700" cy="882650"/>
            </a:xfrm>
            <a:custGeom>
              <a:avLst/>
              <a:gdLst/>
              <a:ahLst/>
              <a:cxnLst/>
              <a:rect l="l" t="t" r="r" b="b"/>
              <a:pathLst>
                <a:path w="2171700" h="882650">
                  <a:moveTo>
                    <a:pt x="0" y="882396"/>
                  </a:moveTo>
                  <a:lnTo>
                    <a:pt x="2171700" y="882396"/>
                  </a:lnTo>
                  <a:lnTo>
                    <a:pt x="2171700" y="0"/>
                  </a:lnTo>
                  <a:lnTo>
                    <a:pt x="0" y="0"/>
                  </a:lnTo>
                  <a:lnTo>
                    <a:pt x="0" y="882396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1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100" dirty="0">
                <a:latin typeface="Trebuchet MS"/>
                <a:cs typeface="Trebuchet MS"/>
              </a:rPr>
              <a:t>Argument</a:t>
            </a:r>
            <a:r>
              <a:rPr b="1" spc="-195" dirty="0">
                <a:latin typeface="Trebuchet MS"/>
                <a:cs typeface="Trebuchet MS"/>
              </a:rPr>
              <a:t> </a:t>
            </a:r>
            <a:r>
              <a:rPr b="1" spc="140" dirty="0">
                <a:latin typeface="Trebuchet MS"/>
                <a:cs typeface="Trebuchet MS"/>
              </a:rPr>
              <a:t>and</a:t>
            </a:r>
            <a:r>
              <a:rPr b="1" spc="-210" dirty="0">
                <a:latin typeface="Trebuchet MS"/>
                <a:cs typeface="Trebuchet MS"/>
              </a:rPr>
              <a:t> </a:t>
            </a:r>
            <a:r>
              <a:rPr b="1" spc="90" dirty="0">
                <a:latin typeface="Trebuchet MS"/>
                <a:cs typeface="Trebuchet MS"/>
              </a:rPr>
              <a:t>disagreement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0818" y="1683841"/>
            <a:ext cx="7285990" cy="3760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165" marR="5080" indent="-419100" algn="just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3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Argument</a:t>
            </a:r>
            <a:r>
              <a:rPr sz="3000" spc="409" dirty="0">
                <a:solidFill>
                  <a:srgbClr val="677480"/>
                </a:solidFill>
                <a:latin typeface="Tahoma"/>
                <a:cs typeface="Tahoma"/>
              </a:rPr>
              <a:t> 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3000" spc="415" dirty="0">
                <a:solidFill>
                  <a:srgbClr val="677480"/>
                </a:solidFill>
                <a:latin typeface="Tahoma"/>
                <a:cs typeface="Tahoma"/>
              </a:rPr>
              <a:t> 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not</a:t>
            </a:r>
            <a:r>
              <a:rPr sz="3000" spc="415" dirty="0">
                <a:solidFill>
                  <a:srgbClr val="677480"/>
                </a:solidFill>
                <a:latin typeface="Tahoma"/>
                <a:cs typeface="Tahoma"/>
              </a:rPr>
              <a:t> 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3000" spc="409" dirty="0">
                <a:solidFill>
                  <a:srgbClr val="677480"/>
                </a:solidFill>
                <a:latin typeface="Tahoma"/>
                <a:cs typeface="Tahoma"/>
              </a:rPr>
              <a:t> 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same</a:t>
            </a:r>
            <a:r>
              <a:rPr sz="3000" spc="415" dirty="0">
                <a:solidFill>
                  <a:srgbClr val="677480"/>
                </a:solidFill>
                <a:latin typeface="Tahoma"/>
                <a:cs typeface="Tahoma"/>
              </a:rPr>
              <a:t>   </a:t>
            </a:r>
            <a:r>
              <a:rPr sz="3000" spc="-25" dirty="0">
                <a:solidFill>
                  <a:srgbClr val="677480"/>
                </a:solidFill>
                <a:latin typeface="Tahoma"/>
                <a:cs typeface="Tahoma"/>
              </a:rPr>
              <a:t>as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disagreement.</a:t>
            </a:r>
            <a:r>
              <a:rPr sz="3000" spc="4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spc="60" dirty="0">
                <a:solidFill>
                  <a:srgbClr val="677480"/>
                </a:solidFill>
                <a:latin typeface="Tahoma"/>
                <a:cs typeface="Tahoma"/>
              </a:rPr>
              <a:t>You</a:t>
            </a:r>
            <a:r>
              <a:rPr sz="3000" spc="5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can</a:t>
            </a:r>
            <a:r>
              <a:rPr sz="3000" spc="5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disagree</a:t>
            </a:r>
            <a:r>
              <a:rPr sz="3000" spc="4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spc="35" dirty="0">
                <a:solidFill>
                  <a:srgbClr val="677480"/>
                </a:solidFill>
                <a:latin typeface="Tahoma"/>
                <a:cs typeface="Tahoma"/>
              </a:rPr>
              <a:t>with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someone</a:t>
            </a:r>
            <a:r>
              <a:rPr sz="3000" spc="620" dirty="0">
                <a:solidFill>
                  <a:srgbClr val="677480"/>
                </a:solidFill>
                <a:latin typeface="Tahoma"/>
                <a:cs typeface="Tahoma"/>
              </a:rPr>
              <a:t> 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else's</a:t>
            </a:r>
            <a:r>
              <a:rPr sz="3000" spc="620" dirty="0">
                <a:solidFill>
                  <a:srgbClr val="677480"/>
                </a:solidFill>
                <a:latin typeface="Tahoma"/>
                <a:cs typeface="Tahoma"/>
              </a:rPr>
              <a:t> 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position</a:t>
            </a:r>
            <a:r>
              <a:rPr sz="3000" spc="620" dirty="0">
                <a:solidFill>
                  <a:srgbClr val="677480"/>
                </a:solidFill>
                <a:latin typeface="Tahoma"/>
                <a:cs typeface="Tahoma"/>
              </a:rPr>
              <a:t>   </a:t>
            </a:r>
            <a:r>
              <a:rPr sz="3000" spc="40" dirty="0">
                <a:solidFill>
                  <a:srgbClr val="677480"/>
                </a:solidFill>
                <a:latin typeface="Tahoma"/>
                <a:cs typeface="Tahoma"/>
              </a:rPr>
              <a:t>without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pointing</a:t>
            </a:r>
            <a:r>
              <a:rPr sz="3000" spc="50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out</a:t>
            </a:r>
            <a:r>
              <a:rPr sz="3000" spc="49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spc="50" dirty="0">
                <a:solidFill>
                  <a:srgbClr val="677480"/>
                </a:solidFill>
                <a:latin typeface="Tahoma"/>
                <a:cs typeface="Tahoma"/>
              </a:rPr>
              <a:t>why</a:t>
            </a:r>
            <a:r>
              <a:rPr sz="3000" spc="50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you</a:t>
            </a:r>
            <a:r>
              <a:rPr sz="3000" spc="49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disagree</a:t>
            </a:r>
            <a:r>
              <a:rPr sz="3000" spc="50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spc="-25" dirty="0">
                <a:solidFill>
                  <a:srgbClr val="677480"/>
                </a:solidFill>
                <a:latin typeface="Tahoma"/>
                <a:cs typeface="Tahoma"/>
              </a:rPr>
              <a:t>or </a:t>
            </a:r>
            <a:r>
              <a:rPr sz="3000" spc="-10" dirty="0">
                <a:solidFill>
                  <a:srgbClr val="677480"/>
                </a:solidFill>
                <a:latin typeface="Tahoma"/>
                <a:cs typeface="Tahoma"/>
              </a:rPr>
              <a:t>persuading</a:t>
            </a:r>
            <a:r>
              <a:rPr sz="3000" spc="-1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them</a:t>
            </a:r>
            <a:r>
              <a:rPr sz="3000" spc="-1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65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3000" spc="-1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think</a:t>
            </a:r>
            <a:r>
              <a:rPr sz="3000" spc="-1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-10" dirty="0">
                <a:solidFill>
                  <a:srgbClr val="677480"/>
                </a:solidFill>
                <a:latin typeface="Tahoma"/>
                <a:cs typeface="Tahoma"/>
              </a:rPr>
              <a:t>differently.</a:t>
            </a:r>
            <a:endParaRPr sz="3000">
              <a:latin typeface="Tahoma"/>
              <a:cs typeface="Tahoma"/>
            </a:endParaRPr>
          </a:p>
          <a:p>
            <a:pPr marL="431165" marR="5080" indent="-419100" algn="just">
              <a:lnSpc>
                <a:spcPct val="100000"/>
              </a:lnSpc>
              <a:spcBef>
                <a:spcPts val="605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00" dirty="0">
                <a:solidFill>
                  <a:srgbClr val="677480"/>
                </a:solidFill>
                <a:latin typeface="Cambria Math"/>
                <a:cs typeface="Cambria Math"/>
              </a:rPr>
              <a:t>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In</a:t>
            </a:r>
            <a:r>
              <a:rPr sz="3000" spc="1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critical</a:t>
            </a:r>
            <a:r>
              <a:rPr sz="3000" spc="20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thinking</a:t>
            </a:r>
            <a:r>
              <a:rPr sz="3000" spc="20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there</a:t>
            </a:r>
            <a:r>
              <a:rPr sz="3000" spc="1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3000" spc="1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3000" spc="1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-10" dirty="0">
                <a:solidFill>
                  <a:srgbClr val="677480"/>
                </a:solidFill>
                <a:latin typeface="Tahoma"/>
                <a:cs typeface="Tahoma"/>
              </a:rPr>
              <a:t>distinction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between</a:t>
            </a:r>
            <a:r>
              <a:rPr sz="3000" spc="47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position,</a:t>
            </a:r>
            <a:r>
              <a:rPr sz="3000" spc="47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an</a:t>
            </a:r>
            <a:r>
              <a:rPr sz="3000" spc="47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agreement,</a:t>
            </a:r>
            <a:r>
              <a:rPr sz="3000" spc="47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3000" spc="-50" dirty="0">
                <a:solidFill>
                  <a:srgbClr val="677480"/>
                </a:solidFill>
                <a:latin typeface="Tahoma"/>
                <a:cs typeface="Tahoma"/>
              </a:rPr>
              <a:t>a </a:t>
            </a:r>
            <a:r>
              <a:rPr sz="3000" spc="-30" dirty="0">
                <a:solidFill>
                  <a:srgbClr val="677480"/>
                </a:solidFill>
                <a:latin typeface="Tahoma"/>
                <a:cs typeface="Tahoma"/>
              </a:rPr>
              <a:t>disagreement,</a:t>
            </a:r>
            <a:r>
              <a:rPr sz="3000" spc="-1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-30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3000" spc="-1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-50" dirty="0">
                <a:solidFill>
                  <a:srgbClr val="677480"/>
                </a:solidFill>
                <a:latin typeface="Tahoma"/>
                <a:cs typeface="Tahoma"/>
              </a:rPr>
              <a:t>an</a:t>
            </a:r>
            <a:r>
              <a:rPr sz="3000" spc="-1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-10" dirty="0">
                <a:solidFill>
                  <a:srgbClr val="677480"/>
                </a:solidFill>
                <a:latin typeface="Tahoma"/>
                <a:cs typeface="Tahoma"/>
              </a:rPr>
              <a:t>argument/.</a:t>
            </a:r>
            <a:endParaRPr sz="3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1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100" dirty="0">
                <a:latin typeface="Trebuchet MS"/>
                <a:cs typeface="Trebuchet MS"/>
              </a:rPr>
              <a:t>Key</a:t>
            </a:r>
            <a:r>
              <a:rPr b="1" spc="-215" dirty="0">
                <a:latin typeface="Trebuchet MS"/>
                <a:cs typeface="Trebuchet MS"/>
              </a:rPr>
              <a:t> </a:t>
            </a:r>
            <a:r>
              <a:rPr b="1" spc="70" dirty="0">
                <a:latin typeface="Trebuchet MS"/>
                <a:cs typeface="Trebuchet MS"/>
              </a:rPr>
              <a:t>Terms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8159" y="1587500"/>
            <a:ext cx="7033895" cy="398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540"/>
              </a:lnSpc>
              <a:spcBef>
                <a:spcPts val="100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65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400" b="1" spc="-135" dirty="0">
                <a:solidFill>
                  <a:srgbClr val="677480"/>
                </a:solidFill>
                <a:latin typeface="Tahoma"/>
                <a:cs typeface="Tahoma"/>
              </a:rPr>
              <a:t>Position</a:t>
            </a:r>
            <a:r>
              <a:rPr sz="2400" b="1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185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24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point</a:t>
            </a:r>
            <a:r>
              <a:rPr sz="2400" spc="-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400" spc="-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view</a:t>
            </a:r>
            <a:endParaRPr sz="2400">
              <a:latin typeface="Tahoma"/>
              <a:cs typeface="Tahoma"/>
            </a:endParaRPr>
          </a:p>
          <a:p>
            <a:pPr marL="431800" marR="5080" indent="-419734">
              <a:lnSpc>
                <a:spcPts val="2880"/>
              </a:lnSpc>
              <a:spcBef>
                <a:spcPts val="635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21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400" b="1" spc="-160" dirty="0">
                <a:solidFill>
                  <a:srgbClr val="677480"/>
                </a:solidFill>
                <a:latin typeface="Tahoma"/>
                <a:cs typeface="Tahoma"/>
              </a:rPr>
              <a:t>Agreement</a:t>
            </a:r>
            <a:r>
              <a:rPr sz="2400" b="1" spc="-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400" spc="-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concur</a:t>
            </a:r>
            <a:r>
              <a:rPr sz="24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with</a:t>
            </a:r>
            <a:r>
              <a:rPr sz="2400" spc="-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some-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one</a:t>
            </a:r>
            <a:r>
              <a:rPr sz="2400" spc="-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else's</a:t>
            </a:r>
            <a:r>
              <a:rPr sz="2400" spc="-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point </a:t>
            </a:r>
            <a:r>
              <a:rPr sz="2400" spc="60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400" spc="-1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view</a:t>
            </a:r>
            <a:endParaRPr sz="2400">
              <a:latin typeface="Tahoma"/>
              <a:cs typeface="Tahoma"/>
            </a:endParaRPr>
          </a:p>
          <a:p>
            <a:pPr marL="431800" marR="283210" indent="-419734">
              <a:lnSpc>
                <a:spcPct val="96000"/>
              </a:lnSpc>
              <a:spcBef>
                <a:spcPts val="50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21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400" b="1" spc="-165" dirty="0">
                <a:solidFill>
                  <a:srgbClr val="677480"/>
                </a:solidFill>
                <a:latin typeface="Tahoma"/>
                <a:cs typeface="Tahoma"/>
              </a:rPr>
              <a:t>Disagreement</a:t>
            </a:r>
            <a:r>
              <a:rPr sz="2400" b="1" spc="-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400" spc="-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hold</a:t>
            </a:r>
            <a:r>
              <a:rPr sz="24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85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2400" spc="-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different</a:t>
            </a:r>
            <a:r>
              <a:rPr sz="24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point</a:t>
            </a:r>
            <a:r>
              <a:rPr sz="2400" spc="-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4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view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from</a:t>
            </a:r>
            <a:r>
              <a:rPr sz="2400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someone</a:t>
            </a:r>
            <a:r>
              <a:rPr sz="2400" spc="-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else</a:t>
            </a:r>
            <a:endParaRPr sz="2400">
              <a:latin typeface="Tahoma"/>
              <a:cs typeface="Tahoma"/>
            </a:endParaRPr>
          </a:p>
          <a:p>
            <a:pPr marL="431800" marR="45720" indent="-419734">
              <a:lnSpc>
                <a:spcPct val="99000"/>
              </a:lnSpc>
              <a:spcBef>
                <a:spcPts val="35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8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400" b="1" spc="-170" dirty="0">
                <a:solidFill>
                  <a:srgbClr val="677480"/>
                </a:solidFill>
                <a:latin typeface="Tahoma"/>
                <a:cs typeface="Tahoma"/>
              </a:rPr>
              <a:t>Argument</a:t>
            </a:r>
            <a:r>
              <a:rPr sz="2400" b="1" spc="-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Using</a:t>
            </a:r>
            <a:r>
              <a:rPr sz="24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reasons</a:t>
            </a:r>
            <a:r>
              <a:rPr sz="2400" spc="-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400" spc="-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support</a:t>
            </a:r>
            <a:r>
              <a:rPr sz="2400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80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2400" spc="-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point</a:t>
            </a:r>
            <a:r>
              <a:rPr sz="24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35" dirty="0">
                <a:solidFill>
                  <a:srgbClr val="677480"/>
                </a:solidFill>
                <a:latin typeface="Tahoma"/>
                <a:cs typeface="Tahoma"/>
              </a:rPr>
              <a:t>of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view,</a:t>
            </a:r>
            <a:r>
              <a:rPr sz="24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so</a:t>
            </a:r>
            <a:r>
              <a:rPr sz="24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that</a:t>
            </a:r>
            <a:r>
              <a:rPr sz="24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known</a:t>
            </a:r>
            <a:r>
              <a:rPr sz="24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or</a:t>
            </a:r>
            <a:r>
              <a:rPr sz="2400" spc="-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unknown</a:t>
            </a:r>
            <a:r>
              <a:rPr sz="2400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audiences</a:t>
            </a:r>
            <a:r>
              <a:rPr sz="24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may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be</a:t>
            </a:r>
            <a:r>
              <a:rPr sz="2400" spc="-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persuaded</a:t>
            </a:r>
            <a:r>
              <a:rPr sz="2400" spc="-1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4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55" dirty="0">
                <a:solidFill>
                  <a:srgbClr val="677480"/>
                </a:solidFill>
                <a:latin typeface="Tahoma"/>
                <a:cs typeface="Tahoma"/>
              </a:rPr>
              <a:t>agree.</a:t>
            </a:r>
            <a:r>
              <a:rPr sz="2400" spc="-1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80" dirty="0">
                <a:solidFill>
                  <a:srgbClr val="677480"/>
                </a:solidFill>
                <a:latin typeface="Tahoma"/>
                <a:cs typeface="Tahoma"/>
              </a:rPr>
              <a:t>An</a:t>
            </a:r>
            <a:r>
              <a:rPr sz="24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argument</a:t>
            </a:r>
            <a:r>
              <a:rPr sz="2400" spc="-1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may</a:t>
            </a:r>
            <a:r>
              <a:rPr sz="24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include </a:t>
            </a:r>
            <a:r>
              <a:rPr sz="2400" spc="-35" dirty="0">
                <a:solidFill>
                  <a:srgbClr val="677480"/>
                </a:solidFill>
                <a:latin typeface="Tahoma"/>
                <a:cs typeface="Tahoma"/>
              </a:rPr>
              <a:t>disagreement,</a:t>
            </a:r>
            <a:r>
              <a:rPr sz="2400" spc="-1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but</a:t>
            </a:r>
            <a:r>
              <a:rPr sz="2400" spc="-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4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more</a:t>
            </a:r>
            <a:r>
              <a:rPr sz="2400" spc="-1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than</a:t>
            </a:r>
            <a:r>
              <a:rPr sz="2400" spc="-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simply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disagreement</a:t>
            </a:r>
            <a:r>
              <a:rPr sz="2400" spc="-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if</a:t>
            </a:r>
            <a:r>
              <a:rPr sz="2400" spc="-1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it</a:t>
            </a:r>
            <a:r>
              <a:rPr sz="24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400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based</a:t>
            </a:r>
            <a:r>
              <a:rPr sz="2400" spc="-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on</a:t>
            </a:r>
            <a:r>
              <a:rPr sz="2400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reasons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2012" y="200669"/>
            <a:ext cx="5469106" cy="629766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1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80" dirty="0">
                <a:latin typeface="Trebuchet MS"/>
                <a:cs typeface="Trebuchet MS"/>
              </a:rPr>
              <a:t>Example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5300" rIns="0" bIns="0" rtlCol="0">
            <a:spAutoFit/>
          </a:bodyPr>
          <a:lstStyle/>
          <a:p>
            <a:pPr marL="431165" marR="5080" indent="-4191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mbria Math"/>
                <a:cs typeface="Cambria Math"/>
              </a:rPr>
              <a:t>▷</a:t>
            </a:r>
            <a:r>
              <a:rPr spc="200" dirty="0">
                <a:latin typeface="Cambria Math"/>
                <a:cs typeface="Cambria Math"/>
              </a:rPr>
              <a:t> </a:t>
            </a:r>
            <a:r>
              <a:rPr dirty="0"/>
              <a:t>Position:</a:t>
            </a:r>
            <a:r>
              <a:rPr spc="-100" dirty="0"/>
              <a:t> </a:t>
            </a:r>
            <a:r>
              <a:rPr dirty="0"/>
              <a:t>Genetic</a:t>
            </a:r>
            <a:r>
              <a:rPr spc="-100" dirty="0"/>
              <a:t> </a:t>
            </a:r>
            <a:r>
              <a:rPr spc="-10" dirty="0"/>
              <a:t>engineering</a:t>
            </a:r>
            <a:r>
              <a:rPr spc="-100" dirty="0"/>
              <a:t> </a:t>
            </a:r>
            <a:r>
              <a:rPr spc="-10" dirty="0"/>
              <a:t>really </a:t>
            </a:r>
            <a:r>
              <a:rPr dirty="0"/>
              <a:t>worries</a:t>
            </a:r>
            <a:r>
              <a:rPr spc="-105" dirty="0"/>
              <a:t> </a:t>
            </a:r>
            <a:r>
              <a:rPr spc="-90" dirty="0"/>
              <a:t>me.</a:t>
            </a:r>
            <a:r>
              <a:rPr spc="-100" dirty="0"/>
              <a:t> </a:t>
            </a:r>
            <a:r>
              <a:rPr spc="-295" dirty="0"/>
              <a:t>I</a:t>
            </a:r>
            <a:r>
              <a:rPr spc="-125" dirty="0"/>
              <a:t> </a:t>
            </a:r>
            <a:r>
              <a:rPr dirty="0"/>
              <a:t>don't</a:t>
            </a:r>
            <a:r>
              <a:rPr spc="-120" dirty="0"/>
              <a:t> </a:t>
            </a:r>
            <a:r>
              <a:rPr dirty="0"/>
              <a:t>think</a:t>
            </a:r>
            <a:r>
              <a:rPr spc="-120" dirty="0"/>
              <a:t> </a:t>
            </a:r>
            <a:r>
              <a:rPr spc="50" dirty="0"/>
              <a:t>it</a:t>
            </a:r>
            <a:r>
              <a:rPr spc="-110" dirty="0"/>
              <a:t> </a:t>
            </a:r>
            <a:r>
              <a:rPr dirty="0"/>
              <a:t>should</a:t>
            </a:r>
            <a:r>
              <a:rPr spc="-105" dirty="0"/>
              <a:t> </a:t>
            </a:r>
            <a:r>
              <a:rPr spc="-25" dirty="0"/>
              <a:t>be </a:t>
            </a:r>
            <a:r>
              <a:rPr spc="-10" dirty="0"/>
              <a:t>allowed.</a:t>
            </a:r>
            <a:r>
              <a:rPr spc="-155" dirty="0"/>
              <a:t> </a:t>
            </a:r>
            <a:r>
              <a:rPr dirty="0"/>
              <a:t>[No</a:t>
            </a:r>
            <a:r>
              <a:rPr spc="-180" dirty="0"/>
              <a:t> </a:t>
            </a:r>
            <a:r>
              <a:rPr spc="-10" dirty="0"/>
              <a:t>reasons</a:t>
            </a:r>
            <a:r>
              <a:rPr spc="-170" dirty="0"/>
              <a:t> </a:t>
            </a:r>
            <a:r>
              <a:rPr spc="-20" dirty="0"/>
              <a:t>are</a:t>
            </a:r>
            <a:r>
              <a:rPr spc="-150" dirty="0"/>
              <a:t> </a:t>
            </a:r>
            <a:r>
              <a:rPr spc="-10" dirty="0"/>
              <a:t>given</a:t>
            </a:r>
            <a:r>
              <a:rPr spc="-155" dirty="0"/>
              <a:t> </a:t>
            </a:r>
            <a:r>
              <a:rPr dirty="0"/>
              <a:t>so</a:t>
            </a:r>
            <a:r>
              <a:rPr spc="-165" dirty="0"/>
              <a:t> </a:t>
            </a:r>
            <a:r>
              <a:rPr dirty="0"/>
              <a:t>this</a:t>
            </a:r>
            <a:r>
              <a:rPr spc="-155" dirty="0"/>
              <a:t> </a:t>
            </a:r>
            <a:r>
              <a:rPr spc="-25" dirty="0"/>
              <a:t>is </a:t>
            </a:r>
            <a:r>
              <a:rPr dirty="0"/>
              <a:t>simply</a:t>
            </a:r>
            <a:r>
              <a:rPr spc="-170" dirty="0"/>
              <a:t> </a:t>
            </a:r>
            <a:r>
              <a:rPr spc="-100" dirty="0"/>
              <a:t>a</a:t>
            </a:r>
            <a:r>
              <a:rPr spc="-165" dirty="0"/>
              <a:t> </a:t>
            </a:r>
            <a:r>
              <a:rPr spc="-10" dirty="0"/>
              <a:t>position.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5544" y="3619500"/>
            <a:ext cx="5209032" cy="270205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1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80" dirty="0">
                <a:latin typeface="Trebuchet MS"/>
                <a:cs typeface="Trebuchet MS"/>
              </a:rPr>
              <a:t>Example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165" marR="81280" indent="-4191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mbria Math"/>
                <a:cs typeface="Cambria Math"/>
              </a:rPr>
              <a:t>▷</a:t>
            </a:r>
            <a:r>
              <a:rPr spc="165" dirty="0">
                <a:latin typeface="Cambria Math"/>
                <a:cs typeface="Cambria Math"/>
              </a:rPr>
              <a:t> </a:t>
            </a:r>
            <a:r>
              <a:rPr dirty="0"/>
              <a:t>Agreement</a:t>
            </a:r>
            <a:r>
              <a:rPr spc="-160" dirty="0"/>
              <a:t> </a:t>
            </a:r>
            <a:r>
              <a:rPr spc="-310" dirty="0"/>
              <a:t>I:</a:t>
            </a:r>
            <a:r>
              <a:rPr spc="-135" dirty="0"/>
              <a:t> </a:t>
            </a:r>
            <a:r>
              <a:rPr spc="-295" dirty="0"/>
              <a:t>I</a:t>
            </a:r>
            <a:r>
              <a:rPr spc="-145" dirty="0"/>
              <a:t> </a:t>
            </a:r>
            <a:r>
              <a:rPr dirty="0"/>
              <a:t>don't</a:t>
            </a:r>
            <a:r>
              <a:rPr spc="-155" dirty="0"/>
              <a:t> </a:t>
            </a:r>
            <a:r>
              <a:rPr spc="50" dirty="0"/>
              <a:t>know</a:t>
            </a:r>
            <a:r>
              <a:rPr spc="-150" dirty="0"/>
              <a:t> </a:t>
            </a:r>
            <a:r>
              <a:rPr spc="-10" dirty="0"/>
              <a:t>much</a:t>
            </a:r>
            <a:r>
              <a:rPr spc="-135" dirty="0"/>
              <a:t> </a:t>
            </a:r>
            <a:r>
              <a:rPr spc="-10" dirty="0"/>
              <a:t>about </a:t>
            </a:r>
            <a:r>
              <a:rPr dirty="0"/>
              <a:t>genetic</a:t>
            </a:r>
            <a:r>
              <a:rPr spc="-155" dirty="0"/>
              <a:t> </a:t>
            </a:r>
            <a:r>
              <a:rPr spc="-40" dirty="0"/>
              <a:t>engineering,</a:t>
            </a:r>
            <a:r>
              <a:rPr spc="-160" dirty="0"/>
              <a:t> </a:t>
            </a:r>
            <a:r>
              <a:rPr dirty="0"/>
              <a:t>but</a:t>
            </a:r>
            <a:r>
              <a:rPr spc="-170" dirty="0"/>
              <a:t> </a:t>
            </a:r>
            <a:r>
              <a:rPr spc="-295" dirty="0"/>
              <a:t>I</a:t>
            </a:r>
            <a:r>
              <a:rPr spc="-150" dirty="0"/>
              <a:t> </a:t>
            </a:r>
            <a:r>
              <a:rPr spc="-40" dirty="0"/>
              <a:t>agree</a:t>
            </a:r>
            <a:r>
              <a:rPr spc="-150" dirty="0"/>
              <a:t> </a:t>
            </a:r>
            <a:r>
              <a:rPr spc="50" dirty="0"/>
              <a:t>with</a:t>
            </a:r>
            <a:r>
              <a:rPr spc="-150" dirty="0"/>
              <a:t> </a:t>
            </a:r>
            <a:r>
              <a:rPr spc="-20" dirty="0"/>
              <a:t>you.</a:t>
            </a:r>
          </a:p>
          <a:p>
            <a:pPr>
              <a:lnSpc>
                <a:spcPct val="100000"/>
              </a:lnSpc>
              <a:spcBef>
                <a:spcPts val="1180"/>
              </a:spcBef>
            </a:pPr>
            <a:endParaRPr spc="-20" dirty="0"/>
          </a:p>
          <a:p>
            <a:pPr marL="431165" marR="5080" indent="-419100">
              <a:lnSpc>
                <a:spcPct val="100000"/>
              </a:lnSpc>
              <a:spcBef>
                <a:spcPts val="5"/>
              </a:spcBef>
            </a:pPr>
            <a:r>
              <a:rPr dirty="0">
                <a:latin typeface="Cambria Math"/>
                <a:cs typeface="Cambria Math"/>
              </a:rPr>
              <a:t>▷</a:t>
            </a:r>
            <a:r>
              <a:rPr spc="155" dirty="0">
                <a:latin typeface="Cambria Math"/>
                <a:cs typeface="Cambria Math"/>
              </a:rPr>
              <a:t> </a:t>
            </a:r>
            <a:r>
              <a:rPr dirty="0"/>
              <a:t>Agreement</a:t>
            </a:r>
            <a:r>
              <a:rPr spc="-165" dirty="0"/>
              <a:t> </a:t>
            </a:r>
            <a:r>
              <a:rPr spc="-114" dirty="0"/>
              <a:t>2:</a:t>
            </a:r>
            <a:r>
              <a:rPr spc="-145" dirty="0"/>
              <a:t> </a:t>
            </a:r>
            <a:r>
              <a:rPr spc="95" dirty="0"/>
              <a:t>1</a:t>
            </a:r>
            <a:r>
              <a:rPr spc="-155" dirty="0"/>
              <a:t> </a:t>
            </a:r>
            <a:r>
              <a:rPr spc="50" dirty="0"/>
              <a:t>know</a:t>
            </a:r>
            <a:r>
              <a:rPr spc="-155" dirty="0"/>
              <a:t> </a:t>
            </a:r>
            <a:r>
              <a:rPr spc="-100" dirty="0"/>
              <a:t>a</a:t>
            </a:r>
            <a:r>
              <a:rPr spc="-145" dirty="0"/>
              <a:t> </a:t>
            </a:r>
            <a:r>
              <a:rPr spc="55" dirty="0"/>
              <a:t>lot</a:t>
            </a:r>
            <a:r>
              <a:rPr spc="-160" dirty="0"/>
              <a:t> </a:t>
            </a:r>
            <a:r>
              <a:rPr dirty="0"/>
              <a:t>about</a:t>
            </a:r>
            <a:r>
              <a:rPr spc="-155" dirty="0"/>
              <a:t> </a:t>
            </a:r>
            <a:r>
              <a:rPr spc="-20" dirty="0"/>
              <a:t>this </a:t>
            </a:r>
            <a:r>
              <a:rPr spc="-10" dirty="0"/>
              <a:t>subject</a:t>
            </a:r>
            <a:r>
              <a:rPr spc="-165" dirty="0"/>
              <a:t> </a:t>
            </a:r>
            <a:r>
              <a:rPr spc="-30" dirty="0"/>
              <a:t>and</a:t>
            </a:r>
            <a:r>
              <a:rPr spc="-175" dirty="0"/>
              <a:t> </a:t>
            </a:r>
            <a:r>
              <a:rPr spc="-295" dirty="0"/>
              <a:t>I</a:t>
            </a:r>
            <a:r>
              <a:rPr spc="-180" dirty="0"/>
              <a:t> </a:t>
            </a:r>
            <a:r>
              <a:rPr spc="-40" dirty="0"/>
              <a:t>agree</a:t>
            </a:r>
            <a:r>
              <a:rPr spc="-165" dirty="0"/>
              <a:t> </a:t>
            </a:r>
            <a:r>
              <a:rPr spc="50" dirty="0"/>
              <a:t>with</a:t>
            </a:r>
            <a:r>
              <a:rPr spc="-160" dirty="0"/>
              <a:t> </a:t>
            </a:r>
            <a:r>
              <a:rPr spc="-20" dirty="0"/>
              <a:t>you.</a:t>
            </a:r>
            <a:r>
              <a:rPr spc="-165" dirty="0"/>
              <a:t> </a:t>
            </a:r>
            <a:r>
              <a:rPr dirty="0"/>
              <a:t>[No</a:t>
            </a:r>
            <a:r>
              <a:rPr spc="-185" dirty="0"/>
              <a:t> </a:t>
            </a:r>
            <a:r>
              <a:rPr spc="-10" dirty="0"/>
              <a:t>reasons </a:t>
            </a:r>
            <a:r>
              <a:rPr spc="-20" dirty="0"/>
              <a:t>are</a:t>
            </a:r>
            <a:r>
              <a:rPr spc="-200" dirty="0"/>
              <a:t> </a:t>
            </a:r>
            <a:r>
              <a:rPr dirty="0"/>
              <a:t>given</a:t>
            </a:r>
            <a:r>
              <a:rPr spc="-175" dirty="0"/>
              <a:t> </a:t>
            </a:r>
            <a:r>
              <a:rPr dirty="0"/>
              <a:t>so</a:t>
            </a:r>
            <a:r>
              <a:rPr spc="-200" dirty="0"/>
              <a:t> </a:t>
            </a:r>
            <a:r>
              <a:rPr dirty="0"/>
              <a:t>these</a:t>
            </a:r>
            <a:r>
              <a:rPr spc="-185" dirty="0"/>
              <a:t> </a:t>
            </a:r>
            <a:r>
              <a:rPr spc="-20" dirty="0"/>
              <a:t>are</a:t>
            </a:r>
            <a:r>
              <a:rPr spc="-195" dirty="0"/>
              <a:t> </a:t>
            </a:r>
            <a:r>
              <a:rPr dirty="0"/>
              <a:t>simply</a:t>
            </a:r>
            <a:r>
              <a:rPr spc="-185" dirty="0"/>
              <a:t> </a:t>
            </a:r>
            <a:r>
              <a:rPr spc="-25" dirty="0"/>
              <a:t>agreements]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1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80" dirty="0">
                <a:latin typeface="Trebuchet MS"/>
                <a:cs typeface="Trebuchet MS"/>
              </a:rPr>
              <a:t>Example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419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mbria Math"/>
                <a:cs typeface="Cambria Math"/>
              </a:rPr>
              <a:t>▷</a:t>
            </a:r>
            <a:r>
              <a:rPr spc="190" dirty="0">
                <a:latin typeface="Cambria Math"/>
                <a:cs typeface="Cambria Math"/>
              </a:rPr>
              <a:t> </a:t>
            </a:r>
            <a:r>
              <a:rPr spc="-30" dirty="0"/>
              <a:t>Disagreement:</a:t>
            </a:r>
            <a:r>
              <a:rPr spc="-110" dirty="0"/>
              <a:t> </a:t>
            </a:r>
            <a:r>
              <a:rPr dirty="0"/>
              <a:t>That</a:t>
            </a:r>
            <a:r>
              <a:rPr spc="-110" dirty="0"/>
              <a:t> </a:t>
            </a:r>
            <a:r>
              <a:rPr dirty="0"/>
              <a:t>doesn't</a:t>
            </a:r>
            <a:r>
              <a:rPr spc="-120" dirty="0"/>
              <a:t> </a:t>
            </a:r>
            <a:r>
              <a:rPr dirty="0"/>
              <a:t>convince</a:t>
            </a:r>
            <a:r>
              <a:rPr spc="-100" dirty="0"/>
              <a:t> </a:t>
            </a:r>
            <a:r>
              <a:rPr spc="-25" dirty="0"/>
              <a:t>me.</a:t>
            </a:r>
          </a:p>
          <a:p>
            <a:pPr marL="431165" marR="258445">
              <a:lnSpc>
                <a:spcPct val="100000"/>
              </a:lnSpc>
            </a:pPr>
            <a:r>
              <a:rPr spc="-295" dirty="0"/>
              <a:t>I</a:t>
            </a:r>
            <a:r>
              <a:rPr spc="-170" dirty="0"/>
              <a:t> </a:t>
            </a:r>
            <a:r>
              <a:rPr dirty="0"/>
              <a:t>think</a:t>
            </a:r>
            <a:r>
              <a:rPr spc="-165" dirty="0"/>
              <a:t> </a:t>
            </a:r>
            <a:r>
              <a:rPr dirty="0"/>
              <a:t>genetic</a:t>
            </a:r>
            <a:r>
              <a:rPr spc="-150" dirty="0"/>
              <a:t> </a:t>
            </a:r>
            <a:r>
              <a:rPr spc="-10" dirty="0"/>
              <a:t>engineering</a:t>
            </a:r>
            <a:r>
              <a:rPr spc="-150" dirty="0"/>
              <a:t> </a:t>
            </a:r>
            <a:r>
              <a:rPr dirty="0"/>
              <a:t>is</a:t>
            </a:r>
            <a:r>
              <a:rPr spc="-150" dirty="0"/>
              <a:t> </a:t>
            </a:r>
            <a:r>
              <a:rPr spc="-10" dirty="0"/>
              <a:t>really exciting.</a:t>
            </a:r>
            <a:r>
              <a:rPr spc="-165" dirty="0"/>
              <a:t> </a:t>
            </a:r>
            <a:r>
              <a:rPr dirty="0"/>
              <a:t>[No</a:t>
            </a:r>
            <a:r>
              <a:rPr spc="-180" dirty="0"/>
              <a:t> </a:t>
            </a:r>
            <a:r>
              <a:rPr spc="-10" dirty="0"/>
              <a:t>reasons</a:t>
            </a:r>
            <a:r>
              <a:rPr spc="-180" dirty="0"/>
              <a:t> </a:t>
            </a:r>
            <a:r>
              <a:rPr spc="-20" dirty="0"/>
              <a:t>are</a:t>
            </a:r>
            <a:r>
              <a:rPr spc="-165" dirty="0"/>
              <a:t> </a:t>
            </a:r>
            <a:r>
              <a:rPr spc="-10" dirty="0"/>
              <a:t>given</a:t>
            </a:r>
            <a:r>
              <a:rPr spc="-165" dirty="0"/>
              <a:t> </a:t>
            </a:r>
            <a:r>
              <a:rPr dirty="0"/>
              <a:t>so</a:t>
            </a:r>
            <a:r>
              <a:rPr spc="-165" dirty="0"/>
              <a:t> </a:t>
            </a:r>
            <a:r>
              <a:rPr dirty="0"/>
              <a:t>this</a:t>
            </a:r>
            <a:r>
              <a:rPr spc="-185" dirty="0"/>
              <a:t> </a:t>
            </a:r>
            <a:r>
              <a:rPr spc="-35" dirty="0"/>
              <a:t>is </a:t>
            </a:r>
            <a:r>
              <a:rPr dirty="0"/>
              <a:t>simply</a:t>
            </a:r>
            <a:r>
              <a:rPr spc="-170" dirty="0"/>
              <a:t> </a:t>
            </a:r>
            <a:r>
              <a:rPr spc="-100" dirty="0"/>
              <a:t>a</a:t>
            </a:r>
            <a:r>
              <a:rPr spc="-165" dirty="0"/>
              <a:t> </a:t>
            </a:r>
            <a:r>
              <a:rPr spc="-10" dirty="0"/>
              <a:t>disagreement.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1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80" dirty="0">
                <a:latin typeface="Trebuchet MS"/>
                <a:cs typeface="Trebuchet MS"/>
              </a:rPr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2751" y="1766442"/>
            <a:ext cx="6998970" cy="3226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spc="-25" dirty="0">
                <a:solidFill>
                  <a:srgbClr val="677480"/>
                </a:solidFill>
                <a:latin typeface="Tahoma"/>
                <a:cs typeface="Tahoma"/>
              </a:rPr>
              <a:t>Argument:</a:t>
            </a:r>
            <a:r>
              <a:rPr sz="3000" spc="-1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3000" spc="-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possibilities</a:t>
            </a:r>
            <a:r>
              <a:rPr sz="3000" spc="-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60" dirty="0">
                <a:solidFill>
                  <a:srgbClr val="677480"/>
                </a:solidFill>
                <a:latin typeface="Tahoma"/>
                <a:cs typeface="Tahoma"/>
              </a:rPr>
              <a:t>for</a:t>
            </a:r>
            <a:r>
              <a:rPr sz="3000" spc="-1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-10" dirty="0">
                <a:solidFill>
                  <a:srgbClr val="677480"/>
                </a:solidFill>
                <a:latin typeface="Tahoma"/>
                <a:cs typeface="Tahoma"/>
              </a:rPr>
              <a:t>improving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health</a:t>
            </a:r>
            <a:r>
              <a:rPr sz="3000" spc="-1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-35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3000" spc="-1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longevity</a:t>
            </a:r>
            <a:r>
              <a:rPr sz="3000" spc="-1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through</a:t>
            </a:r>
            <a:r>
              <a:rPr sz="3000" spc="-1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-10" dirty="0">
                <a:solidFill>
                  <a:srgbClr val="677480"/>
                </a:solidFill>
                <a:latin typeface="Tahoma"/>
                <a:cs typeface="Tahoma"/>
              </a:rPr>
              <a:t>genetic engineering</a:t>
            </a:r>
            <a:r>
              <a:rPr sz="30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55" dirty="0">
                <a:solidFill>
                  <a:srgbClr val="677480"/>
                </a:solidFill>
                <a:latin typeface="Tahoma"/>
                <a:cs typeface="Tahoma"/>
              </a:rPr>
              <a:t>offer</a:t>
            </a:r>
            <a:r>
              <a:rPr sz="3000" spc="-1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hope</a:t>
            </a:r>
            <a:r>
              <a:rPr sz="30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65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30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sufferers</a:t>
            </a:r>
            <a:r>
              <a:rPr sz="3000" spc="-1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50" dirty="0">
                <a:solidFill>
                  <a:srgbClr val="677480"/>
                </a:solidFill>
                <a:latin typeface="Tahoma"/>
                <a:cs typeface="Tahoma"/>
              </a:rPr>
              <a:t>of </a:t>
            </a:r>
            <a:r>
              <a:rPr sz="3000" spc="-35" dirty="0">
                <a:solidFill>
                  <a:srgbClr val="677480"/>
                </a:solidFill>
                <a:latin typeface="Tahoma"/>
                <a:cs typeface="Tahoma"/>
              </a:rPr>
              <a:t>many</a:t>
            </a:r>
            <a:r>
              <a:rPr sz="3000" spc="-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conditions</a:t>
            </a:r>
            <a:r>
              <a:rPr sz="3000" spc="-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that</a:t>
            </a:r>
            <a:r>
              <a:rPr sz="30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currently</a:t>
            </a:r>
            <a:r>
              <a:rPr sz="3000" spc="-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don't</a:t>
            </a:r>
            <a:r>
              <a:rPr sz="3000" spc="-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-20" dirty="0">
                <a:solidFill>
                  <a:srgbClr val="677480"/>
                </a:solidFill>
                <a:latin typeface="Tahoma"/>
                <a:cs typeface="Tahoma"/>
              </a:rPr>
              <a:t>have </a:t>
            </a:r>
            <a:r>
              <a:rPr sz="3000" spc="-50" dirty="0">
                <a:solidFill>
                  <a:srgbClr val="677480"/>
                </a:solidFill>
                <a:latin typeface="Tahoma"/>
                <a:cs typeface="Tahoma"/>
              </a:rPr>
              <a:t>an</a:t>
            </a:r>
            <a:r>
              <a:rPr sz="3000" spc="-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effective</a:t>
            </a:r>
            <a:r>
              <a:rPr sz="3000" spc="-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-30" dirty="0">
                <a:solidFill>
                  <a:srgbClr val="677480"/>
                </a:solidFill>
                <a:latin typeface="Tahoma"/>
                <a:cs typeface="Tahoma"/>
              </a:rPr>
              <a:t>cure.</a:t>
            </a:r>
            <a:r>
              <a:rPr sz="3000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190" dirty="0">
                <a:solidFill>
                  <a:srgbClr val="677480"/>
                </a:solidFill>
                <a:latin typeface="Tahoma"/>
                <a:cs typeface="Tahoma"/>
              </a:rPr>
              <a:t>We</a:t>
            </a:r>
            <a:r>
              <a:rPr sz="30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should</a:t>
            </a:r>
            <a:r>
              <a:rPr sz="3000" spc="-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be</a:t>
            </a:r>
            <a:r>
              <a:rPr sz="3000" spc="-1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-10" dirty="0">
                <a:solidFill>
                  <a:srgbClr val="677480"/>
                </a:solidFill>
                <a:latin typeface="Tahoma"/>
                <a:cs typeface="Tahoma"/>
              </a:rPr>
              <a:t>pushing </a:t>
            </a:r>
            <a:r>
              <a:rPr sz="3000" spc="-30" dirty="0">
                <a:solidFill>
                  <a:srgbClr val="677480"/>
                </a:solidFill>
                <a:latin typeface="Tahoma"/>
                <a:cs typeface="Tahoma"/>
              </a:rPr>
              <a:t>ahead</a:t>
            </a:r>
            <a:r>
              <a:rPr sz="3000" spc="-1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65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3000" spc="-1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help</a:t>
            </a:r>
            <a:r>
              <a:rPr sz="3000" spc="-1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these</a:t>
            </a:r>
            <a:r>
              <a:rPr sz="3000" spc="-1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people</a:t>
            </a:r>
            <a:r>
              <a:rPr sz="3000" spc="-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-80" dirty="0">
                <a:solidFill>
                  <a:srgbClr val="677480"/>
                </a:solidFill>
                <a:latin typeface="Tahoma"/>
                <a:cs typeface="Tahoma"/>
              </a:rPr>
              <a:t>as</a:t>
            </a:r>
            <a:r>
              <a:rPr sz="3000" spc="-1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677480"/>
                </a:solidFill>
                <a:latin typeface="Tahoma"/>
                <a:cs typeface="Tahoma"/>
              </a:rPr>
              <a:t>quickly</a:t>
            </a:r>
            <a:r>
              <a:rPr sz="3000" spc="-1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-25" dirty="0">
                <a:solidFill>
                  <a:srgbClr val="677480"/>
                </a:solidFill>
                <a:latin typeface="Tahoma"/>
                <a:cs typeface="Tahoma"/>
              </a:rPr>
              <a:t>as </a:t>
            </a:r>
            <a:r>
              <a:rPr sz="3000" spc="55" dirty="0">
                <a:solidFill>
                  <a:srgbClr val="677480"/>
                </a:solidFill>
                <a:latin typeface="Tahoma"/>
                <a:cs typeface="Tahoma"/>
              </a:rPr>
              <a:t>we</a:t>
            </a:r>
            <a:r>
              <a:rPr sz="3000" spc="-1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3000" spc="-20" dirty="0">
                <a:solidFill>
                  <a:srgbClr val="677480"/>
                </a:solidFill>
                <a:latin typeface="Tahoma"/>
                <a:cs typeface="Tahoma"/>
              </a:rPr>
              <a:t>can.</a:t>
            </a:r>
            <a:endParaRPr sz="3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1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100" dirty="0">
                <a:latin typeface="Trebuchet MS"/>
                <a:cs typeface="Trebuchet MS"/>
              </a:rPr>
              <a:t>Argument</a:t>
            </a:r>
            <a:r>
              <a:rPr b="1" spc="-200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Or</a:t>
            </a:r>
            <a:r>
              <a:rPr b="1" spc="-225" dirty="0">
                <a:latin typeface="Trebuchet MS"/>
                <a:cs typeface="Trebuchet MS"/>
              </a:rPr>
              <a:t> </a:t>
            </a:r>
            <a:r>
              <a:rPr b="1" spc="90" dirty="0">
                <a:latin typeface="Trebuchet MS"/>
                <a:cs typeface="Trebuchet MS"/>
              </a:rPr>
              <a:t>disagreement?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0818" y="1982215"/>
            <a:ext cx="7121525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Bilingualism</a:t>
            </a:r>
            <a:r>
              <a:rPr sz="2400" spc="160" dirty="0">
                <a:solidFill>
                  <a:srgbClr val="677480"/>
                </a:solidFill>
                <a:latin typeface="Tahoma"/>
                <a:cs typeface="Tahoma"/>
              </a:rPr>
              <a:t> 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2400" spc="155" dirty="0">
                <a:solidFill>
                  <a:srgbClr val="677480"/>
                </a:solidFill>
                <a:latin typeface="Tahoma"/>
                <a:cs typeface="Tahoma"/>
              </a:rPr>
              <a:t> 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multilingualism</a:t>
            </a:r>
            <a:r>
              <a:rPr sz="2400" spc="160" dirty="0">
                <a:solidFill>
                  <a:srgbClr val="677480"/>
                </a:solidFill>
                <a:latin typeface="Tahoma"/>
                <a:cs typeface="Tahoma"/>
              </a:rPr>
              <a:t> 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confer</a:t>
            </a:r>
            <a:r>
              <a:rPr sz="2400" spc="160" dirty="0">
                <a:solidFill>
                  <a:srgbClr val="677480"/>
                </a:solidFill>
                <a:latin typeface="Tahoma"/>
                <a:cs typeface="Tahoma"/>
              </a:rPr>
              <a:t>  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many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benefits.</a:t>
            </a:r>
            <a:r>
              <a:rPr sz="2400" spc="-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Speakers</a:t>
            </a:r>
            <a:r>
              <a:rPr sz="24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5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4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more</a:t>
            </a:r>
            <a:r>
              <a:rPr sz="24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than</a:t>
            </a:r>
            <a:r>
              <a:rPr sz="24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one</a:t>
            </a:r>
            <a:r>
              <a:rPr sz="24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35" dirty="0">
                <a:solidFill>
                  <a:srgbClr val="677480"/>
                </a:solidFill>
                <a:latin typeface="Tahoma"/>
                <a:cs typeface="Tahoma"/>
              </a:rPr>
              <a:t>language</a:t>
            </a:r>
            <a:r>
              <a:rPr sz="2400" spc="-1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have</a:t>
            </a:r>
            <a:r>
              <a:rPr sz="24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50" dirty="0">
                <a:solidFill>
                  <a:srgbClr val="677480"/>
                </a:solidFill>
                <a:latin typeface="Tahoma"/>
                <a:cs typeface="Tahoma"/>
              </a:rPr>
              <a:t>a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better</a:t>
            </a:r>
            <a:r>
              <a:rPr sz="2400" spc="150" dirty="0">
                <a:solidFill>
                  <a:srgbClr val="677480"/>
                </a:solidFill>
                <a:latin typeface="Tahoma"/>
                <a:cs typeface="Tahoma"/>
              </a:rPr>
              <a:t> 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understanding</a:t>
            </a:r>
            <a:r>
              <a:rPr sz="2400" spc="160" dirty="0">
                <a:solidFill>
                  <a:srgbClr val="677480"/>
                </a:solidFill>
                <a:latin typeface="Tahoma"/>
                <a:cs typeface="Tahoma"/>
              </a:rPr>
              <a:t>   </a:t>
            </a:r>
            <a:r>
              <a:rPr sz="2400" spc="55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400" spc="155" dirty="0">
                <a:solidFill>
                  <a:srgbClr val="677480"/>
                </a:solidFill>
                <a:latin typeface="Tahoma"/>
                <a:cs typeface="Tahoma"/>
              </a:rPr>
              <a:t> 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how</a:t>
            </a:r>
            <a:r>
              <a:rPr sz="2400" spc="155" dirty="0">
                <a:solidFill>
                  <a:srgbClr val="677480"/>
                </a:solidFill>
                <a:latin typeface="Tahoma"/>
                <a:cs typeface="Tahoma"/>
              </a:rPr>
              <a:t> 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languages</a:t>
            </a:r>
            <a:r>
              <a:rPr sz="2400" spc="155" dirty="0">
                <a:solidFill>
                  <a:srgbClr val="677480"/>
                </a:solidFill>
                <a:latin typeface="Tahoma"/>
                <a:cs typeface="Tahoma"/>
              </a:rPr>
              <a:t>  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are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structured</a:t>
            </a:r>
            <a:r>
              <a:rPr sz="2400" spc="5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because</a:t>
            </a:r>
            <a:r>
              <a:rPr sz="2400" spc="5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they</a:t>
            </a:r>
            <a:r>
              <a:rPr sz="2400" spc="5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can</a:t>
            </a:r>
            <a:r>
              <a:rPr sz="2400" spc="5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compare</a:t>
            </a:r>
            <a:r>
              <a:rPr sz="2400" spc="5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across</a:t>
            </a:r>
            <a:r>
              <a:rPr sz="2400" spc="5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35" dirty="0">
                <a:solidFill>
                  <a:srgbClr val="677480"/>
                </a:solidFill>
                <a:latin typeface="Tahoma"/>
                <a:cs typeface="Tahoma"/>
              </a:rPr>
              <a:t>two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different</a:t>
            </a:r>
            <a:r>
              <a:rPr sz="2400" spc="204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systems.</a:t>
            </a:r>
            <a:r>
              <a:rPr sz="2400" spc="19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People</a:t>
            </a:r>
            <a:r>
              <a:rPr sz="2400" spc="21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who</a:t>
            </a:r>
            <a:r>
              <a:rPr sz="2400" spc="19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speak</a:t>
            </a:r>
            <a:r>
              <a:rPr sz="2400" spc="21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only</a:t>
            </a:r>
            <a:r>
              <a:rPr sz="2400" spc="204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one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language</a:t>
            </a:r>
            <a:r>
              <a:rPr sz="2400" spc="4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lack</a:t>
            </a:r>
            <a:r>
              <a:rPr sz="2400" spc="5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this</a:t>
            </a:r>
            <a:r>
              <a:rPr sz="2400" spc="5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essential</a:t>
            </a:r>
            <a:r>
              <a:rPr sz="2400" spc="48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point</a:t>
            </a:r>
            <a:r>
              <a:rPr sz="2400" spc="4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5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400" spc="4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reference.</a:t>
            </a:r>
            <a:r>
              <a:rPr sz="2400" spc="4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In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many</a:t>
            </a:r>
            <a:r>
              <a:rPr sz="2400" spc="1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cases,</a:t>
            </a:r>
            <a:r>
              <a:rPr sz="2400" spc="1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2400" spc="1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second</a:t>
            </a:r>
            <a:r>
              <a:rPr sz="2400" spc="2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language</a:t>
            </a:r>
            <a:r>
              <a:rPr sz="2400" spc="1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can</a:t>
            </a:r>
            <a:r>
              <a:rPr sz="2400" spc="2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help</a:t>
            </a:r>
            <a:r>
              <a:rPr sz="2400" spc="1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people</a:t>
            </a:r>
            <a:r>
              <a:rPr sz="2400" spc="20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25" dirty="0">
                <a:solidFill>
                  <a:srgbClr val="677480"/>
                </a:solidFill>
                <a:latin typeface="Tahoma"/>
                <a:cs typeface="Tahoma"/>
              </a:rPr>
              <a:t>to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have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better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understanding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2400" spc="-1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appreciation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spc="30" dirty="0">
                <a:solidFill>
                  <a:srgbClr val="677480"/>
                </a:solidFill>
                <a:latin typeface="Tahoma"/>
                <a:cs typeface="Tahoma"/>
              </a:rPr>
              <a:t>of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their</a:t>
            </a:r>
            <a:r>
              <a:rPr sz="2400" spc="-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first</a:t>
            </a:r>
            <a:r>
              <a:rPr sz="2400" spc="-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language.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68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100" dirty="0">
                <a:latin typeface="Trebuchet MS"/>
                <a:cs typeface="Trebuchet MS"/>
              </a:rPr>
              <a:t>Argument</a:t>
            </a:r>
            <a:r>
              <a:rPr b="1" spc="-200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Or</a:t>
            </a:r>
            <a:r>
              <a:rPr b="1" spc="-225" dirty="0">
                <a:latin typeface="Trebuchet MS"/>
                <a:cs typeface="Trebuchet MS"/>
              </a:rPr>
              <a:t> </a:t>
            </a:r>
            <a:r>
              <a:rPr b="1" spc="90" dirty="0">
                <a:latin typeface="Trebuchet MS"/>
                <a:cs typeface="Trebuchet MS"/>
              </a:rPr>
              <a:t>disagreement?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0818" y="1982216"/>
            <a:ext cx="6974205" cy="3866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solidFill>
                  <a:srgbClr val="677480"/>
                </a:solidFill>
                <a:latin typeface="Tahoma"/>
                <a:cs typeface="Tahoma"/>
              </a:rPr>
              <a:t>Several</a:t>
            </a:r>
            <a:r>
              <a:rPr sz="2800" spc="-1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young</a:t>
            </a:r>
            <a:r>
              <a:rPr sz="2800" spc="-1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people</a:t>
            </a:r>
            <a:r>
              <a:rPr sz="2800" spc="-1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die</a:t>
            </a:r>
            <a:r>
              <a:rPr sz="2800" spc="-1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each</a:t>
            </a:r>
            <a:r>
              <a:rPr sz="2800" spc="-1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year</a:t>
            </a:r>
            <a:r>
              <a:rPr sz="2800" spc="-1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training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for</a:t>
            </a:r>
            <a:r>
              <a:rPr sz="2800" spc="-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800" spc="-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construction</a:t>
            </a:r>
            <a:r>
              <a:rPr sz="28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677480"/>
                </a:solidFill>
                <a:latin typeface="Tahoma"/>
                <a:cs typeface="Tahoma"/>
              </a:rPr>
              <a:t>trades.</a:t>
            </a:r>
            <a:r>
              <a:rPr sz="2800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Legislation</a:t>
            </a:r>
            <a:r>
              <a:rPr sz="2800" spc="-9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800" spc="-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677480"/>
                </a:solidFill>
                <a:latin typeface="Tahoma"/>
                <a:cs typeface="Tahoma"/>
              </a:rPr>
              <a:t>in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place</a:t>
            </a:r>
            <a:r>
              <a:rPr sz="2800" spc="-1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5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800" spc="-1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cover</a:t>
            </a:r>
            <a:r>
              <a:rPr sz="2800" spc="-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health</a:t>
            </a:r>
            <a:r>
              <a:rPr sz="2800" spc="-1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2800" spc="-1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safety</a:t>
            </a:r>
            <a:r>
              <a:rPr sz="2800" spc="-1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at</a:t>
            </a:r>
            <a:r>
              <a:rPr sz="2800" spc="-1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work,</a:t>
            </a:r>
            <a:r>
              <a:rPr sz="2800" spc="-1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677480"/>
                </a:solidFill>
                <a:latin typeface="Tahoma"/>
                <a:cs typeface="Tahoma"/>
              </a:rPr>
              <a:t>but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some</a:t>
            </a:r>
            <a:r>
              <a:rPr sz="2800" spc="-1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employers</a:t>
            </a:r>
            <a:r>
              <a:rPr sz="2800" spc="-1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677480"/>
                </a:solidFill>
                <a:latin typeface="Tahoma"/>
                <a:cs typeface="Tahoma"/>
              </a:rPr>
              <a:t>argue</a:t>
            </a:r>
            <a:r>
              <a:rPr sz="2800" spc="-1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that</a:t>
            </a:r>
            <a:r>
              <a:rPr sz="2800" spc="-1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this</a:t>
            </a:r>
            <a:r>
              <a:rPr sz="2800" spc="-1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800" spc="-1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677480"/>
                </a:solidFill>
                <a:latin typeface="Tahoma"/>
                <a:cs typeface="Tahoma"/>
              </a:rPr>
              <a:t>too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expensive</a:t>
            </a:r>
            <a:r>
              <a:rPr sz="2800" spc="-1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6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800" spc="-1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implement</a:t>
            </a:r>
            <a:r>
              <a:rPr sz="2800" spc="-1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2800" spc="-1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onerous</a:t>
            </a:r>
            <a:r>
              <a:rPr sz="2800" spc="-1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35" dirty="0">
                <a:solidFill>
                  <a:srgbClr val="677480"/>
                </a:solidFill>
                <a:latin typeface="Tahoma"/>
                <a:cs typeface="Tahoma"/>
              </a:rPr>
              <a:t>to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monitor.</a:t>
            </a:r>
            <a:r>
              <a:rPr sz="2800" spc="-1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They</a:t>
            </a:r>
            <a:r>
              <a:rPr sz="2800" spc="-1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677480"/>
                </a:solidFill>
                <a:latin typeface="Tahoma"/>
                <a:cs typeface="Tahoma"/>
              </a:rPr>
              <a:t>say</a:t>
            </a:r>
            <a:r>
              <a:rPr sz="2800" spc="-1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that</a:t>
            </a:r>
            <a:r>
              <a:rPr sz="2800" spc="-1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young</a:t>
            </a:r>
            <a:r>
              <a:rPr sz="2800" spc="-1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people</a:t>
            </a:r>
            <a:r>
              <a:rPr sz="2800" spc="-1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are</a:t>
            </a:r>
            <a:r>
              <a:rPr sz="2800" spc="-1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677480"/>
                </a:solidFill>
                <a:latin typeface="Tahoma"/>
                <a:cs typeface="Tahoma"/>
              </a:rPr>
              <a:t>not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responsible</a:t>
            </a:r>
            <a:r>
              <a:rPr sz="28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enough</a:t>
            </a:r>
            <a:r>
              <a:rPr sz="2800" spc="-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at</a:t>
            </a:r>
            <a:r>
              <a:rPr sz="2800" spc="-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work</a:t>
            </a:r>
            <a:r>
              <a:rPr sz="28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2800" spc="-1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that</a:t>
            </a:r>
            <a:r>
              <a:rPr sz="2800" spc="-1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there</a:t>
            </a:r>
            <a:r>
              <a:rPr sz="2800" spc="-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677480"/>
                </a:solidFill>
                <a:latin typeface="Tahoma"/>
                <a:cs typeface="Tahoma"/>
              </a:rPr>
              <a:t>is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nothing</a:t>
            </a:r>
            <a:r>
              <a:rPr sz="2800" spc="-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further</a:t>
            </a:r>
            <a:r>
              <a:rPr sz="28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they</a:t>
            </a:r>
            <a:r>
              <a:rPr sz="2800" spc="-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can</a:t>
            </a:r>
            <a:r>
              <a:rPr sz="28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do</a:t>
            </a:r>
            <a:r>
              <a:rPr sz="2800" spc="-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6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800" spc="-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prevent</a:t>
            </a:r>
            <a:r>
              <a:rPr sz="28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their </a:t>
            </a:r>
            <a:r>
              <a:rPr sz="2800" spc="-45" dirty="0">
                <a:solidFill>
                  <a:srgbClr val="677480"/>
                </a:solidFill>
                <a:latin typeface="Tahoma"/>
                <a:cs typeface="Tahoma"/>
              </a:rPr>
              <a:t>deaths.</a:t>
            </a:r>
            <a:r>
              <a:rPr sz="2800" spc="-1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That</a:t>
            </a:r>
            <a:r>
              <a:rPr sz="2800" spc="-1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cannot</a:t>
            </a:r>
            <a:r>
              <a:rPr sz="2800" spc="-1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be</a:t>
            </a:r>
            <a:r>
              <a:rPr sz="2800" spc="-1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95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2800" spc="-1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good</a:t>
            </a:r>
            <a:r>
              <a:rPr sz="2800" spc="-1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argument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1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100" dirty="0">
                <a:latin typeface="Trebuchet MS"/>
                <a:cs typeface="Trebuchet MS"/>
              </a:rPr>
              <a:t>Argument</a:t>
            </a:r>
            <a:r>
              <a:rPr b="1" spc="-200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Or</a:t>
            </a:r>
            <a:r>
              <a:rPr b="1" spc="-225" dirty="0">
                <a:latin typeface="Trebuchet MS"/>
                <a:cs typeface="Trebuchet MS"/>
              </a:rPr>
              <a:t> </a:t>
            </a:r>
            <a:r>
              <a:rPr b="1" spc="90" dirty="0">
                <a:latin typeface="Trebuchet MS"/>
                <a:cs typeface="Trebuchet MS"/>
              </a:rPr>
              <a:t>disagreement?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7796" y="1755724"/>
            <a:ext cx="7482840" cy="4293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800" spc="-275" dirty="0">
                <a:solidFill>
                  <a:srgbClr val="677480"/>
                </a:solidFill>
                <a:latin typeface="Tahoma"/>
                <a:cs typeface="Tahoma"/>
              </a:rPr>
              <a:t>I</a:t>
            </a:r>
            <a:r>
              <a:rPr sz="2800" spc="15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cannot</a:t>
            </a:r>
            <a:r>
              <a:rPr sz="2800" spc="16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agree</a:t>
            </a:r>
            <a:r>
              <a:rPr sz="2800" spc="14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spc="50" dirty="0">
                <a:solidFill>
                  <a:srgbClr val="677480"/>
                </a:solidFill>
                <a:latin typeface="Tahoma"/>
                <a:cs typeface="Tahoma"/>
              </a:rPr>
              <a:t>with</a:t>
            </a:r>
            <a:r>
              <a:rPr sz="2800" spc="15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people</a:t>
            </a:r>
            <a:r>
              <a:rPr sz="2800" spc="15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spc="50" dirty="0">
                <a:solidFill>
                  <a:srgbClr val="677480"/>
                </a:solidFill>
                <a:latin typeface="Tahoma"/>
                <a:cs typeface="Tahoma"/>
              </a:rPr>
              <a:t>who</a:t>
            </a:r>
            <a:r>
              <a:rPr sz="2800" spc="15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say</a:t>
            </a:r>
            <a:r>
              <a:rPr sz="2800" spc="15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spc="-20" dirty="0">
                <a:solidFill>
                  <a:srgbClr val="677480"/>
                </a:solidFill>
                <a:latin typeface="Tahoma"/>
                <a:cs typeface="Tahoma"/>
              </a:rPr>
              <a:t>that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smacking</a:t>
            </a:r>
            <a:r>
              <a:rPr sz="2800" spc="31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children</a:t>
            </a:r>
            <a:r>
              <a:rPr sz="2800" spc="32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does</a:t>
            </a:r>
            <a:r>
              <a:rPr sz="2800" spc="31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them</a:t>
            </a:r>
            <a:r>
              <a:rPr sz="2800" spc="30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no</a:t>
            </a:r>
            <a:r>
              <a:rPr sz="2800" spc="31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harm.Of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course,</a:t>
            </a:r>
            <a:r>
              <a:rPr sz="2800" spc="4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spc="50" dirty="0">
                <a:solidFill>
                  <a:srgbClr val="677480"/>
                </a:solidFill>
                <a:latin typeface="Tahoma"/>
                <a:cs typeface="Tahoma"/>
              </a:rPr>
              <a:t>it</a:t>
            </a:r>
            <a:r>
              <a:rPr sz="2800" spc="5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harms</a:t>
            </a:r>
            <a:r>
              <a:rPr sz="2800" spc="5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them,</a:t>
            </a:r>
            <a:r>
              <a:rPr sz="2800" spc="4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both</a:t>
            </a:r>
            <a:r>
              <a:rPr sz="2800" spc="5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physically</a:t>
            </a:r>
            <a:r>
              <a:rPr sz="2800" spc="4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spc="-25" dirty="0">
                <a:solidFill>
                  <a:srgbClr val="677480"/>
                </a:solidFill>
                <a:latin typeface="Tahoma"/>
                <a:cs typeface="Tahoma"/>
              </a:rPr>
              <a:t>and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emotionally.</a:t>
            </a:r>
            <a:r>
              <a:rPr sz="2800" spc="5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Hitting</a:t>
            </a:r>
            <a:r>
              <a:rPr sz="2800" spc="5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another</a:t>
            </a:r>
            <a:r>
              <a:rPr sz="2800" spc="5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person</a:t>
            </a:r>
            <a:r>
              <a:rPr sz="2800" spc="5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800" spc="5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assault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2800" spc="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it</a:t>
            </a:r>
            <a:r>
              <a:rPr sz="2800" spc="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would</a:t>
            </a:r>
            <a:r>
              <a:rPr sz="2800" spc="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not</a:t>
            </a:r>
            <a:r>
              <a:rPr sz="2800" spc="1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be</a:t>
            </a:r>
            <a:r>
              <a:rPr sz="2800" spc="1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tolerated</a:t>
            </a:r>
            <a:r>
              <a:rPr sz="2800" spc="1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against</a:t>
            </a:r>
            <a:r>
              <a:rPr sz="2800" spc="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an</a:t>
            </a:r>
            <a:r>
              <a:rPr sz="2800" spc="1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adult. </a:t>
            </a:r>
            <a:r>
              <a:rPr sz="2800" spc="80" dirty="0">
                <a:solidFill>
                  <a:srgbClr val="677480"/>
                </a:solidFill>
                <a:latin typeface="Tahoma"/>
                <a:cs typeface="Tahoma"/>
              </a:rPr>
              <a:t>Many</a:t>
            </a:r>
            <a:r>
              <a:rPr sz="2800" spc="459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adults</a:t>
            </a:r>
            <a:r>
              <a:rPr sz="2800" spc="4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have</a:t>
            </a:r>
            <a:r>
              <a:rPr sz="2800" spc="4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no</a:t>
            </a:r>
            <a:r>
              <a:rPr sz="2800" spc="459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sense</a:t>
            </a:r>
            <a:r>
              <a:rPr sz="2800" spc="4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800" spc="4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800" spc="4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cruelty</a:t>
            </a:r>
            <a:r>
              <a:rPr sz="2800" spc="4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45" dirty="0">
                <a:solidFill>
                  <a:srgbClr val="677480"/>
                </a:solidFill>
                <a:latin typeface="Tahoma"/>
                <a:cs typeface="Tahoma"/>
              </a:rPr>
              <a:t>of </a:t>
            </a:r>
            <a:r>
              <a:rPr sz="2800" spc="-20" dirty="0">
                <a:solidFill>
                  <a:srgbClr val="677480"/>
                </a:solidFill>
                <a:latin typeface="Tahoma"/>
                <a:cs typeface="Tahoma"/>
              </a:rPr>
              <a:t>smacking</a:t>
            </a:r>
            <a:r>
              <a:rPr sz="2800" spc="-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precisely</a:t>
            </a:r>
            <a:r>
              <a:rPr sz="2800" spc="-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because</a:t>
            </a:r>
            <a:r>
              <a:rPr sz="2800" spc="-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they</a:t>
            </a:r>
            <a:r>
              <a:rPr sz="2800" spc="-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were</a:t>
            </a:r>
            <a:r>
              <a:rPr sz="2800" spc="-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smacked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themselves</a:t>
            </a:r>
            <a:r>
              <a:rPr sz="2800" spc="1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as</a:t>
            </a:r>
            <a:r>
              <a:rPr sz="2800" spc="1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children</a:t>
            </a:r>
            <a:r>
              <a:rPr sz="2800" spc="1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2800" spc="1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erroneously</a:t>
            </a:r>
            <a:r>
              <a:rPr sz="2800" spc="1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regard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this</a:t>
            </a:r>
            <a:r>
              <a:rPr sz="28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677480"/>
                </a:solidFill>
                <a:latin typeface="Tahoma"/>
                <a:cs typeface="Tahoma"/>
              </a:rPr>
              <a:t>as</a:t>
            </a:r>
            <a:r>
              <a:rPr sz="2800" spc="-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677480"/>
                </a:solidFill>
                <a:latin typeface="Tahoma"/>
                <a:cs typeface="Tahoma"/>
              </a:rPr>
              <a:t>normal.</a:t>
            </a:r>
            <a:r>
              <a:rPr sz="28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They</a:t>
            </a:r>
            <a:r>
              <a:rPr sz="2800" spc="-1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then</a:t>
            </a:r>
            <a:r>
              <a:rPr sz="28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go</a:t>
            </a:r>
            <a:r>
              <a:rPr sz="28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on</a:t>
            </a:r>
            <a:r>
              <a:rPr sz="2800" spc="-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6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800" spc="-1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677480"/>
                </a:solidFill>
                <a:latin typeface="Tahoma"/>
                <a:cs typeface="Tahoma"/>
              </a:rPr>
              <a:t>assault</a:t>
            </a:r>
            <a:r>
              <a:rPr sz="2800" spc="-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other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vulnerable</a:t>
            </a:r>
            <a:r>
              <a:rPr sz="2800" spc="-1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677480"/>
                </a:solidFill>
                <a:latin typeface="Tahoma"/>
                <a:cs typeface="Tahoma"/>
              </a:rPr>
              <a:t>people,</a:t>
            </a:r>
            <a:r>
              <a:rPr sz="2800" spc="-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perpetuating</a:t>
            </a:r>
            <a:r>
              <a:rPr sz="2800" spc="-1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95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28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vicious</a:t>
            </a:r>
            <a:r>
              <a:rPr sz="2800" spc="-10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cycle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1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170" dirty="0">
                <a:latin typeface="Trebuchet MS"/>
                <a:cs typeface="Trebuchet MS"/>
              </a:rPr>
              <a:t>Non-</a:t>
            </a:r>
            <a:r>
              <a:rPr b="1" spc="60" dirty="0">
                <a:latin typeface="Trebuchet MS"/>
                <a:cs typeface="Trebuchet MS"/>
              </a:rPr>
              <a:t>arguments:</a:t>
            </a:r>
            <a:r>
              <a:rPr b="1" spc="-180" dirty="0">
                <a:latin typeface="Trebuchet MS"/>
                <a:cs typeface="Trebuchet MS"/>
              </a:rPr>
              <a:t> </a:t>
            </a:r>
            <a:r>
              <a:rPr b="1" spc="40" dirty="0">
                <a:latin typeface="Trebuchet MS"/>
                <a:cs typeface="Trebuchet MS"/>
              </a:rPr>
              <a:t>Description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8885" y="1492122"/>
            <a:ext cx="7585075" cy="4644390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431800" marR="5715" indent="-419734" algn="just">
              <a:lnSpc>
                <a:spcPct val="98700"/>
              </a:lnSpc>
              <a:spcBef>
                <a:spcPts val="145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5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Descriptions</a:t>
            </a:r>
            <a:r>
              <a:rPr sz="2400" spc="4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give</a:t>
            </a:r>
            <a:r>
              <a:rPr sz="2400" spc="4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an</a:t>
            </a:r>
            <a:r>
              <a:rPr sz="2400" spc="4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account</a:t>
            </a:r>
            <a:r>
              <a:rPr sz="2400" spc="4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5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400" spc="4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how</a:t>
            </a:r>
            <a:r>
              <a:rPr sz="2400" spc="4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something</a:t>
            </a:r>
            <a:r>
              <a:rPr sz="2400" spc="4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is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done,</a:t>
            </a:r>
            <a:r>
              <a:rPr sz="2400" spc="3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or</a:t>
            </a:r>
            <a:r>
              <a:rPr sz="2400" spc="3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what</a:t>
            </a:r>
            <a:r>
              <a:rPr sz="2400" spc="3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something</a:t>
            </a:r>
            <a:r>
              <a:rPr sz="2400" spc="3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400" spc="3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like.</a:t>
            </a:r>
            <a:r>
              <a:rPr sz="2400" spc="3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They</a:t>
            </a:r>
            <a:r>
              <a:rPr sz="2400" spc="3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do</a:t>
            </a:r>
            <a:r>
              <a:rPr sz="2400" spc="3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not</a:t>
            </a:r>
            <a:r>
              <a:rPr sz="2400" spc="3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77480"/>
                </a:solidFill>
                <a:latin typeface="Tahoma"/>
                <a:cs typeface="Tahoma"/>
              </a:rPr>
              <a:t>give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reasoned</a:t>
            </a:r>
            <a:r>
              <a:rPr sz="2400" spc="30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accounts</a:t>
            </a:r>
            <a:r>
              <a:rPr sz="2400" spc="32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spc="55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400" spc="31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how</a:t>
            </a:r>
            <a:r>
              <a:rPr sz="2400" spc="31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or</a:t>
            </a:r>
            <a:r>
              <a:rPr sz="2400" spc="31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why</a:t>
            </a:r>
            <a:r>
              <a:rPr sz="2400" spc="31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something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occurred</a:t>
            </a:r>
            <a:r>
              <a:rPr sz="2400" spc="-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nor</a:t>
            </a:r>
            <a:r>
              <a:rPr sz="2400" spc="-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do</a:t>
            </a:r>
            <a:r>
              <a:rPr sz="2400" spc="-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they</a:t>
            </a:r>
            <a:r>
              <a:rPr sz="2400" spc="-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evaluate</a:t>
            </a:r>
            <a:r>
              <a:rPr sz="2400" spc="-9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outcomes.</a:t>
            </a:r>
            <a:endParaRPr sz="2400">
              <a:latin typeface="Tahoma"/>
              <a:cs typeface="Tahoma"/>
            </a:endParaRPr>
          </a:p>
          <a:p>
            <a:pPr marL="431800" marR="5080" indent="-419734" algn="just">
              <a:lnSpc>
                <a:spcPct val="98700"/>
              </a:lnSpc>
              <a:spcBef>
                <a:spcPts val="45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00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In</a:t>
            </a:r>
            <a:r>
              <a:rPr sz="2400" spc="2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reports</a:t>
            </a:r>
            <a:r>
              <a:rPr sz="2400" spc="25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2400" spc="2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academic</a:t>
            </a:r>
            <a:r>
              <a:rPr sz="2400" spc="2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writing,</a:t>
            </a:r>
            <a:r>
              <a:rPr sz="2400" spc="2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description</a:t>
            </a:r>
            <a:r>
              <a:rPr sz="2400" spc="2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should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be</a:t>
            </a:r>
            <a:r>
              <a:rPr sz="2400" spc="3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factual,</a:t>
            </a:r>
            <a:r>
              <a:rPr sz="2400" spc="3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accurate</a:t>
            </a:r>
            <a:r>
              <a:rPr sz="2400" spc="3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and</a:t>
            </a:r>
            <a:r>
              <a:rPr sz="2400" spc="3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free</a:t>
            </a:r>
            <a:r>
              <a:rPr sz="2400" spc="37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5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400" spc="3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value</a:t>
            </a:r>
            <a:r>
              <a:rPr sz="2400" spc="3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judgements.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Description</a:t>
            </a:r>
            <a:r>
              <a:rPr sz="2400" spc="27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400" spc="28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sometimes</a:t>
            </a:r>
            <a:r>
              <a:rPr sz="2400" spc="27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confused</a:t>
            </a:r>
            <a:r>
              <a:rPr sz="2400" spc="28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with</a:t>
            </a:r>
            <a:r>
              <a:rPr sz="2400" spc="27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critical 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analysis</a:t>
            </a:r>
            <a:r>
              <a:rPr sz="2400" spc="-1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65" dirty="0">
                <a:solidFill>
                  <a:srgbClr val="677480"/>
                </a:solidFill>
                <a:latin typeface="Tahoma"/>
                <a:cs typeface="Tahoma"/>
              </a:rPr>
              <a:t>as</a:t>
            </a:r>
            <a:r>
              <a:rPr sz="24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both</a:t>
            </a:r>
            <a:r>
              <a:rPr sz="2400" spc="-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can</a:t>
            </a:r>
            <a:r>
              <a:rPr sz="24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investigate</a:t>
            </a:r>
            <a:r>
              <a:rPr sz="2400" spc="-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50" dirty="0">
                <a:solidFill>
                  <a:srgbClr val="677480"/>
                </a:solidFill>
                <a:latin typeface="Tahoma"/>
                <a:cs typeface="Tahoma"/>
              </a:rPr>
              <a:t>an</a:t>
            </a:r>
            <a:r>
              <a:rPr sz="2400" spc="-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issue</a:t>
            </a:r>
            <a:r>
              <a:rPr sz="2400" spc="-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in</a:t>
            </a:r>
            <a:r>
              <a:rPr sz="24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detail.</a:t>
            </a:r>
            <a:endParaRPr sz="2400">
              <a:latin typeface="Tahoma"/>
              <a:cs typeface="Tahoma"/>
            </a:endParaRPr>
          </a:p>
          <a:p>
            <a:pPr marL="431800" marR="5080" indent="-419734" algn="just">
              <a:lnSpc>
                <a:spcPct val="98700"/>
              </a:lnSpc>
              <a:spcBef>
                <a:spcPts val="50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65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Descriptive</a:t>
            </a:r>
            <a:r>
              <a:rPr sz="2400" spc="3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detail</a:t>
            </a:r>
            <a:r>
              <a:rPr sz="2400" spc="3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400" spc="3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not</a:t>
            </a:r>
            <a:r>
              <a:rPr sz="2400" spc="36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intended</a:t>
            </a:r>
            <a:r>
              <a:rPr sz="2400" spc="3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400" spc="3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persuade</a:t>
            </a:r>
            <a:r>
              <a:rPr sz="2400" spc="3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400" spc="3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50" dirty="0">
                <a:solidFill>
                  <a:srgbClr val="677480"/>
                </a:solidFill>
                <a:latin typeface="Tahoma"/>
                <a:cs typeface="Tahoma"/>
              </a:rPr>
              <a:t>a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point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5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400" spc="-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view</a:t>
            </a:r>
            <a:r>
              <a:rPr sz="2400" spc="-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but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50" dirty="0">
                <a:solidFill>
                  <a:srgbClr val="677480"/>
                </a:solidFill>
                <a:latin typeface="Tahoma"/>
                <a:cs typeface="Tahoma"/>
              </a:rPr>
              <a:t>aims,</a:t>
            </a:r>
            <a:r>
              <a:rPr sz="2400" spc="-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rather,</a:t>
            </a:r>
            <a:r>
              <a:rPr sz="2400" spc="-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400" spc="-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give</a:t>
            </a:r>
            <a:r>
              <a:rPr sz="2400" spc="-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400" spc="-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audience</a:t>
            </a:r>
            <a:r>
              <a:rPr sz="2400" spc="-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50" dirty="0">
                <a:solidFill>
                  <a:srgbClr val="677480"/>
                </a:solidFill>
                <a:latin typeface="Tahoma"/>
                <a:cs typeface="Tahoma"/>
              </a:rPr>
              <a:t>a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more</a:t>
            </a:r>
            <a:r>
              <a:rPr sz="2400" spc="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thorough</a:t>
            </a:r>
            <a:r>
              <a:rPr sz="2400" spc="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impression</a:t>
            </a:r>
            <a:r>
              <a:rPr sz="2400" spc="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55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400" spc="1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400" spc="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item</a:t>
            </a:r>
            <a:r>
              <a:rPr sz="2400" spc="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or</a:t>
            </a:r>
            <a:r>
              <a:rPr sz="2400" spc="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77480"/>
                </a:solidFill>
                <a:latin typeface="Tahoma"/>
                <a:cs typeface="Tahoma"/>
              </a:rPr>
              <a:t>issue</a:t>
            </a:r>
            <a:r>
              <a:rPr sz="2400" spc="1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77480"/>
                </a:solidFill>
                <a:latin typeface="Tahoma"/>
                <a:cs typeface="Tahoma"/>
              </a:rPr>
              <a:t>being described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1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80" dirty="0">
                <a:latin typeface="Trebuchet MS"/>
                <a:cs typeface="Trebuchet MS"/>
              </a:rPr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7374" y="1781683"/>
            <a:ext cx="7400290" cy="3465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165" marR="5080" indent="-419100">
              <a:lnSpc>
                <a:spcPct val="99900"/>
              </a:lnSpc>
              <a:spcBef>
                <a:spcPts val="100"/>
              </a:spcBef>
            </a:pPr>
            <a:r>
              <a:rPr sz="3000" dirty="0">
                <a:solidFill>
                  <a:srgbClr val="677480"/>
                </a:solidFill>
                <a:latin typeface="Cambria Math"/>
                <a:cs typeface="Cambria Math"/>
              </a:rPr>
              <a:t>▷</a:t>
            </a:r>
            <a:r>
              <a:rPr sz="3000" spc="165" dirty="0">
                <a:solidFill>
                  <a:srgbClr val="677480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8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solution</a:t>
            </a:r>
            <a:r>
              <a:rPr sz="2800" spc="-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was</a:t>
            </a:r>
            <a:r>
              <a:rPr sz="2800" spc="-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placed</a:t>
            </a:r>
            <a:r>
              <a:rPr sz="2800" spc="-1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in</a:t>
            </a:r>
            <a:r>
              <a:rPr sz="28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90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2800" spc="-1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test-tube</a:t>
            </a:r>
            <a:r>
              <a:rPr sz="2800" spc="-1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677480"/>
                </a:solidFill>
                <a:latin typeface="Tahoma"/>
                <a:cs typeface="Tahoma"/>
              </a:rPr>
              <a:t>and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heated</a:t>
            </a:r>
            <a:r>
              <a:rPr sz="2800" spc="-1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6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800" spc="-1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35"</a:t>
            </a:r>
            <a:r>
              <a:rPr sz="2800" spc="-1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677480"/>
                </a:solidFill>
                <a:latin typeface="Tahoma"/>
                <a:cs typeface="Tahoma"/>
              </a:rPr>
              <a:t>centigrade.</a:t>
            </a:r>
            <a:r>
              <a:rPr sz="2800" spc="-1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677480"/>
                </a:solidFill>
                <a:latin typeface="Tahoma"/>
                <a:cs typeface="Tahoma"/>
              </a:rPr>
              <a:t>Small</a:t>
            </a:r>
            <a:r>
              <a:rPr sz="2800" spc="-1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amounts</a:t>
            </a:r>
            <a:r>
              <a:rPr sz="2800" spc="-1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40" dirty="0">
                <a:solidFill>
                  <a:srgbClr val="677480"/>
                </a:solidFill>
                <a:latin typeface="Tahoma"/>
                <a:cs typeface="Tahoma"/>
              </a:rPr>
              <a:t>of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yellow</a:t>
            </a:r>
            <a:r>
              <a:rPr sz="2800" spc="-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vapor</a:t>
            </a:r>
            <a:r>
              <a:rPr sz="2800" spc="-6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were</a:t>
            </a:r>
            <a:r>
              <a:rPr sz="2800" spc="-8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677480"/>
                </a:solidFill>
                <a:latin typeface="Tahoma"/>
                <a:cs typeface="Tahoma"/>
              </a:rPr>
              <a:t>emitted.</a:t>
            </a:r>
            <a:r>
              <a:rPr sz="2800" spc="-1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These</a:t>
            </a:r>
            <a:r>
              <a:rPr sz="2800" spc="-8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677480"/>
                </a:solidFill>
                <a:latin typeface="Tahoma"/>
                <a:cs typeface="Tahoma"/>
              </a:rPr>
              <a:t>were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odorless.</a:t>
            </a:r>
            <a:r>
              <a:rPr sz="2800" spc="-114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50" dirty="0">
                <a:solidFill>
                  <a:srgbClr val="677480"/>
                </a:solidFill>
                <a:latin typeface="Tahoma"/>
                <a:cs typeface="Tahoma"/>
              </a:rPr>
              <a:t>Forty</a:t>
            </a:r>
            <a:r>
              <a:rPr sz="2800" spc="-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milliliters</a:t>
            </a:r>
            <a:r>
              <a:rPr sz="2800" spc="-1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800" spc="-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water</a:t>
            </a:r>
            <a:r>
              <a:rPr sz="28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677480"/>
                </a:solidFill>
                <a:latin typeface="Tahoma"/>
                <a:cs typeface="Tahoma"/>
              </a:rPr>
              <a:t>were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added</a:t>
            </a:r>
            <a:r>
              <a:rPr sz="2800" spc="-1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6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800" spc="-1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800" spc="-17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solution,</a:t>
            </a:r>
            <a:r>
              <a:rPr sz="28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which</a:t>
            </a:r>
            <a:r>
              <a:rPr sz="2800" spc="-1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was</a:t>
            </a:r>
            <a:r>
              <a:rPr sz="2800" spc="-1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677480"/>
                </a:solidFill>
                <a:latin typeface="Tahoma"/>
                <a:cs typeface="Tahoma"/>
              </a:rPr>
              <a:t>then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heated</a:t>
            </a:r>
            <a:r>
              <a:rPr sz="2800" spc="-1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until</a:t>
            </a:r>
            <a:r>
              <a:rPr sz="2800" spc="-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it</a:t>
            </a:r>
            <a:r>
              <a:rPr sz="28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677480"/>
                </a:solidFill>
                <a:latin typeface="Tahoma"/>
                <a:cs typeface="Tahoma"/>
              </a:rPr>
              <a:t>began</a:t>
            </a:r>
            <a:r>
              <a:rPr sz="2800" spc="-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60" dirty="0">
                <a:solidFill>
                  <a:srgbClr val="677480"/>
                </a:solidFill>
                <a:latin typeface="Tahoma"/>
                <a:cs typeface="Tahoma"/>
              </a:rPr>
              <a:t>to</a:t>
            </a:r>
            <a:r>
              <a:rPr sz="2800" spc="-1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677480"/>
                </a:solidFill>
                <a:latin typeface="Tahoma"/>
                <a:cs typeface="Tahoma"/>
              </a:rPr>
              <a:t>boil.</a:t>
            </a:r>
            <a:r>
              <a:rPr sz="28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This</a:t>
            </a:r>
            <a:r>
              <a:rPr sz="28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677480"/>
                </a:solidFill>
                <a:latin typeface="Tahoma"/>
                <a:cs typeface="Tahoma"/>
              </a:rPr>
              <a:t>time,</a:t>
            </a:r>
            <a:r>
              <a:rPr sz="28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677480"/>
                </a:solidFill>
                <a:latin typeface="Tahoma"/>
                <a:cs typeface="Tahoma"/>
              </a:rPr>
              <a:t>grey </a:t>
            </a:r>
            <a:r>
              <a:rPr sz="2800" spc="-25" dirty="0">
                <a:solidFill>
                  <a:srgbClr val="677480"/>
                </a:solidFill>
                <a:latin typeface="Tahoma"/>
                <a:cs typeface="Tahoma"/>
              </a:rPr>
              <a:t>steam</a:t>
            </a:r>
            <a:r>
              <a:rPr sz="2800" spc="-15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was</a:t>
            </a:r>
            <a:r>
              <a:rPr sz="2800" spc="-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677480"/>
                </a:solidFill>
                <a:latin typeface="Tahoma"/>
                <a:cs typeface="Tahoma"/>
              </a:rPr>
              <a:t>emitted.</a:t>
            </a:r>
            <a:r>
              <a:rPr sz="2800" spc="-15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65" dirty="0">
                <a:solidFill>
                  <a:srgbClr val="677480"/>
                </a:solidFill>
                <a:latin typeface="Tahoma"/>
                <a:cs typeface="Tahoma"/>
              </a:rPr>
              <a:t>Water</a:t>
            </a:r>
            <a:r>
              <a:rPr sz="2800" spc="-14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droplets</a:t>
            </a:r>
            <a:r>
              <a:rPr sz="2800" spc="-1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gathered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on</a:t>
            </a:r>
            <a:r>
              <a:rPr sz="28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8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side</a:t>
            </a:r>
            <a:r>
              <a:rPr sz="2800" spc="-1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8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800" spc="-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test-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tube.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1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90" dirty="0">
                <a:latin typeface="Trebuchet MS"/>
                <a:cs typeface="Trebuchet MS"/>
              </a:rPr>
              <a:t>Example</a:t>
            </a:r>
            <a:r>
              <a:rPr b="1" spc="-185" dirty="0">
                <a:latin typeface="Trebuchet MS"/>
                <a:cs typeface="Trebuchet MS"/>
              </a:rPr>
              <a:t> </a:t>
            </a:r>
            <a:r>
              <a:rPr b="1" spc="40" dirty="0">
                <a:latin typeface="Trebuchet MS"/>
                <a:cs typeface="Trebuchet MS"/>
              </a:rPr>
              <a:t>Description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0818" y="1982216"/>
            <a:ext cx="341312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040765" algn="l"/>
                <a:tab pos="2376170" algn="l"/>
                <a:tab pos="2886710" algn="l"/>
              </a:tabLst>
            </a:pPr>
            <a:r>
              <a:rPr sz="2800" spc="-20" dirty="0">
                <a:solidFill>
                  <a:srgbClr val="677480"/>
                </a:solidFill>
                <a:latin typeface="Tahoma"/>
                <a:cs typeface="Tahoma"/>
              </a:rPr>
              <a:t>This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	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describes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	</a:t>
            </a:r>
            <a:r>
              <a:rPr sz="2800" spc="-25" dirty="0">
                <a:solidFill>
                  <a:srgbClr val="677480"/>
                </a:solidFill>
                <a:latin typeface="Tahoma"/>
                <a:cs typeface="Tahoma"/>
              </a:rPr>
              <a:t>the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experiment.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	</a:t>
            </a:r>
            <a:r>
              <a:rPr sz="2800" spc="165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21658" y="2408631"/>
            <a:ext cx="33394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90040" algn="l"/>
              </a:tabLst>
            </a:pP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careful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	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description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80026" y="1982216"/>
            <a:ext cx="351409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715" algn="r">
              <a:lnSpc>
                <a:spcPct val="100000"/>
              </a:lnSpc>
              <a:spcBef>
                <a:spcPts val="95"/>
              </a:spcBef>
              <a:tabLst>
                <a:tab pos="1200785" algn="l"/>
                <a:tab pos="2450465" algn="l"/>
                <a:tab pos="3115310" algn="l"/>
              </a:tabLst>
            </a:pP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steps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	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taken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	</a:t>
            </a:r>
            <a:r>
              <a:rPr sz="2800" spc="-25" dirty="0">
                <a:solidFill>
                  <a:srgbClr val="677480"/>
                </a:solidFill>
                <a:latin typeface="Tahoma"/>
                <a:cs typeface="Tahoma"/>
              </a:rPr>
              <a:t>in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	</a:t>
            </a:r>
            <a:r>
              <a:rPr sz="2800" spc="-25" dirty="0">
                <a:solidFill>
                  <a:srgbClr val="677480"/>
                </a:solidFill>
                <a:latin typeface="Tahoma"/>
                <a:cs typeface="Tahoma"/>
              </a:rPr>
              <a:t>an</a:t>
            </a:r>
            <a:endParaRPr sz="2800">
              <a:latin typeface="Tahoma"/>
              <a:cs typeface="Tahoma"/>
            </a:endParaRPr>
          </a:p>
          <a:p>
            <a:pPr marR="5080" algn="r">
              <a:lnSpc>
                <a:spcPct val="100000"/>
              </a:lnSpc>
            </a:pPr>
            <a:r>
              <a:rPr sz="2800" spc="40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818" y="2835910"/>
            <a:ext cx="7285355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methodological</a:t>
            </a:r>
            <a:r>
              <a:rPr sz="2800" spc="6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procedures</a:t>
            </a:r>
            <a:r>
              <a:rPr sz="2800" spc="7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is</a:t>
            </a:r>
            <a:r>
              <a:rPr sz="2800" spc="6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an</a:t>
            </a:r>
            <a:r>
              <a:rPr sz="2800" spc="6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important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part</a:t>
            </a:r>
            <a:r>
              <a:rPr sz="2800" spc="5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800" spc="50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writing</a:t>
            </a:r>
            <a:r>
              <a:rPr sz="2800" spc="5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up</a:t>
            </a:r>
            <a:r>
              <a:rPr sz="2800" spc="5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any</a:t>
            </a:r>
            <a:r>
              <a:rPr sz="2800" spc="509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kind</a:t>
            </a:r>
            <a:r>
              <a:rPr sz="2800" spc="509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800" spc="5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experimental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research.</a:t>
            </a:r>
            <a:r>
              <a:rPr sz="2800" spc="13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spc="150" dirty="0">
                <a:solidFill>
                  <a:srgbClr val="677480"/>
                </a:solidFill>
                <a:latin typeface="Tahoma"/>
                <a:cs typeface="Tahoma"/>
              </a:rPr>
              <a:t>No</a:t>
            </a:r>
            <a:r>
              <a:rPr sz="2800" spc="135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reasons</a:t>
            </a:r>
            <a:r>
              <a:rPr sz="2800" spc="13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are</a:t>
            </a:r>
            <a:r>
              <a:rPr sz="2800" spc="13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given</a:t>
            </a:r>
            <a:r>
              <a:rPr sz="2800" spc="13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for</a:t>
            </a:r>
            <a:r>
              <a:rPr sz="2800" spc="140" dirty="0">
                <a:solidFill>
                  <a:srgbClr val="677480"/>
                </a:solidFill>
                <a:latin typeface="Tahoma"/>
                <a:cs typeface="Tahoma"/>
              </a:rPr>
              <a:t>  </a:t>
            </a:r>
            <a:r>
              <a:rPr sz="2800" spc="-20" dirty="0">
                <a:solidFill>
                  <a:srgbClr val="677480"/>
                </a:solidFill>
                <a:latin typeface="Tahoma"/>
                <a:cs typeface="Tahoma"/>
              </a:rPr>
              <a:t>what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happened.</a:t>
            </a:r>
            <a:r>
              <a:rPr sz="2800" spc="1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That</a:t>
            </a:r>
            <a:r>
              <a:rPr sz="2800" spc="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critical</a:t>
            </a:r>
            <a:r>
              <a:rPr sz="2800" spc="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analysis</a:t>
            </a:r>
            <a:r>
              <a:rPr sz="2800" spc="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800" spc="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800" spc="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results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would</a:t>
            </a:r>
            <a:r>
              <a:rPr sz="2800" spc="-12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be</a:t>
            </a:r>
            <a:r>
              <a:rPr sz="2800" spc="-1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in</a:t>
            </a:r>
            <a:r>
              <a:rPr sz="2800" spc="-13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95" dirty="0">
                <a:solidFill>
                  <a:srgbClr val="677480"/>
                </a:solidFill>
                <a:latin typeface="Tahoma"/>
                <a:cs typeface="Tahoma"/>
              </a:rPr>
              <a:t>a</a:t>
            </a:r>
            <a:r>
              <a:rPr sz="2800" spc="-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677480"/>
                </a:solidFill>
                <a:latin typeface="Tahoma"/>
                <a:cs typeface="Tahoma"/>
              </a:rPr>
              <a:t>separate</a:t>
            </a:r>
            <a:r>
              <a:rPr sz="2800" spc="-140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part</a:t>
            </a:r>
            <a:r>
              <a:rPr sz="2800" spc="-1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677480"/>
                </a:solidFill>
                <a:latin typeface="Tahoma"/>
                <a:cs typeface="Tahoma"/>
              </a:rPr>
              <a:t>of</a:t>
            </a:r>
            <a:r>
              <a:rPr sz="2800" spc="-12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77480"/>
                </a:solidFill>
                <a:latin typeface="Tahoma"/>
                <a:cs typeface="Tahoma"/>
              </a:rPr>
              <a:t>the</a:t>
            </a:r>
            <a:r>
              <a:rPr sz="2800" spc="-135" dirty="0">
                <a:solidFill>
                  <a:srgbClr val="67748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677480"/>
                </a:solidFill>
                <a:latin typeface="Tahoma"/>
                <a:cs typeface="Tahoma"/>
              </a:rPr>
              <a:t>report.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75" dirty="0"/>
              <a:t>Distinguishing</a:t>
            </a:r>
            <a:r>
              <a:rPr spc="-140" dirty="0"/>
              <a:t> </a:t>
            </a:r>
            <a:r>
              <a:rPr spc="95" dirty="0"/>
              <a:t>argument</a:t>
            </a:r>
            <a:r>
              <a:rPr spc="-150" dirty="0"/>
              <a:t> </a:t>
            </a:r>
            <a:r>
              <a:rPr spc="35" dirty="0"/>
              <a:t>from </a:t>
            </a:r>
            <a:r>
              <a:rPr dirty="0"/>
              <a:t>other</a:t>
            </a:r>
            <a:r>
              <a:rPr spc="-125" dirty="0"/>
              <a:t> </a:t>
            </a:r>
            <a:r>
              <a:rPr spc="-10" dirty="0"/>
              <a:t>material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2496</Words>
  <Application>Microsoft Office PowerPoint</Application>
  <PresentationFormat>On-screen Show (4:3)</PresentationFormat>
  <Paragraphs>142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Arial</vt:lpstr>
      <vt:lpstr>Cambria Math</vt:lpstr>
      <vt:lpstr>Tahoma</vt:lpstr>
      <vt:lpstr>Times New Roman</vt:lpstr>
      <vt:lpstr>Trebuchet MS</vt:lpstr>
      <vt:lpstr>Office Theme</vt:lpstr>
      <vt:lpstr>Critical Thinking (BES-103)</vt:lpstr>
      <vt:lpstr>Lecture Outline</vt:lpstr>
      <vt:lpstr>Agreement and Disagreement</vt:lpstr>
      <vt:lpstr>Agreement and Disagreement</vt:lpstr>
      <vt:lpstr>Agreement and Disagreement</vt:lpstr>
      <vt:lpstr>Activity: Argument and Disagreement</vt:lpstr>
      <vt:lpstr>▷ Passage 1</vt:lpstr>
      <vt:lpstr>▷ Passage 1 ▷ Argument.</vt:lpstr>
      <vt:lpstr>Activity: Argument and Disagreement</vt:lpstr>
      <vt:lpstr>Activity: Argument and Disagreement</vt:lpstr>
      <vt:lpstr>▷ Passage 3 ▷ Several young people die each year training for the</vt:lpstr>
      <vt:lpstr>Activity: Argument and Disagreement</vt:lpstr>
      <vt:lpstr>Activity: Argument and Disagreement</vt:lpstr>
      <vt:lpstr>Activity: Argument and Disagreement</vt:lpstr>
      <vt:lpstr>Activity: Argument and Disagreement</vt:lpstr>
      <vt:lpstr>PowerPoint Presentation</vt:lpstr>
      <vt:lpstr>Activity: Argument and Disagreement</vt:lpstr>
      <vt:lpstr>Activity: Argument and Disagreement</vt:lpstr>
      <vt:lpstr>Non-Arguments-Descriptions</vt:lpstr>
      <vt:lpstr>Non-Arguments-Descriptions</vt:lpstr>
      <vt:lpstr>Non-Arguments-Descriptions</vt:lpstr>
      <vt:lpstr>Non-Arguments-Descriptions</vt:lpstr>
      <vt:lpstr>Non-Arguments-Explanation</vt:lpstr>
      <vt:lpstr>Non-Arguments-Explanation</vt:lpstr>
      <vt:lpstr>Non-Arguments-Explanation</vt:lpstr>
      <vt:lpstr>Distinguishing argument from other material</vt:lpstr>
      <vt:lpstr>Argument and disagreement</vt:lpstr>
      <vt:lpstr>Key Terms</vt:lpstr>
      <vt:lpstr>PowerPoint Presentation</vt:lpstr>
      <vt:lpstr>Example</vt:lpstr>
      <vt:lpstr>Example</vt:lpstr>
      <vt:lpstr>Example</vt:lpstr>
      <vt:lpstr>Example</vt:lpstr>
      <vt:lpstr>Argument Or disagreement?</vt:lpstr>
      <vt:lpstr>Argument Or disagreement?</vt:lpstr>
      <vt:lpstr>Argument Or disagreement?</vt:lpstr>
      <vt:lpstr>Non-arguments: Description</vt:lpstr>
      <vt:lpstr>Example</vt:lpstr>
      <vt:lpstr>Example Description</vt:lpstr>
      <vt:lpstr>Distinguishing argument from other material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Sarmad Soomro</dc:creator>
  <cp:lastModifiedBy>Bahria</cp:lastModifiedBy>
  <cp:revision>1</cp:revision>
  <dcterms:created xsi:type="dcterms:W3CDTF">2023-10-18T04:26:30Z</dcterms:created>
  <dcterms:modified xsi:type="dcterms:W3CDTF">2023-10-18T04:28:18Z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2023-03-27T00:00:00Z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2023-10-18T00:00:00Z</vt:filetime>
  </property>
  <property fmtid="{D5CDD505-2E9C-101B-9397-08002B2CF9AE}" pid="5" name="Producer">
    <vt:lpwstr>Microsoft® PowerPoint® for Microsoft 365</vt:lpwstr>
  </property>
</Properties>
</file>