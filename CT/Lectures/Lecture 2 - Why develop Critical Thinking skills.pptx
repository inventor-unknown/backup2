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2" r:id="rId1"/>
  </p:sldMasterIdLst>
  <p:notesMasterIdLst>
    <p:notesMasterId r:id="rId21"/>
  </p:notesMasterIdLst>
  <p:handoutMasterIdLst>
    <p:handoutMasterId r:id="rId22"/>
  </p:handoutMasterIdLst>
  <p:sldIdLst>
    <p:sldId id="445" r:id="rId2"/>
    <p:sldId id="442" r:id="rId3"/>
    <p:sldId id="453" r:id="rId4"/>
    <p:sldId id="454" r:id="rId5"/>
    <p:sldId id="452" r:id="rId6"/>
    <p:sldId id="455" r:id="rId7"/>
    <p:sldId id="456" r:id="rId8"/>
    <p:sldId id="448" r:id="rId9"/>
    <p:sldId id="459" r:id="rId10"/>
    <p:sldId id="460" r:id="rId11"/>
    <p:sldId id="461" r:id="rId12"/>
    <p:sldId id="462" r:id="rId13"/>
    <p:sldId id="465" r:id="rId14"/>
    <p:sldId id="464" r:id="rId15"/>
    <p:sldId id="466" r:id="rId16"/>
    <p:sldId id="457" r:id="rId17"/>
    <p:sldId id="449" r:id="rId18"/>
    <p:sldId id="458" r:id="rId19"/>
    <p:sldId id="45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81BA"/>
    <a:srgbClr val="F20253"/>
    <a:srgbClr val="677480"/>
    <a:srgbClr val="FF9715"/>
    <a:srgbClr val="DBD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94434" autoAdjust="0"/>
  </p:normalViewPr>
  <p:slideViewPr>
    <p:cSldViewPr snapToGrid="0">
      <p:cViewPr varScale="1">
        <p:scale>
          <a:sx n="70" d="100"/>
          <a:sy n="70" d="100"/>
        </p:scale>
        <p:origin x="1590"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4F8073-C4A0-411A-8586-835145D1358A}" type="datetimeFigureOut">
              <a:rPr lang="en-US" smtClean="0"/>
              <a:t>2/27/2023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309B39-1136-414F-94A2-54C5621BC649}" type="slidenum">
              <a:rPr lang="en-US" smtClean="0"/>
              <a:t>‹#›</a:t>
            </a:fld>
            <a:endParaRPr lang="en-US"/>
          </a:p>
        </p:txBody>
      </p:sp>
    </p:spTree>
    <p:extLst>
      <p:ext uri="{BB962C8B-B14F-4D97-AF65-F5344CB8AC3E}">
        <p14:creationId xmlns:p14="http://schemas.microsoft.com/office/powerpoint/2010/main" val="238006982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216D8-322A-4595-AD89-057F9326FDA3}" type="datetimeFigureOut">
              <a:rPr lang="en-US" smtClean="0"/>
              <a:t>2/27/2023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97D2D-EC81-4A0A-A993-099D5B47DE7A}" type="slidenum">
              <a:rPr lang="en-US" smtClean="0"/>
              <a:t>‹#›</a:t>
            </a:fld>
            <a:endParaRPr lang="en-US"/>
          </a:p>
        </p:txBody>
      </p:sp>
    </p:spTree>
    <p:extLst>
      <p:ext uri="{BB962C8B-B14F-4D97-AF65-F5344CB8AC3E}">
        <p14:creationId xmlns:p14="http://schemas.microsoft.com/office/powerpoint/2010/main" val="333227862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C97D2D-EC81-4A0A-A993-099D5B47DE7A}" type="slidenum">
              <a:rPr lang="en-US" smtClean="0"/>
              <a:t>1</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01915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https://www.lwionline.org/article/ancillary-skills-and-law-school-success#:~:text=This%20article%20assumes%20that%20some,academic%20or%20intellectual%20in%20nature.</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85C97D2D-EC81-4A0A-A993-099D5B47DE7A}" type="slidenum">
              <a:rPr lang="en-US" smtClean="0"/>
              <a:t>3</a:t>
            </a:fld>
            <a:endParaRPr lang="en-US"/>
          </a:p>
        </p:txBody>
      </p:sp>
    </p:spTree>
    <p:extLst>
      <p:ext uri="{BB962C8B-B14F-4D97-AF65-F5344CB8AC3E}">
        <p14:creationId xmlns:p14="http://schemas.microsoft.com/office/powerpoint/2010/main" val="512056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https://www.indeed.com/career-advice/career-development/organization-skills</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85C97D2D-EC81-4A0A-A993-099D5B47DE7A}" type="slidenum">
              <a:rPr lang="en-US" smtClean="0"/>
              <a:t>6</a:t>
            </a:fld>
            <a:endParaRPr lang="en-US"/>
          </a:p>
        </p:txBody>
      </p:sp>
    </p:spTree>
    <p:extLst>
      <p:ext uri="{BB962C8B-B14F-4D97-AF65-F5344CB8AC3E}">
        <p14:creationId xmlns:p14="http://schemas.microsoft.com/office/powerpoint/2010/main" val="6334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https://www.worldbank.org/en/topic/skillsdevelopment</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85C97D2D-EC81-4A0A-A993-099D5B47DE7A}" type="slidenum">
              <a:rPr lang="en-US" smtClean="0"/>
              <a:t>8</a:t>
            </a:fld>
            <a:endParaRPr lang="en-US"/>
          </a:p>
        </p:txBody>
      </p:sp>
    </p:spTree>
    <p:extLst>
      <p:ext uri="{BB962C8B-B14F-4D97-AF65-F5344CB8AC3E}">
        <p14:creationId xmlns:p14="http://schemas.microsoft.com/office/powerpoint/2010/main" val="498283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8"/>
        <p:cNvGrpSpPr/>
        <p:nvPr/>
      </p:nvGrpSpPr>
      <p:grpSpPr>
        <a:xfrm>
          <a:off x="0" y="0"/>
          <a:ext cx="0" cy="0"/>
          <a:chOff x="0" y="0"/>
          <a:chExt cx="0" cy="0"/>
        </a:xfrm>
      </p:grpSpPr>
      <p:sp>
        <p:nvSpPr>
          <p:cNvPr id="9" name="Shape 9"/>
          <p:cNvSpPr txBox="1">
            <a:spLocks noGrp="1"/>
          </p:cNvSpPr>
          <p:nvPr>
            <p:ph type="ctrTitle"/>
          </p:nvPr>
        </p:nvSpPr>
        <p:spPr>
          <a:xfrm>
            <a:off x="721425" y="3785246"/>
            <a:ext cx="5216700" cy="1546500"/>
          </a:xfrm>
          <a:prstGeom prst="rect">
            <a:avLst/>
          </a:prstGeom>
        </p:spPr>
        <p:txBody>
          <a:bodyPr spcFirstLastPara="1" wrap="square" lIns="91425" tIns="91425" rIns="91425" bIns="91425" anchor="t" anchorCtr="0"/>
          <a:lstStyle>
            <a:lvl1pPr lvl="0">
              <a:spcBef>
                <a:spcPts val="0"/>
              </a:spcBef>
              <a:spcAft>
                <a:spcPts val="0"/>
              </a:spcAft>
              <a:buClr>
                <a:srgbClr val="2185C5"/>
              </a:buClr>
              <a:buSzPts val="4800"/>
              <a:buNone/>
              <a:defRPr sz="4800">
                <a:solidFill>
                  <a:srgbClr val="2185C5"/>
                </a:solidFill>
              </a:defRPr>
            </a:lvl1pPr>
            <a:lvl2pPr lvl="1">
              <a:spcBef>
                <a:spcPts val="0"/>
              </a:spcBef>
              <a:spcAft>
                <a:spcPts val="0"/>
              </a:spcAft>
              <a:buClr>
                <a:srgbClr val="2185C5"/>
              </a:buClr>
              <a:buSzPts val="4800"/>
              <a:buNone/>
              <a:defRPr sz="4800">
                <a:solidFill>
                  <a:srgbClr val="2185C5"/>
                </a:solidFill>
              </a:defRPr>
            </a:lvl2pPr>
            <a:lvl3pPr lvl="2">
              <a:spcBef>
                <a:spcPts val="0"/>
              </a:spcBef>
              <a:spcAft>
                <a:spcPts val="0"/>
              </a:spcAft>
              <a:buClr>
                <a:srgbClr val="2185C5"/>
              </a:buClr>
              <a:buSzPts val="4800"/>
              <a:buNone/>
              <a:defRPr sz="4800">
                <a:solidFill>
                  <a:srgbClr val="2185C5"/>
                </a:solidFill>
              </a:defRPr>
            </a:lvl3pPr>
            <a:lvl4pPr lvl="3">
              <a:spcBef>
                <a:spcPts val="0"/>
              </a:spcBef>
              <a:spcAft>
                <a:spcPts val="0"/>
              </a:spcAft>
              <a:buClr>
                <a:srgbClr val="2185C5"/>
              </a:buClr>
              <a:buSzPts val="4800"/>
              <a:buNone/>
              <a:defRPr sz="4800">
                <a:solidFill>
                  <a:srgbClr val="2185C5"/>
                </a:solidFill>
              </a:defRPr>
            </a:lvl4pPr>
            <a:lvl5pPr lvl="4">
              <a:spcBef>
                <a:spcPts val="0"/>
              </a:spcBef>
              <a:spcAft>
                <a:spcPts val="0"/>
              </a:spcAft>
              <a:buClr>
                <a:srgbClr val="2185C5"/>
              </a:buClr>
              <a:buSzPts val="4800"/>
              <a:buNone/>
              <a:defRPr sz="4800">
                <a:solidFill>
                  <a:srgbClr val="2185C5"/>
                </a:solidFill>
              </a:defRPr>
            </a:lvl5pPr>
            <a:lvl6pPr lvl="5">
              <a:spcBef>
                <a:spcPts val="0"/>
              </a:spcBef>
              <a:spcAft>
                <a:spcPts val="0"/>
              </a:spcAft>
              <a:buClr>
                <a:srgbClr val="2185C5"/>
              </a:buClr>
              <a:buSzPts val="4800"/>
              <a:buNone/>
              <a:defRPr sz="4800">
                <a:solidFill>
                  <a:srgbClr val="2185C5"/>
                </a:solidFill>
              </a:defRPr>
            </a:lvl6pPr>
            <a:lvl7pPr lvl="6">
              <a:spcBef>
                <a:spcPts val="0"/>
              </a:spcBef>
              <a:spcAft>
                <a:spcPts val="0"/>
              </a:spcAft>
              <a:buClr>
                <a:srgbClr val="2185C5"/>
              </a:buClr>
              <a:buSzPts val="4800"/>
              <a:buNone/>
              <a:defRPr sz="4800">
                <a:solidFill>
                  <a:srgbClr val="2185C5"/>
                </a:solidFill>
              </a:defRPr>
            </a:lvl7pPr>
            <a:lvl8pPr lvl="7">
              <a:spcBef>
                <a:spcPts val="0"/>
              </a:spcBef>
              <a:spcAft>
                <a:spcPts val="0"/>
              </a:spcAft>
              <a:buClr>
                <a:srgbClr val="2185C5"/>
              </a:buClr>
              <a:buSzPts val="4800"/>
              <a:buNone/>
              <a:defRPr sz="4800">
                <a:solidFill>
                  <a:srgbClr val="2185C5"/>
                </a:solidFill>
              </a:defRPr>
            </a:lvl8pPr>
            <a:lvl9pPr lvl="8">
              <a:spcBef>
                <a:spcPts val="0"/>
              </a:spcBef>
              <a:spcAft>
                <a:spcPts val="0"/>
              </a:spcAft>
              <a:buClr>
                <a:srgbClr val="2185C5"/>
              </a:buClr>
              <a:buSzPts val="4800"/>
              <a:buNone/>
              <a:defRPr sz="4800">
                <a:solidFill>
                  <a:srgbClr val="2185C5"/>
                </a:solidFill>
              </a:defRPr>
            </a:lvl9pPr>
          </a:lstStyle>
          <a:p>
            <a:r>
              <a:rPr lang="en-US"/>
              <a:t>Click to edit Master title style</a:t>
            </a:r>
            <a:endParaRPr/>
          </a:p>
        </p:txBody>
      </p:sp>
      <p:sp>
        <p:nvSpPr>
          <p:cNvPr id="10" name="Shape 10"/>
          <p:cNvSpPr/>
          <p:nvPr/>
        </p:nvSpPr>
        <p:spPr>
          <a:xfrm>
            <a:off x="5938246" y="3377550"/>
            <a:ext cx="7218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Shape 11"/>
          <p:cNvSpPr/>
          <p:nvPr/>
        </p:nvSpPr>
        <p:spPr>
          <a:xfrm>
            <a:off x="6659861" y="3377550"/>
            <a:ext cx="7218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 name="Shape 12"/>
          <p:cNvSpPr/>
          <p:nvPr/>
        </p:nvSpPr>
        <p:spPr>
          <a:xfrm>
            <a:off x="-1" y="3377550"/>
            <a:ext cx="7218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 name="Shape 13"/>
          <p:cNvSpPr/>
          <p:nvPr/>
        </p:nvSpPr>
        <p:spPr>
          <a:xfrm>
            <a:off x="721425" y="3377550"/>
            <a:ext cx="52167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983283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ubtitle">
    <p:spTree>
      <p:nvGrpSpPr>
        <p:cNvPr id="1" name="Shape 14"/>
        <p:cNvGrpSpPr/>
        <p:nvPr/>
      </p:nvGrpSpPr>
      <p:grpSpPr>
        <a:xfrm>
          <a:off x="0" y="0"/>
          <a:ext cx="0" cy="0"/>
          <a:chOff x="0" y="0"/>
          <a:chExt cx="0" cy="0"/>
        </a:xfrm>
      </p:grpSpPr>
      <p:sp>
        <p:nvSpPr>
          <p:cNvPr id="15" name="Shape 15"/>
          <p:cNvSpPr/>
          <p:nvPr/>
        </p:nvSpPr>
        <p:spPr>
          <a:xfrm>
            <a:off x="0" y="0"/>
            <a:ext cx="9144000" cy="53238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16"/>
          <p:cNvSpPr txBox="1">
            <a:spLocks noGrp="1"/>
          </p:cNvSpPr>
          <p:nvPr>
            <p:ph type="ctrTitle"/>
          </p:nvPr>
        </p:nvSpPr>
        <p:spPr>
          <a:xfrm>
            <a:off x="685800" y="2111123"/>
            <a:ext cx="7772400" cy="1546500"/>
          </a:xfrm>
          <a:prstGeom prst="rect">
            <a:avLst/>
          </a:prstGeom>
        </p:spPr>
        <p:txBody>
          <a:bodyPr spcFirstLastPara="1" wrap="square" lIns="91425" tIns="91425" rIns="91425" bIns="91425" anchor="b" anchorCtr="0"/>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None/>
              <a:defRPr sz="4800">
                <a:solidFill>
                  <a:srgbClr val="FFFFFF"/>
                </a:solidFill>
              </a:defRPr>
            </a:lvl2pPr>
            <a:lvl3pPr lvl="2" algn="ctr" rtl="0">
              <a:spcBef>
                <a:spcPts val="0"/>
              </a:spcBef>
              <a:spcAft>
                <a:spcPts val="0"/>
              </a:spcAft>
              <a:buClr>
                <a:srgbClr val="FFFFFF"/>
              </a:buClr>
              <a:buSzPts val="4800"/>
              <a:buNone/>
              <a:defRPr sz="4800">
                <a:solidFill>
                  <a:srgbClr val="FFFFFF"/>
                </a:solidFill>
              </a:defRPr>
            </a:lvl3pPr>
            <a:lvl4pPr lvl="3" algn="ctr" rtl="0">
              <a:spcBef>
                <a:spcPts val="0"/>
              </a:spcBef>
              <a:spcAft>
                <a:spcPts val="0"/>
              </a:spcAft>
              <a:buClr>
                <a:srgbClr val="FFFFFF"/>
              </a:buClr>
              <a:buSzPts val="4800"/>
              <a:buNone/>
              <a:defRPr sz="4800">
                <a:solidFill>
                  <a:srgbClr val="FFFFFF"/>
                </a:solidFill>
              </a:defRPr>
            </a:lvl4pPr>
            <a:lvl5pPr lvl="4" algn="ctr" rtl="0">
              <a:spcBef>
                <a:spcPts val="0"/>
              </a:spcBef>
              <a:spcAft>
                <a:spcPts val="0"/>
              </a:spcAft>
              <a:buClr>
                <a:srgbClr val="FFFFFF"/>
              </a:buClr>
              <a:buSzPts val="4800"/>
              <a:buNone/>
              <a:defRPr sz="4800">
                <a:solidFill>
                  <a:srgbClr val="FFFFFF"/>
                </a:solidFill>
              </a:defRPr>
            </a:lvl5pPr>
            <a:lvl6pPr lvl="5" algn="ctr" rtl="0">
              <a:spcBef>
                <a:spcPts val="0"/>
              </a:spcBef>
              <a:spcAft>
                <a:spcPts val="0"/>
              </a:spcAft>
              <a:buClr>
                <a:srgbClr val="FFFFFF"/>
              </a:buClr>
              <a:buSzPts val="4800"/>
              <a:buNone/>
              <a:defRPr sz="4800">
                <a:solidFill>
                  <a:srgbClr val="FFFFFF"/>
                </a:solidFill>
              </a:defRPr>
            </a:lvl6pPr>
            <a:lvl7pPr lvl="6" algn="ctr" rtl="0">
              <a:spcBef>
                <a:spcPts val="0"/>
              </a:spcBef>
              <a:spcAft>
                <a:spcPts val="0"/>
              </a:spcAft>
              <a:buClr>
                <a:srgbClr val="FFFFFF"/>
              </a:buClr>
              <a:buSzPts val="4800"/>
              <a:buNone/>
              <a:defRPr sz="4800">
                <a:solidFill>
                  <a:srgbClr val="FFFFFF"/>
                </a:solidFill>
              </a:defRPr>
            </a:lvl7pPr>
            <a:lvl8pPr lvl="7" algn="ctr" rtl="0">
              <a:spcBef>
                <a:spcPts val="0"/>
              </a:spcBef>
              <a:spcAft>
                <a:spcPts val="0"/>
              </a:spcAft>
              <a:buClr>
                <a:srgbClr val="FFFFFF"/>
              </a:buClr>
              <a:buSzPts val="4800"/>
              <a:buNone/>
              <a:defRPr sz="4800">
                <a:solidFill>
                  <a:srgbClr val="FFFFFF"/>
                </a:solidFill>
              </a:defRPr>
            </a:lvl8pPr>
            <a:lvl9pPr lvl="8" algn="ctr" rtl="0">
              <a:spcBef>
                <a:spcPts val="0"/>
              </a:spcBef>
              <a:spcAft>
                <a:spcPts val="0"/>
              </a:spcAft>
              <a:buClr>
                <a:srgbClr val="FFFFFF"/>
              </a:buClr>
              <a:buSzPts val="4800"/>
              <a:buNone/>
              <a:defRPr sz="4800">
                <a:solidFill>
                  <a:srgbClr val="FFFFFF"/>
                </a:solidFill>
              </a:defRPr>
            </a:lvl9pPr>
          </a:lstStyle>
          <a:p>
            <a:r>
              <a:rPr lang="en-US"/>
              <a:t>Click to edit Master title style</a:t>
            </a:r>
            <a:endParaRPr/>
          </a:p>
        </p:txBody>
      </p:sp>
      <p:sp>
        <p:nvSpPr>
          <p:cNvPr id="17" name="Shape 17"/>
          <p:cNvSpPr txBox="1">
            <a:spLocks noGrp="1"/>
          </p:cNvSpPr>
          <p:nvPr>
            <p:ph type="subTitle" idx="1"/>
          </p:nvPr>
        </p:nvSpPr>
        <p:spPr>
          <a:xfrm>
            <a:off x="685800" y="3786738"/>
            <a:ext cx="7772400" cy="1046400"/>
          </a:xfrm>
          <a:prstGeom prst="rect">
            <a:avLst/>
          </a:prstGeom>
        </p:spPr>
        <p:txBody>
          <a:bodyPr spcFirstLastPara="1" wrap="square" lIns="91425" tIns="91425" rIns="91425" bIns="91425" anchor="t" anchorCtr="0"/>
          <a:lstStyle>
            <a:lvl1pPr lvl="0" algn="ctr" rtl="0">
              <a:spcBef>
                <a:spcPts val="0"/>
              </a:spcBef>
              <a:spcAft>
                <a:spcPts val="0"/>
              </a:spcAft>
              <a:buClr>
                <a:srgbClr val="FFFFFF"/>
              </a:buClr>
              <a:buSzPts val="2400"/>
              <a:buNone/>
              <a:defRPr sz="2400" b="1">
                <a:solidFill>
                  <a:srgbClr val="FFFFFF"/>
                </a:solidFill>
              </a:defRPr>
            </a:lvl1pPr>
            <a:lvl2pPr lvl="1" algn="ctr" rtl="0">
              <a:spcBef>
                <a:spcPts val="0"/>
              </a:spcBef>
              <a:spcAft>
                <a:spcPts val="0"/>
              </a:spcAft>
              <a:buClr>
                <a:srgbClr val="FFFFFF"/>
              </a:buClr>
              <a:buSzPts val="2400"/>
              <a:buNone/>
              <a:defRPr b="1">
                <a:solidFill>
                  <a:srgbClr val="FFFFFF"/>
                </a:solidFill>
              </a:defRPr>
            </a:lvl2pPr>
            <a:lvl3pPr lvl="2" algn="ctr" rtl="0">
              <a:spcBef>
                <a:spcPts val="0"/>
              </a:spcBef>
              <a:spcAft>
                <a:spcPts val="0"/>
              </a:spcAft>
              <a:buClr>
                <a:srgbClr val="FFFFFF"/>
              </a:buClr>
              <a:buSzPts val="2400"/>
              <a:buNone/>
              <a:defRPr b="1">
                <a:solidFill>
                  <a:srgbClr val="FFFFFF"/>
                </a:solidFill>
              </a:defRPr>
            </a:lvl3pPr>
            <a:lvl4pPr lvl="3" algn="ctr" rtl="0">
              <a:spcBef>
                <a:spcPts val="0"/>
              </a:spcBef>
              <a:spcAft>
                <a:spcPts val="0"/>
              </a:spcAft>
              <a:buClr>
                <a:srgbClr val="FFFFFF"/>
              </a:buClr>
              <a:buSzPts val="2400"/>
              <a:buNone/>
              <a:defRPr sz="2400" b="1">
                <a:solidFill>
                  <a:srgbClr val="FFFFFF"/>
                </a:solidFill>
              </a:defRPr>
            </a:lvl4pPr>
            <a:lvl5pPr lvl="4" algn="ctr" rtl="0">
              <a:spcBef>
                <a:spcPts val="0"/>
              </a:spcBef>
              <a:spcAft>
                <a:spcPts val="0"/>
              </a:spcAft>
              <a:buClr>
                <a:srgbClr val="FFFFFF"/>
              </a:buClr>
              <a:buSzPts val="2400"/>
              <a:buNone/>
              <a:defRPr sz="2400" b="1">
                <a:solidFill>
                  <a:srgbClr val="FFFFFF"/>
                </a:solidFill>
              </a:defRPr>
            </a:lvl5pPr>
            <a:lvl6pPr lvl="5" algn="ctr" rtl="0">
              <a:spcBef>
                <a:spcPts val="0"/>
              </a:spcBef>
              <a:spcAft>
                <a:spcPts val="0"/>
              </a:spcAft>
              <a:buClr>
                <a:srgbClr val="FFFFFF"/>
              </a:buClr>
              <a:buSzPts val="2400"/>
              <a:buNone/>
              <a:defRPr sz="2400" b="1">
                <a:solidFill>
                  <a:srgbClr val="FFFFFF"/>
                </a:solidFill>
              </a:defRPr>
            </a:lvl6pPr>
            <a:lvl7pPr lvl="6" algn="ctr" rtl="0">
              <a:spcBef>
                <a:spcPts val="0"/>
              </a:spcBef>
              <a:spcAft>
                <a:spcPts val="0"/>
              </a:spcAft>
              <a:buClr>
                <a:srgbClr val="FFFFFF"/>
              </a:buClr>
              <a:buSzPts val="2400"/>
              <a:buNone/>
              <a:defRPr sz="2400" b="1">
                <a:solidFill>
                  <a:srgbClr val="FFFFFF"/>
                </a:solidFill>
              </a:defRPr>
            </a:lvl7pPr>
            <a:lvl8pPr lvl="7" algn="ctr" rtl="0">
              <a:spcBef>
                <a:spcPts val="0"/>
              </a:spcBef>
              <a:spcAft>
                <a:spcPts val="0"/>
              </a:spcAft>
              <a:buClr>
                <a:srgbClr val="FFFFFF"/>
              </a:buClr>
              <a:buSzPts val="2400"/>
              <a:buNone/>
              <a:defRPr sz="2400" b="1">
                <a:solidFill>
                  <a:srgbClr val="FFFFFF"/>
                </a:solidFill>
              </a:defRPr>
            </a:lvl8pPr>
            <a:lvl9pPr lvl="8" algn="ctr" rtl="0">
              <a:spcBef>
                <a:spcPts val="0"/>
              </a:spcBef>
              <a:spcAft>
                <a:spcPts val="0"/>
              </a:spcAft>
              <a:buClr>
                <a:srgbClr val="FFFFFF"/>
              </a:buClr>
              <a:buSzPts val="2400"/>
              <a:buNone/>
              <a:defRPr sz="2400" b="1">
                <a:solidFill>
                  <a:srgbClr val="FFFFFF"/>
                </a:solidFill>
              </a:defRPr>
            </a:lvl9pPr>
          </a:lstStyle>
          <a:p>
            <a:r>
              <a:rPr lang="en-US"/>
              <a:t>Click to edit Master subtitle style</a:t>
            </a:r>
            <a:endParaRPr/>
          </a:p>
        </p:txBody>
      </p:sp>
      <p:sp>
        <p:nvSpPr>
          <p:cNvPr id="18" name="Shape 18"/>
          <p:cNvSpPr/>
          <p:nvPr/>
        </p:nvSpPr>
        <p:spPr>
          <a:xfrm>
            <a:off x="3047704" y="5323800"/>
            <a:ext cx="3047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 name="Shape 19"/>
          <p:cNvSpPr/>
          <p:nvPr/>
        </p:nvSpPr>
        <p:spPr>
          <a:xfrm>
            <a:off x="6096271" y="5323800"/>
            <a:ext cx="3047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 name="Shape 20"/>
          <p:cNvSpPr/>
          <p:nvPr/>
        </p:nvSpPr>
        <p:spPr>
          <a:xfrm>
            <a:off x="1" y="5323800"/>
            <a:ext cx="3047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158294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893700" y="274650"/>
            <a:ext cx="6462600" cy="1143000"/>
          </a:xfrm>
          <a:prstGeom prst="rect">
            <a:avLst/>
          </a:prstGeom>
        </p:spPr>
        <p:txBody>
          <a:bodyPr spcFirstLastPara="1" wrap="square" lIns="91425" tIns="91425" rIns="91425" bIns="91425" anchor="b" anchorCtr="0"/>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0" name="Shape 30"/>
          <p:cNvSpPr txBox="1">
            <a:spLocks noGrp="1"/>
          </p:cNvSpPr>
          <p:nvPr>
            <p:ph type="body" idx="1"/>
          </p:nvPr>
        </p:nvSpPr>
        <p:spPr>
          <a:xfrm>
            <a:off x="893700" y="1831450"/>
            <a:ext cx="6462600" cy="47364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pPr lvl="0"/>
            <a:r>
              <a:rPr lang="en-US"/>
              <a:t>Click to edit Master text styles</a:t>
            </a:r>
          </a:p>
        </p:txBody>
      </p:sp>
      <p:sp>
        <p:nvSpPr>
          <p:cNvPr id="31" name="Shape 31"/>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 name="Shape 32"/>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33"/>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 name="Shape 34"/>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292179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893700" y="274650"/>
            <a:ext cx="6462600" cy="1143000"/>
          </a:xfrm>
          <a:prstGeom prst="rect">
            <a:avLst/>
          </a:prstGeom>
        </p:spPr>
        <p:txBody>
          <a:bodyPr spcFirstLastPara="1" wrap="square" lIns="91425" tIns="91425" rIns="91425" bIns="91425" anchor="b" anchorCtr="0"/>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r>
              <a:rPr lang="en-US"/>
              <a:t>Click to edit Master title style</a:t>
            </a:r>
            <a:endParaRPr/>
          </a:p>
        </p:txBody>
      </p:sp>
      <p:sp>
        <p:nvSpPr>
          <p:cNvPr id="45" name="Shape 45"/>
          <p:cNvSpPr txBox="1">
            <a:spLocks noGrp="1"/>
          </p:cNvSpPr>
          <p:nvPr>
            <p:ph type="body" idx="1"/>
          </p:nvPr>
        </p:nvSpPr>
        <p:spPr>
          <a:xfrm>
            <a:off x="893700" y="1600200"/>
            <a:ext cx="2371200" cy="4967700"/>
          </a:xfrm>
          <a:prstGeom prst="rect">
            <a:avLst/>
          </a:prstGeom>
        </p:spPr>
        <p:txBody>
          <a:bodyPr spcFirstLastPara="1" wrap="square" lIns="91425" tIns="91425" rIns="91425" bIns="91425" anchor="t" anchorCtr="0"/>
          <a:lstStyle>
            <a:lvl1pPr marL="457200" lvl="0" indent="-317500" rtl="0">
              <a:spcBef>
                <a:spcPts val="600"/>
              </a:spcBef>
              <a:spcAft>
                <a:spcPts val="0"/>
              </a:spcAft>
              <a:buSzPts val="1400"/>
              <a:buChar char="▷"/>
              <a:defRPr sz="1400"/>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a:pPr lvl="0"/>
            <a:r>
              <a:rPr lang="en-US"/>
              <a:t>Click to edit Master text styles</a:t>
            </a:r>
          </a:p>
        </p:txBody>
      </p:sp>
      <p:sp>
        <p:nvSpPr>
          <p:cNvPr id="46" name="Shape 46"/>
          <p:cNvSpPr txBox="1">
            <a:spLocks noGrp="1"/>
          </p:cNvSpPr>
          <p:nvPr>
            <p:ph type="body" idx="2"/>
          </p:nvPr>
        </p:nvSpPr>
        <p:spPr>
          <a:xfrm>
            <a:off x="3386404" y="1600200"/>
            <a:ext cx="2371200" cy="4967700"/>
          </a:xfrm>
          <a:prstGeom prst="rect">
            <a:avLst/>
          </a:prstGeom>
        </p:spPr>
        <p:txBody>
          <a:bodyPr spcFirstLastPara="1" wrap="square" lIns="91425" tIns="91425" rIns="91425" bIns="91425" anchor="t" anchorCtr="0"/>
          <a:lstStyle>
            <a:lvl1pPr marL="457200" lvl="0" indent="-317500" rtl="0">
              <a:spcBef>
                <a:spcPts val="600"/>
              </a:spcBef>
              <a:spcAft>
                <a:spcPts val="0"/>
              </a:spcAft>
              <a:buSzPts val="1400"/>
              <a:buChar char="▷"/>
              <a:defRPr sz="1400"/>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a:pPr lvl="0"/>
            <a:r>
              <a:rPr lang="en-US"/>
              <a:t>Click to edit Master text styles</a:t>
            </a:r>
          </a:p>
        </p:txBody>
      </p:sp>
      <p:sp>
        <p:nvSpPr>
          <p:cNvPr id="47" name="Shape 47"/>
          <p:cNvSpPr txBox="1">
            <a:spLocks noGrp="1"/>
          </p:cNvSpPr>
          <p:nvPr>
            <p:ph type="body" idx="3"/>
          </p:nvPr>
        </p:nvSpPr>
        <p:spPr>
          <a:xfrm>
            <a:off x="5879107" y="1600200"/>
            <a:ext cx="2371200" cy="4967700"/>
          </a:xfrm>
          <a:prstGeom prst="rect">
            <a:avLst/>
          </a:prstGeom>
        </p:spPr>
        <p:txBody>
          <a:bodyPr spcFirstLastPara="1" wrap="square" lIns="91425" tIns="91425" rIns="91425" bIns="91425" anchor="t" anchorCtr="0"/>
          <a:lstStyle>
            <a:lvl1pPr marL="457200" lvl="0" indent="-317500" rtl="0">
              <a:spcBef>
                <a:spcPts val="600"/>
              </a:spcBef>
              <a:spcAft>
                <a:spcPts val="0"/>
              </a:spcAft>
              <a:buSzPts val="1400"/>
              <a:buChar char="▷"/>
              <a:defRPr sz="1400"/>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a:pPr lvl="0"/>
            <a:r>
              <a:rPr lang="en-US"/>
              <a:t>Click to edit Master text styles</a:t>
            </a:r>
          </a:p>
        </p:txBody>
      </p:sp>
      <p:sp>
        <p:nvSpPr>
          <p:cNvPr id="48" name="Shape 48"/>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 name="Shape 49"/>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 name="Shape 50"/>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51"/>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713807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52"/>
        <p:cNvGrpSpPr/>
        <p:nvPr/>
      </p:nvGrpSpPr>
      <p:grpSpPr>
        <a:xfrm>
          <a:off x="0" y="0"/>
          <a:ext cx="0" cy="0"/>
          <a:chOff x="0" y="0"/>
          <a:chExt cx="0" cy="0"/>
        </a:xfrm>
      </p:grpSpPr>
      <p:sp>
        <p:nvSpPr>
          <p:cNvPr id="53" name="Shape 53"/>
          <p:cNvSpPr txBox="1">
            <a:spLocks noGrp="1"/>
          </p:cNvSpPr>
          <p:nvPr>
            <p:ph type="title"/>
          </p:nvPr>
        </p:nvSpPr>
        <p:spPr>
          <a:xfrm>
            <a:off x="893700" y="274650"/>
            <a:ext cx="6462600" cy="1143000"/>
          </a:xfrm>
          <a:prstGeom prst="rect">
            <a:avLst/>
          </a:prstGeom>
        </p:spPr>
        <p:txBody>
          <a:bodyPr spcFirstLastPara="1" wrap="square" lIns="91425" tIns="91425" rIns="91425" bIns="91425" anchor="b" anchorCtr="0"/>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54" name="Shape 54"/>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 name="Shape 55"/>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 name="Shape 56"/>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 name="Shape 57"/>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65867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58"/>
        <p:cNvGrpSpPr/>
        <p:nvPr/>
      </p:nvGrpSpPr>
      <p:grpSpPr>
        <a:xfrm>
          <a:off x="0" y="0"/>
          <a:ext cx="0" cy="0"/>
          <a:chOff x="0" y="0"/>
          <a:chExt cx="0" cy="0"/>
        </a:xfrm>
      </p:grpSpPr>
      <p:sp>
        <p:nvSpPr>
          <p:cNvPr id="59" name="Shape 59"/>
          <p:cNvSpPr txBox="1">
            <a:spLocks noGrp="1"/>
          </p:cNvSpPr>
          <p:nvPr>
            <p:ph type="body" idx="1"/>
          </p:nvPr>
        </p:nvSpPr>
        <p:spPr>
          <a:xfrm>
            <a:off x="893700" y="6199950"/>
            <a:ext cx="6462600" cy="467700"/>
          </a:xfrm>
          <a:prstGeom prst="rect">
            <a:avLst/>
          </a:prstGeom>
        </p:spPr>
        <p:txBody>
          <a:bodyPr spcFirstLastPara="1" wrap="square" lIns="91425" tIns="91425" rIns="91425" bIns="91425" anchor="b" anchorCtr="0"/>
          <a:lstStyle>
            <a:lvl1pPr marL="457200" lvl="0" indent="-228600">
              <a:spcBef>
                <a:spcPts val="360"/>
              </a:spcBef>
              <a:spcAft>
                <a:spcPts val="0"/>
              </a:spcAft>
              <a:buClr>
                <a:srgbClr val="2185C5"/>
              </a:buClr>
              <a:buSzPts val="1400"/>
              <a:buNone/>
              <a:defRPr sz="1400">
                <a:solidFill>
                  <a:srgbClr val="2185C5"/>
                </a:solidFill>
              </a:defRPr>
            </a:lvl1pPr>
          </a:lstStyle>
          <a:p>
            <a:pPr lvl="0"/>
            <a:r>
              <a:rPr lang="en-US"/>
              <a:t>Click to edit Master text styles</a:t>
            </a:r>
          </a:p>
        </p:txBody>
      </p:sp>
      <p:sp>
        <p:nvSpPr>
          <p:cNvPr id="60" name="Shape 60"/>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 name="Shape 61"/>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 name="Shape 62"/>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63"/>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89944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4"/>
        <p:cNvGrpSpPr/>
        <p:nvPr/>
      </p:nvGrpSpPr>
      <p:grpSpPr>
        <a:xfrm>
          <a:off x="0" y="0"/>
          <a:ext cx="0" cy="0"/>
          <a:chOff x="0" y="0"/>
          <a:chExt cx="0" cy="0"/>
        </a:xfrm>
      </p:grpSpPr>
      <p:sp>
        <p:nvSpPr>
          <p:cNvPr id="65" name="Shape 65"/>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 name="Shape 66"/>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 name="Shape 67"/>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68"/>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178589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Blank color background">
    <p:bg>
      <p:bgPr>
        <a:solidFill>
          <a:srgbClr val="2185C5"/>
        </a:solidFill>
        <a:effectLst/>
      </p:bgPr>
    </p:bg>
    <p:spTree>
      <p:nvGrpSpPr>
        <p:cNvPr id="1" name="Shape 69"/>
        <p:cNvGrpSpPr/>
        <p:nvPr/>
      </p:nvGrpSpPr>
      <p:grpSpPr>
        <a:xfrm>
          <a:off x="0" y="0"/>
          <a:ext cx="0" cy="0"/>
          <a:chOff x="0" y="0"/>
          <a:chExt cx="0" cy="0"/>
        </a:xfrm>
      </p:grpSpPr>
      <p:sp>
        <p:nvSpPr>
          <p:cNvPr id="70" name="Shape 70"/>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71"/>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 name="Shape 72"/>
          <p:cNvSpPr/>
          <p:nvPr/>
        </p:nvSpPr>
        <p:spPr>
          <a:xfrm>
            <a:off x="0" y="6755100"/>
            <a:ext cx="893700" cy="102900"/>
          </a:xfrm>
          <a:prstGeom prst="rect">
            <a:avLst/>
          </a:prstGeom>
          <a:solidFill>
            <a:srgbClr val="FFFFF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 name="Shape 73"/>
          <p:cNvSpPr/>
          <p:nvPr/>
        </p:nvSpPr>
        <p:spPr>
          <a:xfrm>
            <a:off x="893710" y="6755100"/>
            <a:ext cx="64626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0038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a:prstGeom prst="rect">
            <a:avLst/>
          </a:prstGeom>
        </p:spPr>
        <p:txBody>
          <a:bodyPr/>
          <a:lstStyle/>
          <a:p>
            <a:endParaRPr lang="en-US" dirty="0"/>
          </a:p>
        </p:txBody>
      </p:sp>
      <p:sp>
        <p:nvSpPr>
          <p:cNvPr id="5" name="Footer Placeholder 4"/>
          <p:cNvSpPr>
            <a:spLocks noGrp="1"/>
          </p:cNvSpPr>
          <p:nvPr>
            <p:ph type="ftr" sz="quarter" idx="11"/>
          </p:nvPr>
        </p:nvSpPr>
        <p:spPr>
          <a:xfrm>
            <a:off x="1921934" y="5054602"/>
            <a:ext cx="4064860" cy="279400"/>
          </a:xfrm>
          <a:prstGeom prst="rect">
            <a:avLst/>
          </a:prstGeom>
        </p:spPr>
        <p:txBody>
          <a:bodyPr/>
          <a:lstStyle/>
          <a:p>
            <a:endParaRPr lang="en-US" dirty="0"/>
          </a:p>
        </p:txBody>
      </p:sp>
      <p:sp>
        <p:nvSpPr>
          <p:cNvPr id="6" name="Slide Number Placeholder 5"/>
          <p:cNvSpPr>
            <a:spLocks noGrp="1"/>
          </p:cNvSpPr>
          <p:nvPr>
            <p:ph type="sldNum" sz="quarter" idx="12"/>
          </p:nvPr>
        </p:nvSpPr>
        <p:spPr>
          <a:xfrm>
            <a:off x="6817317" y="5054602"/>
            <a:ext cx="413483" cy="279400"/>
          </a:xfrm>
          <a:prstGeom prst="rect">
            <a:avLst/>
          </a:prstGeo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34856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356670" y="5960533"/>
            <a:ext cx="1148283" cy="279400"/>
          </a:xfrm>
          <a:prstGeom prst="rect">
            <a:avLst/>
          </a:prstGeom>
        </p:spPr>
        <p:txBody>
          <a:bodyPr/>
          <a:lstStyle/>
          <a:p>
            <a:endParaRPr lang="en-US" dirty="0"/>
          </a:p>
        </p:txBody>
      </p:sp>
      <p:sp>
        <p:nvSpPr>
          <p:cNvPr id="5" name="Footer Placeholder 4"/>
          <p:cNvSpPr>
            <a:spLocks noGrp="1"/>
          </p:cNvSpPr>
          <p:nvPr>
            <p:ph type="ftr" sz="quarter" idx="11"/>
          </p:nvPr>
        </p:nvSpPr>
        <p:spPr>
          <a:xfrm>
            <a:off x="1176865" y="5960533"/>
            <a:ext cx="5104667" cy="279400"/>
          </a:xfrm>
          <a:prstGeom prst="rect">
            <a:avLst/>
          </a:prstGeom>
        </p:spPr>
        <p:txBody>
          <a:bodyPr/>
          <a:lstStyle/>
          <a:p>
            <a:endParaRPr lang="en-US" dirty="0"/>
          </a:p>
        </p:txBody>
      </p:sp>
      <p:sp>
        <p:nvSpPr>
          <p:cNvPr id="6" name="Slide Number Placeholder 5"/>
          <p:cNvSpPr>
            <a:spLocks noGrp="1"/>
          </p:cNvSpPr>
          <p:nvPr>
            <p:ph type="sldNum" sz="quarter" idx="12"/>
          </p:nvPr>
        </p:nvSpPr>
        <p:spPr>
          <a:xfrm>
            <a:off x="8570575" y="6094733"/>
            <a:ext cx="573300" cy="763200"/>
          </a:xfrm>
          <a:prstGeom prst="rect">
            <a:avLst/>
          </a:prstGeo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59708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356670" y="5960533"/>
            <a:ext cx="1148283" cy="279400"/>
          </a:xfrm>
          <a:prstGeom prst="rect">
            <a:avLst/>
          </a:prstGeom>
        </p:spPr>
        <p:txBody>
          <a:bodyPr/>
          <a:lstStyle/>
          <a:p>
            <a:endParaRPr lang="en-US"/>
          </a:p>
        </p:txBody>
      </p:sp>
      <p:sp>
        <p:nvSpPr>
          <p:cNvPr id="8" name="Footer Placeholder 7"/>
          <p:cNvSpPr>
            <a:spLocks noGrp="1"/>
          </p:cNvSpPr>
          <p:nvPr>
            <p:ph type="ftr" sz="quarter" idx="11"/>
          </p:nvPr>
        </p:nvSpPr>
        <p:spPr>
          <a:xfrm>
            <a:off x="1176865" y="5960533"/>
            <a:ext cx="5104667" cy="279400"/>
          </a:xfrm>
          <a:prstGeom prst="rect">
            <a:avLst/>
          </a:prstGeom>
        </p:spPr>
        <p:txBody>
          <a:bodyPr/>
          <a:lstStyle/>
          <a:p>
            <a:endParaRPr lang="en-US"/>
          </a:p>
        </p:txBody>
      </p:sp>
      <p:sp>
        <p:nvSpPr>
          <p:cNvPr id="9" name="Slide Number Placeholder 8"/>
          <p:cNvSpPr>
            <a:spLocks noGrp="1"/>
          </p:cNvSpPr>
          <p:nvPr>
            <p:ph type="sldNum" sz="quarter" idx="12"/>
          </p:nvPr>
        </p:nvSpPr>
        <p:spPr>
          <a:xfrm>
            <a:off x="8570575" y="6094733"/>
            <a:ext cx="573300" cy="763200"/>
          </a:xfrm>
          <a:prstGeom prst="rect">
            <a:avLst/>
          </a:prstGeom>
        </p:spPr>
        <p:txBody>
          <a:bodyPr/>
          <a:lstStyle/>
          <a:p>
            <a:fld id="{03386776-F45E-49C1-98FD-120D657D1DB7}" type="slidenum">
              <a:rPr lang="en-US" smtClean="0"/>
              <a:t>‹#›</a:t>
            </a:fld>
            <a:endParaRPr lang="en-US"/>
          </a:p>
        </p:txBody>
      </p:sp>
    </p:spTree>
    <p:extLst>
      <p:ext uri="{BB962C8B-B14F-4D97-AF65-F5344CB8AC3E}">
        <p14:creationId xmlns:p14="http://schemas.microsoft.com/office/powerpoint/2010/main" val="276955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93700" y="274650"/>
            <a:ext cx="6462600" cy="11430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1pPr>
            <a:lvl2pPr lvl="1">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2pPr>
            <a:lvl3pPr lvl="2">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3pPr>
            <a:lvl4pPr lvl="3">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4pPr>
            <a:lvl5pPr lvl="4">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5pPr>
            <a:lvl6pPr lvl="5">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6pPr>
            <a:lvl7pPr lvl="6">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7pPr>
            <a:lvl8pPr lvl="7">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8pPr>
            <a:lvl9pPr lvl="8">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9pPr>
          </a:lstStyle>
          <a:p>
            <a:endParaRPr/>
          </a:p>
        </p:txBody>
      </p:sp>
      <p:sp>
        <p:nvSpPr>
          <p:cNvPr id="7" name="Shape 7"/>
          <p:cNvSpPr txBox="1">
            <a:spLocks noGrp="1"/>
          </p:cNvSpPr>
          <p:nvPr>
            <p:ph type="body" idx="1"/>
          </p:nvPr>
        </p:nvSpPr>
        <p:spPr>
          <a:xfrm>
            <a:off x="893700" y="1831450"/>
            <a:ext cx="6462600" cy="47364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677480"/>
              </a:buClr>
              <a:buSzPts val="3000"/>
              <a:buFont typeface="Lato"/>
              <a:buChar char="▷"/>
              <a:defRPr sz="3000">
                <a:solidFill>
                  <a:srgbClr val="677480"/>
                </a:solidFill>
                <a:latin typeface="Lato"/>
                <a:ea typeface="Lato"/>
                <a:cs typeface="Lato"/>
                <a:sym typeface="Lato"/>
              </a:defRPr>
            </a:lvl1pPr>
            <a:lvl2pPr marL="914400" lvl="1" indent="-381000">
              <a:spcBef>
                <a:spcPts val="0"/>
              </a:spcBef>
              <a:spcAft>
                <a:spcPts val="0"/>
              </a:spcAft>
              <a:buClr>
                <a:srgbClr val="677480"/>
              </a:buClr>
              <a:buSzPts val="2400"/>
              <a:buFont typeface="Lato"/>
              <a:buChar char="○"/>
              <a:defRPr sz="2400">
                <a:solidFill>
                  <a:srgbClr val="677480"/>
                </a:solidFill>
                <a:latin typeface="Lato"/>
                <a:ea typeface="Lato"/>
                <a:cs typeface="Lato"/>
                <a:sym typeface="Lato"/>
              </a:defRPr>
            </a:lvl2pPr>
            <a:lvl3pPr marL="1371600" lvl="2" indent="-381000">
              <a:spcBef>
                <a:spcPts val="0"/>
              </a:spcBef>
              <a:spcAft>
                <a:spcPts val="0"/>
              </a:spcAft>
              <a:buClr>
                <a:srgbClr val="677480"/>
              </a:buClr>
              <a:buSzPts val="2400"/>
              <a:buFont typeface="Lato"/>
              <a:buChar char="■"/>
              <a:defRPr sz="2400">
                <a:solidFill>
                  <a:srgbClr val="677480"/>
                </a:solidFill>
                <a:latin typeface="Lato"/>
                <a:ea typeface="Lato"/>
                <a:cs typeface="Lato"/>
                <a:sym typeface="Lato"/>
              </a:defRPr>
            </a:lvl3pPr>
            <a:lvl4pPr marL="1828800" lvl="3"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4pPr>
            <a:lvl5pPr marL="2286000" lvl="4"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5pPr>
            <a:lvl6pPr marL="2743200" lvl="5"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6pPr>
            <a:lvl7pPr marL="3200400" lvl="6"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7pPr>
            <a:lvl8pPr marL="3657600" lvl="7"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8pPr>
            <a:lvl9pPr marL="4114800" lvl="8"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9pPr>
          </a:lstStyle>
          <a:p>
            <a:endParaRPr/>
          </a:p>
        </p:txBody>
      </p:sp>
    </p:spTree>
    <p:extLst>
      <p:ext uri="{BB962C8B-B14F-4D97-AF65-F5344CB8AC3E}">
        <p14:creationId xmlns:p14="http://schemas.microsoft.com/office/powerpoint/2010/main" val="3550675340"/>
      </p:ext>
    </p:extLst>
  </p:cSld>
  <p:clrMap bg1="lt1" tx1="dk1" bg2="dk2" tx2="lt2" accent1="accent1" accent2="accent2" accent3="accent3" accent4="accent4" accent5="accent5" accent6="accent6" hlink="hlink" folHlink="folHlink"/>
  <p:sldLayoutIdLst>
    <p:sldLayoutId id="2147484023" r:id="rId1"/>
    <p:sldLayoutId id="2147484024" r:id="rId2"/>
    <p:sldLayoutId id="2147484026"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link.springer.com/referencework/10.1007/978-3-319-01384-8" TargetMode="External"/><Relationship Id="rId2" Type="http://schemas.openxmlformats.org/officeDocument/2006/relationships/hyperlink" Target="https://www.wgu.edu/blog/computer-science-skills-resume1911.html#close"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6573" y="2471601"/>
            <a:ext cx="6342839" cy="864027"/>
          </a:xfrm>
        </p:spPr>
        <p:txBody>
          <a:bodyPr>
            <a:normAutofit fontScale="90000"/>
          </a:bodyPr>
          <a:lstStyle/>
          <a:p>
            <a:r>
              <a:rPr lang="en-US" altLang="ko-KR" b="1" dirty="0">
                <a:solidFill>
                  <a:schemeClr val="accent1">
                    <a:lumMod val="50000"/>
                  </a:schemeClr>
                </a:solidFill>
                <a:effectLst>
                  <a:outerShdw blurRad="38100" dist="38100" dir="2700000" algn="tl">
                    <a:srgbClr val="C0C0C0"/>
                  </a:outerShdw>
                </a:effectLst>
                <a:latin typeface="Times New Roman" panose="02020603050405020304" pitchFamily="18" charset="0"/>
                <a:ea typeface="Gulim" panose="020B0600000101010101" pitchFamily="34" charset="-127"/>
                <a:cs typeface="Arial" panose="020B0604020202020204" pitchFamily="34" charset="0"/>
              </a:rPr>
              <a:t>Critical Thinking </a:t>
            </a:r>
            <a:r>
              <a:rPr lang="en-US" altLang="ko-KR" sz="4000" b="1" dirty="0">
                <a:solidFill>
                  <a:schemeClr val="accent1">
                    <a:lumMod val="50000"/>
                  </a:schemeClr>
                </a:solidFill>
                <a:effectLst>
                  <a:outerShdw blurRad="38100" dist="38100" dir="2700000" algn="tl">
                    <a:srgbClr val="C0C0C0"/>
                  </a:outerShdw>
                </a:effectLst>
                <a:latin typeface="Times New Roman" panose="02020603050405020304" pitchFamily="18" charset="0"/>
                <a:ea typeface="Gulim" panose="020B0600000101010101" pitchFamily="34" charset="-127"/>
                <a:cs typeface="Arial" panose="020B0604020202020204" pitchFamily="34" charset="0"/>
              </a:rPr>
              <a:t>(BES-103) </a:t>
            </a:r>
            <a:r>
              <a:rPr lang="en-US" altLang="ko-KR" sz="1800" b="1" dirty="0">
                <a:effectLst>
                  <a:outerShdw blurRad="38100" dist="38100" dir="2700000" algn="tl">
                    <a:srgbClr val="C0C0C0"/>
                  </a:outerShdw>
                </a:effectLst>
                <a:latin typeface="Arial" panose="020B0604020202020204" pitchFamily="34" charset="0"/>
                <a:ea typeface="Gulim" panose="020B0600000101010101" pitchFamily="34" charset="-127"/>
                <a:cs typeface="Arial" panose="020B0604020202020204" pitchFamily="34" charset="0"/>
              </a:rPr>
              <a:t/>
            </a:r>
            <a:br>
              <a:rPr lang="en-US" altLang="ko-KR" sz="1800" b="1" dirty="0">
                <a:effectLst>
                  <a:outerShdw blurRad="38100" dist="38100" dir="2700000" algn="tl">
                    <a:srgbClr val="C0C0C0"/>
                  </a:outerShdw>
                </a:effectLst>
                <a:latin typeface="Arial" panose="020B0604020202020204" pitchFamily="34" charset="0"/>
                <a:ea typeface="Gulim" panose="020B0600000101010101" pitchFamily="34" charset="-127"/>
                <a:cs typeface="Arial" panose="020B0604020202020204" pitchFamily="34" charset="0"/>
              </a:rPr>
            </a:br>
            <a:endParaRPr lang="en-US" dirty="0"/>
          </a:p>
        </p:txBody>
      </p:sp>
      <p:sp>
        <p:nvSpPr>
          <p:cNvPr id="3" name="Title 1"/>
          <p:cNvSpPr txBox="1">
            <a:spLocks/>
          </p:cNvSpPr>
          <p:nvPr/>
        </p:nvSpPr>
        <p:spPr>
          <a:xfrm>
            <a:off x="592636" y="3631217"/>
            <a:ext cx="5216700" cy="1546500"/>
          </a:xfrm>
          <a:prstGeom prst="rect">
            <a:avLst/>
          </a:prstGeom>
          <a:noFill/>
          <a:ln>
            <a:noFill/>
          </a:ln>
        </p:spPr>
        <p:txBody>
          <a:bodyPr spcFirstLastPara="1" wrap="square" lIns="91425" tIns="91425" rIns="91425" bIns="91425" anchor="t"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1pPr>
            <a:lvl2pPr lvl="1">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2pPr>
            <a:lvl3pPr lvl="2">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3pPr>
            <a:lvl4pPr lvl="3">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4pPr>
            <a:lvl5pPr lvl="4">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5pPr>
            <a:lvl6pPr lvl="5">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6pPr>
            <a:lvl7pPr lvl="6">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7pPr>
            <a:lvl8pPr lvl="7">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8pPr>
            <a:lvl9pPr lvl="8">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9pPr>
          </a:lstStyle>
          <a:p>
            <a:r>
              <a:rPr lang="en-US" sz="2000" b="1" dirty="0"/>
              <a:t>Lecture 2</a:t>
            </a:r>
          </a:p>
          <a:p>
            <a:r>
              <a:rPr lang="en-US" sz="2000" b="1" dirty="0"/>
              <a:t>Why Develop Critical Skills?</a:t>
            </a:r>
          </a:p>
        </p:txBody>
      </p:sp>
      <p:sp>
        <p:nvSpPr>
          <p:cNvPr id="4" name="Title 1"/>
          <p:cNvSpPr txBox="1">
            <a:spLocks/>
          </p:cNvSpPr>
          <p:nvPr/>
        </p:nvSpPr>
        <p:spPr>
          <a:xfrm>
            <a:off x="5460399" y="5473306"/>
            <a:ext cx="3540726" cy="1175025"/>
          </a:xfrm>
          <a:prstGeom prst="rect">
            <a:avLst/>
          </a:prstGeom>
          <a:noFill/>
          <a:ln>
            <a:noFill/>
          </a:ln>
        </p:spPr>
        <p:txBody>
          <a:bodyPr spcFirstLastPara="1" wrap="square" lIns="91425" tIns="91425" rIns="91425" bIns="91425" anchor="t" anchorCtr="0"/>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1pPr>
            <a:lvl2pPr lvl="1">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2pPr>
            <a:lvl3pPr lvl="2">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3pPr>
            <a:lvl4pPr lvl="3">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4pPr>
            <a:lvl5pPr lvl="4">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5pPr>
            <a:lvl6pPr lvl="5">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6pPr>
            <a:lvl7pPr lvl="6">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7pPr>
            <a:lvl8pPr lvl="7">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8pPr>
            <a:lvl9pPr lvl="8">
              <a:spcBef>
                <a:spcPts val="0"/>
              </a:spcBef>
              <a:spcAft>
                <a:spcPts val="0"/>
              </a:spcAft>
              <a:buClr>
                <a:srgbClr val="2185C5"/>
              </a:buClr>
              <a:buSzPts val="4800"/>
              <a:buFont typeface="Raleway"/>
              <a:buNone/>
              <a:defRPr sz="4800">
                <a:solidFill>
                  <a:srgbClr val="2185C5"/>
                </a:solidFill>
                <a:latin typeface="Raleway"/>
                <a:ea typeface="Raleway"/>
                <a:cs typeface="Raleway"/>
                <a:sym typeface="Raleway"/>
              </a:defRPr>
            </a:lvl9pPr>
          </a:lstStyle>
          <a:p>
            <a:r>
              <a:rPr lang="en-US" sz="1800" b="1" dirty="0" err="1" smtClean="0">
                <a:solidFill>
                  <a:srgbClr val="F20253"/>
                </a:solidFill>
              </a:rPr>
              <a:t>Hadiqua</a:t>
            </a:r>
            <a:r>
              <a:rPr lang="en-US" sz="1800" b="1" dirty="0" smtClean="0">
                <a:solidFill>
                  <a:srgbClr val="F20253"/>
                </a:solidFill>
              </a:rPr>
              <a:t> </a:t>
            </a:r>
            <a:r>
              <a:rPr lang="en-US" sz="1800" b="1" dirty="0" err="1" smtClean="0">
                <a:solidFill>
                  <a:srgbClr val="F20253"/>
                </a:solidFill>
              </a:rPr>
              <a:t>Fazal</a:t>
            </a:r>
            <a:endParaRPr lang="en-US" sz="1800" b="1" dirty="0">
              <a:solidFill>
                <a:srgbClr val="F20253"/>
              </a:solidFill>
            </a:endParaRPr>
          </a:p>
          <a:p>
            <a:r>
              <a:rPr lang="en-US" sz="1800" b="1" smtClean="0">
                <a:solidFill>
                  <a:srgbClr val="F20253"/>
                </a:solidFill>
              </a:rPr>
              <a:t>Assistant Professor</a:t>
            </a:r>
            <a:endParaRPr lang="en-US" sz="1800" b="1" dirty="0">
              <a:solidFill>
                <a:srgbClr val="F20253"/>
              </a:solidFill>
            </a:endParaRPr>
          </a:p>
          <a:p>
            <a:r>
              <a:rPr lang="en-US" sz="1800" b="1" dirty="0">
                <a:solidFill>
                  <a:srgbClr val="F20253"/>
                </a:solidFill>
              </a:rPr>
              <a:t>Computer Science Department</a:t>
            </a:r>
          </a:p>
        </p:txBody>
      </p:sp>
    </p:spTree>
    <p:extLst>
      <p:ext uri="{BB962C8B-B14F-4D97-AF65-F5344CB8AC3E}">
        <p14:creationId xmlns:p14="http://schemas.microsoft.com/office/powerpoint/2010/main" val="3292193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rPr>
              <a:t>Lecture Outline</a:t>
            </a:r>
            <a:r>
              <a:rPr lang="en-US" dirty="0"/>
              <a:t> </a:t>
            </a:r>
          </a:p>
        </p:txBody>
      </p:sp>
      <p:sp>
        <p:nvSpPr>
          <p:cNvPr id="3" name="Content Placeholder 2"/>
          <p:cNvSpPr>
            <a:spLocks noGrp="1"/>
          </p:cNvSpPr>
          <p:nvPr>
            <p:ph type="body" idx="1"/>
          </p:nvPr>
        </p:nvSpPr>
        <p:spPr>
          <a:xfrm>
            <a:off x="893699" y="1572142"/>
            <a:ext cx="7418093" cy="4736400"/>
          </a:xfrm>
        </p:spPr>
        <p:txBody>
          <a:bodyPr>
            <a:normAutofit/>
          </a:bodyPr>
          <a:lstStyle/>
          <a:p>
            <a:r>
              <a:rPr lang="en-US" sz="2800" dirty="0"/>
              <a:t>Why Develop Critical thinking?</a:t>
            </a:r>
          </a:p>
          <a:p>
            <a:r>
              <a:rPr lang="en-US" sz="2800" dirty="0"/>
              <a:t>Ancillary skills </a:t>
            </a:r>
          </a:p>
          <a:p>
            <a:r>
              <a:rPr lang="en-US" sz="2800" dirty="0"/>
              <a:t>Underlying skills and development</a:t>
            </a:r>
          </a:p>
          <a:p>
            <a:r>
              <a:rPr lang="en-US" sz="2800" dirty="0"/>
              <a:t>Self-awareness for accurate </a:t>
            </a:r>
            <a:r>
              <a:rPr lang="en-US" sz="2800"/>
              <a:t>judgment.</a:t>
            </a:r>
            <a:endParaRPr lang="en-US" sz="2800" dirty="0"/>
          </a:p>
        </p:txBody>
      </p:sp>
    </p:spTree>
    <p:extLst>
      <p:ext uri="{BB962C8B-B14F-4D97-AF65-F5344CB8AC3E}">
        <p14:creationId xmlns:p14="http://schemas.microsoft.com/office/powerpoint/2010/main" val="49716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8E92F2-87A2-BF3F-4508-9E8B82C69E11}"/>
              </a:ext>
            </a:extLst>
          </p:cNvPr>
          <p:cNvSpPr>
            <a:spLocks noGrp="1"/>
          </p:cNvSpPr>
          <p:nvPr>
            <p:ph type="title"/>
          </p:nvPr>
        </p:nvSpPr>
        <p:spPr/>
        <p:txBody>
          <a:bodyPr/>
          <a:lstStyle/>
          <a:p>
            <a:r>
              <a:rPr lang="en-US" sz="3600" b="1" dirty="0">
                <a:solidFill>
                  <a:srgbClr val="0070C0"/>
                </a:solidFill>
              </a:rPr>
              <a:t>Ancillary skills </a:t>
            </a:r>
            <a:endParaRPr lang="en-US" dirty="0"/>
          </a:p>
        </p:txBody>
      </p:sp>
      <p:sp>
        <p:nvSpPr>
          <p:cNvPr id="3" name="Text Placeholder 2">
            <a:extLst>
              <a:ext uri="{FF2B5EF4-FFF2-40B4-BE49-F238E27FC236}">
                <a16:creationId xmlns:a16="http://schemas.microsoft.com/office/drawing/2014/main" xmlns="" id="{008121B7-C6FA-C0CD-ED97-DB859FA4CA3F}"/>
              </a:ext>
            </a:extLst>
          </p:cNvPr>
          <p:cNvSpPr>
            <a:spLocks noGrp="1"/>
          </p:cNvSpPr>
          <p:nvPr>
            <p:ph type="body" idx="1"/>
          </p:nvPr>
        </p:nvSpPr>
        <p:spPr>
          <a:xfrm>
            <a:off x="893700" y="1605418"/>
            <a:ext cx="6637261" cy="4736400"/>
          </a:xfrm>
        </p:spPr>
        <p:txBody>
          <a:bodyPr/>
          <a:lstStyle/>
          <a:p>
            <a:pPr marL="38100" indent="0" algn="ctr">
              <a:buNone/>
            </a:pPr>
            <a:endParaRPr lang="en-US" sz="2800" b="0" i="0" dirty="0">
              <a:solidFill>
                <a:srgbClr val="202124"/>
              </a:solidFill>
              <a:effectLst/>
              <a:latin typeface="arial" panose="020B0604020202020204" pitchFamily="34" charset="0"/>
            </a:endParaRPr>
          </a:p>
          <a:p>
            <a:pPr marL="38100" indent="0" algn="ctr">
              <a:buNone/>
            </a:pPr>
            <a:r>
              <a:rPr lang="en-US" sz="2800" b="1" dirty="0">
                <a:solidFill>
                  <a:srgbClr val="63666A"/>
                </a:solidFill>
                <a:latin typeface="lato" panose="020F0502020204030203" pitchFamily="34" charset="0"/>
              </a:rPr>
              <a:t>Ancillary skills are skills that affect performance or address stressors that students commonly face but are not primarily academic or intellectual in nature.</a:t>
            </a:r>
          </a:p>
          <a:p>
            <a:endParaRPr lang="en-US" dirty="0"/>
          </a:p>
        </p:txBody>
      </p:sp>
    </p:spTree>
    <p:extLst>
      <p:ext uri="{BB962C8B-B14F-4D97-AF65-F5344CB8AC3E}">
        <p14:creationId xmlns:p14="http://schemas.microsoft.com/office/powerpoint/2010/main" val="810266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4A71BF-38E5-9B9C-289E-5FF4FBB200E9}"/>
              </a:ext>
            </a:extLst>
          </p:cNvPr>
          <p:cNvSpPr>
            <a:spLocks noGrp="1"/>
          </p:cNvSpPr>
          <p:nvPr>
            <p:ph type="title"/>
          </p:nvPr>
        </p:nvSpPr>
        <p:spPr/>
        <p:txBody>
          <a:bodyPr/>
          <a:lstStyle/>
          <a:p>
            <a:r>
              <a:rPr lang="en-US" sz="3600" b="1" dirty="0">
                <a:solidFill>
                  <a:srgbClr val="0070C0"/>
                </a:solidFill>
              </a:rPr>
              <a:t>Ancillary skills </a:t>
            </a:r>
            <a:endParaRPr lang="en-US" dirty="0"/>
          </a:p>
        </p:txBody>
      </p:sp>
      <p:sp>
        <p:nvSpPr>
          <p:cNvPr id="4" name="Cloud 3">
            <a:extLst>
              <a:ext uri="{FF2B5EF4-FFF2-40B4-BE49-F238E27FC236}">
                <a16:creationId xmlns:a16="http://schemas.microsoft.com/office/drawing/2014/main" xmlns="" id="{00C6AE69-F2EA-C962-2D00-EC0D191F7CFE}"/>
              </a:ext>
            </a:extLst>
          </p:cNvPr>
          <p:cNvSpPr/>
          <p:nvPr/>
        </p:nvSpPr>
        <p:spPr>
          <a:xfrm>
            <a:off x="981182" y="1669640"/>
            <a:ext cx="1613042" cy="955497"/>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writing</a:t>
            </a:r>
          </a:p>
        </p:txBody>
      </p:sp>
      <p:sp>
        <p:nvSpPr>
          <p:cNvPr id="9" name="Cloud 8">
            <a:extLst>
              <a:ext uri="{FF2B5EF4-FFF2-40B4-BE49-F238E27FC236}">
                <a16:creationId xmlns:a16="http://schemas.microsoft.com/office/drawing/2014/main" xmlns="" id="{2953BAB0-9769-90A4-722D-6F5565108AAA}"/>
              </a:ext>
            </a:extLst>
          </p:cNvPr>
          <p:cNvSpPr/>
          <p:nvPr/>
        </p:nvSpPr>
        <p:spPr>
          <a:xfrm>
            <a:off x="585627" y="3133799"/>
            <a:ext cx="2559976" cy="1158229"/>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working in teams/groups</a:t>
            </a:r>
          </a:p>
        </p:txBody>
      </p:sp>
      <p:sp>
        <p:nvSpPr>
          <p:cNvPr id="10" name="Cloud 9">
            <a:extLst>
              <a:ext uri="{FF2B5EF4-FFF2-40B4-BE49-F238E27FC236}">
                <a16:creationId xmlns:a16="http://schemas.microsoft.com/office/drawing/2014/main" xmlns="" id="{8D51EAB9-6879-3551-42AB-D13AE224858F}"/>
              </a:ext>
            </a:extLst>
          </p:cNvPr>
          <p:cNvSpPr/>
          <p:nvPr/>
        </p:nvSpPr>
        <p:spPr>
          <a:xfrm>
            <a:off x="5506951" y="1623496"/>
            <a:ext cx="2400727" cy="955497"/>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oral presentation</a:t>
            </a:r>
          </a:p>
        </p:txBody>
      </p:sp>
      <p:sp>
        <p:nvSpPr>
          <p:cNvPr id="11" name="Cloud 10">
            <a:extLst>
              <a:ext uri="{FF2B5EF4-FFF2-40B4-BE49-F238E27FC236}">
                <a16:creationId xmlns:a16="http://schemas.microsoft.com/office/drawing/2014/main" xmlns="" id="{40738E63-87A9-F603-7560-DC395F4DCB74}"/>
              </a:ext>
            </a:extLst>
          </p:cNvPr>
          <p:cNvSpPr/>
          <p:nvPr/>
        </p:nvSpPr>
        <p:spPr>
          <a:xfrm>
            <a:off x="1787703" y="4754911"/>
            <a:ext cx="2404153" cy="1094383"/>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critically assessment</a:t>
            </a:r>
          </a:p>
        </p:txBody>
      </p:sp>
      <p:sp>
        <p:nvSpPr>
          <p:cNvPr id="12" name="Cloud 11">
            <a:extLst>
              <a:ext uri="{FF2B5EF4-FFF2-40B4-BE49-F238E27FC236}">
                <a16:creationId xmlns:a16="http://schemas.microsoft.com/office/drawing/2014/main" xmlns="" id="{4A338C98-2C62-8E38-7B41-38A426FEFD64}"/>
              </a:ext>
            </a:extLst>
          </p:cNvPr>
          <p:cNvSpPr/>
          <p:nvPr/>
        </p:nvSpPr>
        <p:spPr>
          <a:xfrm>
            <a:off x="3321972" y="1521704"/>
            <a:ext cx="1809969" cy="955497"/>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self-teaching</a:t>
            </a:r>
          </a:p>
        </p:txBody>
      </p:sp>
      <p:sp>
        <p:nvSpPr>
          <p:cNvPr id="13" name="Cloud 12">
            <a:extLst>
              <a:ext uri="{FF2B5EF4-FFF2-40B4-BE49-F238E27FC236}">
                <a16:creationId xmlns:a16="http://schemas.microsoft.com/office/drawing/2014/main" xmlns="" id="{83AA4141-2EE9-CECF-8822-B8024139D1AC}"/>
              </a:ext>
            </a:extLst>
          </p:cNvPr>
          <p:cNvSpPr/>
          <p:nvPr/>
        </p:nvSpPr>
        <p:spPr>
          <a:xfrm>
            <a:off x="6529227" y="3012160"/>
            <a:ext cx="1890445" cy="955497"/>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Patience</a:t>
            </a:r>
          </a:p>
        </p:txBody>
      </p:sp>
      <p:sp>
        <p:nvSpPr>
          <p:cNvPr id="14" name="Cloud 13">
            <a:extLst>
              <a:ext uri="{FF2B5EF4-FFF2-40B4-BE49-F238E27FC236}">
                <a16:creationId xmlns:a16="http://schemas.microsoft.com/office/drawing/2014/main" xmlns="" id="{9AA9398C-875E-B42B-8242-FF03DE9EA1D8}"/>
              </a:ext>
            </a:extLst>
          </p:cNvPr>
          <p:cNvSpPr/>
          <p:nvPr/>
        </p:nvSpPr>
        <p:spPr>
          <a:xfrm>
            <a:off x="5131941" y="4497973"/>
            <a:ext cx="2517169" cy="1148322"/>
          </a:xfrm>
          <a:prstGeom prst="cloud">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Time management</a:t>
            </a:r>
          </a:p>
        </p:txBody>
      </p:sp>
      <p:sp>
        <p:nvSpPr>
          <p:cNvPr id="15" name="Oval 14">
            <a:extLst>
              <a:ext uri="{FF2B5EF4-FFF2-40B4-BE49-F238E27FC236}">
                <a16:creationId xmlns:a16="http://schemas.microsoft.com/office/drawing/2014/main" xmlns="" id="{2877B790-6784-2EAB-CD3A-F64078C25ACE}"/>
              </a:ext>
            </a:extLst>
          </p:cNvPr>
          <p:cNvSpPr/>
          <p:nvPr/>
        </p:nvSpPr>
        <p:spPr>
          <a:xfrm>
            <a:off x="3696982" y="2712793"/>
            <a:ext cx="1809969" cy="1751654"/>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Ancillary Skills</a:t>
            </a:r>
          </a:p>
        </p:txBody>
      </p:sp>
    </p:spTree>
    <p:extLst>
      <p:ext uri="{BB962C8B-B14F-4D97-AF65-F5344CB8AC3E}">
        <p14:creationId xmlns:p14="http://schemas.microsoft.com/office/powerpoint/2010/main" val="2751428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1C0D0F-CB42-28E0-BED5-3F63DD919774}"/>
              </a:ext>
            </a:extLst>
          </p:cNvPr>
          <p:cNvSpPr>
            <a:spLocks noGrp="1"/>
          </p:cNvSpPr>
          <p:nvPr>
            <p:ph type="title"/>
          </p:nvPr>
        </p:nvSpPr>
        <p:spPr/>
        <p:txBody>
          <a:bodyPr/>
          <a:lstStyle/>
          <a:p>
            <a:r>
              <a:rPr lang="en-US" sz="3200" b="0" i="0" dirty="0">
                <a:solidFill>
                  <a:srgbClr val="0070A8"/>
                </a:solidFill>
                <a:effectLst/>
                <a:latin typeface="lato" panose="020F0502020204030203" pitchFamily="34" charset="0"/>
              </a:rPr>
              <a:t>What Soft Skills Do I Need for Computer Science?</a:t>
            </a:r>
            <a:endParaRPr lang="en-US" sz="3200" dirty="0"/>
          </a:p>
        </p:txBody>
      </p:sp>
      <p:sp>
        <p:nvSpPr>
          <p:cNvPr id="3" name="Text Placeholder 2">
            <a:extLst>
              <a:ext uri="{FF2B5EF4-FFF2-40B4-BE49-F238E27FC236}">
                <a16:creationId xmlns:a16="http://schemas.microsoft.com/office/drawing/2014/main" xmlns="" id="{07250A80-7199-7688-9721-26AA8850DE71}"/>
              </a:ext>
            </a:extLst>
          </p:cNvPr>
          <p:cNvSpPr>
            <a:spLocks noGrp="1"/>
          </p:cNvSpPr>
          <p:nvPr>
            <p:ph type="body" idx="1"/>
          </p:nvPr>
        </p:nvSpPr>
        <p:spPr>
          <a:xfrm>
            <a:off x="893700" y="1574596"/>
            <a:ext cx="7448916" cy="4736400"/>
          </a:xfrm>
        </p:spPr>
        <p:txBody>
          <a:bodyPr/>
          <a:lstStyle/>
          <a:p>
            <a:pPr marL="38100" indent="0">
              <a:buNone/>
            </a:pPr>
            <a:r>
              <a:rPr lang="en-US" sz="2400" b="1" i="1" dirty="0">
                <a:solidFill>
                  <a:srgbClr val="0070C0"/>
                </a:solidFill>
                <a:effectLst/>
                <a:latin typeface="lato" panose="020F0502020204030203" pitchFamily="34" charset="0"/>
              </a:rPr>
              <a:t>Attention to detail:  </a:t>
            </a:r>
            <a:r>
              <a:rPr lang="en-US" sz="2000" dirty="0">
                <a:solidFill>
                  <a:srgbClr val="63666A"/>
                </a:solidFill>
                <a:latin typeface="lato" panose="020F0502020204030203" pitchFamily="34" charset="0"/>
              </a:rPr>
              <a:t>In</a:t>
            </a:r>
            <a:r>
              <a:rPr lang="en-US" sz="2000" b="0" i="0" dirty="0">
                <a:solidFill>
                  <a:srgbClr val="63666A"/>
                </a:solidFill>
                <a:effectLst/>
                <a:latin typeface="lato" panose="020F0502020204030203" pitchFamily="34" charset="0"/>
              </a:rPr>
              <a:t> the computer science and IT field, attention to detail is vital. You must be able to look at long lines of code and identify anything amiss. Having an eye for small details can help you have a huge impact on projects</a:t>
            </a:r>
            <a:endParaRPr lang="en-US" sz="3600" b="1" i="1" dirty="0">
              <a:solidFill>
                <a:srgbClr val="63666A"/>
              </a:solidFill>
              <a:effectLst/>
              <a:latin typeface="lato" panose="020F0502020204030203" pitchFamily="34" charset="0"/>
            </a:endParaRPr>
          </a:p>
          <a:p>
            <a:pPr marL="38100" indent="0">
              <a:buNone/>
            </a:pPr>
            <a:r>
              <a:rPr lang="en-US" sz="2400" b="1" i="1" dirty="0">
                <a:solidFill>
                  <a:srgbClr val="0070C0"/>
                </a:solidFill>
                <a:effectLst/>
                <a:latin typeface="lato" panose="020F0502020204030203" pitchFamily="34" charset="0"/>
              </a:rPr>
              <a:t>Creativity</a:t>
            </a:r>
            <a:r>
              <a:rPr lang="en-US" sz="2000" b="1" i="1" dirty="0">
                <a:solidFill>
                  <a:srgbClr val="0070C0"/>
                </a:solidFill>
                <a:effectLst/>
                <a:latin typeface="lato" panose="020F0502020204030203" pitchFamily="34" charset="0"/>
              </a:rPr>
              <a:t>: </a:t>
            </a:r>
            <a:r>
              <a:rPr lang="en-US" sz="2000" dirty="0">
                <a:solidFill>
                  <a:srgbClr val="63666A"/>
                </a:solidFill>
                <a:latin typeface="lato" panose="020F0502020204030203" pitchFamily="34" charset="0"/>
              </a:rPr>
              <a:t>Creativity is key to solving problems and creating functional, modern web applications and websites.</a:t>
            </a:r>
          </a:p>
          <a:p>
            <a:pPr marL="38100" indent="0">
              <a:buNone/>
            </a:pPr>
            <a:r>
              <a:rPr lang="en-US" sz="2400" b="1" i="1" dirty="0">
                <a:solidFill>
                  <a:srgbClr val="0070C0"/>
                </a:solidFill>
                <a:latin typeface="lato" panose="020F0502020204030203" pitchFamily="34" charset="0"/>
              </a:rPr>
              <a:t>Communication:</a:t>
            </a:r>
            <a:r>
              <a:rPr lang="en-US" sz="1400" b="0" i="0" dirty="0">
                <a:solidFill>
                  <a:srgbClr val="63666A"/>
                </a:solidFill>
                <a:effectLst/>
                <a:latin typeface="lato" panose="020F0502020204030203" pitchFamily="34" charset="0"/>
              </a:rPr>
              <a:t> </a:t>
            </a:r>
            <a:r>
              <a:rPr lang="en-US" sz="2000" dirty="0">
                <a:solidFill>
                  <a:srgbClr val="63666A"/>
                </a:solidFill>
                <a:latin typeface="lato" panose="020F0502020204030203" pitchFamily="34" charset="0"/>
              </a:rPr>
              <a:t>In the IT world, communication is key. This soft skill is vital to help you talk to clients, coworkers, and managers. Show you’re skilled when it comes to explaining your projects, objectives, and timelines. </a:t>
            </a:r>
          </a:p>
          <a:p>
            <a:pPr marL="38100" indent="0">
              <a:buNone/>
            </a:pPr>
            <a:r>
              <a:rPr lang="en-US" sz="2400" b="1" i="1" dirty="0">
                <a:solidFill>
                  <a:srgbClr val="0070C0"/>
                </a:solidFill>
                <a:latin typeface="lato" panose="020F0502020204030203" pitchFamily="34" charset="0"/>
              </a:rPr>
              <a:t>Time management:</a:t>
            </a:r>
            <a:r>
              <a:rPr lang="en-US" sz="1400" b="0" i="0" dirty="0">
                <a:solidFill>
                  <a:srgbClr val="63666A"/>
                </a:solidFill>
                <a:effectLst/>
                <a:latin typeface="lato" panose="020F0502020204030203" pitchFamily="34" charset="0"/>
              </a:rPr>
              <a:t> </a:t>
            </a:r>
            <a:r>
              <a:rPr lang="en-US" sz="2000" dirty="0">
                <a:solidFill>
                  <a:srgbClr val="63666A"/>
                </a:solidFill>
                <a:latin typeface="lato" panose="020F0502020204030203" pitchFamily="34" charset="0"/>
              </a:rPr>
              <a:t>Effective time management will help you stay on top of the various tasks and projects you’ll face.</a:t>
            </a:r>
          </a:p>
          <a:p>
            <a:pPr marL="38100" indent="0">
              <a:buNone/>
            </a:pPr>
            <a:endParaRPr lang="en-US" dirty="0"/>
          </a:p>
        </p:txBody>
      </p:sp>
    </p:spTree>
    <p:extLst>
      <p:ext uri="{BB962C8B-B14F-4D97-AF65-F5344CB8AC3E}">
        <p14:creationId xmlns:p14="http://schemas.microsoft.com/office/powerpoint/2010/main" val="355591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1C0D0F-CB42-28E0-BED5-3F63DD919774}"/>
              </a:ext>
            </a:extLst>
          </p:cNvPr>
          <p:cNvSpPr>
            <a:spLocks noGrp="1"/>
          </p:cNvSpPr>
          <p:nvPr>
            <p:ph type="title"/>
          </p:nvPr>
        </p:nvSpPr>
        <p:spPr/>
        <p:txBody>
          <a:bodyPr/>
          <a:lstStyle/>
          <a:p>
            <a:r>
              <a:rPr lang="en-US" sz="3200" b="0" i="0" dirty="0">
                <a:solidFill>
                  <a:srgbClr val="0070A8"/>
                </a:solidFill>
                <a:effectLst/>
                <a:latin typeface="lato" panose="020F0502020204030203" pitchFamily="34" charset="0"/>
              </a:rPr>
              <a:t>What Soft Skills Do I Need for Computer Science?</a:t>
            </a:r>
            <a:endParaRPr lang="en-US" sz="3200" dirty="0"/>
          </a:p>
        </p:txBody>
      </p:sp>
      <p:sp>
        <p:nvSpPr>
          <p:cNvPr id="3" name="Text Placeholder 2">
            <a:extLst>
              <a:ext uri="{FF2B5EF4-FFF2-40B4-BE49-F238E27FC236}">
                <a16:creationId xmlns:a16="http://schemas.microsoft.com/office/drawing/2014/main" xmlns="" id="{07250A80-7199-7688-9721-26AA8850DE71}"/>
              </a:ext>
            </a:extLst>
          </p:cNvPr>
          <p:cNvSpPr>
            <a:spLocks noGrp="1"/>
          </p:cNvSpPr>
          <p:nvPr>
            <p:ph type="body" idx="1"/>
          </p:nvPr>
        </p:nvSpPr>
        <p:spPr>
          <a:xfrm>
            <a:off x="893700" y="1564321"/>
            <a:ext cx="7448916" cy="4736400"/>
          </a:xfrm>
        </p:spPr>
        <p:txBody>
          <a:bodyPr/>
          <a:lstStyle/>
          <a:p>
            <a:pPr marL="38100" indent="0">
              <a:buNone/>
            </a:pPr>
            <a:r>
              <a:rPr lang="en-US" sz="2400" b="1" i="1" dirty="0">
                <a:solidFill>
                  <a:srgbClr val="0070C0"/>
                </a:solidFill>
                <a:latin typeface="lato" panose="020F0502020204030203" pitchFamily="34" charset="0"/>
              </a:rPr>
              <a:t>Teamwork &amp; Cooperation: </a:t>
            </a:r>
            <a:r>
              <a:rPr lang="en-US" sz="2000" dirty="0">
                <a:solidFill>
                  <a:srgbClr val="63666A"/>
                </a:solidFill>
                <a:latin typeface="lato" panose="020F0502020204030203" pitchFamily="34" charset="0"/>
              </a:rPr>
              <a:t>Being a good team player is key in any organization, but it’s particularly important if you’re working in computer science. Many times, software engineers, data scientists, and IT professionals are expected to collaborate with a number of different groups within an organization to ensure timelines are met and expectations are fulfilled. </a:t>
            </a:r>
          </a:p>
          <a:p>
            <a:pPr marL="38100" indent="0">
              <a:buNone/>
            </a:pPr>
            <a:r>
              <a:rPr lang="en-US" sz="2400" b="1" i="1" dirty="0">
                <a:solidFill>
                  <a:srgbClr val="0070C0"/>
                </a:solidFill>
                <a:latin typeface="lato" panose="020F0502020204030203" pitchFamily="34" charset="0"/>
              </a:rPr>
              <a:t>Analysis: </a:t>
            </a:r>
            <a:r>
              <a:rPr lang="en-US" sz="2000" dirty="0">
                <a:solidFill>
                  <a:srgbClr val="63666A"/>
                </a:solidFill>
                <a:latin typeface="lato" panose="020F0502020204030203" pitchFamily="34" charset="0"/>
              </a:rPr>
              <a:t>You must be able to analyze hundreds of lines of code to troubleshoot and find solutions. Above all, being proactive is key, as it’s important to ensure quality at the creation stage to avoid costly fixes later. </a:t>
            </a:r>
          </a:p>
          <a:p>
            <a:pPr marL="38100" indent="0">
              <a:buNone/>
            </a:pPr>
            <a:r>
              <a:rPr lang="en-US" sz="2400" b="1" i="1" dirty="0">
                <a:solidFill>
                  <a:srgbClr val="0070C0"/>
                </a:solidFill>
                <a:latin typeface="lato" panose="020F0502020204030203" pitchFamily="34" charset="0"/>
              </a:rPr>
              <a:t>Organization: </a:t>
            </a:r>
            <a:r>
              <a:rPr lang="en-US" sz="2000" dirty="0">
                <a:solidFill>
                  <a:srgbClr val="63666A"/>
                </a:solidFill>
                <a:latin typeface="lato" panose="020F0502020204030203" pitchFamily="34" charset="0"/>
              </a:rPr>
              <a:t>Organizational skills are skills that allow you to use your resources efficiently and effectively. </a:t>
            </a:r>
          </a:p>
          <a:p>
            <a:pPr marL="38100" indent="0">
              <a:buNone/>
            </a:pPr>
            <a:endParaRPr lang="en-US" dirty="0"/>
          </a:p>
        </p:txBody>
      </p:sp>
    </p:spTree>
    <p:extLst>
      <p:ext uri="{BB962C8B-B14F-4D97-AF65-F5344CB8AC3E}">
        <p14:creationId xmlns:p14="http://schemas.microsoft.com/office/powerpoint/2010/main" val="2819386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27DEFA-923A-ACF8-7215-6415A63B56D5}"/>
              </a:ext>
            </a:extLst>
          </p:cNvPr>
          <p:cNvSpPr>
            <a:spLocks noGrp="1"/>
          </p:cNvSpPr>
          <p:nvPr>
            <p:ph type="title"/>
          </p:nvPr>
        </p:nvSpPr>
        <p:spPr/>
        <p:txBody>
          <a:bodyPr/>
          <a:lstStyle/>
          <a:p>
            <a:r>
              <a:rPr lang="en-US" b="1" dirty="0">
                <a:solidFill>
                  <a:srgbClr val="3A81BA"/>
                </a:solidFill>
              </a:rPr>
              <a:t>Exercise</a:t>
            </a:r>
          </a:p>
        </p:txBody>
      </p:sp>
      <p:sp>
        <p:nvSpPr>
          <p:cNvPr id="3" name="Text Placeholder 2">
            <a:extLst>
              <a:ext uri="{FF2B5EF4-FFF2-40B4-BE49-F238E27FC236}">
                <a16:creationId xmlns:a16="http://schemas.microsoft.com/office/drawing/2014/main" xmlns="" id="{AC407566-B451-C0B9-D3FD-B113CBAA4B0A}"/>
              </a:ext>
            </a:extLst>
          </p:cNvPr>
          <p:cNvSpPr>
            <a:spLocks noGrp="1"/>
          </p:cNvSpPr>
          <p:nvPr>
            <p:ph type="body" idx="1"/>
          </p:nvPr>
        </p:nvSpPr>
        <p:spPr>
          <a:xfrm>
            <a:off x="893699" y="1718434"/>
            <a:ext cx="7428367" cy="4736400"/>
          </a:xfrm>
        </p:spPr>
        <p:txBody>
          <a:bodyPr/>
          <a:lstStyle/>
          <a:p>
            <a:pPr marL="38100" indent="0">
              <a:buNone/>
            </a:pPr>
            <a:r>
              <a:rPr lang="en-US" dirty="0"/>
              <a:t>Analyze and write down what skills you have and the skills you wish to bring in yourself.</a:t>
            </a:r>
          </a:p>
        </p:txBody>
      </p:sp>
    </p:spTree>
    <p:extLst>
      <p:ext uri="{BB962C8B-B14F-4D97-AF65-F5344CB8AC3E}">
        <p14:creationId xmlns:p14="http://schemas.microsoft.com/office/powerpoint/2010/main" val="2498865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1A55CE-C701-F9AB-70A4-BA317FA890D2}"/>
              </a:ext>
            </a:extLst>
          </p:cNvPr>
          <p:cNvSpPr>
            <a:spLocks noGrp="1"/>
          </p:cNvSpPr>
          <p:nvPr>
            <p:ph type="title"/>
          </p:nvPr>
        </p:nvSpPr>
        <p:spPr>
          <a:xfrm>
            <a:off x="893700" y="274650"/>
            <a:ext cx="7222884" cy="1143000"/>
          </a:xfrm>
        </p:spPr>
        <p:txBody>
          <a:bodyPr/>
          <a:lstStyle/>
          <a:p>
            <a:r>
              <a:rPr lang="en-US" sz="3200" b="1" dirty="0">
                <a:solidFill>
                  <a:srgbClr val="0070C0"/>
                </a:solidFill>
              </a:rPr>
              <a:t>Underlying skills and development</a:t>
            </a:r>
          </a:p>
        </p:txBody>
      </p:sp>
      <p:sp>
        <p:nvSpPr>
          <p:cNvPr id="3" name="Text Placeholder 2">
            <a:extLst>
              <a:ext uri="{FF2B5EF4-FFF2-40B4-BE49-F238E27FC236}">
                <a16:creationId xmlns:a16="http://schemas.microsoft.com/office/drawing/2014/main" xmlns="" id="{F1921845-A5D4-C6C2-BFA6-73D758C70226}"/>
              </a:ext>
            </a:extLst>
          </p:cNvPr>
          <p:cNvSpPr>
            <a:spLocks noGrp="1"/>
          </p:cNvSpPr>
          <p:nvPr>
            <p:ph type="body" idx="1"/>
          </p:nvPr>
        </p:nvSpPr>
        <p:spPr>
          <a:xfrm>
            <a:off x="893700" y="1523225"/>
            <a:ext cx="6945482" cy="4736400"/>
          </a:xfrm>
        </p:spPr>
        <p:txBody>
          <a:bodyPr/>
          <a:lstStyle/>
          <a:p>
            <a:pPr marL="38100" indent="0">
              <a:buNone/>
            </a:pPr>
            <a:r>
              <a:rPr lang="en-US" sz="2000" b="0" i="0" dirty="0">
                <a:solidFill>
                  <a:srgbClr val="63666A"/>
                </a:solidFill>
                <a:effectLst/>
                <a:latin typeface="lato" panose="020F0502020204030203" pitchFamily="34" charset="0"/>
              </a:rPr>
              <a:t>When it comes to computer science and IT, there are a wide variety of programming languages that are vital to know.</a:t>
            </a:r>
          </a:p>
          <a:p>
            <a:pPr marL="38100" indent="0">
              <a:buNone/>
            </a:pPr>
            <a:endParaRPr lang="en-US" sz="2000" dirty="0">
              <a:solidFill>
                <a:srgbClr val="63666A"/>
              </a:solidFill>
              <a:latin typeface="lato" panose="020F0502020204030203" pitchFamily="34" charset="0"/>
            </a:endParaRPr>
          </a:p>
          <a:p>
            <a:r>
              <a:rPr lang="en-US" sz="2000" dirty="0">
                <a:solidFill>
                  <a:srgbClr val="63666A"/>
                </a:solidFill>
                <a:latin typeface="lato" panose="020F0502020204030203" pitchFamily="34" charset="0"/>
              </a:rPr>
              <a:t>C#</a:t>
            </a:r>
          </a:p>
          <a:p>
            <a:r>
              <a:rPr lang="en-US" sz="2000" dirty="0">
                <a:solidFill>
                  <a:srgbClr val="63666A"/>
                </a:solidFill>
                <a:latin typeface="lato" panose="020F0502020204030203" pitchFamily="34" charset="0"/>
              </a:rPr>
              <a:t>C++</a:t>
            </a:r>
          </a:p>
          <a:p>
            <a:r>
              <a:rPr lang="en-US" sz="2000" dirty="0">
                <a:solidFill>
                  <a:srgbClr val="63666A"/>
                </a:solidFill>
                <a:latin typeface="lato" panose="020F0502020204030203" pitchFamily="34" charset="0"/>
              </a:rPr>
              <a:t>Python</a:t>
            </a:r>
          </a:p>
          <a:p>
            <a:r>
              <a:rPr lang="en-US" sz="2000" dirty="0">
                <a:solidFill>
                  <a:srgbClr val="63666A"/>
                </a:solidFill>
                <a:latin typeface="lato" panose="020F0502020204030203" pitchFamily="34" charset="0"/>
              </a:rPr>
              <a:t>Asp.net</a:t>
            </a:r>
          </a:p>
          <a:p>
            <a:r>
              <a:rPr lang="en-US" sz="2000" dirty="0">
                <a:solidFill>
                  <a:srgbClr val="63666A"/>
                </a:solidFill>
                <a:latin typeface="lato" panose="020F0502020204030203" pitchFamily="34" charset="0"/>
              </a:rPr>
              <a:t>PHP</a:t>
            </a:r>
          </a:p>
          <a:p>
            <a:r>
              <a:rPr lang="en-US" sz="2000" dirty="0">
                <a:solidFill>
                  <a:srgbClr val="63666A"/>
                </a:solidFill>
                <a:latin typeface="lato" panose="020F0502020204030203" pitchFamily="34" charset="0"/>
              </a:rPr>
              <a:t>MERN Stack</a:t>
            </a:r>
          </a:p>
          <a:p>
            <a:r>
              <a:rPr lang="en-US" sz="2000" dirty="0">
                <a:solidFill>
                  <a:srgbClr val="63666A"/>
                </a:solidFill>
                <a:latin typeface="lato" panose="020F0502020204030203" pitchFamily="34" charset="0"/>
              </a:rPr>
              <a:t>MEAN Stack </a:t>
            </a:r>
            <a:r>
              <a:rPr lang="en-US" sz="2000" dirty="0" err="1">
                <a:solidFill>
                  <a:srgbClr val="63666A"/>
                </a:solidFill>
                <a:latin typeface="lato" panose="020F0502020204030203" pitchFamily="34" charset="0"/>
              </a:rPr>
              <a:t>etc</a:t>
            </a:r>
            <a:r>
              <a:rPr lang="en-US" sz="2000" dirty="0">
                <a:solidFill>
                  <a:srgbClr val="63666A"/>
                </a:solidFill>
                <a:latin typeface="lato" panose="020F0502020204030203" pitchFamily="34" charset="0"/>
              </a:rPr>
              <a:t>….</a:t>
            </a:r>
            <a:endParaRPr lang="en-US" sz="2000" dirty="0"/>
          </a:p>
        </p:txBody>
      </p:sp>
    </p:spTree>
    <p:extLst>
      <p:ext uri="{BB962C8B-B14F-4D97-AF65-F5344CB8AC3E}">
        <p14:creationId xmlns:p14="http://schemas.microsoft.com/office/powerpoint/2010/main" val="3345029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B3BB8F-8AD8-A4D8-C48C-44BA7DEA2468}"/>
              </a:ext>
            </a:extLst>
          </p:cNvPr>
          <p:cNvSpPr>
            <a:spLocks noGrp="1"/>
          </p:cNvSpPr>
          <p:nvPr>
            <p:ph type="title"/>
          </p:nvPr>
        </p:nvSpPr>
        <p:spPr>
          <a:xfrm>
            <a:off x="893699" y="274650"/>
            <a:ext cx="7418093" cy="1143000"/>
          </a:xfrm>
        </p:spPr>
        <p:txBody>
          <a:bodyPr/>
          <a:lstStyle/>
          <a:p>
            <a:r>
              <a:rPr lang="en-US" b="1" dirty="0">
                <a:solidFill>
                  <a:srgbClr val="3A81BA"/>
                </a:solidFill>
              </a:rPr>
              <a:t>Personal performance and learning SHAPES</a:t>
            </a:r>
          </a:p>
        </p:txBody>
      </p:sp>
      <p:sp>
        <p:nvSpPr>
          <p:cNvPr id="3" name="Text Placeholder 2">
            <a:extLst>
              <a:ext uri="{FF2B5EF4-FFF2-40B4-BE49-F238E27FC236}">
                <a16:creationId xmlns:a16="http://schemas.microsoft.com/office/drawing/2014/main" xmlns="" id="{068F0F4F-7C62-E208-6ADF-1E6E54E605F8}"/>
              </a:ext>
            </a:extLst>
          </p:cNvPr>
          <p:cNvSpPr>
            <a:spLocks noGrp="1"/>
          </p:cNvSpPr>
          <p:nvPr>
            <p:ph type="body" idx="1"/>
          </p:nvPr>
        </p:nvSpPr>
        <p:spPr>
          <a:xfrm>
            <a:off x="996441" y="1584870"/>
            <a:ext cx="6986579" cy="4736400"/>
          </a:xfrm>
        </p:spPr>
        <p:txBody>
          <a:bodyPr/>
          <a:lstStyle/>
          <a:p>
            <a:r>
              <a:rPr lang="en-US" sz="2400" dirty="0"/>
              <a:t>A reflecting tool to analyzing own performance</a:t>
            </a:r>
          </a:p>
          <a:p>
            <a:pPr algn="just"/>
            <a:r>
              <a:rPr lang="en-US" sz="2400" dirty="0"/>
              <a:t>SHAPES stands for </a:t>
            </a:r>
            <a:r>
              <a:rPr lang="en-US" sz="2400" dirty="0">
                <a:solidFill>
                  <a:srgbClr val="FF0000"/>
                </a:solidFill>
              </a:rPr>
              <a:t>Skills</a:t>
            </a:r>
            <a:r>
              <a:rPr lang="en-US" sz="2400" dirty="0"/>
              <a:t>, </a:t>
            </a:r>
            <a:r>
              <a:rPr lang="en-US" sz="2400" dirty="0">
                <a:solidFill>
                  <a:srgbClr val="FF0000"/>
                </a:solidFill>
              </a:rPr>
              <a:t>Habits, Attitudes, Preferences,</a:t>
            </a:r>
            <a:r>
              <a:rPr lang="en-US" sz="2400" dirty="0"/>
              <a:t> </a:t>
            </a:r>
            <a:r>
              <a:rPr lang="en-US" sz="2400" dirty="0">
                <a:solidFill>
                  <a:srgbClr val="FF0000"/>
                </a:solidFill>
              </a:rPr>
              <a:t>Experience</a:t>
            </a:r>
            <a:r>
              <a:rPr lang="en-US" sz="2400" dirty="0"/>
              <a:t> and </a:t>
            </a:r>
            <a:r>
              <a:rPr lang="en-US" sz="2400" dirty="0">
                <a:solidFill>
                  <a:srgbClr val="FF0000"/>
                </a:solidFill>
              </a:rPr>
              <a:t>Strategies.</a:t>
            </a:r>
            <a:r>
              <a:rPr lang="en-US" sz="2400" dirty="0"/>
              <a:t> Understanding our own SHAPES for diverse activities can assist us in achieving our ‘peak’, or optimal, performance.</a:t>
            </a:r>
          </a:p>
        </p:txBody>
      </p:sp>
    </p:spTree>
    <p:extLst>
      <p:ext uri="{BB962C8B-B14F-4D97-AF65-F5344CB8AC3E}">
        <p14:creationId xmlns:p14="http://schemas.microsoft.com/office/powerpoint/2010/main" val="110861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B5DE14-EF6F-CB27-CA6E-FA59F6D3909A}"/>
              </a:ext>
            </a:extLst>
          </p:cNvPr>
          <p:cNvSpPr>
            <a:spLocks noGrp="1"/>
          </p:cNvSpPr>
          <p:nvPr>
            <p:ph type="title"/>
          </p:nvPr>
        </p:nvSpPr>
        <p:spPr/>
        <p:txBody>
          <a:bodyPr/>
          <a:lstStyle/>
          <a:p>
            <a:r>
              <a:rPr lang="en-US" b="1" dirty="0">
                <a:solidFill>
                  <a:srgbClr val="FF0000"/>
                </a:solidFill>
              </a:rPr>
              <a:t>S</a:t>
            </a:r>
            <a:r>
              <a:rPr lang="en-US" b="1" dirty="0">
                <a:solidFill>
                  <a:srgbClr val="3A81BA"/>
                </a:solidFill>
              </a:rPr>
              <a:t>HAPE</a:t>
            </a:r>
            <a:r>
              <a:rPr lang="en-US" b="1" dirty="0">
                <a:solidFill>
                  <a:srgbClr val="0070C0"/>
                </a:solidFill>
              </a:rPr>
              <a:t>S</a:t>
            </a:r>
            <a:endParaRPr lang="en-US" dirty="0"/>
          </a:p>
        </p:txBody>
      </p:sp>
      <p:sp>
        <p:nvSpPr>
          <p:cNvPr id="3" name="Text Placeholder 2">
            <a:extLst>
              <a:ext uri="{FF2B5EF4-FFF2-40B4-BE49-F238E27FC236}">
                <a16:creationId xmlns:a16="http://schemas.microsoft.com/office/drawing/2014/main" xmlns="" id="{BC00DCA8-C515-BA72-0299-C7D11FA99F02}"/>
              </a:ext>
            </a:extLst>
          </p:cNvPr>
          <p:cNvSpPr>
            <a:spLocks noGrp="1"/>
          </p:cNvSpPr>
          <p:nvPr>
            <p:ph type="body" idx="1"/>
          </p:nvPr>
        </p:nvSpPr>
        <p:spPr>
          <a:xfrm>
            <a:off x="790958" y="1492403"/>
            <a:ext cx="7726317" cy="4736400"/>
          </a:xfrm>
        </p:spPr>
        <p:txBody>
          <a:bodyPr/>
          <a:lstStyle/>
          <a:p>
            <a:pPr algn="just"/>
            <a:r>
              <a:rPr lang="en-US" sz="2400" b="1" i="1" dirty="0">
                <a:solidFill>
                  <a:srgbClr val="FF0000"/>
                </a:solidFill>
              </a:rPr>
              <a:t>Skills: </a:t>
            </a:r>
            <a:r>
              <a:rPr lang="en-US" sz="2400" dirty="0"/>
              <a:t>Skills, here, refers to abilities and techniques that help you to perform effectively at study or work – such as</a:t>
            </a:r>
          </a:p>
          <a:p>
            <a:pPr algn="just"/>
            <a:r>
              <a:rPr lang="en-US" sz="2400" dirty="0"/>
              <a:t>Academic, People, Task, and Self-management skills.</a:t>
            </a:r>
          </a:p>
          <a:p>
            <a:pPr marL="38100" indent="0" algn="just">
              <a:buNone/>
            </a:pPr>
            <a:endParaRPr lang="en-US" sz="2400" dirty="0">
              <a:solidFill>
                <a:schemeClr val="tx1"/>
              </a:solidFill>
            </a:endParaRPr>
          </a:p>
          <a:p>
            <a:pPr marL="38100" indent="0">
              <a:buNone/>
            </a:pPr>
            <a:endParaRPr lang="en-US" sz="2000" dirty="0"/>
          </a:p>
        </p:txBody>
      </p:sp>
    </p:spTree>
    <p:extLst>
      <p:ext uri="{BB962C8B-B14F-4D97-AF65-F5344CB8AC3E}">
        <p14:creationId xmlns:p14="http://schemas.microsoft.com/office/powerpoint/2010/main" val="3367569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410390-1F57-3417-FCDB-0F380584C8C2}"/>
              </a:ext>
            </a:extLst>
          </p:cNvPr>
          <p:cNvSpPr>
            <a:spLocks noGrp="1"/>
          </p:cNvSpPr>
          <p:nvPr>
            <p:ph type="title"/>
          </p:nvPr>
        </p:nvSpPr>
        <p:spPr/>
        <p:txBody>
          <a:bodyPr/>
          <a:lstStyle/>
          <a:p>
            <a:r>
              <a:rPr lang="en-US" b="1" dirty="0">
                <a:solidFill>
                  <a:srgbClr val="3A81BA"/>
                </a:solidFill>
              </a:rPr>
              <a:t>S</a:t>
            </a:r>
            <a:r>
              <a:rPr lang="en-US" b="1" dirty="0">
                <a:solidFill>
                  <a:srgbClr val="FF0000"/>
                </a:solidFill>
              </a:rPr>
              <a:t>H</a:t>
            </a:r>
            <a:r>
              <a:rPr lang="en-US" b="1" dirty="0">
                <a:solidFill>
                  <a:srgbClr val="3A81BA"/>
                </a:solidFill>
              </a:rPr>
              <a:t>APE</a:t>
            </a:r>
            <a:r>
              <a:rPr lang="en-US" b="1" dirty="0">
                <a:solidFill>
                  <a:srgbClr val="0070C0"/>
                </a:solidFill>
              </a:rPr>
              <a:t>S</a:t>
            </a:r>
            <a:endParaRPr lang="en-US" dirty="0"/>
          </a:p>
        </p:txBody>
      </p:sp>
      <p:sp>
        <p:nvSpPr>
          <p:cNvPr id="3" name="Text Placeholder 2">
            <a:extLst>
              <a:ext uri="{FF2B5EF4-FFF2-40B4-BE49-F238E27FC236}">
                <a16:creationId xmlns:a16="http://schemas.microsoft.com/office/drawing/2014/main" xmlns="" id="{68653E18-6F8A-9CFA-2409-8BD7B170F5B8}"/>
              </a:ext>
            </a:extLst>
          </p:cNvPr>
          <p:cNvSpPr>
            <a:spLocks noGrp="1"/>
          </p:cNvSpPr>
          <p:nvPr>
            <p:ph type="body" idx="1"/>
          </p:nvPr>
        </p:nvSpPr>
        <p:spPr>
          <a:xfrm>
            <a:off x="893699" y="1831450"/>
            <a:ext cx="7520835" cy="4736400"/>
          </a:xfrm>
        </p:spPr>
        <p:txBody>
          <a:bodyPr/>
          <a:lstStyle/>
          <a:p>
            <a:pPr marL="38100" indent="0">
              <a:buNone/>
            </a:pPr>
            <a:r>
              <a:rPr lang="en-US" sz="2000" b="1" i="1" dirty="0">
                <a:solidFill>
                  <a:srgbClr val="FF0000"/>
                </a:solidFill>
              </a:rPr>
              <a:t>Habit: </a:t>
            </a:r>
            <a:r>
              <a:rPr lang="en-US" sz="1800" dirty="0">
                <a:solidFill>
                  <a:srgbClr val="000000"/>
                </a:solidFill>
                <a:latin typeface="Verdana" panose="020B0604030504040204" pitchFamily="34" charset="0"/>
              </a:rPr>
              <a:t>A</a:t>
            </a:r>
            <a:r>
              <a:rPr lang="en-US" sz="1800" b="0" i="0" dirty="0">
                <a:solidFill>
                  <a:srgbClr val="000000"/>
                </a:solidFill>
                <a:effectLst/>
                <a:latin typeface="Verdana" panose="020B0604030504040204" pitchFamily="34" charset="0"/>
              </a:rPr>
              <a:t> usual way of behaving</a:t>
            </a:r>
            <a:r>
              <a:rPr lang="en-US" sz="1800" b="1" i="0" dirty="0">
                <a:solidFill>
                  <a:srgbClr val="000000"/>
                </a:solidFill>
                <a:effectLst/>
                <a:latin typeface="Verdana" panose="020B0604030504040204" pitchFamily="34" charset="0"/>
              </a:rPr>
              <a:t>:</a:t>
            </a:r>
            <a:r>
              <a:rPr lang="en-US" sz="1800" b="0" i="0" dirty="0">
                <a:solidFill>
                  <a:srgbClr val="000000"/>
                </a:solidFill>
                <a:effectLst/>
                <a:latin typeface="Verdana" panose="020B0604030504040204" pitchFamily="34" charset="0"/>
              </a:rPr>
              <a:t> something that a person does often in a regular and repeated way.</a:t>
            </a:r>
            <a:endParaRPr lang="en-US" sz="1800" dirty="0"/>
          </a:p>
          <a:p>
            <a:pPr marL="38100" indent="0">
              <a:buNone/>
            </a:pPr>
            <a:endParaRPr lang="en-US" sz="2000" dirty="0"/>
          </a:p>
          <a:p>
            <a:pPr marL="38100" indent="0">
              <a:buNone/>
            </a:pPr>
            <a:r>
              <a:rPr lang="en-US" sz="2000" dirty="0"/>
              <a:t> </a:t>
            </a:r>
            <a:r>
              <a:rPr lang="en-US" sz="2000" dirty="0">
                <a:solidFill>
                  <a:schemeClr val="tx1"/>
                </a:solidFill>
              </a:rPr>
              <a:t>Are you attached to any study habits or patterns of behavior that are not really helping your current study/work? If so, what needs to change?</a:t>
            </a:r>
          </a:p>
        </p:txBody>
      </p:sp>
    </p:spTree>
    <p:extLst>
      <p:ext uri="{BB962C8B-B14F-4D97-AF65-F5344CB8AC3E}">
        <p14:creationId xmlns:p14="http://schemas.microsoft.com/office/powerpoint/2010/main" val="3690345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A307DB-A46C-50BC-9B60-2A0AF3A5656C}"/>
              </a:ext>
            </a:extLst>
          </p:cNvPr>
          <p:cNvSpPr>
            <a:spLocks noGrp="1"/>
          </p:cNvSpPr>
          <p:nvPr>
            <p:ph type="title"/>
          </p:nvPr>
        </p:nvSpPr>
        <p:spPr/>
        <p:txBody>
          <a:bodyPr/>
          <a:lstStyle/>
          <a:p>
            <a:r>
              <a:rPr lang="en-US" b="1" dirty="0">
                <a:solidFill>
                  <a:srgbClr val="0070C0"/>
                </a:solidFill>
              </a:rPr>
              <a:t>SH</a:t>
            </a:r>
            <a:r>
              <a:rPr lang="en-US" b="1" dirty="0">
                <a:solidFill>
                  <a:srgbClr val="FF0000"/>
                </a:solidFill>
              </a:rPr>
              <a:t>A</a:t>
            </a:r>
            <a:r>
              <a:rPr lang="en-US" b="1" dirty="0">
                <a:solidFill>
                  <a:srgbClr val="0070C0"/>
                </a:solidFill>
              </a:rPr>
              <a:t>PES</a:t>
            </a:r>
          </a:p>
        </p:txBody>
      </p:sp>
      <p:sp>
        <p:nvSpPr>
          <p:cNvPr id="3" name="Text Placeholder 2">
            <a:extLst>
              <a:ext uri="{FF2B5EF4-FFF2-40B4-BE49-F238E27FC236}">
                <a16:creationId xmlns:a16="http://schemas.microsoft.com/office/drawing/2014/main" xmlns="" id="{DFFCCBA4-37D3-93FF-C137-D5DF2CD8DADE}"/>
              </a:ext>
            </a:extLst>
          </p:cNvPr>
          <p:cNvSpPr>
            <a:spLocks noGrp="1"/>
          </p:cNvSpPr>
          <p:nvPr>
            <p:ph type="body" idx="1"/>
          </p:nvPr>
        </p:nvSpPr>
        <p:spPr>
          <a:xfrm>
            <a:off x="893700" y="1636241"/>
            <a:ext cx="7592754" cy="4736400"/>
          </a:xfrm>
        </p:spPr>
        <p:txBody>
          <a:bodyPr/>
          <a:lstStyle/>
          <a:p>
            <a:pPr marL="38100" indent="0">
              <a:buNone/>
            </a:pPr>
            <a:r>
              <a:rPr lang="en-US" sz="2800" b="1" i="1" dirty="0">
                <a:solidFill>
                  <a:srgbClr val="FF0000"/>
                </a:solidFill>
              </a:rPr>
              <a:t>Attitude:</a:t>
            </a:r>
          </a:p>
          <a:p>
            <a:pPr marL="38100" indent="0">
              <a:buNone/>
            </a:pPr>
            <a:r>
              <a:rPr lang="en-US" sz="2000" dirty="0">
                <a:solidFill>
                  <a:srgbClr val="000000"/>
                </a:solidFill>
                <a:latin typeface="Verdana" panose="020B0604030504040204" pitchFamily="34" charset="0"/>
              </a:rPr>
              <a:t>an attitude refers to a set of emotions, beliefs, and behaviors toward a particular object, person, thing, or event. </a:t>
            </a:r>
          </a:p>
        </p:txBody>
      </p:sp>
    </p:spTree>
    <p:extLst>
      <p:ext uri="{BB962C8B-B14F-4D97-AF65-F5344CB8AC3E}">
        <p14:creationId xmlns:p14="http://schemas.microsoft.com/office/powerpoint/2010/main" val="4111825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A307DB-A46C-50BC-9B60-2A0AF3A5656C}"/>
              </a:ext>
            </a:extLst>
          </p:cNvPr>
          <p:cNvSpPr>
            <a:spLocks noGrp="1"/>
          </p:cNvSpPr>
          <p:nvPr>
            <p:ph type="title"/>
          </p:nvPr>
        </p:nvSpPr>
        <p:spPr/>
        <p:txBody>
          <a:bodyPr/>
          <a:lstStyle/>
          <a:p>
            <a:r>
              <a:rPr lang="en-US" b="1" dirty="0">
                <a:solidFill>
                  <a:srgbClr val="0070C0"/>
                </a:solidFill>
              </a:rPr>
              <a:t>SHA</a:t>
            </a:r>
            <a:r>
              <a:rPr lang="en-US" b="1" dirty="0">
                <a:solidFill>
                  <a:srgbClr val="FF0000"/>
                </a:solidFill>
              </a:rPr>
              <a:t>P</a:t>
            </a:r>
            <a:r>
              <a:rPr lang="en-US" b="1" dirty="0">
                <a:solidFill>
                  <a:srgbClr val="0070C0"/>
                </a:solidFill>
              </a:rPr>
              <a:t>ES</a:t>
            </a:r>
          </a:p>
        </p:txBody>
      </p:sp>
      <p:sp>
        <p:nvSpPr>
          <p:cNvPr id="3" name="Text Placeholder 2">
            <a:extLst>
              <a:ext uri="{FF2B5EF4-FFF2-40B4-BE49-F238E27FC236}">
                <a16:creationId xmlns:a16="http://schemas.microsoft.com/office/drawing/2014/main" xmlns="" id="{DFFCCBA4-37D3-93FF-C137-D5DF2CD8DADE}"/>
              </a:ext>
            </a:extLst>
          </p:cNvPr>
          <p:cNvSpPr>
            <a:spLocks noGrp="1"/>
          </p:cNvSpPr>
          <p:nvPr>
            <p:ph type="body" idx="1"/>
          </p:nvPr>
        </p:nvSpPr>
        <p:spPr>
          <a:xfrm>
            <a:off x="893700" y="1417650"/>
            <a:ext cx="7695496" cy="4736400"/>
          </a:xfrm>
        </p:spPr>
        <p:txBody>
          <a:bodyPr/>
          <a:lstStyle/>
          <a:p>
            <a:pPr marL="38100" indent="0">
              <a:buNone/>
            </a:pPr>
            <a:r>
              <a:rPr lang="en-US" b="1" i="1" dirty="0">
                <a:solidFill>
                  <a:srgbClr val="FF0000"/>
                </a:solidFill>
              </a:rPr>
              <a:t>Preference:</a:t>
            </a:r>
          </a:p>
          <a:p>
            <a:pPr marL="38100" indent="0">
              <a:buNone/>
            </a:pPr>
            <a:r>
              <a:rPr lang="en-US" sz="2800" b="0" i="0" dirty="0">
                <a:solidFill>
                  <a:srgbClr val="202124"/>
                </a:solidFill>
                <a:effectLst/>
                <a:latin typeface="arial" panose="020B0604020202020204" pitchFamily="34" charset="0"/>
              </a:rPr>
              <a:t>a greater liking for one alternative over another or others.</a:t>
            </a:r>
            <a:endParaRPr lang="en-US" sz="28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3981841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1DAA4F-1507-A1E7-EA9D-3FEBF095C82A}"/>
              </a:ext>
            </a:extLst>
          </p:cNvPr>
          <p:cNvSpPr>
            <a:spLocks noGrp="1"/>
          </p:cNvSpPr>
          <p:nvPr>
            <p:ph type="title"/>
          </p:nvPr>
        </p:nvSpPr>
        <p:spPr/>
        <p:txBody>
          <a:bodyPr/>
          <a:lstStyle/>
          <a:p>
            <a:r>
              <a:rPr lang="en-US" b="1" dirty="0">
                <a:solidFill>
                  <a:srgbClr val="0070C0"/>
                </a:solidFill>
              </a:rPr>
              <a:t>SHAP</a:t>
            </a:r>
            <a:r>
              <a:rPr lang="en-US" b="1" dirty="0">
                <a:solidFill>
                  <a:srgbClr val="FF0000"/>
                </a:solidFill>
              </a:rPr>
              <a:t>E</a:t>
            </a:r>
            <a:r>
              <a:rPr lang="en-US" b="1" dirty="0">
                <a:solidFill>
                  <a:srgbClr val="0070C0"/>
                </a:solidFill>
              </a:rPr>
              <a:t>S</a:t>
            </a:r>
          </a:p>
        </p:txBody>
      </p:sp>
      <p:sp>
        <p:nvSpPr>
          <p:cNvPr id="3" name="Text Placeholder 2">
            <a:extLst>
              <a:ext uri="{FF2B5EF4-FFF2-40B4-BE49-F238E27FC236}">
                <a16:creationId xmlns:a16="http://schemas.microsoft.com/office/drawing/2014/main" xmlns="" id="{B7E55F79-1152-7DA9-9EAD-7B4ED475067A}"/>
              </a:ext>
            </a:extLst>
          </p:cNvPr>
          <p:cNvSpPr>
            <a:spLocks noGrp="1"/>
          </p:cNvSpPr>
          <p:nvPr>
            <p:ph type="body" idx="1"/>
          </p:nvPr>
        </p:nvSpPr>
        <p:spPr>
          <a:xfrm>
            <a:off x="893700" y="1831450"/>
            <a:ext cx="7346174" cy="4736400"/>
          </a:xfrm>
        </p:spPr>
        <p:txBody>
          <a:bodyPr/>
          <a:lstStyle/>
          <a:p>
            <a:pPr marL="38100" indent="0">
              <a:buNone/>
            </a:pPr>
            <a:r>
              <a:rPr lang="en-US" b="1" i="1" dirty="0">
                <a:solidFill>
                  <a:srgbClr val="FF0000"/>
                </a:solidFill>
              </a:rPr>
              <a:t>Experience:  </a:t>
            </a:r>
            <a:r>
              <a:rPr lang="en-US" sz="2400" dirty="0">
                <a:solidFill>
                  <a:srgbClr val="63666A"/>
                </a:solidFill>
                <a:latin typeface="lato" panose="020F0502020204030203" pitchFamily="34" charset="0"/>
              </a:rPr>
              <a:t>Our past experience shapes our readiness and confidence to take on new tasks, and the way we make sense of what is required.</a:t>
            </a:r>
          </a:p>
        </p:txBody>
      </p:sp>
    </p:spTree>
    <p:extLst>
      <p:ext uri="{BB962C8B-B14F-4D97-AF65-F5344CB8AC3E}">
        <p14:creationId xmlns:p14="http://schemas.microsoft.com/office/powerpoint/2010/main" val="1596554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BE3EBE-5EFC-7A75-E714-6D143426223B}"/>
              </a:ext>
            </a:extLst>
          </p:cNvPr>
          <p:cNvSpPr>
            <a:spLocks noGrp="1"/>
          </p:cNvSpPr>
          <p:nvPr>
            <p:ph type="title"/>
          </p:nvPr>
        </p:nvSpPr>
        <p:spPr/>
        <p:txBody>
          <a:bodyPr/>
          <a:lstStyle/>
          <a:p>
            <a:r>
              <a:rPr lang="en-US" b="1" dirty="0">
                <a:solidFill>
                  <a:srgbClr val="0070C0"/>
                </a:solidFill>
              </a:rPr>
              <a:t>SHAPE</a:t>
            </a:r>
            <a:r>
              <a:rPr lang="en-US" b="1" dirty="0">
                <a:solidFill>
                  <a:srgbClr val="FF0000"/>
                </a:solidFill>
              </a:rPr>
              <a:t>S</a:t>
            </a:r>
            <a:endParaRPr lang="en-US" dirty="0">
              <a:solidFill>
                <a:srgbClr val="FF0000"/>
              </a:solidFill>
            </a:endParaRPr>
          </a:p>
        </p:txBody>
      </p:sp>
      <p:sp>
        <p:nvSpPr>
          <p:cNvPr id="3" name="Text Placeholder 2">
            <a:extLst>
              <a:ext uri="{FF2B5EF4-FFF2-40B4-BE49-F238E27FC236}">
                <a16:creationId xmlns:a16="http://schemas.microsoft.com/office/drawing/2014/main" xmlns="" id="{9AC3B01E-2233-AF3E-3C8D-520A4AB8ADD2}"/>
              </a:ext>
            </a:extLst>
          </p:cNvPr>
          <p:cNvSpPr>
            <a:spLocks noGrp="1"/>
          </p:cNvSpPr>
          <p:nvPr>
            <p:ph type="body" idx="1"/>
          </p:nvPr>
        </p:nvSpPr>
        <p:spPr>
          <a:xfrm>
            <a:off x="893700" y="1605418"/>
            <a:ext cx="7623576" cy="4736400"/>
          </a:xfrm>
        </p:spPr>
        <p:txBody>
          <a:bodyPr/>
          <a:lstStyle/>
          <a:p>
            <a:pPr marL="38100" indent="0">
              <a:buNone/>
            </a:pPr>
            <a:r>
              <a:rPr lang="en-US" b="1" i="1" dirty="0">
                <a:solidFill>
                  <a:srgbClr val="FF0000"/>
                </a:solidFill>
              </a:rPr>
              <a:t>Strategies:</a:t>
            </a:r>
          </a:p>
          <a:p>
            <a:pPr marL="38100" indent="0">
              <a:buNone/>
            </a:pPr>
            <a:endParaRPr lang="en-US" b="1" i="1" dirty="0">
              <a:solidFill>
                <a:srgbClr val="FF0000"/>
              </a:solidFill>
            </a:endParaRPr>
          </a:p>
          <a:p>
            <a:pPr marL="38100" indent="0">
              <a:buNone/>
            </a:pPr>
            <a:r>
              <a:rPr lang="en-US" sz="2400" b="0" i="0" dirty="0">
                <a:solidFill>
                  <a:srgbClr val="202124"/>
                </a:solidFill>
                <a:effectLst/>
                <a:latin typeface="arial" panose="020B0604020202020204" pitchFamily="34" charset="0"/>
              </a:rPr>
              <a:t>a plan of action designed to achieve a long-term or overall aim</a:t>
            </a:r>
            <a:r>
              <a:rPr lang="en-US" sz="2800" b="0" i="0" dirty="0">
                <a:solidFill>
                  <a:schemeClr val="bg2"/>
                </a:solidFill>
                <a:effectLst/>
                <a:latin typeface="PT Serif" panose="020B0604020202020204" pitchFamily="18" charset="0"/>
              </a:rPr>
              <a:t>.</a:t>
            </a:r>
            <a:endParaRPr lang="en-US" sz="2800" b="1" i="1" dirty="0">
              <a:solidFill>
                <a:schemeClr val="bg2"/>
              </a:solidFill>
            </a:endParaRPr>
          </a:p>
        </p:txBody>
      </p:sp>
    </p:spTree>
    <p:extLst>
      <p:ext uri="{BB962C8B-B14F-4D97-AF65-F5344CB8AC3E}">
        <p14:creationId xmlns:p14="http://schemas.microsoft.com/office/powerpoint/2010/main" val="3423345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D80E6E-F1F0-6D67-BC8D-309B68D37E69}"/>
              </a:ext>
            </a:extLst>
          </p:cNvPr>
          <p:cNvSpPr>
            <a:spLocks noGrp="1"/>
          </p:cNvSpPr>
          <p:nvPr>
            <p:ph type="title"/>
          </p:nvPr>
        </p:nvSpPr>
        <p:spPr>
          <a:xfrm>
            <a:off x="359596" y="274650"/>
            <a:ext cx="8280969" cy="1143000"/>
          </a:xfrm>
        </p:spPr>
        <p:txBody>
          <a:bodyPr/>
          <a:lstStyle/>
          <a:p>
            <a:r>
              <a:rPr lang="en-US" sz="3200" b="1" dirty="0">
                <a:solidFill>
                  <a:srgbClr val="0070C0"/>
                </a:solidFill>
              </a:rPr>
              <a:t>Self-awareness for accurate judgment</a:t>
            </a:r>
            <a:endParaRPr lang="en-US" sz="3200" dirty="0"/>
          </a:p>
        </p:txBody>
      </p:sp>
      <p:sp>
        <p:nvSpPr>
          <p:cNvPr id="3" name="Text Placeholder 2">
            <a:extLst>
              <a:ext uri="{FF2B5EF4-FFF2-40B4-BE49-F238E27FC236}">
                <a16:creationId xmlns:a16="http://schemas.microsoft.com/office/drawing/2014/main" xmlns="" id="{D7E502BC-31CB-5D22-61C2-024625FCD153}"/>
              </a:ext>
            </a:extLst>
          </p:cNvPr>
          <p:cNvSpPr>
            <a:spLocks noGrp="1"/>
          </p:cNvSpPr>
          <p:nvPr>
            <p:ph type="body" idx="1"/>
          </p:nvPr>
        </p:nvSpPr>
        <p:spPr>
          <a:xfrm>
            <a:off x="1171102" y="1543774"/>
            <a:ext cx="6462600" cy="4736400"/>
          </a:xfrm>
        </p:spPr>
        <p:txBody>
          <a:bodyPr/>
          <a:lstStyle/>
          <a:p>
            <a:pPr marL="38100" indent="0" algn="ctr">
              <a:buNone/>
            </a:pPr>
            <a:endParaRPr lang="en-US" dirty="0"/>
          </a:p>
          <a:p>
            <a:pPr marL="38100" indent="0" algn="ctr">
              <a:buNone/>
            </a:pPr>
            <a:endParaRPr lang="en-US" dirty="0"/>
          </a:p>
          <a:p>
            <a:pPr marL="38100" indent="0" algn="ctr">
              <a:buNone/>
            </a:pPr>
            <a:r>
              <a:rPr lang="en-US" dirty="0"/>
              <a:t>“We must understand before we pass judgment”</a:t>
            </a:r>
          </a:p>
          <a:p>
            <a:pPr marL="38100" indent="0" algn="ctr">
              <a:buNone/>
            </a:pPr>
            <a:r>
              <a:rPr lang="en-US" sz="2000" dirty="0"/>
              <a:t>—H. I. </a:t>
            </a:r>
            <a:r>
              <a:rPr lang="en-US" sz="2000" dirty="0" err="1"/>
              <a:t>Marrou</a:t>
            </a:r>
            <a:r>
              <a:rPr lang="en-US" sz="2000" dirty="0"/>
              <a:t> </a:t>
            </a:r>
          </a:p>
        </p:txBody>
      </p:sp>
    </p:spTree>
    <p:extLst>
      <p:ext uri="{BB962C8B-B14F-4D97-AF65-F5344CB8AC3E}">
        <p14:creationId xmlns:p14="http://schemas.microsoft.com/office/powerpoint/2010/main" val="2587564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258732-52BD-AF52-B67D-CABC7E2819FC}"/>
              </a:ext>
            </a:extLst>
          </p:cNvPr>
          <p:cNvSpPr>
            <a:spLocks noGrp="1"/>
          </p:cNvSpPr>
          <p:nvPr>
            <p:ph type="title"/>
          </p:nvPr>
        </p:nvSpPr>
        <p:spPr>
          <a:xfrm>
            <a:off x="893700" y="274650"/>
            <a:ext cx="7325626" cy="1143000"/>
          </a:xfrm>
        </p:spPr>
        <p:txBody>
          <a:bodyPr/>
          <a:lstStyle/>
          <a:p>
            <a:r>
              <a:rPr lang="en-US" sz="3200" b="1" dirty="0">
                <a:solidFill>
                  <a:srgbClr val="0070C0"/>
                </a:solidFill>
              </a:rPr>
              <a:t>Self-awareness for accurate judgement</a:t>
            </a:r>
          </a:p>
        </p:txBody>
      </p:sp>
      <p:sp>
        <p:nvSpPr>
          <p:cNvPr id="3" name="Text Placeholder 2">
            <a:extLst>
              <a:ext uri="{FF2B5EF4-FFF2-40B4-BE49-F238E27FC236}">
                <a16:creationId xmlns:a16="http://schemas.microsoft.com/office/drawing/2014/main" xmlns="" id="{7B69861C-A970-5C5F-523A-8FA38A592482}"/>
              </a:ext>
            </a:extLst>
          </p:cNvPr>
          <p:cNvSpPr>
            <a:spLocks noGrp="1"/>
          </p:cNvSpPr>
          <p:nvPr>
            <p:ph type="body" idx="1"/>
          </p:nvPr>
        </p:nvSpPr>
        <p:spPr>
          <a:xfrm>
            <a:off x="893700" y="1728708"/>
            <a:ext cx="7325625" cy="4736400"/>
          </a:xfrm>
        </p:spPr>
        <p:txBody>
          <a:bodyPr/>
          <a:lstStyle/>
          <a:p>
            <a:pPr marL="38100" indent="0" algn="just">
              <a:buNone/>
            </a:pPr>
            <a:r>
              <a:rPr lang="en-US" sz="2400" dirty="0"/>
              <a:t>In groups of three or more, discuss which word from each of the pairs below you think is more accurate. Which word in the pair would you prefer to use? Which would you prefer to see used by writers and speakers? How would the context influence your judgment? The words in the right column might be considered euphemisms or politically correct terms. </a:t>
            </a:r>
          </a:p>
        </p:txBody>
      </p:sp>
    </p:spTree>
    <p:extLst>
      <p:ext uri="{BB962C8B-B14F-4D97-AF65-F5344CB8AC3E}">
        <p14:creationId xmlns:p14="http://schemas.microsoft.com/office/powerpoint/2010/main" val="204026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258732-52BD-AF52-B67D-CABC7E2819FC}"/>
              </a:ext>
            </a:extLst>
          </p:cNvPr>
          <p:cNvSpPr>
            <a:spLocks noGrp="1"/>
          </p:cNvSpPr>
          <p:nvPr>
            <p:ph type="title"/>
          </p:nvPr>
        </p:nvSpPr>
        <p:spPr>
          <a:xfrm>
            <a:off x="462338" y="182183"/>
            <a:ext cx="7803298" cy="1143000"/>
          </a:xfrm>
        </p:spPr>
        <p:txBody>
          <a:bodyPr wrap="square" anchor="b">
            <a:normAutofit/>
          </a:bodyPr>
          <a:lstStyle/>
          <a:p>
            <a:pPr>
              <a:lnSpc>
                <a:spcPct val="90000"/>
              </a:lnSpc>
            </a:pPr>
            <a:r>
              <a:rPr lang="en-US" sz="3200" b="1" dirty="0">
                <a:solidFill>
                  <a:srgbClr val="3A81BA"/>
                </a:solidFill>
              </a:rPr>
              <a:t>Self-awareness for accurate judgment</a:t>
            </a:r>
          </a:p>
        </p:txBody>
      </p:sp>
      <p:pic>
        <p:nvPicPr>
          <p:cNvPr id="6" name="Picture 5" descr="Table&#10;&#10;Description automatically generated">
            <a:extLst>
              <a:ext uri="{FF2B5EF4-FFF2-40B4-BE49-F238E27FC236}">
                <a16:creationId xmlns:a16="http://schemas.microsoft.com/office/drawing/2014/main" xmlns="" id="{E38B72C4-F601-2085-8AE9-EDDAC799A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9049" y="1690396"/>
            <a:ext cx="6462600" cy="4892954"/>
          </a:xfrm>
          <a:prstGeom prst="rect">
            <a:avLst/>
          </a:prstGeom>
          <a:noFill/>
        </p:spPr>
      </p:pic>
      <p:sp>
        <p:nvSpPr>
          <p:cNvPr id="11" name="Slide Number Placeholder 3">
            <a:extLst>
              <a:ext uri="{FF2B5EF4-FFF2-40B4-BE49-F238E27FC236}">
                <a16:creationId xmlns:a16="http://schemas.microsoft.com/office/drawing/2014/main" xmlns="" id="{D92D73D4-A1D8-7C0A-9601-E7C0D73BA5FD}"/>
              </a:ext>
            </a:extLst>
          </p:cNvPr>
          <p:cNvSpPr>
            <a:spLocks noGrp="1"/>
          </p:cNvSpPr>
          <p:nvPr>
            <p:ph type="sldNum" sz="quarter" idx="12"/>
          </p:nvPr>
        </p:nvSpPr>
        <p:spPr>
          <a:xfrm>
            <a:off x="8570575" y="6094733"/>
            <a:ext cx="573300" cy="763200"/>
          </a:xfrm>
        </p:spPr>
        <p:txBody>
          <a:bodyPr/>
          <a:lstStyle/>
          <a:p>
            <a:pPr>
              <a:spcAft>
                <a:spcPts val="600"/>
              </a:spcAft>
            </a:pPr>
            <a:fld id="{D57F1E4F-1CFF-5643-939E-02111984F565}" type="slidenum">
              <a:rPr lang="en-US" smtClean="0"/>
              <a:pPr>
                <a:spcAft>
                  <a:spcPts val="600"/>
                </a:spcAft>
              </a:pPr>
              <a:t>18</a:t>
            </a:fld>
            <a:endParaRPr lang="en-US"/>
          </a:p>
        </p:txBody>
      </p:sp>
      <p:sp>
        <p:nvSpPr>
          <p:cNvPr id="17" name="Slide Number Placeholder 6">
            <a:extLst>
              <a:ext uri="{FF2B5EF4-FFF2-40B4-BE49-F238E27FC236}">
                <a16:creationId xmlns:a16="http://schemas.microsoft.com/office/drawing/2014/main" xmlns="" id="{74F1BEB9-DD33-0553-0C05-D67D3BC962D1}"/>
              </a:ext>
            </a:extLst>
          </p:cNvPr>
          <p:cNvSpPr>
            <a:spLocks noGrp="1"/>
          </p:cNvSpPr>
          <p:nvPr>
            <p:ph type="sldNum" sz="quarter" idx="12"/>
          </p:nvPr>
        </p:nvSpPr>
        <p:spPr>
          <a:xfrm>
            <a:off x="8570575" y="6094733"/>
            <a:ext cx="573300" cy="763200"/>
          </a:xfrm>
        </p:spPr>
        <p:txBody>
          <a:bodyPr/>
          <a:lstStyle/>
          <a:p>
            <a:pPr>
              <a:spcAft>
                <a:spcPts val="600"/>
              </a:spcAft>
            </a:pPr>
            <a:fld id="{03386776-F45E-49C1-98FD-120D657D1DB7}" type="slidenum">
              <a:rPr lang="en-US" smtClean="0"/>
              <a:pPr>
                <a:spcAft>
                  <a:spcPts val="600"/>
                </a:spcAft>
              </a:pPr>
              <a:t>18</a:t>
            </a:fld>
            <a:endParaRPr lang="en-US"/>
          </a:p>
        </p:txBody>
      </p:sp>
    </p:spTree>
    <p:extLst>
      <p:ext uri="{BB962C8B-B14F-4D97-AF65-F5344CB8AC3E}">
        <p14:creationId xmlns:p14="http://schemas.microsoft.com/office/powerpoint/2010/main" val="401846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2B721D-4B7C-66DC-9C0E-5F1A66FFA32D}"/>
              </a:ext>
            </a:extLst>
          </p:cNvPr>
          <p:cNvSpPr>
            <a:spLocks noGrp="1"/>
          </p:cNvSpPr>
          <p:nvPr>
            <p:ph type="title"/>
          </p:nvPr>
        </p:nvSpPr>
        <p:spPr/>
        <p:txBody>
          <a:bodyPr/>
          <a:lstStyle/>
          <a:p>
            <a:r>
              <a:rPr lang="en-US" b="1" dirty="0">
                <a:solidFill>
                  <a:srgbClr val="0070C0"/>
                </a:solidFill>
              </a:rPr>
              <a:t>Reference</a:t>
            </a:r>
          </a:p>
        </p:txBody>
      </p:sp>
      <p:sp>
        <p:nvSpPr>
          <p:cNvPr id="3" name="Text Placeholder 2">
            <a:extLst>
              <a:ext uri="{FF2B5EF4-FFF2-40B4-BE49-F238E27FC236}">
                <a16:creationId xmlns:a16="http://schemas.microsoft.com/office/drawing/2014/main" xmlns="" id="{20414722-EB5B-85EE-1BBF-1F8CC57FB735}"/>
              </a:ext>
            </a:extLst>
          </p:cNvPr>
          <p:cNvSpPr>
            <a:spLocks noGrp="1"/>
          </p:cNvSpPr>
          <p:nvPr>
            <p:ph type="body" idx="1"/>
          </p:nvPr>
        </p:nvSpPr>
        <p:spPr>
          <a:xfrm>
            <a:off x="893700" y="1595144"/>
            <a:ext cx="7654399" cy="4736400"/>
          </a:xfrm>
        </p:spPr>
        <p:txBody>
          <a:bodyPr/>
          <a:lstStyle/>
          <a:p>
            <a:r>
              <a:rPr lang="en-US" sz="2400" dirty="0">
                <a:hlinkClick r:id="rId2"/>
              </a:rPr>
              <a:t>https://www.wgu.edu/blog/computer-science-skills-resume1911.html#close</a:t>
            </a:r>
            <a:endParaRPr lang="en-US" sz="2400" dirty="0"/>
          </a:p>
          <a:p>
            <a:r>
              <a:rPr lang="en-US" sz="2400" i="0" dirty="0">
                <a:effectLst/>
                <a:latin typeface="-apple-system"/>
                <a:hlinkClick r:id="rId3"/>
              </a:rPr>
              <a:t>Encyclopedia of Tourism</a:t>
            </a:r>
            <a:r>
              <a:rPr lang="en-US" sz="2400" i="0" dirty="0">
                <a:solidFill>
                  <a:srgbClr val="333333"/>
                </a:solidFill>
                <a:effectLst/>
                <a:latin typeface="-apple-system"/>
              </a:rPr>
              <a:t> </a:t>
            </a:r>
          </a:p>
          <a:p>
            <a:r>
              <a:rPr lang="en-US" sz="2400" b="0" i="0" dirty="0">
                <a:solidFill>
                  <a:srgbClr val="1A1A1A"/>
                </a:solidFill>
                <a:effectLst/>
                <a:latin typeface="Times New Roman" panose="02020603050405020304" pitchFamily="18" charset="0"/>
              </a:rPr>
              <a:t>Anand, Paul, 1993, “The Philosophy of Intransitive Preference”, </a:t>
            </a:r>
            <a:r>
              <a:rPr lang="en-US" sz="2400" b="0" i="1" dirty="0">
                <a:solidFill>
                  <a:srgbClr val="1A1A1A"/>
                </a:solidFill>
                <a:effectLst/>
                <a:latin typeface="Times New Roman" panose="02020603050405020304" pitchFamily="18" charset="0"/>
              </a:rPr>
              <a:t>Economic Journal</a:t>
            </a:r>
            <a:r>
              <a:rPr lang="en-US" sz="2400" b="0" i="0" dirty="0">
                <a:solidFill>
                  <a:srgbClr val="1A1A1A"/>
                </a:solidFill>
                <a:effectLst/>
                <a:latin typeface="Times New Roman" panose="02020603050405020304" pitchFamily="18" charset="0"/>
              </a:rPr>
              <a:t>, 103: 337–346.</a:t>
            </a:r>
          </a:p>
          <a:p>
            <a:endParaRPr lang="en-US" dirty="0"/>
          </a:p>
        </p:txBody>
      </p:sp>
    </p:spTree>
    <p:extLst>
      <p:ext uri="{BB962C8B-B14F-4D97-AF65-F5344CB8AC3E}">
        <p14:creationId xmlns:p14="http://schemas.microsoft.com/office/powerpoint/2010/main" val="720788146"/>
      </p:ext>
    </p:extLst>
  </p:cSld>
  <p:clrMapOvr>
    <a:masterClrMapping/>
  </p:clrMapOvr>
</p:sld>
</file>

<file path=ppt/theme/theme1.xml><?xml version="1.0" encoding="utf-8"?>
<a:theme xmlns:a="http://schemas.openxmlformats.org/drawingml/2006/main" name="Theme3">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A4840DA3-F033-4090-A2F4-A02427F5D55E}" vid="{05AC1048-9477-4FC0-BDAF-49534A2894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Theme3</Template>
  <TotalTime>5427</TotalTime>
  <Words>607</Words>
  <Application>Microsoft Office PowerPoint</Application>
  <PresentationFormat>On-screen Show (4:3)</PresentationFormat>
  <Paragraphs>87</Paragraphs>
  <Slides>19</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-apple-system</vt:lpstr>
      <vt:lpstr>arial</vt:lpstr>
      <vt:lpstr>arial</vt:lpstr>
      <vt:lpstr>Calibri</vt:lpstr>
      <vt:lpstr>Gulim</vt:lpstr>
      <vt:lpstr>Lato</vt:lpstr>
      <vt:lpstr>Lato</vt:lpstr>
      <vt:lpstr>PT Serif</vt:lpstr>
      <vt:lpstr>Raleway</vt:lpstr>
      <vt:lpstr>Times New Roman</vt:lpstr>
      <vt:lpstr>Verdana</vt:lpstr>
      <vt:lpstr>Theme3</vt:lpstr>
      <vt:lpstr>Critical Thinking (BES-103)  </vt:lpstr>
      <vt:lpstr>Lecture Outline </vt:lpstr>
      <vt:lpstr>Ancillary skills </vt:lpstr>
      <vt:lpstr>Ancillary skills </vt:lpstr>
      <vt:lpstr>What Soft Skills Do I Need for Computer Science?</vt:lpstr>
      <vt:lpstr>What Soft Skills Do I Need for Computer Science?</vt:lpstr>
      <vt:lpstr>Exercise</vt:lpstr>
      <vt:lpstr>Underlying skills and development</vt:lpstr>
      <vt:lpstr>Personal performance and learning SHAPES</vt:lpstr>
      <vt:lpstr>SHAPES</vt:lpstr>
      <vt:lpstr>SHAPES</vt:lpstr>
      <vt:lpstr>SHAPES</vt:lpstr>
      <vt:lpstr>SHAPES</vt:lpstr>
      <vt:lpstr>SHAPES</vt:lpstr>
      <vt:lpstr>SHAPES</vt:lpstr>
      <vt:lpstr>Self-awareness for accurate judgment</vt:lpstr>
      <vt:lpstr>Self-awareness for accurate judgement</vt:lpstr>
      <vt:lpstr>Self-awareness for accurate judgment</vt:lpstr>
      <vt:lpstr>Reference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Sarmad Soomro</dc:creator>
  <cp:lastModifiedBy>Bahria</cp:lastModifiedBy>
  <cp:revision>556</cp:revision>
  <dcterms:created xsi:type="dcterms:W3CDTF">2014-08-22T07:35:58Z</dcterms:created>
  <dcterms:modified xsi:type="dcterms:W3CDTF">2023-02-27T06:08:37Z</dcterms:modified>
</cp:coreProperties>
</file>