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2" r:id="rId1"/>
  </p:sldMasterIdLst>
  <p:notesMasterIdLst>
    <p:notesMasterId r:id="rId28"/>
  </p:notesMasterIdLst>
  <p:handoutMasterIdLst>
    <p:handoutMasterId r:id="rId29"/>
  </p:handoutMasterIdLst>
  <p:sldIdLst>
    <p:sldId id="445" r:id="rId2"/>
    <p:sldId id="371" r:id="rId3"/>
    <p:sldId id="366" r:id="rId4"/>
    <p:sldId id="368" r:id="rId5"/>
    <p:sldId id="369" r:id="rId6"/>
    <p:sldId id="370" r:id="rId7"/>
    <p:sldId id="410" r:id="rId8"/>
    <p:sldId id="442" r:id="rId9"/>
    <p:sldId id="446" r:id="rId10"/>
    <p:sldId id="447" r:id="rId11"/>
    <p:sldId id="448" r:id="rId12"/>
    <p:sldId id="449" r:id="rId13"/>
    <p:sldId id="450" r:id="rId14"/>
    <p:sldId id="451" r:id="rId15"/>
    <p:sldId id="452" r:id="rId16"/>
    <p:sldId id="455" r:id="rId17"/>
    <p:sldId id="453" r:id="rId18"/>
    <p:sldId id="456" r:id="rId19"/>
    <p:sldId id="457" r:id="rId20"/>
    <p:sldId id="458" r:id="rId21"/>
    <p:sldId id="459" r:id="rId22"/>
    <p:sldId id="460" r:id="rId23"/>
    <p:sldId id="464" r:id="rId24"/>
    <p:sldId id="461" r:id="rId25"/>
    <p:sldId id="462" r:id="rId26"/>
    <p:sldId id="463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81BA"/>
    <a:srgbClr val="F20253"/>
    <a:srgbClr val="677480"/>
    <a:srgbClr val="FF9715"/>
    <a:srgbClr val="DB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88" autoAdjust="0"/>
    <p:restoredTop sz="94434" autoAdjust="0"/>
  </p:normalViewPr>
  <p:slideViewPr>
    <p:cSldViewPr snapToGrid="0">
      <p:cViewPr varScale="1">
        <p:scale>
          <a:sx n="70" d="100"/>
          <a:sy n="70" d="100"/>
        </p:scale>
        <p:origin x="159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F8073-C4A0-411A-8586-835145D1358A}" type="datetimeFigureOut">
              <a:rPr lang="en-US" smtClean="0"/>
              <a:t>2/19/2023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309B39-1136-414F-94A2-54C5621BC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06982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216D8-322A-4595-AD89-057F9326FDA3}" type="datetimeFigureOut">
              <a:rPr lang="en-US" smtClean="0"/>
              <a:t>2/19/2023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97D2D-EC81-4A0A-A993-099D5B47DE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7862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C97D2D-EC81-4A0A-A993-099D5B47DE7A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915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C97D2D-EC81-4A0A-A993-099D5B47DE7A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62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https://missionself.com/developing-critical-thinking-skills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97D2D-EC81-4A0A-A993-099D5B47DE7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02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721425" y="3785246"/>
            <a:ext cx="5216700" cy="1546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Shape 10"/>
          <p:cNvSpPr/>
          <p:nvPr/>
        </p:nvSpPr>
        <p:spPr>
          <a:xfrm>
            <a:off x="5938246" y="3377550"/>
            <a:ext cx="7218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Shape 11"/>
          <p:cNvSpPr/>
          <p:nvPr/>
        </p:nvSpPr>
        <p:spPr>
          <a:xfrm>
            <a:off x="6659861" y="3377550"/>
            <a:ext cx="7218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Shape 12"/>
          <p:cNvSpPr/>
          <p:nvPr/>
        </p:nvSpPr>
        <p:spPr>
          <a:xfrm>
            <a:off x="-1" y="3377550"/>
            <a:ext cx="7218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Shape 13"/>
          <p:cNvSpPr/>
          <p:nvPr/>
        </p:nvSpPr>
        <p:spPr>
          <a:xfrm>
            <a:off x="721425" y="3377550"/>
            <a:ext cx="52167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3283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>
            <a:off x="0" y="0"/>
            <a:ext cx="9144000" cy="53238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" name="Shape 18"/>
          <p:cNvSpPr/>
          <p:nvPr/>
        </p:nvSpPr>
        <p:spPr>
          <a:xfrm>
            <a:off x="3047704" y="5323800"/>
            <a:ext cx="3047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Shape 19"/>
          <p:cNvSpPr/>
          <p:nvPr/>
        </p:nvSpPr>
        <p:spPr>
          <a:xfrm>
            <a:off x="6096271" y="5323800"/>
            <a:ext cx="3047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Shape 20"/>
          <p:cNvSpPr/>
          <p:nvPr/>
        </p:nvSpPr>
        <p:spPr>
          <a:xfrm>
            <a:off x="1" y="5323800"/>
            <a:ext cx="3047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8294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893700" y="274650"/>
            <a:ext cx="6462600" cy="11430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893700" y="1831450"/>
            <a:ext cx="6462600" cy="473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▷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Shape 31"/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Shape 32"/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Shape 33"/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Shape 34"/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2179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893700" y="274650"/>
            <a:ext cx="6462600" cy="11430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893625" y="1600200"/>
            <a:ext cx="3136800" cy="4967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▷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Shape 38"/>
          <p:cNvSpPr txBox="1">
            <a:spLocks noGrp="1"/>
          </p:cNvSpPr>
          <p:nvPr>
            <p:ph type="body" idx="2"/>
          </p:nvPr>
        </p:nvSpPr>
        <p:spPr>
          <a:xfrm>
            <a:off x="4219456" y="1600200"/>
            <a:ext cx="3136800" cy="4967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▷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Shape 39"/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Shape 40"/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Shape 41"/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Shape 42"/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5487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893700" y="274650"/>
            <a:ext cx="6462600" cy="11430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>
            <a:off x="893700" y="1600200"/>
            <a:ext cx="2371200" cy="4967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▷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Shape 46"/>
          <p:cNvSpPr txBox="1">
            <a:spLocks noGrp="1"/>
          </p:cNvSpPr>
          <p:nvPr>
            <p:ph type="body" idx="2"/>
          </p:nvPr>
        </p:nvSpPr>
        <p:spPr>
          <a:xfrm>
            <a:off x="3386404" y="1600200"/>
            <a:ext cx="2371200" cy="4967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▷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Shape 47"/>
          <p:cNvSpPr txBox="1">
            <a:spLocks noGrp="1"/>
          </p:cNvSpPr>
          <p:nvPr>
            <p:ph type="body" idx="3"/>
          </p:nvPr>
        </p:nvSpPr>
        <p:spPr>
          <a:xfrm>
            <a:off x="5879107" y="1600200"/>
            <a:ext cx="2371200" cy="4967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▷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Shape 48"/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Shape 49"/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Shape 50"/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Shape 51"/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380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title"/>
          </p:nvPr>
        </p:nvSpPr>
        <p:spPr>
          <a:xfrm>
            <a:off x="893700" y="274650"/>
            <a:ext cx="6462600" cy="11430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4" name="Shape 54"/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Shape 55"/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Shape 56"/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Shape 57"/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8670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body" idx="1"/>
          </p:nvPr>
        </p:nvSpPr>
        <p:spPr>
          <a:xfrm>
            <a:off x="893700" y="6199950"/>
            <a:ext cx="6462600" cy="467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marL="457200" lvl="0" indent="-228600">
              <a:spcBef>
                <a:spcPts val="360"/>
              </a:spcBef>
              <a:spcAft>
                <a:spcPts val="0"/>
              </a:spcAft>
              <a:buClr>
                <a:srgbClr val="2185C5"/>
              </a:buClr>
              <a:buSzPts val="1400"/>
              <a:buNone/>
              <a:defRPr sz="1400">
                <a:solidFill>
                  <a:srgbClr val="2185C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Shape 60"/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Shape 61"/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Shape 62"/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Shape 63"/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944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Shape 66"/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Shape 67"/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Shape 68"/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8589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color background">
    <p:bg>
      <p:bgPr>
        <a:solidFill>
          <a:srgbClr val="2185C5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/>
        </p:nvSpPr>
        <p:spPr>
          <a:xfrm>
            <a:off x="7356366" y="6755100"/>
            <a:ext cx="8937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Shape 71"/>
          <p:cNvSpPr/>
          <p:nvPr/>
        </p:nvSpPr>
        <p:spPr>
          <a:xfrm>
            <a:off x="8250312" y="6755100"/>
            <a:ext cx="8937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Shape 72"/>
          <p:cNvSpPr/>
          <p:nvPr/>
        </p:nvSpPr>
        <p:spPr>
          <a:xfrm>
            <a:off x="0" y="6755100"/>
            <a:ext cx="893700" cy="10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Shape 73"/>
          <p:cNvSpPr/>
          <p:nvPr/>
        </p:nvSpPr>
        <p:spPr>
          <a:xfrm>
            <a:off x="893710" y="6755100"/>
            <a:ext cx="64626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038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  <a:prstGeom prst="rect">
            <a:avLst/>
          </a:prstGeo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85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70575" y="6094733"/>
            <a:ext cx="573300" cy="763200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708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70575" y="6094733"/>
            <a:ext cx="573300" cy="763200"/>
          </a:xfrm>
          <a:prstGeom prst="rect">
            <a:avLst/>
          </a:prstGeom>
        </p:spPr>
        <p:txBody>
          <a:bodyPr/>
          <a:lstStyle/>
          <a:p>
            <a:fld id="{03386776-F45E-49C1-98FD-120D657D1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54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893700" y="274650"/>
            <a:ext cx="6462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893700" y="1831450"/>
            <a:ext cx="6462600" cy="47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rgbClr val="677480"/>
              </a:buClr>
              <a:buSzPts val="3000"/>
              <a:buFont typeface="Lato"/>
              <a:buChar char="▷"/>
              <a:defRPr sz="30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2400"/>
              <a:buFont typeface="Lato"/>
              <a:buChar char="○"/>
              <a:defRPr sz="24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2400"/>
              <a:buFont typeface="Lato"/>
              <a:buChar char="■"/>
              <a:defRPr sz="24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●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○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■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●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○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677480"/>
              </a:buClr>
              <a:buSzPts val="1800"/>
              <a:buFont typeface="Lato"/>
              <a:buChar char="■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067534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6" r:id="rId3"/>
    <p:sldLayoutId id="2147484027" r:id="rId4"/>
    <p:sldLayoutId id="2147484028" r:id="rId5"/>
    <p:sldLayoutId id="2147484029" r:id="rId6"/>
    <p:sldLayoutId id="2147484030" r:id="rId7"/>
    <p:sldLayoutId id="2147484031" r:id="rId8"/>
    <p:sldLayoutId id="2147484032" r:id="rId9"/>
    <p:sldLayoutId id="2147484033" r:id="rId10"/>
    <p:sldLayoutId id="2147484034" r:id="rId11"/>
    <p:sldLayoutId id="2147484035" r:id="rId1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mqamarhayat/introduction-to-critical-thinking-8850972?from_action=save" TargetMode="External"/><Relationship Id="rId2" Type="http://schemas.openxmlformats.org/officeDocument/2006/relationships/hyperlink" Target="https://missionself.com/developing-critical-thinking-skills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6573" y="2471601"/>
            <a:ext cx="6342839" cy="864027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Gulim" panose="020B0600000101010101" pitchFamily="34" charset="-127"/>
                <a:cs typeface="Arial" panose="020B0604020202020204" pitchFamily="34" charset="0"/>
              </a:rPr>
              <a:t>Critical Thinking </a:t>
            </a:r>
            <a:r>
              <a:rPr lang="en-US" altLang="ko-KR" sz="4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Gulim" panose="020B0600000101010101" pitchFamily="34" charset="-127"/>
                <a:cs typeface="Arial" panose="020B0604020202020204" pitchFamily="34" charset="0"/>
              </a:rPr>
              <a:t>(BES-103) </a:t>
            </a:r>
            <a:r>
              <a:rPr lang="en-US" altLang="ko-KR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/>
            </a:r>
            <a:br>
              <a:rPr lang="en-US" altLang="ko-KR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592636" y="3631217"/>
            <a:ext cx="5216700" cy="15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 b="0" i="0" u="none" strike="noStrike" cap="none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800" b="1" dirty="0"/>
              <a:t>Lecture 1</a:t>
            </a:r>
          </a:p>
          <a:p>
            <a:r>
              <a:rPr lang="en-US" sz="1800" b="1" dirty="0"/>
              <a:t>Introduction to Critical Thinking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460399" y="5473306"/>
            <a:ext cx="3540726" cy="117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 b="0" i="0" u="none" strike="noStrike" cap="none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800" b="1" dirty="0" err="1" smtClean="0">
                <a:solidFill>
                  <a:srgbClr val="F20253"/>
                </a:solidFill>
              </a:rPr>
              <a:t>Hadiqua</a:t>
            </a:r>
            <a:r>
              <a:rPr lang="en-US" sz="1800" b="1" dirty="0" smtClean="0">
                <a:solidFill>
                  <a:srgbClr val="F20253"/>
                </a:solidFill>
              </a:rPr>
              <a:t> </a:t>
            </a:r>
            <a:r>
              <a:rPr lang="en-US" sz="1800" b="1" dirty="0" err="1" smtClean="0">
                <a:solidFill>
                  <a:srgbClr val="F20253"/>
                </a:solidFill>
              </a:rPr>
              <a:t>Fazal</a:t>
            </a:r>
            <a:endParaRPr lang="en-US" sz="1800" b="1" dirty="0">
              <a:solidFill>
                <a:srgbClr val="F20253"/>
              </a:solidFill>
            </a:endParaRPr>
          </a:p>
          <a:p>
            <a:r>
              <a:rPr lang="en-US" sz="1800" b="1" dirty="0" smtClean="0">
                <a:solidFill>
                  <a:srgbClr val="F20253"/>
                </a:solidFill>
              </a:rPr>
              <a:t>Assistant Professor</a:t>
            </a:r>
            <a:endParaRPr lang="en-US" sz="1800" b="1" dirty="0">
              <a:solidFill>
                <a:srgbClr val="F20253"/>
              </a:solidFill>
            </a:endParaRPr>
          </a:p>
          <a:p>
            <a:r>
              <a:rPr lang="en-US" sz="1800" b="1" dirty="0">
                <a:solidFill>
                  <a:srgbClr val="F20253"/>
                </a:solidFill>
              </a:rPr>
              <a:t>Computer Science Department</a:t>
            </a:r>
          </a:p>
        </p:txBody>
      </p:sp>
    </p:spTree>
    <p:extLst>
      <p:ext uri="{BB962C8B-B14F-4D97-AF65-F5344CB8AC3E}">
        <p14:creationId xmlns:p14="http://schemas.microsoft.com/office/powerpoint/2010/main" val="3292193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Course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893700" y="1831450"/>
            <a:ext cx="7346174" cy="4736400"/>
          </a:xfrm>
        </p:spPr>
        <p:txBody>
          <a:bodyPr>
            <a:normAutofit/>
          </a:bodyPr>
          <a:lstStyle/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400" dirty="0"/>
              <a:t>To enable students to apply the general principles of logic that make patterns of argument valid or invalid;</a:t>
            </a:r>
          </a:p>
          <a:p>
            <a:r>
              <a:rPr lang="en-US" sz="2400" dirty="0"/>
              <a:t>To develop an in‐depth understanding of the concept and process of critical thinking;</a:t>
            </a:r>
          </a:p>
          <a:p>
            <a:r>
              <a:rPr lang="en-US" sz="2400" dirty="0"/>
              <a:t>To strengthen students’ ability to take ownership of content by actively thinking it through, value questions over answers, and seek understanding over memorization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72011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  <a:r>
              <a:rPr lang="en-US" b="1" dirty="0">
                <a:solidFill>
                  <a:srgbClr val="0070C0"/>
                </a:solidFill>
              </a:rPr>
              <a:t>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893700" y="1600201"/>
            <a:ext cx="7726318" cy="4106951"/>
          </a:xfrm>
        </p:spPr>
        <p:txBody>
          <a:bodyPr>
            <a:normAutofit/>
          </a:bodyPr>
          <a:lstStyle/>
          <a:p>
            <a:r>
              <a:rPr lang="en-US" altLang="ko-KR" sz="2200" dirty="0">
                <a:ea typeface="Gulim" panose="020B0600000101010101" pitchFamily="34" charset="-127"/>
              </a:rPr>
              <a:t>Main</a:t>
            </a:r>
          </a:p>
          <a:p>
            <a:pPr lvl="0"/>
            <a:r>
              <a:rPr lang="en-US" sz="2400" dirty="0" err="1"/>
              <a:t>Bassham</a:t>
            </a:r>
            <a:r>
              <a:rPr lang="en-US" sz="2400" dirty="0"/>
              <a:t>, G, Irwin., Nardone, H, Wallace, J. Critical thinking: A Student’s Introduction. New York: McGraw‐Hill, 2011</a:t>
            </a:r>
          </a:p>
          <a:p>
            <a:r>
              <a:rPr lang="en-US" sz="2400" dirty="0"/>
              <a:t>Ruggiero, R, V. Beyond Feelings: A Guide to Critical Thinking. New York: McGraw‐Hill, 2012</a:t>
            </a:r>
          </a:p>
        </p:txBody>
      </p:sp>
    </p:spTree>
    <p:extLst>
      <p:ext uri="{BB962C8B-B14F-4D97-AF65-F5344CB8AC3E}">
        <p14:creationId xmlns:p14="http://schemas.microsoft.com/office/powerpoint/2010/main" val="550251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Course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893699" y="1831450"/>
            <a:ext cx="7677213" cy="4736400"/>
          </a:xfrm>
        </p:spPr>
        <p:txBody>
          <a:bodyPr/>
          <a:lstStyle/>
          <a:p>
            <a:r>
              <a:rPr lang="en-GB" sz="2200" dirty="0"/>
              <a:t>Attendance</a:t>
            </a:r>
            <a:endParaRPr lang="en-US" sz="2200" dirty="0"/>
          </a:p>
          <a:p>
            <a:endParaRPr lang="en-GB" sz="2200" dirty="0"/>
          </a:p>
          <a:p>
            <a:pPr lvl="1"/>
            <a:r>
              <a:rPr lang="en-GB" sz="2200" dirty="0"/>
              <a:t>Students are expected to attend all classes</a:t>
            </a:r>
            <a:endParaRPr lang="en-US" sz="2200" dirty="0"/>
          </a:p>
          <a:p>
            <a:pPr lvl="1"/>
            <a:r>
              <a:rPr lang="en-GB" sz="2200" dirty="0"/>
              <a:t>Attendance is compulsory and will be taken regularly. </a:t>
            </a:r>
            <a:endParaRPr lang="en-US" sz="2200" dirty="0"/>
          </a:p>
          <a:p>
            <a:pPr lvl="1"/>
            <a:r>
              <a:rPr lang="en-GB" sz="2200" dirty="0"/>
              <a:t>Attendance for less than 80% of the lectures will result in students being barred from taking the Final Exam.</a:t>
            </a:r>
            <a:endParaRPr lang="en-US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741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Course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893699" y="1844329"/>
            <a:ext cx="7387415" cy="4736400"/>
          </a:xfrm>
        </p:spPr>
        <p:txBody>
          <a:bodyPr/>
          <a:lstStyle/>
          <a:p>
            <a:r>
              <a:rPr lang="en-GB" sz="2200" dirty="0"/>
              <a:t>Homework (Assignments)</a:t>
            </a:r>
          </a:p>
          <a:p>
            <a:pPr algn="just"/>
            <a:endParaRPr lang="en-GB" sz="2200" dirty="0"/>
          </a:p>
          <a:p>
            <a:pPr lvl="1" algn="just"/>
            <a:r>
              <a:rPr lang="en-GB" sz="2200" dirty="0"/>
              <a:t>Homework are due at the beginning of class,</a:t>
            </a:r>
            <a:endParaRPr lang="en-US" sz="2200" dirty="0"/>
          </a:p>
          <a:p>
            <a:pPr lvl="1" algn="just"/>
            <a:r>
              <a:rPr lang="en-GB" sz="2200" dirty="0"/>
              <a:t>Late homework will not be accepted,</a:t>
            </a:r>
            <a:endParaRPr lang="en-US" sz="2200" dirty="0"/>
          </a:p>
          <a:p>
            <a:pPr lvl="1" algn="just"/>
            <a:r>
              <a:rPr lang="en-GB" sz="2200" dirty="0"/>
              <a:t>All works have to be done independently,</a:t>
            </a:r>
            <a:endParaRPr lang="en-US" sz="2200" dirty="0"/>
          </a:p>
          <a:p>
            <a:pPr lvl="1" algn="just"/>
            <a:r>
              <a:rPr lang="en-GB" sz="2200" dirty="0"/>
              <a:t>Students handing in similar homework will receive a grade of 0 (ZERO) and face possible disciplinary actions.</a:t>
            </a:r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152257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Class Rules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42925" y="1417650"/>
            <a:ext cx="6943725" cy="3282938"/>
          </a:xfrm>
        </p:spPr>
        <p:txBody>
          <a:bodyPr>
            <a:normAutofit/>
          </a:bodyPr>
          <a:lstStyle/>
          <a:p>
            <a:pPr marL="38100" indent="0">
              <a:buNone/>
            </a:pPr>
            <a:endParaRPr lang="en-US" dirty="0"/>
          </a:p>
          <a:p>
            <a:pPr lvl="1"/>
            <a:r>
              <a:rPr lang="en-GB" sz="2200" dirty="0"/>
              <a:t>Cell phones are restricted during class. </a:t>
            </a:r>
          </a:p>
          <a:p>
            <a:pPr lvl="1"/>
            <a:r>
              <a:rPr lang="en-GB" sz="2200" dirty="0"/>
              <a:t>Cell phones must be turned off during the lecture.</a:t>
            </a:r>
          </a:p>
          <a:p>
            <a:pPr lvl="1"/>
            <a:r>
              <a:rPr lang="en-GB" sz="2200" dirty="0"/>
              <a:t>If your cell phone rings during class, you may be asked to leave.</a:t>
            </a:r>
          </a:p>
          <a:p>
            <a:pPr lvl="1"/>
            <a:r>
              <a:rPr lang="en-GB" sz="2200" dirty="0"/>
              <a:t>No discussion with each other during lecture </a:t>
            </a:r>
            <a:endParaRPr lang="en-US" sz="2200" dirty="0"/>
          </a:p>
          <a:p>
            <a:pPr lvl="1"/>
            <a:r>
              <a:rPr lang="en-US" sz="2200" dirty="0"/>
              <a:t>Maintain discipline.</a:t>
            </a:r>
          </a:p>
        </p:txBody>
      </p:sp>
    </p:spTree>
    <p:extLst>
      <p:ext uri="{BB962C8B-B14F-4D97-AF65-F5344CB8AC3E}">
        <p14:creationId xmlns:p14="http://schemas.microsoft.com/office/powerpoint/2010/main" val="4242738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Course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050863" y="1417650"/>
            <a:ext cx="6462600" cy="4736400"/>
          </a:xfrm>
        </p:spPr>
        <p:txBody>
          <a:bodyPr/>
          <a:lstStyle/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sz="2200" dirty="0"/>
              <a:t>Assessment Criteria</a:t>
            </a:r>
          </a:p>
          <a:p>
            <a:pPr lvl="1"/>
            <a:r>
              <a:rPr lang="en-US" altLang="en-US" sz="2200" dirty="0"/>
              <a:t>Mid – Term				20%</a:t>
            </a:r>
          </a:p>
          <a:p>
            <a:pPr lvl="1"/>
            <a:r>
              <a:rPr lang="en-US" altLang="en-US" sz="2200" dirty="0"/>
              <a:t>Final Exam				50%</a:t>
            </a:r>
          </a:p>
          <a:p>
            <a:pPr lvl="1"/>
            <a:r>
              <a:rPr lang="en-US" altLang="en-US" sz="2200" dirty="0"/>
              <a:t>Quizzes				10%</a:t>
            </a:r>
          </a:p>
          <a:p>
            <a:pPr lvl="1"/>
            <a:r>
              <a:rPr lang="en-US" altLang="en-US" sz="2200" dirty="0"/>
              <a:t>Class Assignments/Term Project	20%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515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Lecture Outline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893700" y="1572142"/>
            <a:ext cx="6462600" cy="4736400"/>
          </a:xfrm>
        </p:spPr>
        <p:txBody>
          <a:bodyPr>
            <a:normAutofit/>
          </a:bodyPr>
          <a:lstStyle/>
          <a:p>
            <a:r>
              <a:rPr lang="en-US" sz="2200" dirty="0"/>
              <a:t>What is critical thinking?</a:t>
            </a:r>
          </a:p>
          <a:p>
            <a:r>
              <a:rPr lang="en-US" sz="2200" dirty="0"/>
              <a:t>Critical thinking standards.</a:t>
            </a:r>
          </a:p>
          <a:p>
            <a:r>
              <a:rPr lang="en-US" sz="2200" dirty="0"/>
              <a:t>Benefits</a:t>
            </a:r>
          </a:p>
          <a:p>
            <a:r>
              <a:rPr lang="en-US" sz="2200" dirty="0"/>
              <a:t>Barriers</a:t>
            </a:r>
          </a:p>
          <a:p>
            <a:r>
              <a:rPr lang="en-US" sz="2200" dirty="0"/>
              <a:t>Characteristics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16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53C3BE-5601-F4FF-EEEE-E6986EEDF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Question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C3D18851-6003-841B-8A40-F371DF697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xmlns="" id="{3752EF0C-C0D1-7177-D6E8-C58C56F2E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699" y="1765434"/>
            <a:ext cx="7328641" cy="46353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56405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21C65F-64EF-4A3D-EA9B-F20D774D3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Do you agree?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1850C03-9E1F-F81C-F266-C8B787D13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678" y="1586791"/>
            <a:ext cx="3762375" cy="4791075"/>
          </a:xfrm>
          <a:prstGeom prst="rect">
            <a:avLst/>
          </a:prstGeom>
        </p:spPr>
      </p:pic>
      <p:sp>
        <p:nvSpPr>
          <p:cNvPr id="5" name="Cloud 4">
            <a:extLst>
              <a:ext uri="{FF2B5EF4-FFF2-40B4-BE49-F238E27FC236}">
                <a16:creationId xmlns:a16="http://schemas.microsoft.com/office/drawing/2014/main" xmlns="" id="{56711C5E-B87E-0171-E950-FE072ED6CE7E}"/>
              </a:ext>
            </a:extLst>
          </p:cNvPr>
          <p:cNvSpPr/>
          <p:nvPr/>
        </p:nvSpPr>
        <p:spPr>
          <a:xfrm rot="20429110">
            <a:off x="462337" y="2350213"/>
            <a:ext cx="3133618" cy="215757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Why is Imagination so important?</a:t>
            </a:r>
          </a:p>
          <a:p>
            <a:pPr algn="ctr"/>
            <a:r>
              <a:rPr lang="en-US" dirty="0"/>
              <a:t>I need input from you!</a:t>
            </a:r>
          </a:p>
        </p:txBody>
      </p:sp>
    </p:spTree>
    <p:extLst>
      <p:ext uri="{BB962C8B-B14F-4D97-AF65-F5344CB8AC3E}">
        <p14:creationId xmlns:p14="http://schemas.microsoft.com/office/powerpoint/2010/main" val="1058716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227EBA-B558-4736-38F8-B7677556D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What is thinking?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2A0A836-E8C8-A1B2-9927-09C84C3FB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3847" y="1523225"/>
            <a:ext cx="7654399" cy="4736400"/>
          </a:xfrm>
        </p:spPr>
        <p:txBody>
          <a:bodyPr/>
          <a:lstStyle/>
          <a:p>
            <a:pPr marL="38100" indent="0">
              <a:buNone/>
            </a:pPr>
            <a:r>
              <a:rPr lang="en-US" dirty="0">
                <a:solidFill>
                  <a:srgbClr val="212529"/>
                </a:solidFill>
                <a:latin typeface="Open Sans" panose="020B0606030504020204" pitchFamily="34" charset="0"/>
              </a:rPr>
              <a:t>T</a:t>
            </a:r>
            <a:r>
              <a:rPr lang="en-US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he action of using one's mind to produce thoughts</a:t>
            </a:r>
            <a:endParaRPr lang="en-US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xmlns="" id="{41F6455E-6E62-0DD4-18E0-4E11041A6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398" y="2948547"/>
            <a:ext cx="6508755" cy="351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070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F4AF2D-8C4F-7ADA-919A-1D00406AC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Types of thinking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xmlns="" id="{AAB31801-FB77-CC16-9120-9494829A91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40" y="1417650"/>
            <a:ext cx="7264200" cy="491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74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A9FF18-8D71-EEFE-BDB7-5D2C0F5AF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What is critical thinking?</a:t>
            </a:r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xmlns="" id="{EC66B1DB-FABC-2920-8A85-99B04C907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699" y="1697526"/>
            <a:ext cx="7507301" cy="466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974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50EFD9-0BA1-BF7B-FF2C-74769D05C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What is critical thinking?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B34C89A-9532-E8D2-FA54-4BB04C1CD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9335" y="1523226"/>
            <a:ext cx="6575461" cy="4137835"/>
          </a:xfrm>
        </p:spPr>
        <p:txBody>
          <a:bodyPr/>
          <a:lstStyle/>
          <a:p>
            <a:pPr marL="38100" indent="0" algn="ctr">
              <a:buNone/>
            </a:pPr>
            <a:r>
              <a:rPr lang="en-US" sz="2800" b="0" i="0" dirty="0">
                <a:solidFill>
                  <a:srgbClr val="333333"/>
                </a:solidFill>
                <a:effectLst/>
                <a:latin typeface="proxima-nova"/>
              </a:rPr>
              <a:t>“Critical thinking is the intellectually disciplined process of actively and skillfully conceptualizing, applying, analyzing, synthesizing, and/or evaluating information gathered from, or generated by, observation, experience, reflection, reasoning, or communication, as a guide to belief and action”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AAC4B70-EE6A-E7BD-4201-8B83F7C0D297}"/>
              </a:ext>
            </a:extLst>
          </p:cNvPr>
          <p:cNvSpPr txBox="1"/>
          <p:nvPr/>
        </p:nvSpPr>
        <p:spPr>
          <a:xfrm>
            <a:off x="2378467" y="529172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proxima-nova"/>
              </a:rPr>
              <a:t>Michael Scriven and Richard Paul (2003)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764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54365B-ABF7-04E2-4666-84847604A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What is critical thinking?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2CA0747-6285-8CA2-4BC0-6DA10329B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3700" y="1533499"/>
            <a:ext cx="7469464" cy="4736400"/>
          </a:xfrm>
        </p:spPr>
        <p:txBody>
          <a:bodyPr/>
          <a:lstStyle/>
          <a:p>
            <a:pPr marL="38100" indent="0">
              <a:buNone/>
            </a:pPr>
            <a:r>
              <a:rPr lang="en-US" sz="2400" b="0" i="0" dirty="0">
                <a:solidFill>
                  <a:srgbClr val="3B3835"/>
                </a:solidFill>
                <a:effectLst/>
                <a:latin typeface="Source Sans Pro" panose="020B0604020202020204" pitchFamily="34" charset="0"/>
              </a:rPr>
              <a:t>Critical Thinking is the general term given to a wide range of cognitive and intellectual skills needed to: </a:t>
            </a:r>
          </a:p>
          <a:p>
            <a:endParaRPr lang="en-US" sz="2400" dirty="0">
              <a:solidFill>
                <a:srgbClr val="3B3835"/>
              </a:solidFill>
              <a:latin typeface="Source Sans Pro" panose="020B0604020202020204" pitchFamily="34" charset="0"/>
            </a:endParaRPr>
          </a:p>
          <a:p>
            <a:r>
              <a:rPr lang="en-US" sz="2400" b="0" i="0" dirty="0">
                <a:solidFill>
                  <a:srgbClr val="3B3835"/>
                </a:solidFill>
                <a:effectLst/>
                <a:latin typeface="Source Sans Pro" panose="020B0604020202020204" pitchFamily="34" charset="0"/>
              </a:rPr>
              <a:t>Effectively identify, analyze, and evaluate arguments.</a:t>
            </a:r>
            <a:endParaRPr lang="en-US" sz="4000" b="0" i="0" dirty="0">
              <a:solidFill>
                <a:srgbClr val="3B3835"/>
              </a:solidFill>
              <a:effectLst/>
              <a:latin typeface="Source Sans Pro" panose="020B0604020202020204" pitchFamily="34" charset="0"/>
            </a:endParaRPr>
          </a:p>
          <a:p>
            <a:r>
              <a:rPr lang="en-US" sz="2400" b="0" i="0" dirty="0">
                <a:solidFill>
                  <a:srgbClr val="3B3835"/>
                </a:solidFill>
                <a:effectLst/>
                <a:latin typeface="Source Sans Pro" panose="020B0604020202020204" pitchFamily="34" charset="0"/>
              </a:rPr>
              <a:t>Discover and overcome personal prejudices and biases.</a:t>
            </a:r>
            <a:endParaRPr lang="en-US" sz="4000" dirty="0">
              <a:solidFill>
                <a:srgbClr val="3B3835"/>
              </a:solidFill>
              <a:latin typeface="Source Sans Pro" panose="020B0604020202020204" pitchFamily="34" charset="0"/>
            </a:endParaRPr>
          </a:p>
          <a:p>
            <a:r>
              <a:rPr lang="en-US" sz="2400" b="0" i="0" dirty="0">
                <a:solidFill>
                  <a:srgbClr val="3B3835"/>
                </a:solidFill>
                <a:effectLst/>
                <a:latin typeface="Source Sans Pro" panose="020B0604020202020204" pitchFamily="34" charset="0"/>
              </a:rPr>
              <a:t>Formulate and present convincing reasons in support of conclusions.</a:t>
            </a:r>
            <a:endParaRPr lang="en-US" sz="4000" b="0" i="0" dirty="0">
              <a:solidFill>
                <a:srgbClr val="3B3835"/>
              </a:solidFill>
              <a:effectLst/>
              <a:latin typeface="Source Sans Pro" panose="020B0604020202020204" pitchFamily="34" charset="0"/>
            </a:endParaRPr>
          </a:p>
          <a:p>
            <a:r>
              <a:rPr lang="en-US" sz="2400" b="0" i="0" dirty="0">
                <a:solidFill>
                  <a:srgbClr val="3B3835"/>
                </a:solidFill>
                <a:effectLst/>
                <a:latin typeface="Source Sans Pro" panose="020B0604020202020204" pitchFamily="34" charset="0"/>
              </a:rPr>
              <a:t>Make reasonable, intelligent decisions about what to believe and what to do.</a:t>
            </a:r>
            <a:endParaRPr lang="en-US" sz="4000" dirty="0">
              <a:solidFill>
                <a:srgbClr val="3B3835"/>
              </a:solidFill>
              <a:latin typeface="Source Sans Pro" panose="020B0604020202020204" pitchFamily="34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51236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A22E1A-5D85-427A-0CF1-8B2A11308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699" y="274650"/>
            <a:ext cx="7171513" cy="1143000"/>
          </a:xfrm>
        </p:spPr>
        <p:txBody>
          <a:bodyPr/>
          <a:lstStyle/>
          <a:p>
            <a:r>
              <a:rPr lang="en-US" b="1" dirty="0">
                <a:solidFill>
                  <a:srgbClr val="3A81BA"/>
                </a:solidFill>
              </a:rPr>
              <a:t>Why Develop Critical Thinking Skills?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B372643-6B24-09C7-6FF7-80DDEE20E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3700" y="1625967"/>
            <a:ext cx="7171512" cy="4736400"/>
          </a:xfrm>
        </p:spPr>
        <p:txBody>
          <a:bodyPr/>
          <a:lstStyle/>
          <a:p>
            <a:pPr marL="38100" indent="0" algn="l">
              <a:spcBef>
                <a:spcPts val="1000"/>
              </a:spcBef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enorite" panose="020B0604020202020204" pitchFamily="2" charset="0"/>
              </a:rPr>
              <a:t>Critical thinking skills are important for several reasons.</a:t>
            </a:r>
            <a:endParaRPr lang="en-US" sz="40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457200" indent="-457200" algn="l" fontAlgn="base">
              <a:spcBef>
                <a:spcPts val="1000"/>
              </a:spcBef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enorite" panose="020B0604020202020204" pitchFamily="2" charset="0"/>
              </a:rPr>
              <a:t>These include helping you work independently and solve problems.</a:t>
            </a:r>
            <a:endParaRPr lang="en-US" sz="40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fontAlgn="base">
              <a:spcBef>
                <a:spcPts val="1000"/>
              </a:spcBef>
            </a:pPr>
            <a:r>
              <a:rPr lang="en-US" sz="2800" b="0" i="0" dirty="0">
                <a:solidFill>
                  <a:srgbClr val="000000"/>
                </a:solidFill>
                <a:effectLst/>
                <a:latin typeface="Sohne"/>
              </a:rPr>
              <a:t>Analyze different viewpoints</a:t>
            </a:r>
            <a:endParaRPr lang="en-US" sz="40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fontAlgn="base">
              <a:spcBef>
                <a:spcPts val="1000"/>
              </a:spcBef>
            </a:pPr>
            <a:r>
              <a:rPr lang="en-US" sz="2800" b="0" i="0" dirty="0">
                <a:solidFill>
                  <a:srgbClr val="000000"/>
                </a:solidFill>
                <a:effectLst/>
                <a:latin typeface="Sohne"/>
              </a:rPr>
              <a:t>Come up with the best solution for complex problems</a:t>
            </a:r>
            <a:endParaRPr lang="en-US" sz="40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fontAlgn="base">
              <a:spcBef>
                <a:spcPts val="1000"/>
              </a:spcBef>
            </a:pPr>
            <a:r>
              <a:rPr lang="en-US" sz="2800" b="0" i="0" dirty="0">
                <a:solidFill>
                  <a:srgbClr val="000000"/>
                </a:solidFill>
                <a:effectLst/>
                <a:latin typeface="Sohne"/>
              </a:rPr>
              <a:t>Become a better learner</a:t>
            </a:r>
            <a:endParaRPr lang="en-US" sz="40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716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627572-E8BF-330D-8C9F-019021A4E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Critical Thinking Skills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xmlns="" id="{8D1BEE15-13E9-BCDF-F125-DE870E6D1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700" y="1552010"/>
            <a:ext cx="6902208" cy="449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035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3929B0-BF6F-DF3B-8AF7-F03674004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700" y="274650"/>
            <a:ext cx="6781096" cy="1143000"/>
          </a:xfrm>
        </p:spPr>
        <p:txBody>
          <a:bodyPr/>
          <a:lstStyle/>
          <a:p>
            <a:r>
              <a:rPr lang="en-US" sz="2800" b="1" dirty="0">
                <a:solidFill>
                  <a:srgbClr val="0070C0"/>
                </a:solidFill>
              </a:rPr>
              <a:t>Developing Critical Thinking Skills</a:t>
            </a: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CEC1EC9-A76B-EEA7-1F5E-525BEB121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3700" y="1417650"/>
            <a:ext cx="7531109" cy="4736400"/>
          </a:xfrm>
        </p:spPr>
        <p:txBody>
          <a:bodyPr/>
          <a:lstStyle/>
          <a:p>
            <a:pPr marL="38100" indent="0">
              <a:buNone/>
            </a:pPr>
            <a:r>
              <a:rPr lang="en-US" dirty="0">
                <a:solidFill>
                  <a:srgbClr val="FF0000"/>
                </a:solidFill>
              </a:rPr>
              <a:t>Analyzing</a:t>
            </a:r>
          </a:p>
          <a:p>
            <a:r>
              <a:rPr lang="en-US" sz="2400" dirty="0">
                <a:solidFill>
                  <a:schemeClr val="bg2"/>
                </a:solidFill>
              </a:rPr>
              <a:t>Understanding the significance and meaning of information</a:t>
            </a:r>
          </a:p>
          <a:p>
            <a:r>
              <a:rPr lang="en-US" sz="2400" dirty="0">
                <a:solidFill>
                  <a:schemeClr val="bg2"/>
                </a:solidFill>
              </a:rPr>
              <a:t>Breaking information down into parts</a:t>
            </a:r>
          </a:p>
          <a:p>
            <a:r>
              <a:rPr lang="en-US" sz="2400" dirty="0">
                <a:solidFill>
                  <a:schemeClr val="bg2"/>
                </a:solidFill>
              </a:rPr>
              <a:t>Connecting and combining information to better understand the relationship between the information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4D391AA-6A64-9A78-03EE-AC7C0ED0B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260514"/>
            <a:ext cx="2599362" cy="218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51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6EC3E1C-C983-676A-EEFF-956F8FF83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700" y="274650"/>
            <a:ext cx="7212610" cy="1143000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</a:rPr>
              <a:t>Developing Critical Thinking Skills</a:t>
            </a: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9F16F4A-9DDD-CD0E-10A6-F606C5831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3700" y="1543774"/>
            <a:ext cx="7089320" cy="4736400"/>
          </a:xfrm>
        </p:spPr>
        <p:txBody>
          <a:bodyPr/>
          <a:lstStyle/>
          <a:p>
            <a:pPr marL="38100" indent="0">
              <a:buNone/>
            </a:pPr>
            <a:r>
              <a:rPr lang="en-US" dirty="0">
                <a:solidFill>
                  <a:srgbClr val="FF0000"/>
                </a:solidFill>
              </a:rPr>
              <a:t>Reasoning</a:t>
            </a:r>
          </a:p>
          <a:p>
            <a:r>
              <a:rPr lang="en-US" sz="2400" dirty="0">
                <a:solidFill>
                  <a:schemeClr val="bg2"/>
                </a:solidFill>
              </a:rPr>
              <a:t>Reasoning is the act or process of drawing conclusions from facts, evidence etc.</a:t>
            </a:r>
          </a:p>
          <a:p>
            <a:endParaRPr lang="en-US" sz="2400" dirty="0">
              <a:solidFill>
                <a:schemeClr val="bg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EE4FB75-6081-9579-A915-EC32D9767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829" y="3396112"/>
            <a:ext cx="2790558" cy="301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801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0EFE91-EC0A-FB4D-553C-21FB77A32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0070C0"/>
                </a:solidFill>
              </a:rPr>
              <a:t>Developing Critical Thinking Skills</a:t>
            </a: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C094034-0192-6F61-726C-9A74C06A7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3700" y="1584871"/>
            <a:ext cx="7746866" cy="4736400"/>
          </a:xfrm>
        </p:spPr>
        <p:txBody>
          <a:bodyPr/>
          <a:lstStyle/>
          <a:p>
            <a:pPr marL="3810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Evaluating</a:t>
            </a:r>
          </a:p>
          <a:p>
            <a:r>
              <a:rPr lang="en-US" sz="2400" dirty="0"/>
              <a:t>Judging the value, credibility, or strength of something</a:t>
            </a:r>
          </a:p>
          <a:p>
            <a:pPr marL="38100" indent="0">
              <a:buNone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BA204B4-CA85-17CE-C3C4-B64675B92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638" y="3285162"/>
            <a:ext cx="4865261" cy="272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466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EBD9E5-B53B-923C-A974-B498798F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699" y="274650"/>
            <a:ext cx="6770821" cy="1143000"/>
          </a:xfrm>
        </p:spPr>
        <p:txBody>
          <a:bodyPr/>
          <a:lstStyle/>
          <a:p>
            <a:r>
              <a:rPr lang="en-US" sz="2800" b="1" dirty="0">
                <a:solidFill>
                  <a:srgbClr val="0070C0"/>
                </a:solidFill>
              </a:rPr>
              <a:t>Developing Critical Thinking Skills</a:t>
            </a: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FDAED88-A95A-9F29-4841-6A82B13DB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3699" y="1523226"/>
            <a:ext cx="7500288" cy="4736400"/>
          </a:xfrm>
        </p:spPr>
        <p:txBody>
          <a:bodyPr/>
          <a:lstStyle/>
          <a:p>
            <a:pPr marL="3810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Problem-Solving</a:t>
            </a:r>
          </a:p>
          <a:p>
            <a:r>
              <a:rPr lang="en-US" sz="2400" dirty="0"/>
              <a:t>The act of defining a problem; determining the cause of the problem; identifying, prioritizing, and selecting alternatives for a solution; and implementing a solution.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4684603-2E09-149C-8E72-671675593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269" y="3767616"/>
            <a:ext cx="6544639" cy="280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899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EBD9E5-B53B-923C-A974-B498798F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699" y="274650"/>
            <a:ext cx="6770821" cy="1143000"/>
          </a:xfrm>
        </p:spPr>
        <p:txBody>
          <a:bodyPr/>
          <a:lstStyle/>
          <a:p>
            <a:r>
              <a:rPr lang="en-US" sz="2800" b="1" dirty="0">
                <a:solidFill>
                  <a:srgbClr val="0070C0"/>
                </a:solidFill>
              </a:rPr>
              <a:t>Developing Critical Thinking Skills</a:t>
            </a: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FDAED88-A95A-9F29-4841-6A82B13DB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3699" y="1419286"/>
            <a:ext cx="7407820" cy="4736400"/>
          </a:xfrm>
        </p:spPr>
        <p:txBody>
          <a:bodyPr/>
          <a:lstStyle/>
          <a:p>
            <a:pPr marL="38100" indent="0">
              <a:buNone/>
            </a:pPr>
            <a:r>
              <a:rPr lang="en-US" dirty="0">
                <a:solidFill>
                  <a:srgbClr val="FF0000"/>
                </a:solidFill>
              </a:rPr>
              <a:t>Decision Making</a:t>
            </a:r>
          </a:p>
          <a:p>
            <a:pPr marL="38100" indent="0">
              <a:buNone/>
            </a:pPr>
            <a:r>
              <a:rPr lang="en-US" sz="2400" dirty="0"/>
              <a:t>The cognitive process results in the selection of a belief or a course of action among several possible alternative options.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3DC0822-21E7-E356-E4CE-459A041DB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411" y="3429000"/>
            <a:ext cx="4187201" cy="272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032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4EC7D6-6137-EA26-0AAD-FACE918CA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C44C712-3BC0-541B-18A4-00C3C2BF5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6450" y="1584870"/>
            <a:ext cx="7561780" cy="4736400"/>
          </a:xfrm>
        </p:spPr>
        <p:txBody>
          <a:bodyPr/>
          <a:lstStyle/>
          <a:p>
            <a:pPr marL="38100" indent="0">
              <a:buNone/>
            </a:pPr>
            <a:r>
              <a:rPr lang="en-US" b="0" i="0" dirty="0">
                <a:solidFill>
                  <a:srgbClr val="4D5968"/>
                </a:solidFill>
                <a:effectLst/>
                <a:latin typeface="Nunito Sans" panose="020B0604020202020204" pitchFamily="2" charset="0"/>
              </a:rPr>
              <a:t>Give 5 uses of a pen other than writing.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0BE7179-FFED-F1C5-B8F1-CD3B7C7BB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559" y="2519840"/>
            <a:ext cx="6328881" cy="331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3855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AA9112-EF7B-16F5-ECF4-F44F6B5C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699" y="274650"/>
            <a:ext cx="7243433" cy="1143000"/>
          </a:xfrm>
        </p:spPr>
        <p:txBody>
          <a:bodyPr/>
          <a:lstStyle/>
          <a:p>
            <a:r>
              <a:rPr lang="en-US" sz="2800" b="1" dirty="0">
                <a:solidFill>
                  <a:srgbClr val="0070C0"/>
                </a:solidFill>
              </a:rPr>
              <a:t>Merits of Critical thinking and demerits of non-critical thinking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C8BE397-DB44-DDC5-A43E-171812493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769" y="1456178"/>
            <a:ext cx="3822215" cy="4967700"/>
          </a:xfrm>
          <a:noFill/>
        </p:spPr>
        <p:txBody>
          <a:bodyPr/>
          <a:lstStyle/>
          <a:p>
            <a:pPr marL="114300" indent="0" algn="ctr">
              <a:buNone/>
            </a:pPr>
            <a:r>
              <a:rPr lang="en-US" sz="2000" dirty="0">
                <a:solidFill>
                  <a:srgbClr val="FF0000"/>
                </a:solidFill>
              </a:rPr>
              <a:t>Critical Thinker</a:t>
            </a:r>
          </a:p>
          <a:p>
            <a:r>
              <a:rPr lang="en-US" sz="2000" dirty="0">
                <a:solidFill>
                  <a:schemeClr val="bg2"/>
                </a:solidFill>
              </a:rPr>
              <a:t>Have a passionate drive for clarity precision, accuracy, and other critical thinking standards</a:t>
            </a:r>
          </a:p>
          <a:p>
            <a:r>
              <a:rPr lang="en-US" sz="2000" dirty="0"/>
              <a:t>Are skilled at understanding, analyzing, and evaluating arguments and viewpoints.</a:t>
            </a:r>
          </a:p>
          <a:p>
            <a:r>
              <a:rPr lang="en-US" sz="2000" dirty="0"/>
              <a:t>Reason logically and draw appropriate conclusions from evidence and data.</a:t>
            </a:r>
          </a:p>
          <a:p>
            <a:r>
              <a:rPr lang="en-US" sz="2000" dirty="0"/>
              <a:t>Reason logically and draw appropriate conclusions from evidence and data.</a:t>
            </a:r>
          </a:p>
          <a:p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5059C94F-24AF-FC96-4221-B8747CE2FE7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0" y="1456178"/>
            <a:ext cx="3822215" cy="4967700"/>
          </a:xfrm>
        </p:spPr>
        <p:txBody>
          <a:bodyPr/>
          <a:lstStyle/>
          <a:p>
            <a:pPr marL="114300" indent="0" algn="ctr">
              <a:buNone/>
            </a:pPr>
            <a:r>
              <a:rPr lang="en-US" sz="2000" dirty="0">
                <a:solidFill>
                  <a:srgbClr val="FF0000"/>
                </a:solidFill>
              </a:rPr>
              <a:t>Non-Critical Thinker</a:t>
            </a:r>
          </a:p>
          <a:p>
            <a:r>
              <a:rPr lang="en-US" sz="2000" dirty="0"/>
              <a:t>Have a passionate drive for clarity precision, accuracy, and other critical thinking standards</a:t>
            </a:r>
          </a:p>
          <a:p>
            <a:r>
              <a:rPr lang="en-US" sz="2000" dirty="0"/>
              <a:t>Often misunderstand or evaluate unfairly arguments and viewpoints</a:t>
            </a:r>
          </a:p>
          <a:p>
            <a:r>
              <a:rPr lang="en-US" sz="2000" dirty="0"/>
              <a:t>Reason logically and draw appropriate conclusions from evidence and data.</a:t>
            </a:r>
          </a:p>
          <a:p>
            <a:r>
              <a:rPr lang="en-US" sz="2000" dirty="0"/>
              <a:t>Pretend they know more than they do and ignore their limitations.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875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AA9112-EF7B-16F5-ECF4-F44F6B5C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699" y="274650"/>
            <a:ext cx="7808511" cy="1143000"/>
          </a:xfrm>
        </p:spPr>
        <p:txBody>
          <a:bodyPr/>
          <a:lstStyle/>
          <a:p>
            <a:r>
              <a:rPr lang="en-US" sz="2800" b="1" dirty="0">
                <a:solidFill>
                  <a:srgbClr val="0070C0"/>
                </a:solidFill>
              </a:rPr>
              <a:t>Merits of Critical thinking and demerits of non-critical thinking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C8BE397-DB44-DDC5-A43E-171812493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237" y="1466452"/>
            <a:ext cx="3740022" cy="4967700"/>
          </a:xfrm>
        </p:spPr>
        <p:txBody>
          <a:bodyPr/>
          <a:lstStyle/>
          <a:p>
            <a:pPr marL="114300" indent="0" algn="ctr">
              <a:buNone/>
            </a:pPr>
            <a:r>
              <a:rPr lang="en-US" sz="2000" dirty="0">
                <a:solidFill>
                  <a:srgbClr val="FF0000"/>
                </a:solidFill>
              </a:rPr>
              <a:t>Critical Thinker</a:t>
            </a:r>
          </a:p>
          <a:p>
            <a:r>
              <a:rPr lang="en-US" sz="2000" dirty="0"/>
              <a:t>Listen open-mindedly to opposing points of view and welcome criticisms of beliefs and assumptions</a:t>
            </a:r>
          </a:p>
          <a:p>
            <a:r>
              <a:rPr lang="en-US" sz="2000" dirty="0"/>
              <a:t>Are closed-minded and resist criticisms of beliefs and assumptions</a:t>
            </a:r>
          </a:p>
          <a:p>
            <a:r>
              <a:rPr lang="en-US" sz="2000" dirty="0"/>
              <a:t>Are closed-minded and resist criticisms of beliefs and assumptions</a:t>
            </a:r>
          </a:p>
          <a:p>
            <a:r>
              <a:rPr lang="en-US" sz="2000" dirty="0"/>
              <a:t>Pursue truth and are curious about a wide range of issues</a:t>
            </a:r>
          </a:p>
          <a:p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5059C94F-24AF-FC96-4221-B8747CE2FE7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469259" y="1466452"/>
            <a:ext cx="3852808" cy="4967700"/>
          </a:xfrm>
        </p:spPr>
        <p:txBody>
          <a:bodyPr/>
          <a:lstStyle/>
          <a:p>
            <a:pPr marL="114300" indent="0" algn="ctr">
              <a:buNone/>
            </a:pPr>
            <a:r>
              <a:rPr lang="en-US" sz="2000" dirty="0">
                <a:solidFill>
                  <a:srgbClr val="FF0000"/>
                </a:solidFill>
              </a:rPr>
              <a:t>Non-Critical Thinker</a:t>
            </a:r>
          </a:p>
          <a:p>
            <a:r>
              <a:rPr lang="en-US" sz="2000" dirty="0"/>
              <a:t>Are closed-minded and resist criticisms of beliefs and assumptions</a:t>
            </a:r>
          </a:p>
          <a:p>
            <a:r>
              <a:rPr lang="en-US" sz="2000" dirty="0"/>
              <a:t>Are closed-minded and resist criticisms of beliefs and assumptions</a:t>
            </a:r>
          </a:p>
          <a:p>
            <a:r>
              <a:rPr lang="en-US" sz="2000" dirty="0"/>
              <a:t>Tend to engage in “groupthink,” uncritically following the beliefs and values of the crowd.</a:t>
            </a:r>
          </a:p>
          <a:p>
            <a:r>
              <a:rPr lang="en-US" sz="2000" dirty="0"/>
              <a:t>Are often relatively indifferent to truth and lack curiosity.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4493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07B2E017-AD20-5503-E2F5-9D51E980F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3A81BA"/>
                </a:solidFill>
              </a:rPr>
              <a:t>Reference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E3E21EF6-7D75-97AF-93F0-4544FD3F9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3700" y="1595144"/>
            <a:ext cx="7674947" cy="4736400"/>
          </a:xfrm>
        </p:spPr>
        <p:txBody>
          <a:bodyPr/>
          <a:lstStyle/>
          <a:p>
            <a:r>
              <a:rPr lang="en-US" sz="2000" dirty="0">
                <a:hlinkClick r:id="rId2"/>
              </a:rPr>
              <a:t>https://missionself.com/developing-critical-thinking-skills</a:t>
            </a:r>
            <a:endParaRPr lang="en-US" sz="2000" dirty="0"/>
          </a:p>
          <a:p>
            <a:r>
              <a:rPr lang="en-US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https://www.slideshare.net/mqamarhayat/introduction-to-critical-thinking-8850972?from_action=save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5782308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3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3" id="{A4840DA3-F033-4090-A2F4-A02427F5D55E}" vid="{05AC1048-9477-4FC0-BDAF-49534A2894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Theme3</Template>
  <TotalTime>4989</TotalTime>
  <Words>804</Words>
  <Application>Microsoft Office PowerPoint</Application>
  <PresentationFormat>On-screen Show (4:3)</PresentationFormat>
  <Paragraphs>122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9" baseType="lpstr">
      <vt:lpstr>Arial</vt:lpstr>
      <vt:lpstr>Calibri</vt:lpstr>
      <vt:lpstr>Gulim</vt:lpstr>
      <vt:lpstr>Lato</vt:lpstr>
      <vt:lpstr>Nunito Sans</vt:lpstr>
      <vt:lpstr>Open Sans</vt:lpstr>
      <vt:lpstr>proxima-nova</vt:lpstr>
      <vt:lpstr>Raleway</vt:lpstr>
      <vt:lpstr>Sohne</vt:lpstr>
      <vt:lpstr>Source Sans Pro</vt:lpstr>
      <vt:lpstr>Tenorite</vt:lpstr>
      <vt:lpstr>Times New Roman</vt:lpstr>
      <vt:lpstr>Theme3</vt:lpstr>
      <vt:lpstr>Critical Thinking (BES-103)  </vt:lpstr>
      <vt:lpstr>Course Objectives</vt:lpstr>
      <vt:lpstr>  Resources</vt:lpstr>
      <vt:lpstr>Course Policy</vt:lpstr>
      <vt:lpstr>Course Policy</vt:lpstr>
      <vt:lpstr>Class Rules</vt:lpstr>
      <vt:lpstr>Course Assessment</vt:lpstr>
      <vt:lpstr>Lecture Outline </vt:lpstr>
      <vt:lpstr>Question</vt:lpstr>
      <vt:lpstr>Do you agree?</vt:lpstr>
      <vt:lpstr>What is thinking?</vt:lpstr>
      <vt:lpstr>Types of thinking</vt:lpstr>
      <vt:lpstr>What is critical thinking?</vt:lpstr>
      <vt:lpstr>What is critical thinking?</vt:lpstr>
      <vt:lpstr>What is critical thinking?</vt:lpstr>
      <vt:lpstr>Why Develop Critical Thinking Skills?</vt:lpstr>
      <vt:lpstr>Critical Thinking Skills</vt:lpstr>
      <vt:lpstr>Developing Critical Thinking Skills</vt:lpstr>
      <vt:lpstr>Developing Critical Thinking Skills</vt:lpstr>
      <vt:lpstr>Developing Critical Thinking Skills</vt:lpstr>
      <vt:lpstr>Developing Critical Thinking Skills</vt:lpstr>
      <vt:lpstr>Developing Critical Thinking Skills</vt:lpstr>
      <vt:lpstr>Exercise</vt:lpstr>
      <vt:lpstr>Merits of Critical thinking and demerits of non-critical thinking</vt:lpstr>
      <vt:lpstr>Merits of Critical thinking and demerits of non-critical thinking</vt:lpstr>
      <vt:lpstr>Reference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Sarmad Soomro</dc:creator>
  <cp:lastModifiedBy>BUKC</cp:lastModifiedBy>
  <cp:revision>486</cp:revision>
  <dcterms:created xsi:type="dcterms:W3CDTF">2014-08-22T07:35:58Z</dcterms:created>
  <dcterms:modified xsi:type="dcterms:W3CDTF">2023-02-19T14:40:48Z</dcterms:modified>
</cp:coreProperties>
</file>